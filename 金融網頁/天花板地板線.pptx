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82" r:id="rId13"/>
    <p:sldId id="263" r:id="rId14"/>
    <p:sldId id="268" r:id="rId15"/>
    <p:sldId id="283" r:id="rId16"/>
    <p:sldId id="280" r:id="rId17"/>
    <p:sldId id="281" r:id="rId18"/>
    <p:sldId id="269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2E5F4-1BAD-46D3-BEE5-8666A6279DB4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E2F23-6936-454F-8704-3AFEF35351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220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81956-D5A5-1420-AB3D-96617F65C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91922C-B7D2-A781-018C-A00B423EE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32D106-1638-868F-A171-E1DD9C92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40D1A1-0F96-1123-7494-1BC096D1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63A4ED-D894-9A21-C290-A4955C92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31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E8D692-440D-000B-B1D9-E4C4FB3D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C02E5A-E9AB-C2C0-30F0-2002D78BD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CC31B9-8D13-B838-CFD2-11C94A0B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84114C-3F78-EE53-C2FA-3E913C33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637F10-CA46-9E71-7238-0D4264E4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87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394601-6E34-71C1-60A4-270DE998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B47542-9162-01FF-7159-94B361A8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5442BB-FB76-9B75-BF26-80EEC6F9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280A23-6F08-4C73-F7C3-40DE7A0F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4B5902-F5D6-A91B-782E-FBFC98A49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89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2A859-EF62-541D-42F2-ED33EBF3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625897-12B8-47C8-80F7-4C903A269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942168-135C-A516-B338-7FEA2445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37343D-5C3B-9C9A-5DF9-3354AC41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148B05-9E58-C2D3-0CFB-B6208744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0B989D-5B25-8222-FAD5-6B01293D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667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B32E3C-709A-B36A-0022-DC9B376A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DEEC69-CF1A-A92A-6D55-9A7327DB4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E7E54A-E02D-6E22-CF87-F3CDDBEF0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16D730C-CDA7-46B8-EBAE-E78C51FB0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572F8F-0B2C-C0A3-1EEA-8E9BC6A9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23C59C7-61C1-65FB-0C49-BB26119A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76E42D-8202-395D-B34C-CF98D68C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A37DBDB-509F-E96E-FBF5-94E1C0B2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60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CBA9B-859B-6DD8-61C9-93CD2048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41E4C0-E8D3-2D0C-6C31-E1C6AA1B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8EFEB2-30E7-38F6-DE83-61225635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A5D34F-A7F9-92CC-97B7-BC2FDDED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223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9ECA427-F45F-3967-5387-7C1867CB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88F011-D4A6-063C-78C9-39575AA1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327E76-E224-0BB3-4722-0539FF41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15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8AC7D3-3B5D-C904-A5D6-B19C30B5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FB75A3-1A1B-22D7-8A10-3660DE83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E72E04-B2C9-B519-5333-280C0D9B7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26E77C-7CCF-C2FA-8EA1-63A7537D4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8E934B-9B00-BFFA-E1DE-536FAA16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A7F416-A8AD-5E5D-FF24-69C0C540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31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3BF84A-9106-0D11-1CB8-D075EE59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4DED2C6-3BE2-8133-360A-6C1CA15EA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8208EA-F2F0-F19C-015D-84B7BE84D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01C54-C995-321E-86DF-48F069B8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B756EC-88CF-A888-6107-3D551D92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473DBA-8DEF-E770-F874-D4BDAB3A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88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6E136-EB1C-357E-CBC5-5AA177B1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BD2D7AC-07B0-348F-F541-A7ECDB63A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2682DA-F065-DDCC-417A-4376BE6FB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05D7F1-FB91-7083-9D6E-F33E3F05E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318469-4101-4BCA-2BFD-8A170C50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573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C898634-90A9-65B9-0658-CB92553E2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4E5BB6-D201-B6F8-6B4C-92BDD3490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B8499D-6C33-FCD3-A6CC-B46AE47BD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F3D5A7-286A-ECCB-DC60-D583A8EF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6815B7-FFAF-42DD-D5AE-6752C2B2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55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C9F4AE-F94C-37C2-638D-92EC4F66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DA31E2-5B61-2616-36C3-B37D950B9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73CA1C-110C-A5A8-8090-BBC5010B3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D7E48-FFED-4551-A877-AD2296695FE7}" type="datetimeFigureOut">
              <a:rPr lang="zh-TW" altLang="en-US" smtClean="0"/>
              <a:t>2025/1/15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08F31D-B0CF-1817-D66F-AA4B45796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08629E-E2B7-6E38-BE40-6273A0A74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89B00-595B-43F0-B9DD-4FF1EB910E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055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yhhuang1966.blogspot.com/2023/08/python-thonny-ta-lib-whl.html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cosbi5.ee.ncku.edu.tw/financial/hom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2526945-B35F-E9B9-DD65-23E7C78C4D2B}"/>
              </a:ext>
            </a:extLst>
          </p:cNvPr>
          <p:cNvSpPr txBox="1"/>
          <p:nvPr/>
        </p:nvSpPr>
        <p:spPr>
          <a:xfrm>
            <a:off x="196316" y="171006"/>
            <a:ext cx="11334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4000" dirty="0"/>
              <a:t>天花板地板線：</a:t>
            </a:r>
            <a:endParaRPr lang="en-US" altLang="zh-TW" sz="40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72721B-682E-B42B-B2FC-A497124BFAD3}"/>
              </a:ext>
            </a:extLst>
          </p:cNvPr>
          <p:cNvSpPr txBox="1"/>
          <p:nvPr/>
        </p:nvSpPr>
        <p:spPr>
          <a:xfrm>
            <a:off x="895350" y="962025"/>
            <a:ext cx="1245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壓力線</a:t>
            </a:r>
            <a:r>
              <a:rPr lang="zh-TW" altLang="en-US" sz="28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8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Resistance Line</a:t>
            </a:r>
            <a:r>
              <a:rPr lang="zh-TW" altLang="en-US" sz="28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支撐線</a:t>
            </a:r>
            <a:r>
              <a:rPr lang="en-US" altLang="zh-TW" sz="2800" b="0" i="0" dirty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(Support Line)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7A56A12-69B4-F677-AFD1-33CA18527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8" r="3319"/>
          <a:stretch/>
        </p:blipFill>
        <p:spPr>
          <a:xfrm>
            <a:off x="542626" y="2113105"/>
            <a:ext cx="5216037" cy="304780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2A88C4-5E33-A9AE-8147-A2234333E6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27"/>
          <a:stretch/>
        </p:blipFill>
        <p:spPr>
          <a:xfrm>
            <a:off x="6210300" y="1956681"/>
            <a:ext cx="5676900" cy="294463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E6E4EB-D2C3-96FA-01C4-B342E0746E80}"/>
              </a:ext>
            </a:extLst>
          </p:cNvPr>
          <p:cNvSpPr txBox="1"/>
          <p:nvPr/>
        </p:nvSpPr>
        <p:spPr>
          <a:xfrm>
            <a:off x="6286500" y="5396240"/>
            <a:ext cx="481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使用三種不同方法來計算</a:t>
            </a:r>
          </a:p>
        </p:txBody>
      </p:sp>
    </p:spTree>
    <p:extLst>
      <p:ext uri="{BB962C8B-B14F-4D97-AF65-F5344CB8AC3E}">
        <p14:creationId xmlns:p14="http://schemas.microsoft.com/office/powerpoint/2010/main" val="50274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CC5A-BFB7-1DE3-054A-F9B7A798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AEA538-F56C-CE49-728B-BD6799C617EF}"/>
              </a:ext>
            </a:extLst>
          </p:cNvPr>
          <p:cNvSpPr txBox="1"/>
          <p:nvPr/>
        </p:nvSpPr>
        <p:spPr>
          <a:xfrm>
            <a:off x="196317" y="171006"/>
            <a:ext cx="1589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輸入：</a:t>
            </a:r>
            <a:endParaRPr lang="en-US" altLang="zh-TW" sz="36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56A846E-4FB9-9281-EE21-E5B594D5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012242"/>
            <a:ext cx="9528263" cy="413125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AD36D3B-B4BE-E53B-5570-8E006D533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387" y="3495675"/>
            <a:ext cx="3381375" cy="19240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BF5BC13-807E-90A4-81F9-C58225C901F7}"/>
              </a:ext>
            </a:extLst>
          </p:cNvPr>
          <p:cNvSpPr/>
          <p:nvPr/>
        </p:nvSpPr>
        <p:spPr>
          <a:xfrm>
            <a:off x="2819715" y="1620945"/>
            <a:ext cx="2571436" cy="4840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410758-0B9F-3251-C4A8-F3F7424EBBF8}"/>
              </a:ext>
            </a:extLst>
          </p:cNvPr>
          <p:cNvSpPr/>
          <p:nvPr/>
        </p:nvSpPr>
        <p:spPr>
          <a:xfrm>
            <a:off x="2911676" y="2218827"/>
            <a:ext cx="1765100" cy="4840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6B5CB7-D21B-3BB3-6F6B-946609386C03}"/>
              </a:ext>
            </a:extLst>
          </p:cNvPr>
          <p:cNvSpPr/>
          <p:nvPr/>
        </p:nvSpPr>
        <p:spPr>
          <a:xfrm>
            <a:off x="2819715" y="3032739"/>
            <a:ext cx="1857061" cy="4840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2D698E-29E5-7276-A1FD-4626B9803F66}"/>
              </a:ext>
            </a:extLst>
          </p:cNvPr>
          <p:cNvSpPr/>
          <p:nvPr/>
        </p:nvSpPr>
        <p:spPr>
          <a:xfrm>
            <a:off x="6972614" y="2962599"/>
            <a:ext cx="2123761" cy="11995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CAD7477-CD5C-AACB-0842-4AAB735DD68F}"/>
              </a:ext>
            </a:extLst>
          </p:cNvPr>
          <p:cNvSpPr txBox="1"/>
          <p:nvPr/>
        </p:nvSpPr>
        <p:spPr>
          <a:xfrm>
            <a:off x="4962525" y="5505126"/>
            <a:ext cx="7229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Moving Average(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移動平均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Simple Moving Average(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簡單移動平均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WMA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Weighted Moving Average(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加權移動平均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D023E6-6940-C419-BB33-79874C77CB17}"/>
              </a:ext>
            </a:extLst>
          </p:cNvPr>
          <p:cNvSpPr/>
          <p:nvPr/>
        </p:nvSpPr>
        <p:spPr>
          <a:xfrm>
            <a:off x="2722821" y="3656395"/>
            <a:ext cx="2142810" cy="16820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A221045-87E1-2AB7-9612-17A00C3F0397}"/>
              </a:ext>
            </a:extLst>
          </p:cNvPr>
          <p:cNvSpPr txBox="1"/>
          <p:nvPr/>
        </p:nvSpPr>
        <p:spPr>
          <a:xfrm>
            <a:off x="9190441" y="3193653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10D6A4A-A946-900C-8E01-F501019EC6ED}"/>
              </a:ext>
            </a:extLst>
          </p:cNvPr>
          <p:cNvSpPr txBox="1"/>
          <p:nvPr/>
        </p:nvSpPr>
        <p:spPr>
          <a:xfrm>
            <a:off x="4906585" y="3705414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418E584-2164-2904-7868-FE2CA126227A}"/>
              </a:ext>
            </a:extLst>
          </p:cNvPr>
          <p:cNvSpPr txBox="1"/>
          <p:nvPr/>
        </p:nvSpPr>
        <p:spPr>
          <a:xfrm>
            <a:off x="4856250" y="2105025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969BA87-FC5A-B6DD-BA3A-B43BD5F11868}"/>
              </a:ext>
            </a:extLst>
          </p:cNvPr>
          <p:cNvSpPr txBox="1"/>
          <p:nvPr/>
        </p:nvSpPr>
        <p:spPr>
          <a:xfrm>
            <a:off x="4770842" y="2890932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3177A29-139C-8EAE-1A9F-30A6AB0E24BE}"/>
              </a:ext>
            </a:extLst>
          </p:cNvPr>
          <p:cNvSpPr txBox="1"/>
          <p:nvPr/>
        </p:nvSpPr>
        <p:spPr>
          <a:xfrm>
            <a:off x="5494741" y="1539819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E64DB0B-C902-6483-9FA5-0A35B8DDC336}"/>
              </a:ext>
            </a:extLst>
          </p:cNvPr>
          <p:cNvSpPr txBox="1"/>
          <p:nvPr/>
        </p:nvSpPr>
        <p:spPr>
          <a:xfrm>
            <a:off x="1785940" y="305970"/>
            <a:ext cx="10129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決定取得的資料，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算出預備資料，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決定使用的公式</a:t>
            </a:r>
          </a:p>
        </p:txBody>
      </p:sp>
    </p:spTree>
    <p:extLst>
      <p:ext uri="{BB962C8B-B14F-4D97-AF65-F5344CB8AC3E}">
        <p14:creationId xmlns:p14="http://schemas.microsoft.com/office/powerpoint/2010/main" val="398745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7BE2E-1C50-0B7E-6C9C-DEC1D11D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229C617-C05C-2030-31BA-619AD5801AD5}"/>
              </a:ext>
            </a:extLst>
          </p:cNvPr>
          <p:cNvSpPr txBox="1"/>
          <p:nvPr/>
        </p:nvSpPr>
        <p:spPr>
          <a:xfrm>
            <a:off x="148691" y="124828"/>
            <a:ext cx="4918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3600" dirty="0"/>
              <a:t>MA</a:t>
            </a:r>
            <a:r>
              <a:rPr lang="zh-TW" altLang="en-US" sz="3600" dirty="0"/>
              <a:t>範例</a:t>
            </a:r>
            <a:endParaRPr lang="en-US" altLang="zh-TW" sz="3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805553-6C6E-2BF0-0C4F-902E8D7AC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61711"/>
              </p:ext>
            </p:extLst>
          </p:nvPr>
        </p:nvGraphicFramePr>
        <p:xfrm>
          <a:off x="1285875" y="1024466"/>
          <a:ext cx="875982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491">
                  <a:extLst>
                    <a:ext uri="{9D8B030D-6E8A-4147-A177-3AD203B41FA5}">
                      <a16:colId xmlns:a16="http://schemas.microsoft.com/office/drawing/2014/main" val="2399537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1953666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065559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6378846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96546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26257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01/10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01/11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01/12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01/13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01/14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38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當日收盤價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2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17291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AC107AA1-F8B0-7043-64F6-0B150105E962}"/>
              </a:ext>
            </a:extLst>
          </p:cNvPr>
          <p:cNvSpPr txBox="1"/>
          <p:nvPr/>
        </p:nvSpPr>
        <p:spPr>
          <a:xfrm>
            <a:off x="7959449" y="2364054"/>
            <a:ext cx="4600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r>
              <a:rPr lang="zh-TW" altLang="en-US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長度</a:t>
            </a:r>
            <a:r>
              <a:rPr lang="en-US" altLang="zh-TW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窗口大小</a:t>
            </a:r>
            <a:r>
              <a:rPr lang="en-US" altLang="zh-TW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28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4382ADE-BBEE-EE0D-5BBD-AE01116CF028}"/>
              </a:ext>
            </a:extLst>
          </p:cNvPr>
          <p:cNvSpPr txBox="1"/>
          <p:nvPr/>
        </p:nvSpPr>
        <p:spPr>
          <a:xfrm>
            <a:off x="415391" y="2151983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dirty="0"/>
              <a:t>SMA</a:t>
            </a:r>
            <a:r>
              <a:rPr lang="zh-TW" altLang="en-US" sz="2800" dirty="0"/>
              <a:t>：</a:t>
            </a:r>
            <a:endParaRPr lang="en-US" altLang="zh-TW" sz="2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B01A56-AEC9-B7C6-3DE6-B3175B58E9CE}"/>
              </a:ext>
            </a:extLst>
          </p:cNvPr>
          <p:cNvSpPr txBox="1"/>
          <p:nvPr/>
        </p:nvSpPr>
        <p:spPr>
          <a:xfrm>
            <a:off x="1120241" y="2685832"/>
            <a:ext cx="759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SMA(01/12)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(1+3+5)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2C3B955-36E2-753F-BB9E-9D70D2873A2F}"/>
              </a:ext>
            </a:extLst>
          </p:cNvPr>
          <p:cNvSpPr txBox="1"/>
          <p:nvPr/>
        </p:nvSpPr>
        <p:spPr>
          <a:xfrm>
            <a:off x="1120240" y="3238549"/>
            <a:ext cx="759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SMA(01/13)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(3+5+7)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167062-894C-93C2-F2F1-FF95ED9AE42C}"/>
              </a:ext>
            </a:extLst>
          </p:cNvPr>
          <p:cNvSpPr txBox="1"/>
          <p:nvPr/>
        </p:nvSpPr>
        <p:spPr>
          <a:xfrm>
            <a:off x="1212472" y="3761769"/>
            <a:ext cx="759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SMA(01/14)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(5+7+9)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DA5B7EA-AAC4-8B20-41CA-AD6DD8A32A29}"/>
              </a:ext>
            </a:extLst>
          </p:cNvPr>
          <p:cNvSpPr txBox="1"/>
          <p:nvPr/>
        </p:nvSpPr>
        <p:spPr>
          <a:xfrm>
            <a:off x="415391" y="4522925"/>
            <a:ext cx="1409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dirty="0"/>
              <a:t>WMA</a:t>
            </a:r>
            <a:r>
              <a:rPr lang="zh-TW" altLang="en-US" sz="2800" dirty="0"/>
              <a:t>：</a:t>
            </a:r>
            <a:endParaRPr lang="en-US" altLang="zh-TW" sz="28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28A2885-1652-3E88-D3BD-3ACCFA52EA69}"/>
              </a:ext>
            </a:extLst>
          </p:cNvPr>
          <p:cNvSpPr txBox="1"/>
          <p:nvPr/>
        </p:nvSpPr>
        <p:spPr>
          <a:xfrm>
            <a:off x="1171572" y="5054669"/>
            <a:ext cx="1004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WMA(01/12)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3.67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7318C6-A6C9-7A19-BFF3-64A04EED3367}"/>
              </a:ext>
            </a:extLst>
          </p:cNvPr>
          <p:cNvSpPr/>
          <p:nvPr/>
        </p:nvSpPr>
        <p:spPr>
          <a:xfrm>
            <a:off x="3295807" y="968228"/>
            <a:ext cx="4076385" cy="894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30F3A3-6F51-13E3-4AAC-AE1345FF3555}"/>
              </a:ext>
            </a:extLst>
          </p:cNvPr>
          <p:cNvSpPr/>
          <p:nvPr/>
        </p:nvSpPr>
        <p:spPr>
          <a:xfrm>
            <a:off x="4632561" y="1044030"/>
            <a:ext cx="4076385" cy="89483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08EA06-2740-C3BC-467C-8EEB7C7D3D7E}"/>
              </a:ext>
            </a:extLst>
          </p:cNvPr>
          <p:cNvSpPr/>
          <p:nvPr/>
        </p:nvSpPr>
        <p:spPr>
          <a:xfrm>
            <a:off x="6002377" y="1118286"/>
            <a:ext cx="4076385" cy="89483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52055C9-F048-9306-8186-61427961E90C}"/>
              </a:ext>
            </a:extLst>
          </p:cNvPr>
          <p:cNvSpPr txBox="1"/>
          <p:nvPr/>
        </p:nvSpPr>
        <p:spPr>
          <a:xfrm>
            <a:off x="1161594" y="5591886"/>
            <a:ext cx="1004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WMA(01/13)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5.67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D1D0C0F-10DA-047A-EC1A-B4A96C3A81D4}"/>
              </a:ext>
            </a:extLst>
          </p:cNvPr>
          <p:cNvSpPr txBox="1"/>
          <p:nvPr/>
        </p:nvSpPr>
        <p:spPr>
          <a:xfrm>
            <a:off x="1212472" y="6131418"/>
            <a:ext cx="1004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WMA(01/14)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7.67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DDC0474-3D08-F136-7755-C1A2A6560185}"/>
              </a:ext>
            </a:extLst>
          </p:cNvPr>
          <p:cNvSpPr txBox="1"/>
          <p:nvPr/>
        </p:nvSpPr>
        <p:spPr>
          <a:xfrm>
            <a:off x="7959449" y="2943319"/>
            <a:ext cx="43719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筆原始資料、窗口大小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筆開始有資料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0988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05269-1226-F607-20D2-40A0C77A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99DEBEC-5CB3-84B0-6A05-D1EDFD593700}"/>
              </a:ext>
            </a:extLst>
          </p:cNvPr>
          <p:cNvSpPr txBox="1"/>
          <p:nvPr/>
        </p:nvSpPr>
        <p:spPr>
          <a:xfrm>
            <a:off x="196317" y="172950"/>
            <a:ext cx="25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取資料：</a:t>
            </a:r>
            <a:endParaRPr lang="en-US" altLang="zh-TW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CDDEB95-13E0-11A6-07DA-CBB37791CA94}"/>
              </a:ext>
            </a:extLst>
          </p:cNvPr>
          <p:cNvSpPr txBox="1"/>
          <p:nvPr/>
        </p:nvSpPr>
        <p:spPr>
          <a:xfrm>
            <a:off x="7280009" y="100346"/>
            <a:ext cx="4911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輸入：股票代號、開始日期</a:t>
            </a:r>
            <a:endParaRPr lang="en-US" altLang="zh-TW" sz="2800" b="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94A0FF-9BED-CE45-2446-40449C1EA8CA}"/>
              </a:ext>
            </a:extLst>
          </p:cNvPr>
          <p:cNvSpPr txBox="1"/>
          <p:nvPr/>
        </p:nvSpPr>
        <p:spPr>
          <a:xfrm>
            <a:off x="964932" y="952770"/>
            <a:ext cx="85981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200" b="0" dirty="0"/>
              <a:t>用</a:t>
            </a:r>
            <a:r>
              <a:rPr lang="en-US" altLang="zh-TW" sz="3200" b="0" dirty="0" err="1"/>
              <a:t>yfinance</a:t>
            </a:r>
            <a:r>
              <a:rPr lang="zh-TW" altLang="en-US" sz="3200" b="0" dirty="0"/>
              <a:t>取得開、高、低、收、量</a:t>
            </a:r>
            <a:endParaRPr lang="en-US" altLang="zh-TW" sz="3200" b="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3AA95D6-C657-F62F-545B-6FDBD9330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59" y="1546953"/>
            <a:ext cx="10588892" cy="9213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A3DF6A8-686C-0641-77DC-8A681ED2EB92}"/>
              </a:ext>
            </a:extLst>
          </p:cNvPr>
          <p:cNvSpPr txBox="1"/>
          <p:nvPr/>
        </p:nvSpPr>
        <p:spPr>
          <a:xfrm>
            <a:off x="1088760" y="2649712"/>
            <a:ext cx="5457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3200" b="0" dirty="0"/>
              <a:t>TW</a:t>
            </a:r>
            <a:r>
              <a:rPr lang="zh-TW" altLang="en-US" sz="3200" b="0" dirty="0"/>
              <a:t>：上市</a:t>
            </a:r>
            <a:r>
              <a:rPr lang="en-US" altLang="zh-TW" sz="3200" b="0" dirty="0"/>
              <a:t>	TWO</a:t>
            </a:r>
            <a:r>
              <a:rPr lang="zh-TW" altLang="en-US" sz="3200" b="0" dirty="0"/>
              <a:t>：上櫃</a:t>
            </a:r>
            <a:endParaRPr lang="en-US" altLang="zh-TW" sz="3200" b="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0D8542-4665-3ECF-BA69-84268D645EB1}"/>
              </a:ext>
            </a:extLst>
          </p:cNvPr>
          <p:cNvSpPr txBox="1"/>
          <p:nvPr/>
        </p:nvSpPr>
        <p:spPr>
          <a:xfrm>
            <a:off x="196317" y="3804548"/>
            <a:ext cx="3299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計算預備資料：</a:t>
            </a:r>
            <a:endParaRPr lang="en-US" altLang="zh-TW" sz="3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43C59CC-44BC-2C3F-B8FE-D2B12F6E49A0}"/>
              </a:ext>
            </a:extLst>
          </p:cNvPr>
          <p:cNvSpPr txBox="1"/>
          <p:nvPr/>
        </p:nvSpPr>
        <p:spPr>
          <a:xfrm>
            <a:off x="1088758" y="3239988"/>
            <a:ext cx="8398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200" b="0" dirty="0"/>
              <a:t>先</a:t>
            </a:r>
            <a:r>
              <a:rPr lang="en-US" altLang="zh-TW" sz="3200" b="0" dirty="0"/>
              <a:t>.round(2)</a:t>
            </a:r>
            <a:r>
              <a:rPr lang="zh-TW" altLang="en-US" sz="3200" b="0" dirty="0"/>
              <a:t>方便計算，缺值補</a:t>
            </a:r>
            <a:r>
              <a:rPr lang="en-US" altLang="zh-TW" sz="3200" b="0" dirty="0"/>
              <a:t>0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DE1C08B-8C52-A99A-2674-C7356FD7D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758" y="5147228"/>
            <a:ext cx="10832146" cy="78287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8ACFAE8-53FF-D43E-5706-07756C7F4CA1}"/>
              </a:ext>
            </a:extLst>
          </p:cNvPr>
          <p:cNvSpPr txBox="1"/>
          <p:nvPr/>
        </p:nvSpPr>
        <p:spPr>
          <a:xfrm>
            <a:off x="7641958" y="4014645"/>
            <a:ext cx="4454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0" dirty="0"/>
              <a:t>輸入：</a:t>
            </a:r>
            <a:r>
              <a:rPr lang="en-US" altLang="zh-TW" sz="2800" b="0" dirty="0"/>
              <a:t>MA</a:t>
            </a:r>
            <a:r>
              <a:rPr lang="zh-TW" altLang="en-US" sz="2800" b="0" dirty="0"/>
              <a:t>長度、</a:t>
            </a:r>
            <a:r>
              <a:rPr lang="en-US" altLang="zh-TW" sz="2800" b="0" dirty="0"/>
              <a:t>MA</a:t>
            </a:r>
            <a:r>
              <a:rPr lang="zh-TW" altLang="en-US" sz="2800" b="0" dirty="0"/>
              <a:t>類型</a:t>
            </a:r>
            <a:endParaRPr lang="en-US" altLang="zh-TW" sz="2800" b="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93A75513-78D0-C0A5-B34D-A6C336428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8" y="4498640"/>
            <a:ext cx="2830622" cy="438290"/>
          </a:xfrm>
          <a:prstGeom prst="rect">
            <a:avLst/>
          </a:prstGeom>
        </p:spPr>
      </p:pic>
      <p:sp>
        <p:nvSpPr>
          <p:cNvPr id="15" name="文字方塊 14">
            <a:hlinkClick r:id="rId5"/>
            <a:extLst>
              <a:ext uri="{FF2B5EF4-FFF2-40B4-BE49-F238E27FC236}">
                <a16:creationId xmlns:a16="http://schemas.microsoft.com/office/drawing/2014/main" id="{84C3A960-466C-D4C1-7038-B7E8D66C7D61}"/>
              </a:ext>
            </a:extLst>
          </p:cNvPr>
          <p:cNvSpPr txBox="1"/>
          <p:nvPr/>
        </p:nvSpPr>
        <p:spPr>
          <a:xfrm>
            <a:off x="4724400" y="6354800"/>
            <a:ext cx="7372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u="sng" dirty="0">
                <a:solidFill>
                  <a:srgbClr val="0070C0"/>
                </a:solidFill>
              </a:rPr>
              <a:t>https://yhhuang1966.blogspot.com/2023/08/python-thonny-ta-lib-whl.html</a:t>
            </a:r>
            <a:endParaRPr lang="zh-TW" altLang="en-US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59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E6FC6-4291-F6E6-414B-257F5A28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260F082-2E2A-0390-5929-17A72B1AC601}"/>
              </a:ext>
            </a:extLst>
          </p:cNvPr>
          <p:cNvSpPr txBox="1"/>
          <p:nvPr/>
        </p:nvSpPr>
        <p:spPr>
          <a:xfrm>
            <a:off x="196317" y="172950"/>
            <a:ext cx="25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方法一：</a:t>
            </a:r>
            <a:endParaRPr lang="en-US" altLang="zh-TW" sz="3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4D68979-2209-7BBF-889F-4CCF4A8E014C}"/>
              </a:ext>
            </a:extLst>
          </p:cNvPr>
          <p:cNvSpPr txBox="1"/>
          <p:nvPr/>
        </p:nvSpPr>
        <p:spPr>
          <a:xfrm>
            <a:off x="622033" y="962025"/>
            <a:ext cx="12179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400" b="0" dirty="0"/>
              <a:t>天花板線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正乖離率由小到大排序後的第</a:t>
            </a:r>
            <a:r>
              <a:rPr lang="en-US" altLang="zh-TW" sz="2400" b="0" dirty="0"/>
              <a:t>95%</a:t>
            </a:r>
            <a:r>
              <a:rPr lang="zh-TW" altLang="en-US" sz="2400" b="0" dirty="0"/>
              <a:t>當作門檻值 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  <a:p>
            <a:r>
              <a:rPr lang="zh-TW" altLang="en-US" sz="2400" b="0" dirty="0"/>
              <a:t>地板線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負乖離率由小到大排序後的第</a:t>
            </a:r>
            <a:r>
              <a:rPr lang="en-US" altLang="zh-TW" sz="2400" b="0" dirty="0"/>
              <a:t>5%</a:t>
            </a:r>
            <a:r>
              <a:rPr lang="zh-TW" altLang="en-US" sz="2400" b="0" dirty="0"/>
              <a:t>當作門檻值 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EAB9DE-7C08-1A60-E3F5-7141287E9B52}"/>
              </a:ext>
            </a:extLst>
          </p:cNvPr>
          <p:cNvSpPr txBox="1"/>
          <p:nvPr/>
        </p:nvSpPr>
        <p:spPr>
          <a:xfrm>
            <a:off x="622033" y="1935766"/>
            <a:ext cx="252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乖離率</a:t>
            </a:r>
            <a:r>
              <a:rPr lang="en-US" altLang="zh-TW" sz="2800" dirty="0"/>
              <a:t>(Bias)</a:t>
            </a:r>
            <a:r>
              <a:rPr lang="zh-TW" altLang="en-US" sz="2800" dirty="0"/>
              <a:t>：</a:t>
            </a:r>
            <a:endParaRPr lang="en-US" altLang="zh-TW" sz="2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9ADF07-456B-9C4E-A33F-A26BF1DDEF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61"/>
          <a:stretch/>
        </p:blipFill>
        <p:spPr>
          <a:xfrm>
            <a:off x="3233521" y="1935766"/>
            <a:ext cx="3096057" cy="733495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28EC50B-1B6C-F6C1-C592-E7ABB42D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41484"/>
              </p:ext>
            </p:extLst>
          </p:nvPr>
        </p:nvGraphicFramePr>
        <p:xfrm>
          <a:off x="6849698" y="1935766"/>
          <a:ext cx="428962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583">
                  <a:extLst>
                    <a:ext uri="{9D8B030D-6E8A-4147-A177-3AD203B41FA5}">
                      <a16:colId xmlns:a16="http://schemas.microsoft.com/office/drawing/2014/main" val="1180917711"/>
                    </a:ext>
                  </a:extLst>
                </a:gridCol>
                <a:gridCol w="1529292">
                  <a:extLst>
                    <a:ext uri="{9D8B030D-6E8A-4147-A177-3AD203B41FA5}">
                      <a16:colId xmlns:a16="http://schemas.microsoft.com/office/drawing/2014/main" val="2387195511"/>
                    </a:ext>
                  </a:extLst>
                </a:gridCol>
                <a:gridCol w="1767749">
                  <a:extLst>
                    <a:ext uri="{9D8B030D-6E8A-4147-A177-3AD203B41FA5}">
                      <a16:colId xmlns:a16="http://schemas.microsoft.com/office/drawing/2014/main" val="2864225704"/>
                    </a:ext>
                  </a:extLst>
                </a:gridCol>
              </a:tblGrid>
              <a:tr h="366748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P(</a:t>
                      </a:r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當日收盤</a:t>
                      </a: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854586"/>
                  </a:ext>
                </a:extLst>
              </a:tr>
              <a:tr h="3667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11/11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1058.00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1085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107553"/>
                  </a:ext>
                </a:extLst>
              </a:tr>
              <a:tr h="3667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1036.30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996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387909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B038DC5-5027-37A0-0245-2E02F3E24F6B}"/>
              </a:ext>
            </a:extLst>
          </p:cNvPr>
          <p:cNvSpPr txBox="1"/>
          <p:nvPr/>
        </p:nvSpPr>
        <p:spPr>
          <a:xfrm>
            <a:off x="622033" y="3252686"/>
            <a:ext cx="87952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Bias(11/11) = (1085 – 1058.00) / 1058.00 = 0.0255</a:t>
            </a:r>
          </a:p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Bias(11/27) = (996 – 1036.30) / 1036.30 = - 0.0389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FB04E4-895F-BEAC-503F-C82E22E25FDA}"/>
              </a:ext>
            </a:extLst>
          </p:cNvPr>
          <p:cNvSpPr txBox="1"/>
          <p:nvPr/>
        </p:nvSpPr>
        <p:spPr>
          <a:xfrm>
            <a:off x="11139322" y="2669261"/>
            <a:ext cx="1082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dirty="0"/>
              <a:t>2330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E71D9C9-4DFA-13BD-4678-B0E25D04B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33" y="5309212"/>
            <a:ext cx="9612677" cy="89889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796949-3A77-5535-2875-18E93EB41A9B}"/>
              </a:ext>
            </a:extLst>
          </p:cNvPr>
          <p:cNvSpPr txBox="1"/>
          <p:nvPr/>
        </p:nvSpPr>
        <p:spPr>
          <a:xfrm>
            <a:off x="545833" y="4488875"/>
            <a:ext cx="8795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分成正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Bias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和負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Bias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，皆由小到大排列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416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A4F7-BFB3-CCC1-044A-CDF23C57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B71E31C-AC8E-4F88-7B8F-ABE38430956A}"/>
              </a:ext>
            </a:extLst>
          </p:cNvPr>
          <p:cNvSpPr txBox="1"/>
          <p:nvPr/>
        </p:nvSpPr>
        <p:spPr>
          <a:xfrm>
            <a:off x="507733" y="371475"/>
            <a:ext cx="12179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400" dirty="0"/>
              <a:t>天花板線</a:t>
            </a:r>
            <a:r>
              <a:rPr lang="zh-TW" altLang="en-US" sz="2400" b="0" dirty="0"/>
              <a:t>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正乖離率由小到大排序後的</a:t>
            </a:r>
            <a:r>
              <a:rPr lang="zh-TW" altLang="en-US" sz="2400" dirty="0"/>
              <a:t>第</a:t>
            </a:r>
            <a:r>
              <a:rPr lang="en-US" altLang="zh-TW" sz="2400" dirty="0"/>
              <a:t>95%</a:t>
            </a:r>
            <a:r>
              <a:rPr lang="zh-TW" altLang="en-US" sz="2400" dirty="0"/>
              <a:t>當作門檻值 </a:t>
            </a:r>
            <a:r>
              <a:rPr lang="zh-TW" altLang="en-US" sz="2400" b="0" dirty="0"/>
              <a:t>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  <a:p>
            <a:r>
              <a:rPr lang="zh-TW" altLang="en-US" sz="2400" dirty="0"/>
              <a:t>地板線</a:t>
            </a:r>
            <a:r>
              <a:rPr lang="zh-TW" altLang="en-US" sz="2400" b="0" dirty="0"/>
              <a:t>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負乖離率由小到大排序後的</a:t>
            </a:r>
            <a:r>
              <a:rPr lang="zh-TW" altLang="en-US" sz="2400" dirty="0"/>
              <a:t>第</a:t>
            </a:r>
            <a:r>
              <a:rPr lang="en-US" altLang="zh-TW" sz="2400" dirty="0"/>
              <a:t>5%</a:t>
            </a:r>
            <a:r>
              <a:rPr lang="zh-TW" altLang="en-US" sz="2400" dirty="0"/>
              <a:t>當作門檻值 </a:t>
            </a:r>
            <a:r>
              <a:rPr lang="zh-TW" altLang="en-US" sz="2400" b="0" dirty="0"/>
              <a:t>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BC6A06B-9CB1-512A-98A5-CAE443C7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r="9177" b="49625"/>
          <a:stretch/>
        </p:blipFill>
        <p:spPr>
          <a:xfrm>
            <a:off x="507732" y="2865073"/>
            <a:ext cx="11222151" cy="3012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49F3B38-2E8C-EEB6-FF79-71565BFB2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21"/>
          <a:stretch/>
        </p:blipFill>
        <p:spPr>
          <a:xfrm>
            <a:off x="507732" y="4976604"/>
            <a:ext cx="11566280" cy="29269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D76A44C-1EF6-418A-5C86-6F53D3658D37}"/>
              </a:ext>
            </a:extLst>
          </p:cNvPr>
          <p:cNvSpPr txBox="1"/>
          <p:nvPr/>
        </p:nvSpPr>
        <p:spPr>
          <a:xfrm>
            <a:off x="507733" y="1326477"/>
            <a:ext cx="81151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b="0" dirty="0"/>
              <a:t>50</a:t>
            </a:r>
            <a:r>
              <a:rPr lang="zh-TW" altLang="en-US" sz="2800" b="0" dirty="0"/>
              <a:t>筆數據的第</a:t>
            </a:r>
            <a:r>
              <a:rPr lang="en-US" altLang="zh-TW" sz="2800" b="0" dirty="0"/>
              <a:t>95%</a:t>
            </a:r>
          </a:p>
          <a:p>
            <a:r>
              <a:rPr lang="en-US" altLang="zh-TW" sz="2800" b="0" dirty="0"/>
              <a:t>50</a:t>
            </a:r>
            <a:r>
              <a:rPr lang="zh-TW" altLang="en-US" sz="2800" b="0" dirty="0"/>
              <a:t> * </a:t>
            </a:r>
            <a:r>
              <a:rPr lang="en-US" altLang="zh-TW" sz="2800" b="0" dirty="0"/>
              <a:t>0.95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47.5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(</a:t>
            </a:r>
            <a:r>
              <a:rPr lang="zh-TW" altLang="en-US" sz="2800" b="0" dirty="0"/>
              <a:t>第</a:t>
            </a:r>
            <a:r>
              <a:rPr lang="en-US" altLang="zh-TW" sz="2800" b="0" dirty="0"/>
              <a:t>47</a:t>
            </a:r>
            <a:r>
              <a:rPr lang="zh-TW" altLang="en-US" sz="2800" b="0" dirty="0"/>
              <a:t>筆</a:t>
            </a:r>
            <a:r>
              <a:rPr lang="en-US" altLang="zh-TW" sz="2800" b="0" dirty="0"/>
              <a:t>)</a:t>
            </a:r>
            <a:endParaRPr lang="zh-TW" altLang="en-US" sz="2800" b="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1B6E665-04D3-B21C-D792-33C01FC51597}"/>
              </a:ext>
            </a:extLst>
          </p:cNvPr>
          <p:cNvSpPr txBox="1"/>
          <p:nvPr/>
        </p:nvSpPr>
        <p:spPr>
          <a:xfrm>
            <a:off x="438906" y="3603016"/>
            <a:ext cx="81151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z="2800" b="0" dirty="0"/>
              <a:t>50</a:t>
            </a:r>
            <a:r>
              <a:rPr lang="zh-TW" altLang="en-US" sz="2800" b="0" dirty="0"/>
              <a:t>筆數據的第</a:t>
            </a:r>
            <a:r>
              <a:rPr lang="en-US" altLang="zh-TW" sz="2800" b="0" dirty="0"/>
              <a:t>5%</a:t>
            </a:r>
          </a:p>
          <a:p>
            <a:r>
              <a:rPr lang="en-US" altLang="zh-TW" sz="2800" b="0" dirty="0"/>
              <a:t>50</a:t>
            </a:r>
            <a:r>
              <a:rPr lang="zh-TW" altLang="en-US" sz="2800" b="0" dirty="0"/>
              <a:t> * </a:t>
            </a:r>
            <a:r>
              <a:rPr lang="en-US" altLang="zh-TW" sz="2800" b="0" dirty="0"/>
              <a:t>0.05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=</a:t>
            </a:r>
            <a:r>
              <a:rPr lang="zh-TW" altLang="en-US" sz="2800" b="0" dirty="0"/>
              <a:t> </a:t>
            </a:r>
            <a:r>
              <a:rPr lang="en-US" altLang="zh-TW" sz="2800" b="0" dirty="0"/>
              <a:t>2.5(</a:t>
            </a:r>
            <a:r>
              <a:rPr lang="zh-TW" altLang="en-US" sz="2800" b="0" dirty="0"/>
              <a:t>第</a:t>
            </a:r>
            <a:r>
              <a:rPr lang="en-US" altLang="zh-TW" sz="2800" b="0" dirty="0"/>
              <a:t>2</a:t>
            </a:r>
            <a:r>
              <a:rPr lang="zh-TW" altLang="en-US" sz="2800" b="0" dirty="0"/>
              <a:t>筆</a:t>
            </a:r>
            <a:r>
              <a:rPr lang="en-US" altLang="zh-TW" sz="2800" b="0" dirty="0"/>
              <a:t>)</a:t>
            </a:r>
            <a:endParaRPr lang="zh-TW" altLang="en-US" sz="2800" b="0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4881554-7D2F-5104-0F75-D507538DE508}"/>
              </a:ext>
            </a:extLst>
          </p:cNvPr>
          <p:cNvCxnSpPr>
            <a:cxnSpLocks/>
          </p:cNvCxnSpPr>
          <p:nvPr/>
        </p:nvCxnSpPr>
        <p:spPr>
          <a:xfrm>
            <a:off x="10697498" y="2321147"/>
            <a:ext cx="0" cy="1445342"/>
          </a:xfrm>
          <a:prstGeom prst="lin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220913B-D4AA-1A49-5263-098ED24E878F}"/>
              </a:ext>
            </a:extLst>
          </p:cNvPr>
          <p:cNvCxnSpPr>
            <a:cxnSpLocks/>
          </p:cNvCxnSpPr>
          <p:nvPr/>
        </p:nvCxnSpPr>
        <p:spPr>
          <a:xfrm>
            <a:off x="2792360" y="4561674"/>
            <a:ext cx="0" cy="1122552"/>
          </a:xfrm>
          <a:prstGeom prst="lin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0F4B987-7140-6BF0-B668-142899FE9957}"/>
              </a:ext>
            </a:extLst>
          </p:cNvPr>
          <p:cNvSpPr txBox="1"/>
          <p:nvPr/>
        </p:nvSpPr>
        <p:spPr>
          <a:xfrm>
            <a:off x="10520516" y="4471348"/>
            <a:ext cx="190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0(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無偏差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062CA20-BE35-6367-FC1D-6D14B1D53D40}"/>
              </a:ext>
            </a:extLst>
          </p:cNvPr>
          <p:cNvSpPr txBox="1"/>
          <p:nvPr/>
        </p:nvSpPr>
        <p:spPr>
          <a:xfrm>
            <a:off x="10779843" y="2289583"/>
            <a:ext cx="190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偏差大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B47601B-3D67-45BE-BAE3-E46EAC634C3A}"/>
              </a:ext>
            </a:extLst>
          </p:cNvPr>
          <p:cNvSpPr txBox="1"/>
          <p:nvPr/>
        </p:nvSpPr>
        <p:spPr>
          <a:xfrm>
            <a:off x="973393" y="2321881"/>
            <a:ext cx="190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0(</a:t>
            </a:r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無偏差</a:t>
            </a:r>
            <a:r>
              <a:rPr lang="en-US" altLang="zh-TW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3AC635C-8D5E-0E79-4367-9C3EC0C0D9DB}"/>
              </a:ext>
            </a:extLst>
          </p:cNvPr>
          <p:cNvSpPr txBox="1"/>
          <p:nvPr/>
        </p:nvSpPr>
        <p:spPr>
          <a:xfrm>
            <a:off x="1611262" y="4519115"/>
            <a:ext cx="190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偏差大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FF5F24-7B20-1A9B-2355-4711041CE909}"/>
              </a:ext>
            </a:extLst>
          </p:cNvPr>
          <p:cNvSpPr/>
          <p:nvPr/>
        </p:nvSpPr>
        <p:spPr>
          <a:xfrm>
            <a:off x="9702083" y="2783546"/>
            <a:ext cx="913071" cy="4379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72C97B-6DA8-3EE2-9643-1D2E19EB6659}"/>
              </a:ext>
            </a:extLst>
          </p:cNvPr>
          <p:cNvSpPr/>
          <p:nvPr/>
        </p:nvSpPr>
        <p:spPr>
          <a:xfrm>
            <a:off x="2924582" y="4906057"/>
            <a:ext cx="913071" cy="4379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CF05A628-A18B-3FAD-7818-6216C9DD3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32" y="5896879"/>
            <a:ext cx="3896264" cy="772535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2F238694-9615-7405-B189-A41B4A63B8B0}"/>
              </a:ext>
            </a:extLst>
          </p:cNvPr>
          <p:cNvSpPr txBox="1"/>
          <p:nvPr/>
        </p:nvSpPr>
        <p:spPr>
          <a:xfrm>
            <a:off x="4491331" y="5879555"/>
            <a:ext cx="2604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正門檻百分比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負門檻百分比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995DDDE-9A6A-68E4-B345-2C2EC11E101F}"/>
              </a:ext>
            </a:extLst>
          </p:cNvPr>
          <p:cNvSpPr txBox="1"/>
          <p:nvPr/>
        </p:nvSpPr>
        <p:spPr>
          <a:xfrm>
            <a:off x="7183460" y="6046390"/>
            <a:ext cx="392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能容忍的</a:t>
            </a:r>
            <a:r>
              <a:rPr lang="zh-TW" altLang="en-US" dirty="0">
                <a:solidFill>
                  <a:srgbClr val="FF0000"/>
                </a:solidFill>
              </a:rPr>
              <a:t>最大偏差</a:t>
            </a:r>
            <a:r>
              <a:rPr lang="zh-TW" altLang="en-US" dirty="0"/>
              <a:t>百分比</a:t>
            </a:r>
          </a:p>
        </p:txBody>
      </p:sp>
    </p:spTree>
    <p:extLst>
      <p:ext uri="{BB962C8B-B14F-4D97-AF65-F5344CB8AC3E}">
        <p14:creationId xmlns:p14="http://schemas.microsoft.com/office/powerpoint/2010/main" val="346243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4D96-5A5C-7595-F693-E5CD9F85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6DC4619-EFB9-86AE-1E36-162CE184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10"/>
          <a:stretch/>
        </p:blipFill>
        <p:spPr>
          <a:xfrm>
            <a:off x="8165832" y="1266212"/>
            <a:ext cx="3481013" cy="749496"/>
          </a:xfrm>
          <a:prstGeom prst="rect">
            <a:avLst/>
          </a:prstGeom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372517-050D-B18A-C504-C807E93FB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017489"/>
              </p:ext>
            </p:extLst>
          </p:nvPr>
        </p:nvGraphicFramePr>
        <p:xfrm>
          <a:off x="533400" y="1017504"/>
          <a:ext cx="722603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66">
                  <a:extLst>
                    <a:ext uri="{9D8B030D-6E8A-4147-A177-3AD203B41FA5}">
                      <a16:colId xmlns:a16="http://schemas.microsoft.com/office/drawing/2014/main" val="19712801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59592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58740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11/26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10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SMA/WMA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1039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1037.75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7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天花板線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1144.04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1142.67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62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地板線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957.23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956.08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695260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2792AE89-3741-42AF-29B3-FB27B95C70B5}"/>
              </a:ext>
            </a:extLst>
          </p:cNvPr>
          <p:cNvSpPr txBox="1"/>
          <p:nvPr/>
        </p:nvSpPr>
        <p:spPr>
          <a:xfrm>
            <a:off x="326758" y="2791849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天花板線：</a:t>
            </a:r>
            <a:endParaRPr lang="en-US" altLang="zh-TW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C96841-794D-337E-F305-C1ADC63F216C}"/>
              </a:ext>
            </a:extLst>
          </p:cNvPr>
          <p:cNvSpPr txBox="1"/>
          <p:nvPr/>
        </p:nvSpPr>
        <p:spPr>
          <a:xfrm>
            <a:off x="2193657" y="3167390"/>
            <a:ext cx="9453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(11/26)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0.1011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1144.04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34F09A-F6FB-1C05-3ADF-F906828A8DF3}"/>
              </a:ext>
            </a:extLst>
          </p:cNvPr>
          <p:cNvSpPr txBox="1"/>
          <p:nvPr/>
        </p:nvSpPr>
        <p:spPr>
          <a:xfrm>
            <a:off x="326758" y="93922"/>
            <a:ext cx="12179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6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400" dirty="0"/>
              <a:t>天花板線</a:t>
            </a:r>
            <a:r>
              <a:rPr lang="zh-TW" altLang="en-US" sz="2400" b="0" dirty="0"/>
              <a:t>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正乖離率由小到大排序後的</a:t>
            </a:r>
            <a:r>
              <a:rPr lang="zh-TW" altLang="en-US" sz="2400" dirty="0"/>
              <a:t>第</a:t>
            </a:r>
            <a:r>
              <a:rPr lang="en-US" altLang="zh-TW" sz="2400" dirty="0"/>
              <a:t>95%</a:t>
            </a:r>
            <a:r>
              <a:rPr lang="zh-TW" altLang="en-US" sz="2400" dirty="0"/>
              <a:t>當作門檻值 </a:t>
            </a:r>
            <a:r>
              <a:rPr lang="zh-TW" altLang="en-US" sz="2400" b="0" dirty="0"/>
              <a:t>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  <a:p>
            <a:r>
              <a:rPr lang="zh-TW" altLang="en-US" sz="2400" dirty="0"/>
              <a:t>地板線</a:t>
            </a:r>
            <a:r>
              <a:rPr lang="zh-TW" altLang="en-US" sz="2400" b="0" dirty="0"/>
              <a:t> </a:t>
            </a:r>
            <a:r>
              <a:rPr lang="en-US" altLang="zh-TW" sz="2400" b="0" dirty="0"/>
              <a:t>= </a:t>
            </a:r>
            <a:r>
              <a:rPr lang="zh-TW" altLang="en-US" sz="2400" b="0" dirty="0"/>
              <a:t>負乖離率由小到大排序後的</a:t>
            </a:r>
            <a:r>
              <a:rPr lang="zh-TW" altLang="en-US" sz="2400" dirty="0"/>
              <a:t>第</a:t>
            </a:r>
            <a:r>
              <a:rPr lang="en-US" altLang="zh-TW" sz="2400" dirty="0"/>
              <a:t>5%</a:t>
            </a:r>
            <a:r>
              <a:rPr lang="zh-TW" altLang="en-US" sz="2400" dirty="0"/>
              <a:t>當作門檻值 </a:t>
            </a:r>
            <a:r>
              <a:rPr lang="zh-TW" altLang="en-US" sz="2400" b="0" dirty="0"/>
              <a:t>*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 + </a:t>
            </a:r>
            <a:r>
              <a:rPr lang="en-US" altLang="zh-TW" sz="2400" b="0" dirty="0">
                <a:solidFill>
                  <a:srgbClr val="00B0F0"/>
                </a:solidFill>
              </a:rPr>
              <a:t>20</a:t>
            </a:r>
            <a:r>
              <a:rPr lang="en-US" altLang="zh-TW" sz="2400" b="0" dirty="0"/>
              <a:t> ma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9C003E-26CA-7D11-7741-76386E69D2DE}"/>
              </a:ext>
            </a:extLst>
          </p:cNvPr>
          <p:cNvSpPr txBox="1"/>
          <p:nvPr/>
        </p:nvSpPr>
        <p:spPr>
          <a:xfrm>
            <a:off x="2193656" y="3710583"/>
            <a:ext cx="96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0.1011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1142.67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269C77-1F00-BA77-AC47-6767B62F602A}"/>
              </a:ext>
            </a:extLst>
          </p:cNvPr>
          <p:cNvSpPr txBox="1"/>
          <p:nvPr/>
        </p:nvSpPr>
        <p:spPr>
          <a:xfrm>
            <a:off x="326758" y="4173688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地板線：</a:t>
            </a:r>
            <a:endParaRPr lang="en-US" altLang="zh-TW" sz="28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9B33981-5B93-26B8-BA99-82878BF05C3C}"/>
              </a:ext>
            </a:extLst>
          </p:cNvPr>
          <p:cNvSpPr txBox="1"/>
          <p:nvPr/>
        </p:nvSpPr>
        <p:spPr>
          <a:xfrm>
            <a:off x="2193656" y="4675296"/>
            <a:ext cx="9055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(11/26)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(-0.0787)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957.23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BC4E6B-3754-B191-1C10-39157A27C154}"/>
              </a:ext>
            </a:extLst>
          </p:cNvPr>
          <p:cNvSpPr txBox="1"/>
          <p:nvPr/>
        </p:nvSpPr>
        <p:spPr>
          <a:xfrm>
            <a:off x="2193656" y="5160013"/>
            <a:ext cx="96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en-US" altLang="zh-TW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(-0.0787)</a:t>
            </a:r>
            <a:r>
              <a: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956.08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48BF925-3FC3-91BE-5AC1-053D16E2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0" y="5885862"/>
            <a:ext cx="11216075" cy="87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0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C940-1C8C-7983-4B5B-294A1F647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F790E4-289C-8A33-CCFB-2E2F2A96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561575"/>
            <a:ext cx="10564699" cy="573485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10D4CD6-1CBD-050C-59A7-5BB574680EDD}"/>
              </a:ext>
            </a:extLst>
          </p:cNvPr>
          <p:cNvSpPr txBox="1"/>
          <p:nvPr/>
        </p:nvSpPr>
        <p:spPr>
          <a:xfrm>
            <a:off x="3867150" y="1323975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BB09F0E-3BC7-514C-A156-360EA280B72C}"/>
              </a:ext>
            </a:extLst>
          </p:cNvPr>
          <p:cNvSpPr txBox="1"/>
          <p:nvPr/>
        </p:nvSpPr>
        <p:spPr>
          <a:xfrm>
            <a:off x="3743325" y="1988890"/>
            <a:ext cx="90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endParaRPr lang="zh-TW" altLang="en-US" sz="24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756F3E-1A91-D774-B2C5-E1D502C0EE48}"/>
              </a:ext>
            </a:extLst>
          </p:cNvPr>
          <p:cNvSpPr txBox="1"/>
          <p:nvPr/>
        </p:nvSpPr>
        <p:spPr>
          <a:xfrm>
            <a:off x="4533899" y="2751290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0449706-5593-04AE-4AB3-4B3E49FF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367" y="3486456"/>
            <a:ext cx="1150183" cy="79256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32D4199-03CA-3149-045A-42621A8210EA}"/>
              </a:ext>
            </a:extLst>
          </p:cNvPr>
          <p:cNvSpPr/>
          <p:nvPr/>
        </p:nvSpPr>
        <p:spPr>
          <a:xfrm>
            <a:off x="3110783" y="3428999"/>
            <a:ext cx="1537417" cy="10572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640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BB5A-16A9-1C62-929D-15378070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E1A7F14-77E1-44EF-5647-29FE5D4384C6}"/>
              </a:ext>
            </a:extLst>
          </p:cNvPr>
          <p:cNvSpPr txBox="1"/>
          <p:nvPr/>
        </p:nvSpPr>
        <p:spPr>
          <a:xfrm>
            <a:off x="196317" y="172950"/>
            <a:ext cx="25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方法二：</a:t>
            </a:r>
            <a:endParaRPr lang="en-US" altLang="zh-TW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D2A68A-63EA-8147-5F5D-EA239F779BA6}"/>
              </a:ext>
            </a:extLst>
          </p:cNvPr>
          <p:cNvSpPr txBox="1"/>
          <p:nvPr/>
        </p:nvSpPr>
        <p:spPr>
          <a:xfrm>
            <a:off x="1098284" y="914400"/>
            <a:ext cx="9512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地板線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* (</a:t>
            </a:r>
            <a:r>
              <a:rPr lang="zh-TW" altLang="en-US" dirty="0"/>
              <a:t>負乖離率平均 </a:t>
            </a:r>
            <a:r>
              <a:rPr lang="en-US" altLang="zh-TW" dirty="0"/>
              <a:t>- </a:t>
            </a:r>
            <a:r>
              <a:rPr lang="zh-TW" altLang="en-US" dirty="0"/>
              <a:t>負乖離率</a:t>
            </a:r>
            <a:r>
              <a:rPr lang="en-US" altLang="zh-TW" dirty="0"/>
              <a:t>2</a:t>
            </a:r>
            <a:r>
              <a:rPr lang="zh-TW" altLang="en-US" dirty="0"/>
              <a:t>倍標準差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*</a:t>
            </a:r>
            <a:r>
              <a:rPr lang="zh-TW" altLang="en-US" dirty="0"/>
              <a:t>天花板線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* (</a:t>
            </a:r>
            <a:r>
              <a:rPr lang="zh-TW" altLang="en-US" dirty="0"/>
              <a:t>正乖離率平均 </a:t>
            </a:r>
            <a:r>
              <a:rPr lang="en-US" altLang="zh-TW" dirty="0"/>
              <a:t>+ </a:t>
            </a:r>
            <a:r>
              <a:rPr lang="zh-TW" altLang="en-US" dirty="0"/>
              <a:t>正乖離率</a:t>
            </a:r>
            <a:r>
              <a:rPr lang="en-US" altLang="zh-TW" dirty="0"/>
              <a:t>2</a:t>
            </a:r>
            <a:r>
              <a:rPr lang="zh-TW" altLang="en-US" dirty="0"/>
              <a:t>倍標準差</a:t>
            </a:r>
            <a:r>
              <a:rPr lang="en-US" altLang="zh-TW" dirty="0"/>
              <a:t>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75787B7-DD2B-6008-87B7-2CD59C7B3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81" y="1942282"/>
            <a:ext cx="10675987" cy="46166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24FDE32-ED4D-77FB-17A6-DCFFB29F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81" y="2668943"/>
            <a:ext cx="5750305" cy="80966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753DC8C-140E-47DB-B3C9-A898FB04EC3A}"/>
              </a:ext>
            </a:extLst>
          </p:cNvPr>
          <p:cNvSpPr txBox="1"/>
          <p:nvPr/>
        </p:nvSpPr>
        <p:spPr>
          <a:xfrm>
            <a:off x="7172324" y="2704395"/>
            <a:ext cx="2847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np.std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(input)</a:t>
            </a:r>
          </a:p>
          <a:p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np.mean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(input)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026EBD-5629-7AE0-B86A-946CEFAFADDA}"/>
              </a:ext>
            </a:extLst>
          </p:cNvPr>
          <p:cNvSpPr txBox="1"/>
          <p:nvPr/>
        </p:nvSpPr>
        <p:spPr>
          <a:xfrm>
            <a:off x="1167581" y="3783130"/>
            <a:ext cx="5191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2 </a:t>
            </a:r>
            <a:r>
              <a:rPr lang="zh-TW" altLang="en-US" dirty="0"/>
              <a:t>倍標準差涵蓋約 </a:t>
            </a:r>
            <a:r>
              <a:rPr lang="en-US" altLang="zh-TW" b="1" dirty="0"/>
              <a:t>95% </a:t>
            </a:r>
            <a:r>
              <a:rPr lang="zh-TW" altLang="en-US" b="1" dirty="0"/>
              <a:t>的數據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C30891-BD38-E39D-6052-FB3AEB32B71E}"/>
              </a:ext>
            </a:extLst>
          </p:cNvPr>
          <p:cNvSpPr txBox="1"/>
          <p:nvPr/>
        </p:nvSpPr>
        <p:spPr>
          <a:xfrm>
            <a:off x="1098284" y="4454054"/>
            <a:ext cx="90963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負門檻值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 err="1"/>
              <a:t>neg_BIAS_mean</a:t>
            </a:r>
            <a:r>
              <a:rPr lang="zh-TW" altLang="en-US" sz="2800" dirty="0"/>
              <a:t> </a:t>
            </a:r>
            <a:r>
              <a:rPr lang="en-US" altLang="zh-TW" sz="2800" dirty="0"/>
              <a:t>–</a:t>
            </a:r>
            <a:r>
              <a:rPr lang="zh-TW" altLang="en-US" sz="2800" dirty="0"/>
              <a:t> </a:t>
            </a:r>
            <a:r>
              <a:rPr lang="en-US" altLang="zh-TW" sz="2800" dirty="0"/>
              <a:t>(2</a:t>
            </a:r>
            <a:r>
              <a:rPr lang="zh-TW" altLang="en-US" sz="2800" dirty="0"/>
              <a:t> * </a:t>
            </a:r>
            <a:r>
              <a:rPr lang="en-US" altLang="zh-TW" sz="2800" dirty="0" err="1"/>
              <a:t>neg_BIAS_std</a:t>
            </a:r>
            <a:r>
              <a:rPr lang="en-US" altLang="zh-TW" sz="2800" dirty="0"/>
              <a:t>)</a:t>
            </a:r>
          </a:p>
          <a:p>
            <a:r>
              <a:rPr lang="en-US" altLang="zh-TW" sz="2800" dirty="0"/>
              <a:t>	</a:t>
            </a:r>
            <a:r>
              <a:rPr lang="zh-TW" altLang="en-US" sz="2800" dirty="0"/>
              <a:t>    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-</a:t>
            </a:r>
            <a:r>
              <a:rPr lang="zh-TW" altLang="en-US" sz="2800" dirty="0"/>
              <a:t> </a:t>
            </a:r>
            <a:r>
              <a:rPr lang="en-US" altLang="zh-TW" sz="2800" dirty="0"/>
              <a:t>0.0831209362351148</a:t>
            </a:r>
            <a:endParaRPr lang="zh-TW" altLang="en-US" sz="28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08AA9FA-64E8-8FAE-82D8-F376127E608E}"/>
              </a:ext>
            </a:extLst>
          </p:cNvPr>
          <p:cNvSpPr txBox="1"/>
          <p:nvPr/>
        </p:nvSpPr>
        <p:spPr>
          <a:xfrm>
            <a:off x="8621977" y="5112604"/>
            <a:ext cx="3595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能容忍的</a:t>
            </a:r>
            <a:r>
              <a:rPr lang="zh-TW" altLang="en-US" dirty="0">
                <a:solidFill>
                  <a:srgbClr val="FF0000"/>
                </a:solidFill>
              </a:rPr>
              <a:t>最大偏差</a:t>
            </a:r>
            <a:r>
              <a:rPr lang="zh-TW" altLang="en-US" dirty="0"/>
              <a:t>百分比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7F61C19-BB42-DDC8-A9F8-FEBD908C1D2F}"/>
              </a:ext>
            </a:extLst>
          </p:cNvPr>
          <p:cNvSpPr txBox="1"/>
          <p:nvPr/>
        </p:nvSpPr>
        <p:spPr>
          <a:xfrm>
            <a:off x="1098283" y="5617420"/>
            <a:ext cx="9096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正門檻值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 err="1"/>
              <a:t>pos_BIAS_mean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</a:t>
            </a:r>
            <a:r>
              <a:rPr lang="en-US" altLang="zh-TW" sz="2800" dirty="0"/>
              <a:t>(2</a:t>
            </a:r>
            <a:r>
              <a:rPr lang="zh-TW" altLang="en-US" sz="2800" dirty="0"/>
              <a:t> * </a:t>
            </a:r>
            <a:r>
              <a:rPr lang="en-US" altLang="zh-TW" sz="2800" dirty="0" err="1"/>
              <a:t>pos_BIAS_std</a:t>
            </a:r>
            <a:r>
              <a:rPr lang="en-US" altLang="zh-TW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404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BEA5D-1BF5-EC3E-1E41-F69D7E42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0407A68-37E1-37D8-1C4E-887A4A2D123E}"/>
              </a:ext>
            </a:extLst>
          </p:cNvPr>
          <p:cNvSpPr txBox="1"/>
          <p:nvPr/>
        </p:nvSpPr>
        <p:spPr>
          <a:xfrm>
            <a:off x="669659" y="311766"/>
            <a:ext cx="10084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地板線 </a:t>
            </a:r>
            <a:r>
              <a:rPr lang="en-US" altLang="zh-TW" dirty="0"/>
              <a:t>=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* (</a:t>
            </a:r>
            <a:r>
              <a:rPr lang="zh-TW" altLang="en-US" dirty="0"/>
              <a:t>負乖離率平均 </a:t>
            </a:r>
            <a:r>
              <a:rPr lang="en-US" altLang="zh-TW" dirty="0"/>
              <a:t>- </a:t>
            </a:r>
            <a:r>
              <a:rPr lang="zh-TW" altLang="en-US" dirty="0"/>
              <a:t>負乖離率</a:t>
            </a:r>
            <a:r>
              <a:rPr lang="en-US" altLang="zh-TW" dirty="0"/>
              <a:t>2</a:t>
            </a:r>
            <a:r>
              <a:rPr lang="zh-TW" altLang="en-US" dirty="0"/>
              <a:t>倍標準差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*</a:t>
            </a:r>
            <a:r>
              <a:rPr lang="zh-TW" altLang="en-US" dirty="0"/>
              <a:t>天花板線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* (</a:t>
            </a:r>
            <a:r>
              <a:rPr lang="zh-TW" altLang="en-US" dirty="0"/>
              <a:t>正乖離率平均 </a:t>
            </a:r>
            <a:r>
              <a:rPr lang="en-US" altLang="zh-TW" dirty="0"/>
              <a:t>+ </a:t>
            </a:r>
            <a:r>
              <a:rPr lang="zh-TW" altLang="en-US" dirty="0"/>
              <a:t>正乖離率</a:t>
            </a:r>
            <a:r>
              <a:rPr lang="en-US" altLang="zh-TW" dirty="0"/>
              <a:t>2</a:t>
            </a:r>
            <a:r>
              <a:rPr lang="zh-TW" altLang="en-US" dirty="0"/>
              <a:t>倍標準差</a:t>
            </a:r>
            <a:r>
              <a:rPr lang="en-US" altLang="zh-TW" dirty="0"/>
              <a:t>)</a:t>
            </a:r>
          </a:p>
          <a:p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714784-E84E-28F5-E26C-8EF7107EF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4" y="5872448"/>
            <a:ext cx="9671585" cy="852411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D0B658-4DAA-EC04-B747-E0B3E688A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465916"/>
              </p:ext>
            </p:extLst>
          </p:nvPr>
        </p:nvGraphicFramePr>
        <p:xfrm>
          <a:off x="793484" y="1279027"/>
          <a:ext cx="7226032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66">
                  <a:extLst>
                    <a:ext uri="{9D8B030D-6E8A-4147-A177-3AD203B41FA5}">
                      <a16:colId xmlns:a16="http://schemas.microsoft.com/office/drawing/2014/main" val="19712801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59592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58740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11/26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11/27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10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SMA/WMA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1039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1037.75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72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天花板線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..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..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14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地板線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952.64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951.49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69526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8B850D4-A004-956B-3BA3-849C35B1C46F}"/>
              </a:ext>
            </a:extLst>
          </p:cNvPr>
          <p:cNvSpPr txBox="1"/>
          <p:nvPr/>
        </p:nvSpPr>
        <p:spPr>
          <a:xfrm>
            <a:off x="8232366" y="1710987"/>
            <a:ext cx="40929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b="1" dirty="0">
                <a:solidFill>
                  <a:srgbClr val="FF0000"/>
                </a:solidFill>
              </a:rPr>
              <a:t>負門檻值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/>
              <a:t>-</a:t>
            </a:r>
            <a:r>
              <a:rPr lang="zh-TW" altLang="en-US" sz="2800" dirty="0"/>
              <a:t> </a:t>
            </a:r>
            <a:r>
              <a:rPr lang="en-US" altLang="zh-TW" sz="2800" dirty="0"/>
              <a:t>0.0831209362351148</a:t>
            </a:r>
            <a:endParaRPr lang="zh-TW" altLang="en-US" sz="2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52E200-41C5-9A20-9A94-5911620A221E}"/>
              </a:ext>
            </a:extLst>
          </p:cNvPr>
          <p:cNvSpPr txBox="1"/>
          <p:nvPr/>
        </p:nvSpPr>
        <p:spPr>
          <a:xfrm>
            <a:off x="361370" y="4418070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地板線：</a:t>
            </a:r>
            <a:endParaRPr lang="en-US" altLang="zh-TW" sz="2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2C8C504-D343-9C08-E09F-5290BB538DC1}"/>
              </a:ext>
            </a:extLst>
          </p:cNvPr>
          <p:cNvSpPr txBox="1"/>
          <p:nvPr/>
        </p:nvSpPr>
        <p:spPr>
          <a:xfrm>
            <a:off x="1976958" y="4785166"/>
            <a:ext cx="9055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(11/26)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負門檻值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952.64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68389DD-2987-494A-829E-49AB60C99B3E}"/>
              </a:ext>
            </a:extLst>
          </p:cNvPr>
          <p:cNvSpPr txBox="1"/>
          <p:nvPr/>
        </p:nvSpPr>
        <p:spPr>
          <a:xfrm>
            <a:off x="1976958" y="5292078"/>
            <a:ext cx="9671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負門檻值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951.49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264DF3-9510-E34F-AB87-7CDD037BE699}"/>
              </a:ext>
            </a:extLst>
          </p:cNvPr>
          <p:cNvSpPr txBox="1"/>
          <p:nvPr/>
        </p:nvSpPr>
        <p:spPr>
          <a:xfrm>
            <a:off x="292147" y="3091267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天花板線：</a:t>
            </a:r>
            <a:endParaRPr lang="en-US" altLang="zh-TW" sz="28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C8D08D-8ADB-0991-ECEF-53B2EB85564B}"/>
              </a:ext>
            </a:extLst>
          </p:cNvPr>
          <p:cNvSpPr txBox="1"/>
          <p:nvPr/>
        </p:nvSpPr>
        <p:spPr>
          <a:xfrm>
            <a:off x="2159046" y="3466808"/>
            <a:ext cx="9453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(11/26)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正門檻值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1039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..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EDAD5F6-1E9C-4658-B52E-324B94E83C25}"/>
              </a:ext>
            </a:extLst>
          </p:cNvPr>
          <p:cNvSpPr txBox="1"/>
          <p:nvPr/>
        </p:nvSpPr>
        <p:spPr>
          <a:xfrm>
            <a:off x="2159045" y="4010001"/>
            <a:ext cx="10166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(11/27)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* 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正門檻值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1037.75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.. 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554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D895-1B58-C2E3-8E6D-CB9BFB08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86CC73A-1621-D29F-E840-21B7AC371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547285"/>
            <a:ext cx="10593278" cy="576342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D0264FF-2307-DB51-2D5B-317FCEAC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26" y="3428999"/>
            <a:ext cx="1409897" cy="103837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43DBA0A-8D54-7755-DBC8-3DA2F76F4938}"/>
              </a:ext>
            </a:extLst>
          </p:cNvPr>
          <p:cNvSpPr txBox="1"/>
          <p:nvPr/>
        </p:nvSpPr>
        <p:spPr>
          <a:xfrm>
            <a:off x="4095651" y="1354821"/>
            <a:ext cx="90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endParaRPr lang="zh-TW" altLang="en-US" sz="2400" b="1" dirty="0">
              <a:solidFill>
                <a:schemeClr val="accent5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84B249-5E1C-447B-6029-D113A3BA07D2}"/>
              </a:ext>
            </a:extLst>
          </p:cNvPr>
          <p:cNvSpPr txBox="1"/>
          <p:nvPr/>
        </p:nvSpPr>
        <p:spPr>
          <a:xfrm>
            <a:off x="3581301" y="2624022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B21D44-3403-7437-B1DF-1143F5D9E790}"/>
              </a:ext>
            </a:extLst>
          </p:cNvPr>
          <p:cNvSpPr/>
          <p:nvPr/>
        </p:nvSpPr>
        <p:spPr>
          <a:xfrm>
            <a:off x="5000526" y="3428999"/>
            <a:ext cx="1537417" cy="10572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517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BE46E7E-D9CB-6D88-7AC1-727B855B6E70}"/>
              </a:ext>
            </a:extLst>
          </p:cNvPr>
          <p:cNvSpPr txBox="1"/>
          <p:nvPr/>
        </p:nvSpPr>
        <p:spPr>
          <a:xfrm>
            <a:off x="168322" y="90892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完整圖：</a:t>
            </a:r>
            <a:endParaRPr lang="en-US" altLang="zh-TW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B29396B-B3A7-115A-729C-941196FF7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87" y="1033262"/>
            <a:ext cx="11172825" cy="510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4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FDEF-4779-1971-D774-1B46C940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E1698F9-9211-55B8-1337-4AEAF4E2E666}"/>
              </a:ext>
            </a:extLst>
          </p:cNvPr>
          <p:cNvSpPr txBox="1"/>
          <p:nvPr/>
        </p:nvSpPr>
        <p:spPr>
          <a:xfrm>
            <a:off x="196317" y="172950"/>
            <a:ext cx="25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方法三：</a:t>
            </a:r>
            <a:endParaRPr lang="en-US" altLang="zh-TW" sz="3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3C9A4E4-2980-F299-19E0-1C543F03F7EF}"/>
              </a:ext>
            </a:extLst>
          </p:cNvPr>
          <p:cNvSpPr txBox="1"/>
          <p:nvPr/>
        </p:nvSpPr>
        <p:spPr>
          <a:xfrm>
            <a:off x="0" y="815110"/>
            <a:ext cx="12585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條件一：地板線 </a:t>
            </a:r>
            <a:r>
              <a:rPr lang="en-US" altLang="zh-TW" dirty="0"/>
              <a:t>= </a:t>
            </a:r>
            <a:r>
              <a:rPr lang="zh-TW" altLang="en-US" dirty="0"/>
              <a:t>負乖離率由小到大排序後的第</a:t>
            </a:r>
            <a:r>
              <a:rPr lang="en-US" altLang="zh-TW" dirty="0"/>
              <a:t>1%(5%)</a:t>
            </a:r>
            <a:r>
              <a:rPr lang="zh-TW" altLang="en-US" dirty="0"/>
              <a:t>當作門檻值 *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</a:t>
            </a:r>
            <a:r>
              <a:rPr lang="en-US" altLang="zh-TW" dirty="0">
                <a:solidFill>
                  <a:srgbClr val="00B0F0"/>
                </a:solidFill>
              </a:rPr>
              <a:t> 20 </a:t>
            </a:r>
            <a:r>
              <a:rPr lang="en-US" altLang="zh-TW" dirty="0"/>
              <a:t>ma</a:t>
            </a:r>
          </a:p>
          <a:p>
            <a:r>
              <a:rPr lang="en-US" altLang="zh-TW" dirty="0"/>
              <a:t>	</a:t>
            </a:r>
            <a:r>
              <a:rPr lang="zh-TW" altLang="en-US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*</a:t>
            </a:r>
            <a:r>
              <a:rPr lang="zh-TW" altLang="en-US" dirty="0"/>
              <a:t>天花板線 </a:t>
            </a:r>
            <a:r>
              <a:rPr lang="en-US" altLang="zh-TW" dirty="0"/>
              <a:t>= </a:t>
            </a:r>
            <a:r>
              <a:rPr lang="zh-TW" altLang="en-US" dirty="0"/>
              <a:t>正乖離率由小到大排序後的第</a:t>
            </a:r>
            <a:r>
              <a:rPr lang="en-US" altLang="zh-TW" dirty="0"/>
              <a:t>99%(95%)</a:t>
            </a:r>
            <a:r>
              <a:rPr lang="zh-TW" altLang="en-US" dirty="0"/>
              <a:t>當作門檻值 * </a:t>
            </a:r>
            <a:r>
              <a:rPr lang="en-US" altLang="zh-TW" dirty="0">
                <a:solidFill>
                  <a:srgbClr val="00B0F0"/>
                </a:solidFill>
              </a:rPr>
              <a:t>20</a:t>
            </a:r>
            <a:r>
              <a:rPr lang="en-US" altLang="zh-TW" dirty="0"/>
              <a:t> ma +</a:t>
            </a:r>
            <a:r>
              <a:rPr lang="en-US" altLang="zh-TW" dirty="0">
                <a:solidFill>
                  <a:srgbClr val="00B0F0"/>
                </a:solidFill>
              </a:rPr>
              <a:t> 20 </a:t>
            </a:r>
            <a:r>
              <a:rPr lang="en-US" altLang="zh-TW" dirty="0"/>
              <a:t>ma</a:t>
            </a:r>
          </a:p>
          <a:p>
            <a:r>
              <a:rPr lang="zh-TW" altLang="en-US" dirty="0"/>
              <a:t>條件二：當天交易量必須大於</a:t>
            </a:r>
            <a:r>
              <a:rPr lang="en-US" altLang="zh-TW" dirty="0"/>
              <a:t>2</a:t>
            </a:r>
            <a:r>
              <a:rPr lang="zh-TW" altLang="en-US" dirty="0"/>
              <a:t>倍的</a:t>
            </a:r>
            <a:r>
              <a:rPr lang="en-US" altLang="zh-TW" dirty="0"/>
              <a:t>20</a:t>
            </a:r>
            <a:r>
              <a:rPr lang="zh-TW" altLang="en-US" dirty="0"/>
              <a:t>天均量才符合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1904FB-04DB-D4EF-0132-A99B6B37EB4E}"/>
              </a:ext>
            </a:extLst>
          </p:cNvPr>
          <p:cNvSpPr txBox="1"/>
          <p:nvPr/>
        </p:nvSpPr>
        <p:spPr>
          <a:xfrm>
            <a:off x="629064" y="2105772"/>
            <a:ext cx="651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與方法三相比，多一條</a:t>
            </a:r>
            <a:r>
              <a:rPr lang="en-US" altLang="zh-TW" dirty="0"/>
              <a:t>1%</a:t>
            </a:r>
            <a:r>
              <a:rPr lang="zh-TW" altLang="en-US" dirty="0"/>
              <a:t>的地板線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0E58DCF-582E-0593-D617-FC74CD4EE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2" y="2723231"/>
            <a:ext cx="11106150" cy="681359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4EB1BFB-1A69-CA09-1054-C5360B9D1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53157"/>
              </p:ext>
            </p:extLst>
          </p:nvPr>
        </p:nvGraphicFramePr>
        <p:xfrm>
          <a:off x="629064" y="4095087"/>
          <a:ext cx="8254999" cy="764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111">
                  <a:extLst>
                    <a:ext uri="{9D8B030D-6E8A-4147-A177-3AD203B41FA5}">
                      <a16:colId xmlns:a16="http://schemas.microsoft.com/office/drawing/2014/main" val="246391705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657584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0462931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418941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17831668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63074670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3396518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21709778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4136858"/>
                    </a:ext>
                  </a:extLst>
                </a:gridCol>
              </a:tblGrid>
              <a:tr h="39340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11/01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11/04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11/05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11/06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11/27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11/28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11/29</a:t>
                      </a:r>
                      <a:endParaRPr lang="zh-TW" altLang="en-US" dirty="0">
                        <a:solidFill>
                          <a:srgbClr val="FFC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133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Volume</a:t>
                      </a:r>
                      <a:endParaRPr lang="zh-TW" altLang="en-US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…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27000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32000</a:t>
                      </a:r>
                      <a:endParaRPr lang="zh-TW" altLang="en-US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70173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BF16059-801F-7A59-E50A-5466E8F5C724}"/>
              </a:ext>
            </a:extLst>
          </p:cNvPr>
          <p:cNvSpPr txBox="1"/>
          <p:nvPr/>
        </p:nvSpPr>
        <p:spPr>
          <a:xfrm>
            <a:off x="629064" y="3575593"/>
            <a:ext cx="651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設</a:t>
            </a:r>
            <a:r>
              <a:rPr lang="en-US" altLang="zh-TW" dirty="0"/>
              <a:t>11/29</a:t>
            </a:r>
            <a:r>
              <a:rPr lang="zh-TW" altLang="en-US" dirty="0"/>
              <a:t>當日發生突破地板線</a:t>
            </a:r>
            <a:endParaRPr lang="en-US" altLang="zh-TW" dirty="0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29A7544F-3F01-BF4C-ABE6-7A61EFB08232}"/>
              </a:ext>
            </a:extLst>
          </p:cNvPr>
          <p:cNvSpPr/>
          <p:nvPr/>
        </p:nvSpPr>
        <p:spPr>
          <a:xfrm rot="16200000">
            <a:off x="4523144" y="2340827"/>
            <a:ext cx="466837" cy="5522999"/>
          </a:xfrm>
          <a:prstGeom prst="leftBrace">
            <a:avLst>
              <a:gd name="adj1" fmla="val 8333"/>
              <a:gd name="adj2" fmla="val 50344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0715230-6F14-1171-A37D-53DDEFC6BD17}"/>
              </a:ext>
            </a:extLst>
          </p:cNvPr>
          <p:cNvSpPr txBox="1"/>
          <p:nvPr/>
        </p:nvSpPr>
        <p:spPr>
          <a:xfrm>
            <a:off x="4065935" y="5335745"/>
            <a:ext cx="156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>
                <a:solidFill>
                  <a:srgbClr val="FF0000"/>
                </a:solidFill>
              </a:rPr>
              <a:t>20</a:t>
            </a:r>
            <a:r>
              <a:rPr lang="zh-TW" altLang="en-US" dirty="0">
                <a:solidFill>
                  <a:srgbClr val="FF0000"/>
                </a:solidFill>
              </a:rPr>
              <a:t>筆資料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3632F48-6955-D421-6D0C-DFD3570DE786}"/>
              </a:ext>
            </a:extLst>
          </p:cNvPr>
          <p:cNvSpPr txBox="1"/>
          <p:nvPr/>
        </p:nvSpPr>
        <p:spPr>
          <a:xfrm>
            <a:off x="652038" y="5722371"/>
            <a:ext cx="8750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b="1" dirty="0">
                <a:solidFill>
                  <a:srgbClr val="FF0000"/>
                </a:solidFill>
              </a:rPr>
              <a:t>If </a:t>
            </a:r>
            <a:r>
              <a:rPr lang="en-US" altLang="zh-TW" dirty="0"/>
              <a:t>32000 &gt;</a:t>
            </a:r>
            <a:r>
              <a:rPr lang="zh-TW" altLang="en-US" dirty="0"/>
              <a:t> </a:t>
            </a:r>
            <a:r>
              <a:rPr lang="en-US" altLang="zh-TW" dirty="0"/>
              <a:t>2 * [ (12000 + 21000 + … + 27000 + 22000) </a:t>
            </a:r>
            <a:r>
              <a:rPr lang="en-US" altLang="zh-TW" sz="2400" dirty="0"/>
              <a:t>÷</a:t>
            </a:r>
            <a:r>
              <a:rPr lang="en-US" altLang="zh-TW" dirty="0"/>
              <a:t> 20 ]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ACABD0D-F472-7D03-05AE-DA540FFA6E4C}"/>
              </a:ext>
            </a:extLst>
          </p:cNvPr>
          <p:cNvSpPr txBox="1"/>
          <p:nvPr/>
        </p:nvSpPr>
        <p:spPr>
          <a:xfrm>
            <a:off x="629064" y="6299453"/>
            <a:ext cx="7124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b="1" dirty="0"/>
              <a:t>[</a:t>
            </a:r>
            <a:r>
              <a:rPr lang="zh-TW" altLang="en-US" b="1" dirty="0"/>
              <a:t> </a:t>
            </a:r>
            <a:r>
              <a:rPr lang="en-US" altLang="zh-TW" b="1" dirty="0"/>
              <a:t>[1548777600000.0, 0], [1549814400000.0, 1]</a:t>
            </a:r>
            <a:r>
              <a:rPr lang="zh-TW" altLang="en-US" b="1" dirty="0"/>
              <a:t> </a:t>
            </a:r>
            <a:r>
              <a:rPr lang="en-US" altLang="zh-TW" b="1" dirty="0"/>
              <a:t>]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615223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D17E-97FF-C3BE-D57C-B69BBF4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E90F13-8F3A-EED9-9C2C-6768D5F0D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2" y="423443"/>
            <a:ext cx="11355385" cy="601111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10844EB-67DB-93D8-23B5-6798569F4782}"/>
              </a:ext>
            </a:extLst>
          </p:cNvPr>
          <p:cNvSpPr txBox="1"/>
          <p:nvPr/>
        </p:nvSpPr>
        <p:spPr>
          <a:xfrm>
            <a:off x="2495451" y="2088246"/>
            <a:ext cx="90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92D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endParaRPr lang="zh-TW" altLang="en-US" sz="2400" b="1" dirty="0">
              <a:solidFill>
                <a:srgbClr val="92D05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1AD9E9-BD30-85FC-D48D-BD27686DAD47}"/>
              </a:ext>
            </a:extLst>
          </p:cNvPr>
          <p:cNvSpPr txBox="1"/>
          <p:nvPr/>
        </p:nvSpPr>
        <p:spPr>
          <a:xfrm>
            <a:off x="3043138" y="3036063"/>
            <a:ext cx="1847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359C7A8-F754-26B2-34F8-7BD5311CBD75}"/>
              </a:ext>
            </a:extLst>
          </p:cNvPr>
          <p:cNvSpPr txBox="1"/>
          <p:nvPr/>
        </p:nvSpPr>
        <p:spPr>
          <a:xfrm>
            <a:off x="3119139" y="4042910"/>
            <a:ext cx="1847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1%</a:t>
            </a:r>
            <a:endParaRPr lang="zh-TW" altLang="en-US" sz="2400" b="1" dirty="0">
              <a:solidFill>
                <a:schemeClr val="accent1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A879F54-699E-A6A6-787A-96FC84425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715" y="3757450"/>
            <a:ext cx="1238423" cy="91452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D8DC75C-E25E-0C50-A7CF-C495E322BCD7}"/>
              </a:ext>
            </a:extLst>
          </p:cNvPr>
          <p:cNvSpPr/>
          <p:nvPr/>
        </p:nvSpPr>
        <p:spPr>
          <a:xfrm>
            <a:off x="1695450" y="3757450"/>
            <a:ext cx="1347688" cy="10325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D890A7-9A6A-F48E-276F-41F2B8A8FDF9}"/>
              </a:ext>
            </a:extLst>
          </p:cNvPr>
          <p:cNvSpPr/>
          <p:nvPr/>
        </p:nvSpPr>
        <p:spPr>
          <a:xfrm>
            <a:off x="3404988" y="4790037"/>
            <a:ext cx="7663061" cy="10325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CFE78A3-8CFF-3C0A-F05D-C5A484A2F40B}"/>
              </a:ext>
            </a:extLst>
          </p:cNvPr>
          <p:cNvSpPr txBox="1"/>
          <p:nvPr/>
        </p:nvSpPr>
        <p:spPr>
          <a:xfrm>
            <a:off x="6752928" y="3959040"/>
            <a:ext cx="4586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加入交易量的直方圖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並在達成條件二的部分標成紅色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4906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4376-3DC7-47A1-1043-50869693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459F5A6-C8A5-2BC9-BB4B-6947CF73FAF2}"/>
              </a:ext>
            </a:extLst>
          </p:cNvPr>
          <p:cNvSpPr txBox="1"/>
          <p:nvPr/>
        </p:nvSpPr>
        <p:spPr>
          <a:xfrm>
            <a:off x="168322" y="90892"/>
            <a:ext cx="204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2800" dirty="0"/>
              <a:t>完整圖：</a:t>
            </a:r>
            <a:endParaRPr lang="en-US" altLang="zh-TW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EA02153-D461-7B38-1561-F6C1C859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22" y="825779"/>
            <a:ext cx="11763375" cy="538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22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35CC-69F0-5DE1-8EF6-C1EE72B5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1CEC75-5625-97B1-B5E0-F7AD24147682}"/>
              </a:ext>
            </a:extLst>
          </p:cNvPr>
          <p:cNvSpPr txBox="1"/>
          <p:nvPr/>
        </p:nvSpPr>
        <p:spPr>
          <a:xfrm>
            <a:off x="152307" y="143658"/>
            <a:ext cx="3369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整體流程：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869B98-248B-ED5E-57EE-EA68A6E90405}"/>
              </a:ext>
            </a:extLst>
          </p:cNvPr>
          <p:cNvSpPr txBox="1"/>
          <p:nvPr/>
        </p:nvSpPr>
        <p:spPr>
          <a:xfrm>
            <a:off x="104616" y="1911993"/>
            <a:ext cx="1929551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接收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、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9807FB-59A9-9828-A93F-07E31FAF3DD1}"/>
              </a:ext>
            </a:extLst>
          </p:cNvPr>
          <p:cNvSpPr txBox="1"/>
          <p:nvPr/>
        </p:nvSpPr>
        <p:spPr>
          <a:xfrm>
            <a:off x="2433060" y="1865634"/>
            <a:ext cx="2587345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爬抓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endParaRPr lang="en-US" altLang="zh-TW" sz="20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</a:t>
            </a:r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3.4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規格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算出</a:t>
            </a:r>
            <a:r>
              <a:rPr lang="en-US" altLang="zh-TW" sz="20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B474C3-8083-08AC-8065-DE172F6414C7}"/>
              </a:ext>
            </a:extLst>
          </p:cNvPr>
          <p:cNvSpPr txBox="1"/>
          <p:nvPr/>
        </p:nvSpPr>
        <p:spPr>
          <a:xfrm>
            <a:off x="5308790" y="1711745"/>
            <a:ext cx="3622116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依照</a:t>
            </a:r>
            <a:r>
              <a:rPr lang="zh-TW" altLang="en-US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帶入公式</a:t>
            </a:r>
            <a:endParaRPr lang="en-US" altLang="zh-TW" sz="20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計算天花板線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標記突破點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6676CBB-A7B2-D3C7-A146-0F619BDEF921}"/>
              </a:ext>
            </a:extLst>
          </p:cNvPr>
          <p:cNvSpPr txBox="1"/>
          <p:nvPr/>
        </p:nvSpPr>
        <p:spPr>
          <a:xfrm>
            <a:off x="2813459" y="3457683"/>
            <a:ext cx="2124738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開高低收量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48ED4B-0338-D91E-6B2F-FE1FD73A6D8D}"/>
              </a:ext>
            </a:extLst>
          </p:cNvPr>
          <p:cNvSpPr txBox="1"/>
          <p:nvPr/>
        </p:nvSpPr>
        <p:spPr>
          <a:xfrm>
            <a:off x="2604171" y="4090279"/>
            <a:ext cx="2687848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talib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或套公式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算出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SMA/WMA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C7A523-2263-6538-9126-903443FBD765}"/>
              </a:ext>
            </a:extLst>
          </p:cNvPr>
          <p:cNvSpPr/>
          <p:nvPr/>
        </p:nvSpPr>
        <p:spPr>
          <a:xfrm>
            <a:off x="2462187" y="3281406"/>
            <a:ext cx="3205189" cy="17890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F6BD2DE-8C17-5DBD-C0BA-BFB4B3FC059B}"/>
              </a:ext>
            </a:extLst>
          </p:cNvPr>
          <p:cNvSpPr txBox="1"/>
          <p:nvPr/>
        </p:nvSpPr>
        <p:spPr>
          <a:xfrm>
            <a:off x="9642699" y="1718866"/>
            <a:ext cx="2376949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將天花板線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地板線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的數據以及突破點的標記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送至前端呈現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73C868-E75C-B292-B800-661ED701D00D}"/>
              </a:ext>
            </a:extLst>
          </p:cNvPr>
          <p:cNvSpPr/>
          <p:nvPr/>
        </p:nvSpPr>
        <p:spPr>
          <a:xfrm>
            <a:off x="2305051" y="1381126"/>
            <a:ext cx="6724650" cy="401789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9980A20D-FC81-12D3-1410-12B1A0B77BB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726733" y="2573520"/>
            <a:ext cx="0" cy="730014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6D69D17F-C155-0A1A-BDF4-E291A093B5A8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34167" y="2265936"/>
            <a:ext cx="282597" cy="0"/>
          </a:xfrm>
          <a:prstGeom prst="lin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3E6A34DB-FAAB-E576-BE83-30A233DBE4E2}"/>
              </a:ext>
            </a:extLst>
          </p:cNvPr>
          <p:cNvCxnSpPr>
            <a:cxnSpLocks/>
          </p:cNvCxnSpPr>
          <p:nvPr/>
        </p:nvCxnSpPr>
        <p:spPr>
          <a:xfrm flipV="1">
            <a:off x="9029702" y="2219577"/>
            <a:ext cx="612997" cy="825"/>
          </a:xfrm>
          <a:prstGeom prst="lin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73FF1302-C52A-C211-765F-608EFFBB964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020405" y="2219577"/>
            <a:ext cx="288385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E2E93C44-704B-BBD6-0ACF-E206231E55EC}"/>
              </a:ext>
            </a:extLst>
          </p:cNvPr>
          <p:cNvSpPr txBox="1"/>
          <p:nvPr/>
        </p:nvSpPr>
        <p:spPr>
          <a:xfrm>
            <a:off x="483684" y="1134091"/>
            <a:ext cx="112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888C7FF3-64BC-1607-2506-B4CBE345793F}"/>
              </a:ext>
            </a:extLst>
          </p:cNvPr>
          <p:cNvSpPr txBox="1"/>
          <p:nvPr/>
        </p:nvSpPr>
        <p:spPr>
          <a:xfrm>
            <a:off x="4938197" y="646090"/>
            <a:ext cx="3167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endParaRPr lang="zh-TW" altLang="en-US" sz="3200" b="1" dirty="0">
              <a:solidFill>
                <a:srgbClr val="FFC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FB48E962-6246-145A-B02A-475A23E2CFF1}"/>
              </a:ext>
            </a:extLst>
          </p:cNvPr>
          <p:cNvSpPr txBox="1"/>
          <p:nvPr/>
        </p:nvSpPr>
        <p:spPr>
          <a:xfrm>
            <a:off x="10446265" y="1088737"/>
            <a:ext cx="1123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D0083F3-4F9C-A220-941B-59797FDD415B}"/>
              </a:ext>
            </a:extLst>
          </p:cNvPr>
          <p:cNvSpPr txBox="1"/>
          <p:nvPr/>
        </p:nvSpPr>
        <p:spPr>
          <a:xfrm>
            <a:off x="232758" y="2813006"/>
            <a:ext cx="16732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股票代號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資料起始日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長度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5.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1/2/3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902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54FA-EF55-5961-3721-80F09B7E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F8071A5-4A7A-6BAB-E652-A5E2A07ED912}"/>
              </a:ext>
            </a:extLst>
          </p:cNvPr>
          <p:cNvSpPr txBox="1"/>
          <p:nvPr/>
        </p:nvSpPr>
        <p:spPr>
          <a:xfrm>
            <a:off x="1038225" y="1091684"/>
            <a:ext cx="1043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>
                <a:hlinkClick r:id="rId2"/>
              </a:rPr>
              <a:t>https://cosbi5.ee.ncku.edu.tw/financial/home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A98E04B-A5D5-2A7E-DADC-A785B9D4B92D}"/>
              </a:ext>
            </a:extLst>
          </p:cNvPr>
          <p:cNvSpPr txBox="1"/>
          <p:nvPr/>
        </p:nvSpPr>
        <p:spPr>
          <a:xfrm>
            <a:off x="318419" y="177032"/>
            <a:ext cx="690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3600" dirty="0"/>
              <a:t>對答案：</a:t>
            </a:r>
            <a:endParaRPr lang="en-US" altLang="zh-TW" sz="3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987EDD-B0A9-BD4E-3A9F-73DFF3F2D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247" y="1990524"/>
            <a:ext cx="7011378" cy="143847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F55DB82-890E-E2ED-03F4-7115C46A5112}"/>
              </a:ext>
            </a:extLst>
          </p:cNvPr>
          <p:cNvSpPr txBox="1"/>
          <p:nvPr/>
        </p:nvSpPr>
        <p:spPr>
          <a:xfrm>
            <a:off x="442244" y="2175325"/>
            <a:ext cx="342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網頁右上方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分析工具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1E93F6-59E8-4152-ABA9-87B2E52612D6}"/>
              </a:ext>
            </a:extLst>
          </p:cNvPr>
          <p:cNvSpPr/>
          <p:nvPr/>
        </p:nvSpPr>
        <p:spPr>
          <a:xfrm>
            <a:off x="6257925" y="1990524"/>
            <a:ext cx="1314450" cy="6964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8940DE6-E370-B8E2-DDF4-43A806EB677C}"/>
              </a:ext>
            </a:extLst>
          </p:cNvPr>
          <p:cNvSpPr txBox="1"/>
          <p:nvPr/>
        </p:nvSpPr>
        <p:spPr>
          <a:xfrm>
            <a:off x="613694" y="3904988"/>
            <a:ext cx="342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天花板地板線策略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3B63AD2-D8AF-9EAD-B8E4-50622AFE0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1" r="7952"/>
          <a:stretch/>
        </p:blipFill>
        <p:spPr>
          <a:xfrm>
            <a:off x="3867150" y="3652178"/>
            <a:ext cx="7011378" cy="142894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5F39572-B4AD-2B41-005A-FB80AA0B340E}"/>
              </a:ext>
            </a:extLst>
          </p:cNvPr>
          <p:cNvSpPr/>
          <p:nvPr/>
        </p:nvSpPr>
        <p:spPr>
          <a:xfrm>
            <a:off x="6477000" y="4294135"/>
            <a:ext cx="1314450" cy="6964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224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2392-97AA-1443-FC4D-D8573E43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460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4874</TotalTime>
  <Words>1266</Words>
  <Application>Microsoft Office PowerPoint</Application>
  <PresentationFormat>寬螢幕</PresentationFormat>
  <Paragraphs>188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柏勳 陳</dc:creator>
  <cp:lastModifiedBy>柏勳 陳</cp:lastModifiedBy>
  <cp:revision>23</cp:revision>
  <dcterms:created xsi:type="dcterms:W3CDTF">2024-12-01T03:15:45Z</dcterms:created>
  <dcterms:modified xsi:type="dcterms:W3CDTF">2025-01-15T03:21:27Z</dcterms:modified>
</cp:coreProperties>
</file>