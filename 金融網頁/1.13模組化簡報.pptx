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71" r:id="rId5"/>
    <p:sldId id="259" r:id="rId6"/>
    <p:sldId id="260" r:id="rId7"/>
    <p:sldId id="261" r:id="rId8"/>
    <p:sldId id="262" r:id="rId9"/>
    <p:sldId id="263" r:id="rId10"/>
    <p:sldId id="272" r:id="rId11"/>
    <p:sldId id="264" r:id="rId12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993" autoAdjust="0"/>
    <p:restoredTop sz="95771" autoAdjust="0"/>
  </p:normalViewPr>
  <p:slideViewPr>
    <p:cSldViewPr snapToGrid="0">
      <p:cViewPr varScale="1">
        <p:scale>
          <a:sx n="155" d="100"/>
          <a:sy n="155" d="100"/>
        </p:scale>
        <p:origin x="390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C24BE36-459B-47F7-8620-54C7F9879BA9}" type="datetimeFigureOut">
              <a:rPr lang="zh-TW" altLang="en-US" smtClean="0"/>
              <a:t>2025/1/12</a:t>
            </a:fld>
            <a:endParaRPr lang="zh-TW" altLang="en-US"/>
          </a:p>
        </p:txBody>
      </p:sp>
      <p:sp>
        <p:nvSpPr>
          <p:cNvPr id="4" name="投影片影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18EF9AB-A89E-4141-94E8-3211C494901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72618572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18EF9AB-A89E-4141-94E8-3211C4949017}" type="slidenum">
              <a:rPr lang="zh-TW" altLang="en-US" smtClean="0"/>
              <a:t>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3421390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D9A2F78-5282-8C17-B1D2-FADBAD439D1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360C5515-E1B1-0AD6-142D-9664F67DAEA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按一下以編輯母片子標題樣式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FBC62FD9-24FB-80A7-C3DA-03613B6853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1B0068-70A8-4514-8E16-221C33AB9478}" type="datetimeFigureOut">
              <a:rPr lang="zh-TW" altLang="en-US" smtClean="0"/>
              <a:t>2025/1/12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EE66756C-ACBD-73B7-A8AA-C6541D3F7D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51344BC9-6839-85A3-91D8-BB9C3326D1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60E9BA-FE94-41A6-8BFB-6BA7CA24D8C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4654934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455D9BB-DFFD-321F-CE5E-35FD3DE20A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7F2C6653-55A8-3A1E-A022-6CF9D4CCDD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AEC70C7F-9B6F-0EB2-CEC5-64F043D68D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1B0068-70A8-4514-8E16-221C33AB9478}" type="datetimeFigureOut">
              <a:rPr lang="zh-TW" altLang="en-US" smtClean="0"/>
              <a:t>2025/1/12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ED787839-E33D-46A8-966E-B426BD51EA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6E137CA4-46A8-D04D-EC10-CE6ADBBE5A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60E9BA-FE94-41A6-8BFB-6BA7CA24D8C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4361052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6443A62-218D-BDFB-9664-4059C23A50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A4A80202-3F3F-F837-8393-DAD93C3212A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368DEEAD-E760-E767-C33A-B5ABE30F13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1B0068-70A8-4514-8E16-221C33AB9478}" type="datetimeFigureOut">
              <a:rPr lang="zh-TW" altLang="en-US" smtClean="0"/>
              <a:t>2025/1/12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47FD9D69-2E5B-8669-1801-B23019A2E6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A7013F8D-6724-FBB7-40FC-96F3F2590D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60E9BA-FE94-41A6-8BFB-6BA7CA24D8C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408792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6D6A450-D7F9-017F-548E-2141B4A552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C02B2211-2483-38BF-1917-5F75E2E784C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36AA679F-BEFD-0A23-A2AB-D76AD457E17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0BA2A334-AD10-EA45-FD2B-87E196F503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1B0068-70A8-4514-8E16-221C33AB9478}" type="datetimeFigureOut">
              <a:rPr lang="zh-TW" altLang="en-US" smtClean="0"/>
              <a:t>2025/1/12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99F4A0BA-D0CB-FC73-0026-3D678C1C18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47A38050-2CD5-9D38-6332-6CA852BE08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60E9BA-FE94-41A6-8BFB-6BA7CA24D8C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213881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DB693EB-34FF-8232-6226-D5D8123E2C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134925A1-0E2A-6F58-439A-099084BF746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4756A984-7B90-41AF-0E4F-1473C92B7D2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D23EEC35-EF6C-61C5-C7FE-6D257F81F4D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B824F1DD-834D-EA9F-3939-76B2EC3D5C1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17764F7B-8DAE-FD6F-78F4-E7E8B8FC57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1B0068-70A8-4514-8E16-221C33AB9478}" type="datetimeFigureOut">
              <a:rPr lang="zh-TW" altLang="en-US" smtClean="0"/>
              <a:t>2025/1/12</a:t>
            </a:fld>
            <a:endParaRPr lang="zh-TW" altLang="en-US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EB71FA15-CFED-014E-7780-7E128EEDC3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2EE032D4-7F4E-25B2-4885-9853DF93C4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60E9BA-FE94-41A6-8BFB-6BA7CA24D8C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78706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D22DAF8-CC4D-B41B-60A9-0069F4A0F3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7E1FBF23-3EDD-7404-5BE8-37315970C7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1B0068-70A8-4514-8E16-221C33AB9478}" type="datetimeFigureOut">
              <a:rPr lang="zh-TW" altLang="en-US" smtClean="0"/>
              <a:t>2025/1/12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0B133C14-C37B-6C93-68FA-FE73437CE3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BD6D52B7-F8E3-E7F5-6C54-8064151917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60E9BA-FE94-41A6-8BFB-6BA7CA24D8C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707329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50A87239-3B3F-3E58-26A9-110B2F7567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1B0068-70A8-4514-8E16-221C33AB9478}" type="datetimeFigureOut">
              <a:rPr lang="zh-TW" altLang="en-US" smtClean="0"/>
              <a:t>2025/1/12</a:t>
            </a:fld>
            <a:endParaRPr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D44AECD7-2A15-94F1-C4D0-B51A4BB889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9C351E25-5632-1937-43EA-7DE2C0669D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60E9BA-FE94-41A6-8BFB-6BA7CA24D8C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6237164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6F2CF94-9D45-2B0C-50BE-FF0EE4F463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F4801D3A-8D26-7DE6-79CC-E54B6D9CE3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EA6490D5-0AD4-E7FE-7679-0F287AFE7AC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60D7355B-C32D-B378-2B4F-F9A92DA8B6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1B0068-70A8-4514-8E16-221C33AB9478}" type="datetimeFigureOut">
              <a:rPr lang="zh-TW" altLang="en-US" smtClean="0"/>
              <a:t>2025/1/12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C31323F9-CB19-43EF-EDAA-0832B955F1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8A9F5444-22A6-891D-FB24-E3AC930A12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60E9BA-FE94-41A6-8BFB-6BA7CA24D8C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579570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302F545-CF0B-00B0-73BA-023936B914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8181673A-FCEC-BDAF-0909-062C43C6054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5B517BFB-410F-ED6F-E5B0-AAE4737A5CB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E2FA55F9-5AA0-5944-544A-F14ED5E284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1B0068-70A8-4514-8E16-221C33AB9478}" type="datetimeFigureOut">
              <a:rPr lang="zh-TW" altLang="en-US" smtClean="0"/>
              <a:t>2025/1/12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D0672DF0-C9BF-29DE-20DA-90F58F7018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70FF8037-3C8A-2C40-8633-965A53E041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60E9BA-FE94-41A6-8BFB-6BA7CA24D8C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6132190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D424394-B4DC-7BE2-C1E9-440C0986E6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6F8A8FB1-BAE7-185F-79D9-1CA3E277E71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884D1D76-3EDC-34E1-10B2-1A75D034BD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1B0068-70A8-4514-8E16-221C33AB9478}" type="datetimeFigureOut">
              <a:rPr lang="zh-TW" altLang="en-US" smtClean="0"/>
              <a:t>2025/1/12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F00D2FEE-19D5-60FD-4CC2-3C47BF3C1E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2ACFEB3F-95D4-5BA0-4186-B122D013CE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60E9BA-FE94-41A6-8BFB-6BA7CA24D8C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105336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43AF19CF-3BAB-839B-7B36-4CC29513CDD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376EDB38-4173-2407-35D8-77B34DF630D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BD5B1C1B-4B93-2092-66D3-13599E7305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1B0068-70A8-4514-8E16-221C33AB9478}" type="datetimeFigureOut">
              <a:rPr lang="zh-TW" altLang="en-US" smtClean="0"/>
              <a:t>2025/1/12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C9289895-66F6-3118-B476-CEE455468B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5E227073-E062-59B9-3778-97BF7632BA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60E9BA-FE94-41A6-8BFB-6BA7CA24D8C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2154517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22859F8D-D883-68F4-9971-A2AB0C7D3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65129EA0-59F3-0A83-DAE4-6740DD1A1DF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4DD71628-B1EA-7183-A215-28330C90E91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11B0068-70A8-4514-8E16-221C33AB9478}" type="datetimeFigureOut">
              <a:rPr lang="zh-TW" altLang="en-US" smtClean="0"/>
              <a:t>2025/1/12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28FD2DA7-18E4-39EC-F2C9-5EE673F9F65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929E2E90-60DA-05FF-B239-01E03859BFE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B60E9BA-FE94-41A6-8BFB-6BA7CA24D8C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517318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hyperlink" Target="https://www.highcharts.com/" TargetMode="Externa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ithelp.ithome.com.tw/articles/10341344" TargetMode="External"/><Relationship Id="rId2" Type="http://schemas.openxmlformats.org/officeDocument/2006/relationships/hyperlink" Target="https://quantpass.org/python_talib/" TargetMode="External"/><Relationship Id="rId1" Type="http://schemas.openxmlformats.org/officeDocument/2006/relationships/slideLayout" Target="../slideLayouts/slideLayout1.xml"/><Relationship Id="rId5" Type="http://schemas.openxmlformats.org/officeDocument/2006/relationships/hyperlink" Target="https://datatables.net/examples/basic_init/zero_configuration.html" TargetMode="External"/><Relationship Id="rId4" Type="http://schemas.openxmlformats.org/officeDocument/2006/relationships/hyperlink" Target="https://www.highcharts.com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字方塊 5">
            <a:extLst>
              <a:ext uri="{FF2B5EF4-FFF2-40B4-BE49-F238E27FC236}">
                <a16:creationId xmlns:a16="http://schemas.microsoft.com/office/drawing/2014/main" id="{E3A4EAA2-9983-9DCD-BD1A-E94C70BEE781}"/>
              </a:ext>
            </a:extLst>
          </p:cNvPr>
          <p:cNvSpPr txBox="1"/>
          <p:nvPr/>
        </p:nvSpPr>
        <p:spPr>
          <a:xfrm>
            <a:off x="479120" y="2272142"/>
            <a:ext cx="11146077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zh-TW" altLang="en-US" sz="2400" b="0" i="0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成交量（英文</a:t>
            </a:r>
            <a:r>
              <a:rPr lang="en-US" altLang="zh-TW" sz="2400" b="0" i="0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:Trading Volume</a:t>
            </a:r>
            <a:r>
              <a:rPr lang="zh-TW" altLang="en-US" sz="2400" b="0" i="0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）是判斷股市走勢的指標之一，成交量指在某一時段內</a:t>
            </a:r>
            <a:r>
              <a:rPr lang="zh-TW" altLang="en-US" sz="2400" b="1" i="0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具體的交易數量</a:t>
            </a:r>
            <a:r>
              <a:rPr lang="zh-TW" altLang="en-US" sz="2400" b="0" i="0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，成交量的變化會反應資金進入市場的情況。</a:t>
            </a:r>
            <a:endParaRPr lang="en-US" altLang="zh-TW" sz="2400" b="0" i="0" dirty="0">
              <a:effectLst/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algn="just"/>
            <a:endParaRPr lang="en-US" altLang="zh-TW" sz="2400" b="0" i="0" dirty="0">
              <a:effectLst/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algn="just"/>
            <a:r>
              <a:rPr lang="zh-TW" altLang="en-US" sz="2400" b="1" i="0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成交量只計算交易成功的數量</a:t>
            </a:r>
            <a:r>
              <a:rPr lang="zh-TW" altLang="en-US" sz="2400" b="0" i="0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，通常成交量大、價格上漲的股票代表市場熱絡，而成交量低則代表市場不活躍。</a:t>
            </a:r>
            <a:endParaRPr lang="en-US" altLang="zh-TW" sz="2400" b="0" i="0" dirty="0">
              <a:effectLst/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algn="just"/>
            <a:endParaRPr lang="en-US" altLang="zh-TW" sz="2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algn="just"/>
            <a:r>
              <a:rPr lang="zh-TW" altLang="en-US" sz="2400" b="0" i="0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例如成交量</a:t>
            </a:r>
            <a:r>
              <a:rPr lang="en-US" altLang="zh-TW" sz="2400" b="0" i="0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100</a:t>
            </a:r>
            <a:r>
              <a:rPr lang="zh-TW" altLang="en-US" sz="2400" b="0" i="0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萬，代表全市場買家合計買了</a:t>
            </a:r>
            <a:r>
              <a:rPr lang="en-US" altLang="zh-TW" sz="2400" b="0" i="0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100</a:t>
            </a:r>
            <a:r>
              <a:rPr lang="zh-TW" altLang="en-US" sz="2400" b="0" i="0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萬，賣家也合計賣了</a:t>
            </a:r>
            <a:r>
              <a:rPr lang="en-US" altLang="zh-TW" sz="2400" b="0" i="0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100</a:t>
            </a:r>
            <a:r>
              <a:rPr lang="zh-TW" altLang="en-US" sz="2400" b="0" i="0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萬。</a:t>
            </a:r>
            <a:r>
              <a:rPr lang="en-US" altLang="zh-TW" sz="2400" b="0" i="0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(</a:t>
            </a:r>
            <a:r>
              <a:rPr lang="zh-TW" altLang="en-US" sz="2400" b="0" i="0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只計算買方或只算賣方</a:t>
            </a:r>
            <a:r>
              <a:rPr lang="en-US" altLang="zh-TW" sz="2400" b="0" i="0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)</a:t>
            </a:r>
            <a:endParaRPr lang="en-US" altLang="zh-TW" sz="2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algn="just"/>
            <a:endParaRPr lang="zh-TW" altLang="en-US" sz="2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cxnSp>
        <p:nvCxnSpPr>
          <p:cNvPr id="8" name="直線接點 7">
            <a:extLst>
              <a:ext uri="{FF2B5EF4-FFF2-40B4-BE49-F238E27FC236}">
                <a16:creationId xmlns:a16="http://schemas.microsoft.com/office/drawing/2014/main" id="{8860C3BC-2FEC-155C-9E73-19CDDE972C0A}"/>
              </a:ext>
            </a:extLst>
          </p:cNvPr>
          <p:cNvCxnSpPr>
            <a:cxnSpLocks/>
          </p:cNvCxnSpPr>
          <p:nvPr/>
        </p:nvCxnSpPr>
        <p:spPr>
          <a:xfrm>
            <a:off x="144049" y="926926"/>
            <a:ext cx="11931041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文字方塊 10">
            <a:extLst>
              <a:ext uri="{FF2B5EF4-FFF2-40B4-BE49-F238E27FC236}">
                <a16:creationId xmlns:a16="http://schemas.microsoft.com/office/drawing/2014/main" id="{8C1F5560-0438-3A3E-D7ED-060ED1C52125}"/>
              </a:ext>
            </a:extLst>
          </p:cNvPr>
          <p:cNvSpPr txBox="1"/>
          <p:nvPr/>
        </p:nvSpPr>
        <p:spPr>
          <a:xfrm>
            <a:off x="522961" y="280595"/>
            <a:ext cx="609704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sz="3600" b="0" i="0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成交量</a:t>
            </a:r>
            <a:endParaRPr lang="zh-TW" altLang="en-US" sz="3600" dirty="0"/>
          </a:p>
        </p:txBody>
      </p:sp>
    </p:spTree>
    <p:extLst>
      <p:ext uri="{BB962C8B-B14F-4D97-AF65-F5344CB8AC3E}">
        <p14:creationId xmlns:p14="http://schemas.microsoft.com/office/powerpoint/2010/main" val="22712087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D841C2-F649-5400-9C90-579177F895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直線接點 7">
            <a:extLst>
              <a:ext uri="{FF2B5EF4-FFF2-40B4-BE49-F238E27FC236}">
                <a16:creationId xmlns:a16="http://schemas.microsoft.com/office/drawing/2014/main" id="{62549E79-58FC-76A7-3ADB-7E35D9763E5F}"/>
              </a:ext>
            </a:extLst>
          </p:cNvPr>
          <p:cNvCxnSpPr>
            <a:cxnSpLocks/>
          </p:cNvCxnSpPr>
          <p:nvPr/>
        </p:nvCxnSpPr>
        <p:spPr>
          <a:xfrm>
            <a:off x="144049" y="926926"/>
            <a:ext cx="11931041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文字方塊 10">
            <a:extLst>
              <a:ext uri="{FF2B5EF4-FFF2-40B4-BE49-F238E27FC236}">
                <a16:creationId xmlns:a16="http://schemas.microsoft.com/office/drawing/2014/main" id="{1588DE8E-379A-BF14-7677-020D602E4071}"/>
              </a:ext>
            </a:extLst>
          </p:cNvPr>
          <p:cNvSpPr txBox="1"/>
          <p:nvPr/>
        </p:nvSpPr>
        <p:spPr>
          <a:xfrm>
            <a:off x="522961" y="280595"/>
            <a:ext cx="609704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sz="3600" b="0" i="0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成交量</a:t>
            </a:r>
            <a:endParaRPr lang="zh-TW" altLang="en-US" sz="3600" dirty="0"/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F1CBB81F-BDEC-B252-60E4-5A2B4B69D59C}"/>
              </a:ext>
            </a:extLst>
          </p:cNvPr>
          <p:cNvSpPr txBox="1"/>
          <p:nvPr/>
        </p:nvSpPr>
        <p:spPr>
          <a:xfrm>
            <a:off x="266177" y="2249541"/>
            <a:ext cx="11808913" cy="35870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025"/>
              </a:lnSpc>
              <a:spcBef>
                <a:spcPts val="1125"/>
              </a:spcBef>
              <a:spcAft>
                <a:spcPts val="1125"/>
              </a:spcAft>
            </a:pPr>
            <a:r>
              <a:rPr lang="zh-TW" altLang="en-US" sz="2400" b="1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如果一檔標的成交量太低，就要留意流動性風險</a:t>
            </a:r>
            <a:endParaRPr lang="en-US" altLang="zh-TW" sz="2400" b="1" dirty="0">
              <a:effectLst/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algn="l">
              <a:lnSpc>
                <a:spcPts val="2025"/>
              </a:lnSpc>
              <a:spcBef>
                <a:spcPts val="1125"/>
              </a:spcBef>
              <a:spcAft>
                <a:spcPts val="1125"/>
              </a:spcAft>
            </a:pPr>
            <a:endParaRPr lang="zh-TW" altLang="en-US" sz="2400" b="0" dirty="0">
              <a:effectLst/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algn="l">
              <a:lnSpc>
                <a:spcPts val="2025"/>
              </a:lnSpc>
              <a:spcBef>
                <a:spcPts val="1125"/>
              </a:spcBef>
              <a:spcAft>
                <a:spcPts val="1125"/>
              </a:spcAft>
            </a:pPr>
            <a:r>
              <a:rPr lang="zh-TW" altLang="en-US" sz="2400" b="0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無論是股票、</a:t>
            </a:r>
            <a:r>
              <a:rPr lang="en-US" altLang="zh-TW" sz="2400" b="0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ETF</a:t>
            </a:r>
            <a:r>
              <a:rPr lang="zh-TW" altLang="en-US" sz="2400" b="0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，在投資前都要留意成交量，當成交量過低，代表可能有流動性</a:t>
            </a:r>
            <a:endParaRPr lang="en-US" altLang="zh-TW" sz="2400" b="0" dirty="0">
              <a:effectLst/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algn="l">
              <a:lnSpc>
                <a:spcPts val="2025"/>
              </a:lnSpc>
              <a:spcBef>
                <a:spcPts val="1125"/>
              </a:spcBef>
              <a:spcAft>
                <a:spcPts val="1125"/>
              </a:spcAft>
            </a:pPr>
            <a:r>
              <a:rPr lang="zh-TW" altLang="en-US" sz="2400" b="0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風險。</a:t>
            </a:r>
            <a:endParaRPr lang="en-US" altLang="zh-TW" sz="2400" b="0" dirty="0">
              <a:effectLst/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algn="l">
              <a:lnSpc>
                <a:spcPts val="2025"/>
              </a:lnSpc>
              <a:spcBef>
                <a:spcPts val="1125"/>
              </a:spcBef>
              <a:spcAft>
                <a:spcPts val="1125"/>
              </a:spcAft>
            </a:pPr>
            <a:endParaRPr lang="zh-TW" altLang="en-US" sz="2400" b="0" dirty="0">
              <a:effectLst/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algn="l">
              <a:lnSpc>
                <a:spcPts val="2025"/>
              </a:lnSpc>
              <a:spcBef>
                <a:spcPts val="1125"/>
              </a:spcBef>
              <a:spcAft>
                <a:spcPts val="1125"/>
              </a:spcAft>
            </a:pPr>
            <a:r>
              <a:rPr lang="zh-TW" altLang="en-US" sz="2400" b="0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比方說有的公司，每天成交量只有不到</a:t>
            </a:r>
            <a:r>
              <a:rPr lang="en-US" altLang="zh-TW" sz="2400" b="0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10</a:t>
            </a:r>
            <a:r>
              <a:rPr lang="zh-TW" altLang="en-US" sz="2400" b="0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張股票，這種就很危險，可能會導致你想</a:t>
            </a:r>
            <a:endParaRPr lang="en-US" altLang="zh-TW" sz="2400" b="0" dirty="0">
              <a:effectLst/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algn="l">
              <a:lnSpc>
                <a:spcPts val="2025"/>
              </a:lnSpc>
              <a:spcBef>
                <a:spcPts val="1125"/>
              </a:spcBef>
              <a:spcAft>
                <a:spcPts val="1125"/>
              </a:spcAft>
            </a:pPr>
            <a:r>
              <a:rPr lang="zh-TW" altLang="en-US" sz="2400" b="0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賣的時候賣不掉，或者被迫賣在很差的價位。</a:t>
            </a:r>
          </a:p>
        </p:txBody>
      </p:sp>
    </p:spTree>
    <p:extLst>
      <p:ext uri="{BB962C8B-B14F-4D97-AF65-F5344CB8AC3E}">
        <p14:creationId xmlns:p14="http://schemas.microsoft.com/office/powerpoint/2010/main" val="76450140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2ADD52-B8B7-FBA6-B257-65E257EF41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直線接點 7">
            <a:extLst>
              <a:ext uri="{FF2B5EF4-FFF2-40B4-BE49-F238E27FC236}">
                <a16:creationId xmlns:a16="http://schemas.microsoft.com/office/drawing/2014/main" id="{DD955946-DFB2-3CC0-E084-AF5F03979235}"/>
              </a:ext>
            </a:extLst>
          </p:cNvPr>
          <p:cNvCxnSpPr>
            <a:cxnSpLocks/>
          </p:cNvCxnSpPr>
          <p:nvPr/>
        </p:nvCxnSpPr>
        <p:spPr>
          <a:xfrm>
            <a:off x="144049" y="926926"/>
            <a:ext cx="11931041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文字方塊 10">
            <a:extLst>
              <a:ext uri="{FF2B5EF4-FFF2-40B4-BE49-F238E27FC236}">
                <a16:creationId xmlns:a16="http://schemas.microsoft.com/office/drawing/2014/main" id="{AB6CDA81-8B15-3EC0-7B25-6F6E2D1E0230}"/>
              </a:ext>
            </a:extLst>
          </p:cNvPr>
          <p:cNvSpPr txBox="1"/>
          <p:nvPr/>
        </p:nvSpPr>
        <p:spPr>
          <a:xfrm>
            <a:off x="522961" y="280595"/>
            <a:ext cx="609704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sz="3600" b="0" i="0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成交量</a:t>
            </a:r>
            <a:endParaRPr lang="zh-TW" altLang="en-US" sz="3600" dirty="0"/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6DC0947C-EC8B-BA67-7F08-7A3C0667D444}"/>
              </a:ext>
            </a:extLst>
          </p:cNvPr>
          <p:cNvSpPr txBox="1"/>
          <p:nvPr/>
        </p:nvSpPr>
        <p:spPr>
          <a:xfrm>
            <a:off x="415706" y="1868423"/>
            <a:ext cx="11387725" cy="44319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sz="2400" b="0" i="0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通常</a:t>
            </a:r>
            <a:r>
              <a:rPr lang="en-US" altLang="zh-TW" sz="2400" b="0" i="0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1</a:t>
            </a:r>
            <a:r>
              <a:rPr lang="zh-TW" altLang="en-US" sz="2400" b="0" i="0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檔股票，因股價不同、股本不同，呈現出的成交張數也會有所不同。因此在定義上，我們必須抱持一致性原則</a:t>
            </a:r>
            <a:r>
              <a:rPr lang="en-US" altLang="zh-TW" sz="2400" b="0" i="0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——</a:t>
            </a:r>
            <a:r>
              <a:rPr lang="zh-TW" altLang="en-US" sz="2400" b="0" i="0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採用</a:t>
            </a:r>
            <a:r>
              <a:rPr lang="en-US" altLang="zh-TW" sz="2400" b="0" i="0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5</a:t>
            </a:r>
            <a:r>
              <a:rPr lang="zh-TW" altLang="en-US" sz="2400" b="0" i="0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均量來定義有量與無量。</a:t>
            </a:r>
            <a:endParaRPr lang="en-US" altLang="zh-TW" sz="2400" b="0" i="0" dirty="0">
              <a:effectLst/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endParaRPr lang="en-US" altLang="zh-TW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zh-TW" altLang="en-US" sz="2400" b="1" i="0" dirty="0">
                <a:solidFill>
                  <a:srgbClr val="B48700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只要成交量在</a:t>
            </a:r>
            <a:r>
              <a:rPr lang="en-US" altLang="zh-TW" sz="2400" b="1" i="0" dirty="0">
                <a:solidFill>
                  <a:srgbClr val="B48700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5</a:t>
            </a:r>
            <a:r>
              <a:rPr lang="zh-TW" altLang="en-US" sz="2400" b="1" i="0" dirty="0">
                <a:solidFill>
                  <a:srgbClr val="B48700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均量以上，就定義為有量；在</a:t>
            </a:r>
            <a:r>
              <a:rPr lang="en-US" altLang="zh-TW" sz="2400" b="1" i="0" dirty="0">
                <a:solidFill>
                  <a:srgbClr val="B48700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5</a:t>
            </a:r>
            <a:r>
              <a:rPr lang="zh-TW" altLang="en-US" sz="2400" b="1" i="0" dirty="0">
                <a:solidFill>
                  <a:srgbClr val="B48700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均量以下，就定義為無量。有量就有價格波動，無量就沒有價格波動。</a:t>
            </a:r>
            <a:endParaRPr lang="en-US" altLang="zh-TW" sz="2400" b="1" i="0" dirty="0">
              <a:solidFill>
                <a:srgbClr val="B48700"/>
              </a:solidFill>
              <a:effectLst/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endParaRPr lang="en-US" altLang="zh-TW" sz="2400" b="1" dirty="0">
              <a:solidFill>
                <a:srgbClr val="B4870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en-US" altLang="zh-TW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5</a:t>
            </a:r>
            <a:r>
              <a:rPr lang="zh-TW" altLang="en-US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均量則為成交量的</a:t>
            </a:r>
            <a:r>
              <a:rPr lang="en-US" altLang="zh-TW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5</a:t>
            </a:r>
            <a:r>
              <a:rPr lang="zh-TW" altLang="en-US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日均線。</a:t>
            </a:r>
            <a:endParaRPr lang="en-US" altLang="zh-TW" sz="2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endParaRPr lang="en-US" altLang="zh-TW" sz="2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endParaRPr lang="en-US" altLang="zh-TW" sz="2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endParaRPr lang="en-US" altLang="zh-TW" sz="2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endParaRPr lang="en-US" altLang="zh-TW" sz="2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endParaRPr lang="en-US" altLang="zh-TW" sz="2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63753691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F22C42-F3B3-B466-597E-3CF58AAE96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直線接點 7">
            <a:extLst>
              <a:ext uri="{FF2B5EF4-FFF2-40B4-BE49-F238E27FC236}">
                <a16:creationId xmlns:a16="http://schemas.microsoft.com/office/drawing/2014/main" id="{F9CAD374-949C-3AD1-873F-EB347B180DF9}"/>
              </a:ext>
            </a:extLst>
          </p:cNvPr>
          <p:cNvCxnSpPr>
            <a:cxnSpLocks/>
          </p:cNvCxnSpPr>
          <p:nvPr/>
        </p:nvCxnSpPr>
        <p:spPr>
          <a:xfrm>
            <a:off x="144049" y="926926"/>
            <a:ext cx="11931041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文字方塊 10">
            <a:extLst>
              <a:ext uri="{FF2B5EF4-FFF2-40B4-BE49-F238E27FC236}">
                <a16:creationId xmlns:a16="http://schemas.microsoft.com/office/drawing/2014/main" id="{451EA709-3473-8DAC-F6CA-8E4723F390EF}"/>
              </a:ext>
            </a:extLst>
          </p:cNvPr>
          <p:cNvSpPr txBox="1"/>
          <p:nvPr/>
        </p:nvSpPr>
        <p:spPr>
          <a:xfrm>
            <a:off x="522961" y="280595"/>
            <a:ext cx="609704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sz="3600" b="0" i="0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成交量</a:t>
            </a:r>
            <a:endParaRPr lang="zh-TW" altLang="en-US" sz="3600" dirty="0"/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69B05816-5100-86E5-CA4E-A3A20CB829F2}"/>
              </a:ext>
            </a:extLst>
          </p:cNvPr>
          <p:cNvSpPr txBox="1"/>
          <p:nvPr/>
        </p:nvSpPr>
        <p:spPr>
          <a:xfrm>
            <a:off x="522961" y="1780741"/>
            <a:ext cx="11387725" cy="52629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zh-TW" altLang="en-US" sz="2400" b="0" i="0" dirty="0">
                <a:solidFill>
                  <a:srgbClr val="000000"/>
                </a:solidFill>
                <a:effectLst/>
                <a:latin typeface="Lato" panose="020F0502020204030203" pitchFamily="34" charset="0"/>
              </a:rPr>
              <a:t>移動平均線的計算公式為</a:t>
            </a:r>
            <a:r>
              <a:rPr lang="en-US" altLang="zh-TW" sz="2400" b="0" i="0" dirty="0">
                <a:solidFill>
                  <a:srgbClr val="000000"/>
                </a:solidFill>
                <a:effectLst/>
                <a:latin typeface="Lato" panose="020F0502020204030203" pitchFamily="34" charset="0"/>
              </a:rPr>
              <a:t>(</a:t>
            </a:r>
            <a:r>
              <a:rPr lang="zh-TW" altLang="en-US" sz="2400" b="0" i="0" dirty="0">
                <a:solidFill>
                  <a:srgbClr val="000000"/>
                </a:solidFill>
                <a:effectLst/>
                <a:latin typeface="Lato" panose="020F0502020204030203" pitchFamily="34" charset="0"/>
              </a:rPr>
              <a:t>以量能來說</a:t>
            </a:r>
            <a:r>
              <a:rPr lang="en-US" altLang="zh-TW" sz="2400" b="0" i="0" dirty="0">
                <a:solidFill>
                  <a:srgbClr val="000000"/>
                </a:solidFill>
                <a:effectLst/>
                <a:latin typeface="Lato" panose="020F0502020204030203" pitchFamily="34" charset="0"/>
              </a:rPr>
              <a:t>)</a:t>
            </a:r>
            <a:r>
              <a:rPr lang="zh-TW" altLang="en-US" sz="2400" b="0" i="0" dirty="0">
                <a:solidFill>
                  <a:srgbClr val="000000"/>
                </a:solidFill>
                <a:effectLst/>
                <a:latin typeface="Lato" panose="020F0502020204030203" pitchFamily="34" charset="0"/>
              </a:rPr>
              <a:t>：</a:t>
            </a:r>
            <a:r>
              <a:rPr lang="en-US" altLang="zh-TW" sz="2400" b="0" i="0" dirty="0">
                <a:solidFill>
                  <a:srgbClr val="000000"/>
                </a:solidFill>
                <a:effectLst/>
                <a:latin typeface="Lato" panose="020F0502020204030203" pitchFamily="34" charset="0"/>
              </a:rPr>
              <a:t>N</a:t>
            </a:r>
            <a:r>
              <a:rPr lang="zh-TW" altLang="en-US" sz="2400" b="0" i="0" dirty="0">
                <a:solidFill>
                  <a:srgbClr val="000000"/>
                </a:solidFill>
                <a:effectLst/>
                <a:latin typeface="Lato" panose="020F0502020204030203" pitchFamily="34" charset="0"/>
              </a:rPr>
              <a:t>日移動平均線 </a:t>
            </a:r>
            <a:r>
              <a:rPr lang="en-US" altLang="zh-TW" sz="2400" b="0" i="0" dirty="0">
                <a:solidFill>
                  <a:srgbClr val="000000"/>
                </a:solidFill>
                <a:effectLst/>
                <a:latin typeface="Lato" panose="020F0502020204030203" pitchFamily="34" charset="0"/>
              </a:rPr>
              <a:t>= N</a:t>
            </a:r>
            <a:r>
              <a:rPr lang="zh-TW" altLang="en-US" sz="2400" b="0" i="0" dirty="0">
                <a:solidFill>
                  <a:srgbClr val="000000"/>
                </a:solidFill>
                <a:effectLst/>
                <a:latin typeface="Lato" panose="020F0502020204030203" pitchFamily="34" charset="0"/>
              </a:rPr>
              <a:t>日量能的總和 </a:t>
            </a:r>
            <a:r>
              <a:rPr lang="en-US" altLang="zh-TW" sz="2400" b="0" i="0" dirty="0">
                <a:solidFill>
                  <a:srgbClr val="000000"/>
                </a:solidFill>
                <a:effectLst/>
                <a:latin typeface="Lato" panose="020F0502020204030203" pitchFamily="34" charset="0"/>
              </a:rPr>
              <a:t>÷ N</a:t>
            </a:r>
            <a:r>
              <a:rPr lang="zh-TW" altLang="en-US" sz="2400" b="0" i="0" dirty="0">
                <a:solidFill>
                  <a:srgbClr val="000000"/>
                </a:solidFill>
                <a:effectLst/>
                <a:latin typeface="Lato" panose="020F0502020204030203" pitchFamily="34" charset="0"/>
              </a:rPr>
              <a:t>日。</a:t>
            </a:r>
          </a:p>
          <a:p>
            <a:pPr algn="l"/>
            <a:endParaRPr lang="en-US" altLang="zh-TW" sz="2400" b="0" i="0" dirty="0">
              <a:solidFill>
                <a:srgbClr val="000000"/>
              </a:solidFill>
              <a:effectLst/>
              <a:latin typeface="Lato" panose="020F0502020204030203" pitchFamily="34" charset="0"/>
            </a:endParaRPr>
          </a:p>
          <a:p>
            <a:pPr algn="l"/>
            <a:r>
              <a:rPr lang="zh-TW" altLang="en-US" sz="2400" b="0" i="0" dirty="0">
                <a:solidFill>
                  <a:srgbClr val="000000"/>
                </a:solidFill>
                <a:effectLst/>
                <a:latin typeface="Lato" panose="020F0502020204030203" pitchFamily="34" charset="0"/>
              </a:rPr>
              <a:t>例如：</a:t>
            </a:r>
            <a:endParaRPr lang="en-US" altLang="zh-TW" sz="2400" b="0" i="0" dirty="0">
              <a:solidFill>
                <a:srgbClr val="000000"/>
              </a:solidFill>
              <a:effectLst/>
              <a:latin typeface="Lato" panose="020F0502020204030203" pitchFamily="34" charset="0"/>
            </a:endParaRPr>
          </a:p>
          <a:p>
            <a:pPr algn="l"/>
            <a:endParaRPr lang="zh-TW" altLang="en-US" sz="2400" b="0" i="0" dirty="0">
              <a:solidFill>
                <a:srgbClr val="000000"/>
              </a:solidFill>
              <a:effectLst/>
              <a:latin typeface="Lato" panose="020F0502020204030203" pitchFamily="34" charset="0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zh-TW" altLang="en-US" sz="2400" b="0" i="0" dirty="0">
                <a:solidFill>
                  <a:srgbClr val="000000"/>
                </a:solidFill>
                <a:effectLst/>
                <a:latin typeface="Lato" panose="020F0502020204030203" pitchFamily="34" charset="0"/>
              </a:rPr>
              <a:t> </a:t>
            </a:r>
            <a:r>
              <a:rPr lang="en-US" altLang="zh-TW" sz="2400" b="0" i="0" dirty="0">
                <a:solidFill>
                  <a:srgbClr val="000000"/>
                </a:solidFill>
                <a:effectLst/>
                <a:latin typeface="Lato" panose="020F0502020204030203" pitchFamily="34" charset="0"/>
              </a:rPr>
              <a:t>5</a:t>
            </a:r>
            <a:r>
              <a:rPr lang="zh-TW" altLang="en-US" sz="2400" b="0" i="0" dirty="0">
                <a:solidFill>
                  <a:srgbClr val="000000"/>
                </a:solidFill>
                <a:effectLst/>
                <a:latin typeface="Lato" panose="020F0502020204030203" pitchFamily="34" charset="0"/>
              </a:rPr>
              <a:t>日均線就是把過去</a:t>
            </a:r>
            <a:r>
              <a:rPr lang="en-US" altLang="zh-TW" sz="2400" b="0" i="0" dirty="0">
                <a:solidFill>
                  <a:srgbClr val="000000"/>
                </a:solidFill>
                <a:effectLst/>
                <a:latin typeface="Lato" panose="020F0502020204030203" pitchFamily="34" charset="0"/>
              </a:rPr>
              <a:t>5</a:t>
            </a:r>
            <a:r>
              <a:rPr lang="zh-TW" altLang="en-US" sz="2400" b="0" i="0" dirty="0">
                <a:solidFill>
                  <a:srgbClr val="000000"/>
                </a:solidFill>
                <a:effectLst/>
                <a:latin typeface="Lato" panose="020F0502020204030203" pitchFamily="34" charset="0"/>
              </a:rPr>
              <a:t>天的量能加總再除以</a:t>
            </a:r>
            <a:r>
              <a:rPr lang="en-US" altLang="zh-TW" sz="2400" b="0" i="0" dirty="0">
                <a:solidFill>
                  <a:srgbClr val="000000"/>
                </a:solidFill>
                <a:effectLst/>
                <a:latin typeface="Lato" panose="020F0502020204030203" pitchFamily="34" charset="0"/>
              </a:rPr>
              <a:t>5</a:t>
            </a:r>
            <a:r>
              <a:rPr lang="zh-TW" altLang="en-US" sz="2400" b="0" i="0" dirty="0">
                <a:solidFill>
                  <a:srgbClr val="000000"/>
                </a:solidFill>
                <a:effectLst/>
                <a:latin typeface="Lato" panose="020F0502020204030203" pitchFamily="34" charset="0"/>
              </a:rPr>
              <a:t>。</a:t>
            </a:r>
            <a:endParaRPr lang="en-US" altLang="zh-TW" sz="2400" b="0" i="0" dirty="0">
              <a:solidFill>
                <a:srgbClr val="000000"/>
              </a:solidFill>
              <a:effectLst/>
              <a:latin typeface="Lato" panose="020F0502020204030203" pitchFamily="34" charset="0"/>
            </a:endParaRPr>
          </a:p>
          <a:p>
            <a:pPr algn="l">
              <a:buFont typeface="Arial" panose="020B0604020202020204" pitchFamily="34" charset="0"/>
              <a:buChar char="•"/>
            </a:pPr>
            <a:endParaRPr lang="zh-TW" altLang="en-US" sz="2400" b="0" i="0" dirty="0">
              <a:solidFill>
                <a:srgbClr val="000000"/>
              </a:solidFill>
              <a:effectLst/>
              <a:latin typeface="Lato" panose="020F0502020204030203" pitchFamily="34" charset="0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zh-TW" altLang="en-US" sz="2400" b="0" i="0" dirty="0">
                <a:solidFill>
                  <a:srgbClr val="000000"/>
                </a:solidFill>
                <a:effectLst/>
                <a:latin typeface="Lato" panose="020F0502020204030203" pitchFamily="34" charset="0"/>
              </a:rPr>
              <a:t> </a:t>
            </a:r>
            <a:r>
              <a:rPr lang="en-US" altLang="zh-TW" sz="2400" b="0" i="0" dirty="0">
                <a:solidFill>
                  <a:srgbClr val="000000"/>
                </a:solidFill>
                <a:effectLst/>
                <a:latin typeface="Lato" panose="020F0502020204030203" pitchFamily="34" charset="0"/>
              </a:rPr>
              <a:t>20</a:t>
            </a:r>
            <a:r>
              <a:rPr lang="zh-TW" altLang="en-US" sz="2400" b="0" i="0" dirty="0">
                <a:solidFill>
                  <a:srgbClr val="000000"/>
                </a:solidFill>
                <a:effectLst/>
                <a:latin typeface="Lato" panose="020F0502020204030203" pitchFamily="34" charset="0"/>
              </a:rPr>
              <a:t>日均線就是把過去</a:t>
            </a:r>
            <a:r>
              <a:rPr lang="en-US" altLang="zh-TW" sz="2400" b="0" i="0" dirty="0">
                <a:solidFill>
                  <a:srgbClr val="000000"/>
                </a:solidFill>
                <a:effectLst/>
                <a:latin typeface="Lato" panose="020F0502020204030203" pitchFamily="34" charset="0"/>
              </a:rPr>
              <a:t>20</a:t>
            </a:r>
            <a:r>
              <a:rPr lang="zh-TW" altLang="en-US" sz="2400" b="0" i="0" dirty="0">
                <a:solidFill>
                  <a:srgbClr val="000000"/>
                </a:solidFill>
                <a:effectLst/>
                <a:latin typeface="Lato" panose="020F0502020204030203" pitchFamily="34" charset="0"/>
              </a:rPr>
              <a:t>天的量能加總再除以</a:t>
            </a:r>
            <a:r>
              <a:rPr lang="en-US" altLang="zh-TW" sz="2400" b="0" i="0" dirty="0">
                <a:solidFill>
                  <a:srgbClr val="000000"/>
                </a:solidFill>
                <a:effectLst/>
                <a:latin typeface="Lato" panose="020F0502020204030203" pitchFamily="34" charset="0"/>
              </a:rPr>
              <a:t>20</a:t>
            </a:r>
            <a:r>
              <a:rPr lang="zh-TW" altLang="en-US" sz="2400" b="0" i="0" dirty="0">
                <a:solidFill>
                  <a:srgbClr val="000000"/>
                </a:solidFill>
                <a:effectLst/>
                <a:latin typeface="Lato" panose="020F0502020204030203" pitchFamily="34" charset="0"/>
              </a:rPr>
              <a:t>。</a:t>
            </a:r>
            <a:endParaRPr lang="en-US" altLang="zh-TW" sz="2400" b="0" i="0" dirty="0">
              <a:solidFill>
                <a:srgbClr val="000000"/>
              </a:solidFill>
              <a:effectLst/>
              <a:latin typeface="Lato" panose="020F0502020204030203" pitchFamily="34" charset="0"/>
            </a:endParaRPr>
          </a:p>
          <a:p>
            <a:pPr algn="l"/>
            <a:endParaRPr lang="zh-TW" altLang="en-US" sz="2400" b="0" i="0" dirty="0">
              <a:solidFill>
                <a:srgbClr val="000000"/>
              </a:solidFill>
              <a:effectLst/>
              <a:latin typeface="Lato" panose="020F0502020204030203" pitchFamily="34" charset="0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zh-TW" altLang="en-US" sz="2400" b="0" i="0" dirty="0">
                <a:solidFill>
                  <a:srgbClr val="000000"/>
                </a:solidFill>
                <a:effectLst/>
                <a:latin typeface="Lato" panose="020F0502020204030203" pitchFamily="34" charset="0"/>
              </a:rPr>
              <a:t> </a:t>
            </a:r>
            <a:r>
              <a:rPr lang="en-US" altLang="zh-TW" sz="2400" b="0" i="0" dirty="0">
                <a:solidFill>
                  <a:srgbClr val="000000"/>
                </a:solidFill>
                <a:effectLst/>
                <a:latin typeface="Lato" panose="020F0502020204030203" pitchFamily="34" charset="0"/>
              </a:rPr>
              <a:t>60</a:t>
            </a:r>
            <a:r>
              <a:rPr lang="zh-TW" altLang="en-US" sz="2400" b="0" i="0" dirty="0">
                <a:solidFill>
                  <a:srgbClr val="000000"/>
                </a:solidFill>
                <a:effectLst/>
                <a:latin typeface="Lato" panose="020F0502020204030203" pitchFamily="34" charset="0"/>
              </a:rPr>
              <a:t>日均線就是把過去</a:t>
            </a:r>
            <a:r>
              <a:rPr lang="en-US" altLang="zh-TW" sz="2400" b="0" i="0" dirty="0">
                <a:solidFill>
                  <a:srgbClr val="000000"/>
                </a:solidFill>
                <a:effectLst/>
                <a:latin typeface="Lato" panose="020F0502020204030203" pitchFamily="34" charset="0"/>
              </a:rPr>
              <a:t>60</a:t>
            </a:r>
            <a:r>
              <a:rPr lang="zh-TW" altLang="en-US" sz="2400" b="0" i="0" dirty="0">
                <a:solidFill>
                  <a:srgbClr val="000000"/>
                </a:solidFill>
                <a:effectLst/>
                <a:latin typeface="Lato" panose="020F0502020204030203" pitchFamily="34" charset="0"/>
              </a:rPr>
              <a:t>天的量能加總再除以</a:t>
            </a:r>
            <a:r>
              <a:rPr lang="en-US" altLang="zh-TW" sz="2400" b="0" i="0" dirty="0">
                <a:solidFill>
                  <a:srgbClr val="000000"/>
                </a:solidFill>
                <a:effectLst/>
                <a:latin typeface="Lato" panose="020F0502020204030203" pitchFamily="34" charset="0"/>
              </a:rPr>
              <a:t>60</a:t>
            </a:r>
            <a:r>
              <a:rPr lang="zh-TW" altLang="en-US" sz="2400" b="0" i="0" dirty="0">
                <a:solidFill>
                  <a:srgbClr val="000000"/>
                </a:solidFill>
                <a:effectLst/>
                <a:latin typeface="Lato" panose="020F0502020204030203" pitchFamily="34" charset="0"/>
              </a:rPr>
              <a:t>。</a:t>
            </a:r>
          </a:p>
          <a:p>
            <a:endParaRPr lang="en-US" altLang="zh-TW" sz="2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zh-TW" altLang="en-US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依此類推</a:t>
            </a:r>
            <a:r>
              <a:rPr lang="en-US" altLang="zh-TW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…..</a:t>
            </a:r>
          </a:p>
          <a:p>
            <a:endParaRPr lang="en-US" altLang="zh-TW" sz="2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endParaRPr lang="en-US" altLang="zh-TW" sz="2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endParaRPr lang="en-US" altLang="zh-TW" sz="2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13638382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AEABF2-AE97-5466-E745-08F36E8CE9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直線接點 7">
            <a:extLst>
              <a:ext uri="{FF2B5EF4-FFF2-40B4-BE49-F238E27FC236}">
                <a16:creationId xmlns:a16="http://schemas.microsoft.com/office/drawing/2014/main" id="{59C0AA6B-2798-C88F-8773-307190DC08F1}"/>
              </a:ext>
            </a:extLst>
          </p:cNvPr>
          <p:cNvCxnSpPr>
            <a:cxnSpLocks/>
          </p:cNvCxnSpPr>
          <p:nvPr/>
        </p:nvCxnSpPr>
        <p:spPr>
          <a:xfrm>
            <a:off x="144049" y="926926"/>
            <a:ext cx="11931041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文字方塊 10">
            <a:extLst>
              <a:ext uri="{FF2B5EF4-FFF2-40B4-BE49-F238E27FC236}">
                <a16:creationId xmlns:a16="http://schemas.microsoft.com/office/drawing/2014/main" id="{614C9911-9CEB-4B7B-EB36-524F564DDA1F}"/>
              </a:ext>
            </a:extLst>
          </p:cNvPr>
          <p:cNvSpPr txBox="1"/>
          <p:nvPr/>
        </p:nvSpPr>
        <p:spPr>
          <a:xfrm>
            <a:off x="522961" y="280595"/>
            <a:ext cx="609704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sz="3600" b="0" i="0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成交量</a:t>
            </a:r>
            <a:endParaRPr lang="zh-TW" altLang="en-US" sz="3600" dirty="0"/>
          </a:p>
        </p:txBody>
      </p:sp>
      <p:grpSp>
        <p:nvGrpSpPr>
          <p:cNvPr id="9" name="群組 8">
            <a:extLst>
              <a:ext uri="{FF2B5EF4-FFF2-40B4-BE49-F238E27FC236}">
                <a16:creationId xmlns:a16="http://schemas.microsoft.com/office/drawing/2014/main" id="{FECB5C3E-DBE0-5C7D-3CE5-FFE2A674AF44}"/>
              </a:ext>
            </a:extLst>
          </p:cNvPr>
          <p:cNvGrpSpPr/>
          <p:nvPr/>
        </p:nvGrpSpPr>
        <p:grpSpPr>
          <a:xfrm>
            <a:off x="2194141" y="2832677"/>
            <a:ext cx="7803717" cy="1979988"/>
            <a:chOff x="522961" y="2857690"/>
            <a:chExt cx="7803717" cy="1979988"/>
          </a:xfrm>
        </p:grpSpPr>
        <p:pic>
          <p:nvPicPr>
            <p:cNvPr id="5" name="圖片 4">
              <a:extLst>
                <a:ext uri="{FF2B5EF4-FFF2-40B4-BE49-F238E27FC236}">
                  <a16:creationId xmlns:a16="http://schemas.microsoft.com/office/drawing/2014/main" id="{1434DD2F-CD98-6715-84FF-BFED4189D7E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22961" y="2857690"/>
              <a:ext cx="7803717" cy="1979988"/>
            </a:xfrm>
            <a:prstGeom prst="rect">
              <a:avLst/>
            </a:prstGeom>
            <a:ln>
              <a:noFill/>
            </a:ln>
            <a:effectLst>
              <a:outerShdw blurRad="292100" dist="139700" dir="2700000" algn="tl" rotWithShape="0">
                <a:srgbClr val="333333">
                  <a:alpha val="65000"/>
                </a:srgbClr>
              </a:outerShdw>
            </a:effectLst>
          </p:spPr>
        </p:pic>
        <p:sp>
          <p:nvSpPr>
            <p:cNvPr id="7" name="文字方塊 6">
              <a:extLst>
                <a:ext uri="{FF2B5EF4-FFF2-40B4-BE49-F238E27FC236}">
                  <a16:creationId xmlns:a16="http://schemas.microsoft.com/office/drawing/2014/main" id="{7FF81042-8DE8-2E2F-A118-AC6EF9886DA2}"/>
                </a:ext>
              </a:extLst>
            </p:cNvPr>
            <p:cNvSpPr txBox="1"/>
            <p:nvPr/>
          </p:nvSpPr>
          <p:spPr>
            <a:xfrm>
              <a:off x="2050092" y="3847684"/>
              <a:ext cx="1964498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TW" altLang="en-US" dirty="0"/>
                <a:t>成交量</a:t>
              </a:r>
              <a:r>
                <a:rPr lang="en-US" altLang="zh-TW" dirty="0"/>
                <a:t>&gt;5</a:t>
              </a:r>
              <a:r>
                <a:rPr lang="zh-TW" altLang="en-US" dirty="0"/>
                <a:t>日均線</a:t>
              </a:r>
              <a:endParaRPr lang="en-US" altLang="zh-TW" dirty="0"/>
            </a:p>
            <a:p>
              <a:r>
                <a:rPr lang="zh-TW" altLang="en-US" dirty="0"/>
                <a:t>為爆大量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6712329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B3D95B-4EDF-9E69-2079-208336F032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直線接點 7">
            <a:extLst>
              <a:ext uri="{FF2B5EF4-FFF2-40B4-BE49-F238E27FC236}">
                <a16:creationId xmlns:a16="http://schemas.microsoft.com/office/drawing/2014/main" id="{2F0A58A0-DACE-1424-D7B4-9220F4A8691F}"/>
              </a:ext>
            </a:extLst>
          </p:cNvPr>
          <p:cNvCxnSpPr>
            <a:cxnSpLocks/>
          </p:cNvCxnSpPr>
          <p:nvPr/>
        </p:nvCxnSpPr>
        <p:spPr>
          <a:xfrm>
            <a:off x="144049" y="926926"/>
            <a:ext cx="11931041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文字方塊 10">
            <a:extLst>
              <a:ext uri="{FF2B5EF4-FFF2-40B4-BE49-F238E27FC236}">
                <a16:creationId xmlns:a16="http://schemas.microsoft.com/office/drawing/2014/main" id="{DE3FE7BE-EA44-358B-8056-6B28FCB045E5}"/>
              </a:ext>
            </a:extLst>
          </p:cNvPr>
          <p:cNvSpPr txBox="1"/>
          <p:nvPr/>
        </p:nvSpPr>
        <p:spPr>
          <a:xfrm>
            <a:off x="522961" y="280595"/>
            <a:ext cx="609704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sz="3600" b="0" i="0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成交量</a:t>
            </a:r>
            <a:endParaRPr lang="zh-TW" altLang="en-US" sz="3600" dirty="0"/>
          </a:p>
        </p:txBody>
      </p:sp>
      <p:grpSp>
        <p:nvGrpSpPr>
          <p:cNvPr id="2" name="群組 1">
            <a:extLst>
              <a:ext uri="{FF2B5EF4-FFF2-40B4-BE49-F238E27FC236}">
                <a16:creationId xmlns:a16="http://schemas.microsoft.com/office/drawing/2014/main" id="{55E3412E-9DE0-8B37-57DD-7125F7373071}"/>
              </a:ext>
            </a:extLst>
          </p:cNvPr>
          <p:cNvGrpSpPr/>
          <p:nvPr/>
        </p:nvGrpSpPr>
        <p:grpSpPr>
          <a:xfrm>
            <a:off x="8988024" y="1719017"/>
            <a:ext cx="2786441" cy="4696826"/>
            <a:chOff x="9226019" y="1499271"/>
            <a:chExt cx="2786441" cy="4696826"/>
          </a:xfrm>
        </p:grpSpPr>
        <p:pic>
          <p:nvPicPr>
            <p:cNvPr id="3" name="圖片 2">
              <a:extLst>
                <a:ext uri="{FF2B5EF4-FFF2-40B4-BE49-F238E27FC236}">
                  <a16:creationId xmlns:a16="http://schemas.microsoft.com/office/drawing/2014/main" id="{1856A5D5-3F44-A5E0-460A-CF502D7028D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226019" y="1499271"/>
              <a:ext cx="2291662" cy="4696826"/>
            </a:xfrm>
            <a:prstGeom prst="rect">
              <a:avLst/>
            </a:prstGeom>
            <a:ln>
              <a:noFill/>
            </a:ln>
            <a:effectLst>
              <a:outerShdw blurRad="292100" dist="139700" dir="2700000" algn="tl" rotWithShape="0">
                <a:srgbClr val="333333">
                  <a:alpha val="65000"/>
                </a:srgbClr>
              </a:outerShdw>
            </a:effectLst>
          </p:spPr>
        </p:pic>
        <p:sp>
          <p:nvSpPr>
            <p:cNvPr id="4" name="矩形 3">
              <a:extLst>
                <a:ext uri="{FF2B5EF4-FFF2-40B4-BE49-F238E27FC236}">
                  <a16:creationId xmlns:a16="http://schemas.microsoft.com/office/drawing/2014/main" id="{3D8E3920-3D69-B19B-1622-D30A5C6A2F6D}"/>
                </a:ext>
              </a:extLst>
            </p:cNvPr>
            <p:cNvSpPr/>
            <p:nvPr/>
          </p:nvSpPr>
          <p:spPr>
            <a:xfrm>
              <a:off x="10039611" y="2323578"/>
              <a:ext cx="864296" cy="3713963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/>
            </a:p>
          </p:txBody>
        </p:sp>
        <p:sp>
          <p:nvSpPr>
            <p:cNvPr id="5" name="文字方塊 4">
              <a:extLst>
                <a:ext uri="{FF2B5EF4-FFF2-40B4-BE49-F238E27FC236}">
                  <a16:creationId xmlns:a16="http://schemas.microsoft.com/office/drawing/2014/main" id="{0A4AB476-A61A-CC23-7893-4E103CE204DB}"/>
                </a:ext>
              </a:extLst>
            </p:cNvPr>
            <p:cNvSpPr txBox="1"/>
            <p:nvPr/>
          </p:nvSpPr>
          <p:spPr>
            <a:xfrm>
              <a:off x="9538570" y="1663821"/>
              <a:ext cx="2473890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TW" altLang="en-US" dirty="0"/>
                <a:t>成交量大有行情</a:t>
              </a:r>
              <a:endParaRPr lang="en-US" altLang="zh-TW" dirty="0"/>
            </a:p>
            <a:p>
              <a:r>
                <a:rPr lang="zh-TW" altLang="en-US" dirty="0"/>
                <a:t>上升趨勢</a:t>
              </a:r>
            </a:p>
          </p:txBody>
        </p:sp>
      </p:grpSp>
      <p:sp>
        <p:nvSpPr>
          <p:cNvPr id="7" name="文字方塊 6">
            <a:extLst>
              <a:ext uri="{FF2B5EF4-FFF2-40B4-BE49-F238E27FC236}">
                <a16:creationId xmlns:a16="http://schemas.microsoft.com/office/drawing/2014/main" id="{D63FBC0F-F0B0-7C57-98E9-A0468D14E80B}"/>
              </a:ext>
            </a:extLst>
          </p:cNvPr>
          <p:cNvSpPr txBox="1"/>
          <p:nvPr/>
        </p:nvSpPr>
        <p:spPr>
          <a:xfrm>
            <a:off x="937519" y="3254377"/>
            <a:ext cx="4769285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b="1" i="0" dirty="0">
                <a:solidFill>
                  <a:srgbClr val="B48700"/>
                </a:solidFill>
                <a:effectLst/>
                <a:latin typeface="Ampersand"/>
              </a:rPr>
              <a:t>只要成交量在</a:t>
            </a:r>
            <a:r>
              <a:rPr lang="en-US" altLang="zh-TW" b="1" i="0" dirty="0">
                <a:solidFill>
                  <a:srgbClr val="B48700"/>
                </a:solidFill>
                <a:effectLst/>
                <a:latin typeface="Ampersand"/>
              </a:rPr>
              <a:t>5</a:t>
            </a:r>
            <a:r>
              <a:rPr lang="zh-TW" altLang="en-US" b="1" i="0" dirty="0">
                <a:solidFill>
                  <a:srgbClr val="B48700"/>
                </a:solidFill>
                <a:effectLst/>
                <a:latin typeface="Ampersand"/>
              </a:rPr>
              <a:t>均量以上，就定義為有量；</a:t>
            </a:r>
            <a:endParaRPr lang="en-US" altLang="zh-TW" b="1" i="0" dirty="0">
              <a:solidFill>
                <a:srgbClr val="B48700"/>
              </a:solidFill>
              <a:effectLst/>
              <a:latin typeface="Ampersand"/>
            </a:endParaRPr>
          </a:p>
          <a:p>
            <a:r>
              <a:rPr lang="zh-TW" altLang="en-US" b="1" i="0" dirty="0">
                <a:solidFill>
                  <a:srgbClr val="B48700"/>
                </a:solidFill>
                <a:effectLst/>
                <a:latin typeface="Ampersand"/>
              </a:rPr>
              <a:t>在</a:t>
            </a:r>
            <a:r>
              <a:rPr lang="en-US" altLang="zh-TW" b="1" i="0" dirty="0">
                <a:solidFill>
                  <a:srgbClr val="B48700"/>
                </a:solidFill>
                <a:effectLst/>
                <a:latin typeface="Ampersand"/>
              </a:rPr>
              <a:t>5</a:t>
            </a:r>
            <a:r>
              <a:rPr lang="zh-TW" altLang="en-US" b="1" i="0" dirty="0">
                <a:solidFill>
                  <a:srgbClr val="B48700"/>
                </a:solidFill>
                <a:effectLst/>
                <a:latin typeface="Ampersand"/>
              </a:rPr>
              <a:t>均量以下，就定義為無量。</a:t>
            </a:r>
            <a:endParaRPr lang="en-US" altLang="zh-TW" b="1" i="0" dirty="0">
              <a:solidFill>
                <a:srgbClr val="B48700"/>
              </a:solidFill>
              <a:effectLst/>
              <a:latin typeface="Ampersand"/>
            </a:endParaRPr>
          </a:p>
          <a:p>
            <a:r>
              <a:rPr lang="zh-TW" altLang="en-US" b="1" i="0" dirty="0">
                <a:solidFill>
                  <a:srgbClr val="B48700"/>
                </a:solidFill>
                <a:effectLst/>
                <a:latin typeface="Ampersand"/>
              </a:rPr>
              <a:t>有量就有價格波動，無量就沒有價格波動。</a:t>
            </a:r>
            <a:endParaRPr lang="zh-TW" altLang="en-US" dirty="0"/>
          </a:p>
        </p:txBody>
      </p:sp>
      <p:pic>
        <p:nvPicPr>
          <p:cNvPr id="10" name="圖片 9">
            <a:extLst>
              <a:ext uri="{FF2B5EF4-FFF2-40B4-BE49-F238E27FC236}">
                <a16:creationId xmlns:a16="http://schemas.microsoft.com/office/drawing/2014/main" id="{56DAFB68-D31C-C893-D79A-85078247B1C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01583" y="1719017"/>
            <a:ext cx="2291662" cy="469682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12" name="矩形 11">
            <a:extLst>
              <a:ext uri="{FF2B5EF4-FFF2-40B4-BE49-F238E27FC236}">
                <a16:creationId xmlns:a16="http://schemas.microsoft.com/office/drawing/2014/main" id="{425CE755-C345-CF11-EFFA-B5C5FA27CB5C}"/>
              </a:ext>
            </a:extLst>
          </p:cNvPr>
          <p:cNvSpPr/>
          <p:nvPr/>
        </p:nvSpPr>
        <p:spPr>
          <a:xfrm>
            <a:off x="7571383" y="2543324"/>
            <a:ext cx="864296" cy="3713963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13" name="文字方塊 12">
            <a:extLst>
              <a:ext uri="{FF2B5EF4-FFF2-40B4-BE49-F238E27FC236}">
                <a16:creationId xmlns:a16="http://schemas.microsoft.com/office/drawing/2014/main" id="{DB2A8AE4-8D45-5A0F-F9AF-388514F181C4}"/>
              </a:ext>
            </a:extLst>
          </p:cNvPr>
          <p:cNvSpPr txBox="1"/>
          <p:nvPr/>
        </p:nvSpPr>
        <p:spPr>
          <a:xfrm>
            <a:off x="6716038" y="1902664"/>
            <a:ext cx="247389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dirty="0"/>
              <a:t>成交量大有行情</a:t>
            </a:r>
            <a:endParaRPr lang="en-US" altLang="zh-TW" dirty="0"/>
          </a:p>
          <a:p>
            <a:r>
              <a:rPr lang="zh-TW" altLang="en-US" dirty="0"/>
              <a:t>下降趨勢</a:t>
            </a:r>
          </a:p>
        </p:txBody>
      </p:sp>
    </p:spTree>
    <p:extLst>
      <p:ext uri="{BB962C8B-B14F-4D97-AF65-F5344CB8AC3E}">
        <p14:creationId xmlns:p14="http://schemas.microsoft.com/office/powerpoint/2010/main" val="332609265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498D69-D7D2-3482-1702-757B769E68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直線接點 7">
            <a:extLst>
              <a:ext uri="{FF2B5EF4-FFF2-40B4-BE49-F238E27FC236}">
                <a16:creationId xmlns:a16="http://schemas.microsoft.com/office/drawing/2014/main" id="{4C8B3AC8-692C-8C1D-024B-3D45A27854A4}"/>
              </a:ext>
            </a:extLst>
          </p:cNvPr>
          <p:cNvCxnSpPr>
            <a:cxnSpLocks/>
          </p:cNvCxnSpPr>
          <p:nvPr/>
        </p:nvCxnSpPr>
        <p:spPr>
          <a:xfrm>
            <a:off x="144049" y="926926"/>
            <a:ext cx="11931041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文字方塊 10">
            <a:extLst>
              <a:ext uri="{FF2B5EF4-FFF2-40B4-BE49-F238E27FC236}">
                <a16:creationId xmlns:a16="http://schemas.microsoft.com/office/drawing/2014/main" id="{DCEA9F0A-F05E-DC09-15E1-566514C4FC66}"/>
              </a:ext>
            </a:extLst>
          </p:cNvPr>
          <p:cNvSpPr txBox="1"/>
          <p:nvPr/>
        </p:nvSpPr>
        <p:spPr>
          <a:xfrm>
            <a:off x="522961" y="280595"/>
            <a:ext cx="609704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sz="3600" b="0" i="0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成交量</a:t>
            </a:r>
            <a:endParaRPr lang="zh-TW" altLang="en-US" sz="3600" dirty="0"/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7721A5A3-1223-8DDB-AED4-65944EE195C9}"/>
              </a:ext>
            </a:extLst>
          </p:cNvPr>
          <p:cNvSpPr txBox="1"/>
          <p:nvPr/>
        </p:nvSpPr>
        <p:spPr>
          <a:xfrm>
            <a:off x="522961" y="1238279"/>
            <a:ext cx="8621039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作業 </a:t>
            </a:r>
            <a:r>
              <a:rPr lang="en-US" altLang="zh-TW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:</a:t>
            </a:r>
            <a:r>
              <a:rPr lang="zh-TW" altLang="en-US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網頁</a:t>
            </a:r>
            <a:r>
              <a:rPr lang="en-US" altLang="zh-TW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(</a:t>
            </a:r>
            <a:r>
              <a:rPr lang="zh-TW" altLang="en-US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前端</a:t>
            </a:r>
            <a:r>
              <a:rPr lang="en-US" altLang="zh-TW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)</a:t>
            </a:r>
            <a:r>
              <a:rPr lang="zh-TW" altLang="en-US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lang="en-US" altLang="zh-TW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+</a:t>
            </a:r>
            <a:r>
              <a:rPr lang="zh-TW" altLang="en-US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均線計算</a:t>
            </a:r>
            <a:r>
              <a:rPr lang="en-US" altLang="zh-TW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(</a:t>
            </a:r>
            <a:r>
              <a:rPr lang="zh-TW" altLang="en-US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後端</a:t>
            </a:r>
            <a:r>
              <a:rPr lang="en-US" altLang="zh-TW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)</a:t>
            </a:r>
          </a:p>
          <a:p>
            <a:endParaRPr lang="en-US" altLang="zh-TW" sz="2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zh-TW" altLang="en-US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輸入股票代號 </a:t>
            </a:r>
            <a:r>
              <a:rPr lang="en-US" altLang="zh-TW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ex : AAPL</a:t>
            </a:r>
            <a:r>
              <a:rPr lang="zh-TW" altLang="en-US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、</a:t>
            </a:r>
            <a:r>
              <a:rPr lang="en-US" altLang="zh-TW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2330.TW…</a:t>
            </a:r>
            <a:r>
              <a:rPr lang="zh-TW" altLang="en-US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起始日期、結束日期</a:t>
            </a:r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E7CC2FE1-BEB6-B97C-6127-6E39ABFF776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5928" y="2755006"/>
            <a:ext cx="10940143" cy="2739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611413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89FB26-245D-A49B-4E53-9B5BACB681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直線接點 7">
            <a:extLst>
              <a:ext uri="{FF2B5EF4-FFF2-40B4-BE49-F238E27FC236}">
                <a16:creationId xmlns:a16="http://schemas.microsoft.com/office/drawing/2014/main" id="{29522E41-5891-1A2C-5B4C-852FAA703AF0}"/>
              </a:ext>
            </a:extLst>
          </p:cNvPr>
          <p:cNvCxnSpPr>
            <a:cxnSpLocks/>
          </p:cNvCxnSpPr>
          <p:nvPr/>
        </p:nvCxnSpPr>
        <p:spPr>
          <a:xfrm>
            <a:off x="144049" y="926926"/>
            <a:ext cx="11931041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文字方塊 10">
            <a:extLst>
              <a:ext uri="{FF2B5EF4-FFF2-40B4-BE49-F238E27FC236}">
                <a16:creationId xmlns:a16="http://schemas.microsoft.com/office/drawing/2014/main" id="{450A0539-1DC2-BDF8-A6B0-B84B137276F8}"/>
              </a:ext>
            </a:extLst>
          </p:cNvPr>
          <p:cNvSpPr txBox="1"/>
          <p:nvPr/>
        </p:nvSpPr>
        <p:spPr>
          <a:xfrm>
            <a:off x="522961" y="280595"/>
            <a:ext cx="609704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sz="3600" b="0" i="0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成交量</a:t>
            </a:r>
            <a:endParaRPr lang="zh-TW" altLang="en-US" sz="3600" dirty="0"/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804B3B87-0F5D-BEA0-4A15-D1D30428D0B7}"/>
              </a:ext>
            </a:extLst>
          </p:cNvPr>
          <p:cNvSpPr txBox="1"/>
          <p:nvPr/>
        </p:nvSpPr>
        <p:spPr>
          <a:xfrm>
            <a:off x="522960" y="1125544"/>
            <a:ext cx="10894513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作業 </a:t>
            </a:r>
            <a:r>
              <a:rPr lang="en-US" altLang="zh-TW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:</a:t>
            </a:r>
            <a:r>
              <a:rPr lang="zh-TW" altLang="en-US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網頁</a:t>
            </a:r>
            <a:r>
              <a:rPr lang="en-US" altLang="zh-TW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(</a:t>
            </a:r>
            <a:r>
              <a:rPr lang="zh-TW" altLang="en-US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前端</a:t>
            </a:r>
            <a:r>
              <a:rPr lang="en-US" altLang="zh-TW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)</a:t>
            </a:r>
            <a:r>
              <a:rPr lang="zh-TW" altLang="en-US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lang="en-US" altLang="zh-TW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+</a:t>
            </a:r>
            <a:r>
              <a:rPr lang="zh-TW" altLang="en-US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均線計算</a:t>
            </a:r>
            <a:r>
              <a:rPr lang="en-US" altLang="zh-TW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(</a:t>
            </a:r>
            <a:r>
              <a:rPr lang="zh-TW" altLang="en-US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後端</a:t>
            </a:r>
            <a:r>
              <a:rPr lang="en-US" altLang="zh-TW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)</a:t>
            </a:r>
          </a:p>
          <a:p>
            <a:endParaRPr lang="en-US" altLang="zh-TW" sz="2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zh-TW" altLang="en-US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後端運算 </a:t>
            </a:r>
            <a:r>
              <a:rPr lang="en-US" altLang="zh-TW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:</a:t>
            </a:r>
            <a:r>
              <a:rPr lang="zh-TW" altLang="en-US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五日成交量的均線、蠟燭圖</a:t>
            </a:r>
            <a:r>
              <a:rPr lang="en-US" altLang="zh-TW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(</a:t>
            </a:r>
            <a:r>
              <a:rPr lang="zh-TW" altLang="en-US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開高低收</a:t>
            </a:r>
            <a:r>
              <a:rPr lang="en-US" altLang="zh-TW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)</a:t>
            </a:r>
            <a:r>
              <a:rPr lang="zh-TW" altLang="en-US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、成交量、爆大量</a:t>
            </a:r>
            <a:r>
              <a:rPr lang="en-US" altLang="zh-TW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(&gt;5</a:t>
            </a:r>
            <a:r>
              <a:rPr lang="zh-TW" altLang="en-US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日均線</a:t>
            </a:r>
            <a:r>
              <a:rPr lang="en-US" altLang="zh-TW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)</a:t>
            </a:r>
          </a:p>
          <a:p>
            <a:endParaRPr lang="en-US" altLang="zh-TW" sz="2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zh-TW" altLang="en-US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前端顯示 </a:t>
            </a:r>
            <a:r>
              <a:rPr lang="en-US" altLang="zh-TW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:</a:t>
            </a:r>
            <a:r>
              <a:rPr lang="zh-TW" altLang="en-US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lang="en-US" altLang="zh-TW" sz="2400" dirty="0" err="1">
                <a:latin typeface="微軟正黑體" panose="020B0604030504040204" pitchFamily="34" charset="-120"/>
                <a:ea typeface="微軟正黑體" panose="020B0604030504040204" pitchFamily="34" charset="-120"/>
              </a:rPr>
              <a:t>HighChart</a:t>
            </a:r>
            <a:r>
              <a:rPr lang="zh-TW" altLang="en-US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圖表</a:t>
            </a:r>
            <a:r>
              <a:rPr lang="en-US" altLang="zh-TW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(</a:t>
            </a:r>
            <a:r>
              <a:rPr lang="en-US" altLang="zh-TW" sz="2400" dirty="0">
                <a:latin typeface="微軟正黑體" panose="020B0604030504040204" pitchFamily="34" charset="-120"/>
                <a:ea typeface="微軟正黑體" panose="020B0604030504040204" pitchFamily="34" charset="-120"/>
                <a:hlinkClick r:id="rId2"/>
              </a:rPr>
              <a:t>https://www.highcharts.com/</a:t>
            </a:r>
            <a:r>
              <a:rPr lang="zh-TW" altLang="en-US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lang="en-US" altLang="zh-TW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)</a:t>
            </a:r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97269A3B-934D-139E-69AC-9929EA9F390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02496" y="3647343"/>
            <a:ext cx="8787008" cy="24364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607126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AAC444-D660-EDD5-30C3-88370CF1F6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直線接點 7">
            <a:extLst>
              <a:ext uri="{FF2B5EF4-FFF2-40B4-BE49-F238E27FC236}">
                <a16:creationId xmlns:a16="http://schemas.microsoft.com/office/drawing/2014/main" id="{8D689029-0FF7-2C11-E633-C566622F0EB8}"/>
              </a:ext>
            </a:extLst>
          </p:cNvPr>
          <p:cNvCxnSpPr>
            <a:cxnSpLocks/>
          </p:cNvCxnSpPr>
          <p:nvPr/>
        </p:nvCxnSpPr>
        <p:spPr>
          <a:xfrm>
            <a:off x="144049" y="926926"/>
            <a:ext cx="11931041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文字方塊 10">
            <a:extLst>
              <a:ext uri="{FF2B5EF4-FFF2-40B4-BE49-F238E27FC236}">
                <a16:creationId xmlns:a16="http://schemas.microsoft.com/office/drawing/2014/main" id="{0476529C-7968-60C6-D811-CAEB8ABAC0CE}"/>
              </a:ext>
            </a:extLst>
          </p:cNvPr>
          <p:cNvSpPr txBox="1"/>
          <p:nvPr/>
        </p:nvSpPr>
        <p:spPr>
          <a:xfrm>
            <a:off x="522961" y="280595"/>
            <a:ext cx="609704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sz="3600" b="0" i="0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成交量</a:t>
            </a:r>
            <a:endParaRPr lang="zh-TW" altLang="en-US" sz="3600" dirty="0"/>
          </a:p>
        </p:txBody>
      </p:sp>
      <p:pic>
        <p:nvPicPr>
          <p:cNvPr id="3" name="圖片 2">
            <a:extLst>
              <a:ext uri="{FF2B5EF4-FFF2-40B4-BE49-F238E27FC236}">
                <a16:creationId xmlns:a16="http://schemas.microsoft.com/office/drawing/2014/main" id="{B78AE689-CD6B-63D6-5687-BFDF751B820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66480" y="3049144"/>
            <a:ext cx="7859039" cy="3424211"/>
          </a:xfrm>
          <a:prstGeom prst="rect">
            <a:avLst/>
          </a:prstGeom>
        </p:spPr>
      </p:pic>
      <p:sp>
        <p:nvSpPr>
          <p:cNvPr id="4" name="文字方塊 3">
            <a:extLst>
              <a:ext uri="{FF2B5EF4-FFF2-40B4-BE49-F238E27FC236}">
                <a16:creationId xmlns:a16="http://schemas.microsoft.com/office/drawing/2014/main" id="{FBE134B5-C2EF-BF01-0764-1A6D88099762}"/>
              </a:ext>
            </a:extLst>
          </p:cNvPr>
          <p:cNvSpPr txBox="1"/>
          <p:nvPr/>
        </p:nvSpPr>
        <p:spPr>
          <a:xfrm>
            <a:off x="522960" y="1125544"/>
            <a:ext cx="10894513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作業 </a:t>
            </a:r>
            <a:r>
              <a:rPr lang="en-US" altLang="zh-TW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:</a:t>
            </a:r>
            <a:r>
              <a:rPr lang="zh-TW" altLang="en-US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網頁</a:t>
            </a:r>
            <a:r>
              <a:rPr lang="en-US" altLang="zh-TW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(</a:t>
            </a:r>
            <a:r>
              <a:rPr lang="zh-TW" altLang="en-US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前端</a:t>
            </a:r>
            <a:r>
              <a:rPr lang="en-US" altLang="zh-TW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)</a:t>
            </a:r>
            <a:r>
              <a:rPr lang="zh-TW" altLang="en-US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lang="en-US" altLang="zh-TW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+</a:t>
            </a:r>
            <a:r>
              <a:rPr lang="zh-TW" altLang="en-US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均線計算</a:t>
            </a:r>
            <a:r>
              <a:rPr lang="en-US" altLang="zh-TW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(</a:t>
            </a:r>
            <a:r>
              <a:rPr lang="zh-TW" altLang="en-US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後端</a:t>
            </a:r>
            <a:r>
              <a:rPr lang="en-US" altLang="zh-TW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)</a:t>
            </a:r>
          </a:p>
          <a:p>
            <a:endParaRPr lang="en-US" altLang="zh-TW" sz="2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zh-TW" altLang="en-US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後端運算 </a:t>
            </a:r>
            <a:r>
              <a:rPr lang="en-US" altLang="zh-TW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:</a:t>
            </a:r>
            <a:r>
              <a:rPr lang="zh-TW" altLang="en-US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五日成交量的均線、蠟燭圖</a:t>
            </a:r>
            <a:r>
              <a:rPr lang="en-US" altLang="zh-TW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(</a:t>
            </a:r>
            <a:r>
              <a:rPr lang="zh-TW" altLang="en-US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開高低收</a:t>
            </a:r>
            <a:r>
              <a:rPr lang="en-US" altLang="zh-TW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)</a:t>
            </a:r>
            <a:r>
              <a:rPr lang="zh-TW" altLang="en-US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、成交量、爆大量</a:t>
            </a:r>
            <a:r>
              <a:rPr lang="en-US" altLang="zh-TW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(&gt;5</a:t>
            </a:r>
            <a:r>
              <a:rPr lang="zh-TW" altLang="en-US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日均線</a:t>
            </a:r>
            <a:r>
              <a:rPr lang="en-US" altLang="zh-TW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)</a:t>
            </a:r>
          </a:p>
          <a:p>
            <a:endParaRPr lang="en-US" altLang="zh-TW" sz="2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zh-TW" altLang="en-US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前端顯示 </a:t>
            </a:r>
            <a:r>
              <a:rPr lang="en-US" altLang="zh-TW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:</a:t>
            </a:r>
            <a:r>
              <a:rPr lang="zh-TW" altLang="en-US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lang="en-US" altLang="zh-TW" sz="2400" dirty="0" err="1">
                <a:latin typeface="微軟正黑體" panose="020B0604030504040204" pitchFamily="34" charset="-120"/>
                <a:ea typeface="微軟正黑體" panose="020B0604030504040204" pitchFamily="34" charset="-120"/>
              </a:rPr>
              <a:t>DataTable</a:t>
            </a:r>
            <a:r>
              <a:rPr lang="zh-TW" altLang="en-US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表格顯示，爆大量日期、量能、</a:t>
            </a:r>
            <a:r>
              <a:rPr lang="en-US" altLang="zh-TW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5</a:t>
            </a:r>
            <a:r>
              <a:rPr lang="zh-TW" altLang="en-US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日均線爆大量當日的值</a:t>
            </a:r>
            <a:endParaRPr lang="en-US" altLang="zh-TW" sz="2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02546364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30FF88-685A-221C-6CBE-8A5743CA17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直線接點 7">
            <a:extLst>
              <a:ext uri="{FF2B5EF4-FFF2-40B4-BE49-F238E27FC236}">
                <a16:creationId xmlns:a16="http://schemas.microsoft.com/office/drawing/2014/main" id="{2BE6226D-588A-9A3E-BB3E-7CD9C81E2B2F}"/>
              </a:ext>
            </a:extLst>
          </p:cNvPr>
          <p:cNvCxnSpPr>
            <a:cxnSpLocks/>
          </p:cNvCxnSpPr>
          <p:nvPr/>
        </p:nvCxnSpPr>
        <p:spPr>
          <a:xfrm>
            <a:off x="144049" y="926926"/>
            <a:ext cx="11931041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文字方塊 10">
            <a:extLst>
              <a:ext uri="{FF2B5EF4-FFF2-40B4-BE49-F238E27FC236}">
                <a16:creationId xmlns:a16="http://schemas.microsoft.com/office/drawing/2014/main" id="{F58CA296-0C12-BD7B-68AA-03FCBDEEB7FE}"/>
              </a:ext>
            </a:extLst>
          </p:cNvPr>
          <p:cNvSpPr txBox="1"/>
          <p:nvPr/>
        </p:nvSpPr>
        <p:spPr>
          <a:xfrm>
            <a:off x="522961" y="280595"/>
            <a:ext cx="609704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sz="3600" b="0" i="0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成交量</a:t>
            </a:r>
            <a:endParaRPr lang="zh-TW" altLang="en-US" sz="3600" dirty="0"/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14169E69-BC83-9F71-A838-FA4B5C48C993}"/>
              </a:ext>
            </a:extLst>
          </p:cNvPr>
          <p:cNvSpPr txBox="1"/>
          <p:nvPr/>
        </p:nvSpPr>
        <p:spPr>
          <a:xfrm>
            <a:off x="522960" y="1125543"/>
            <a:ext cx="10894513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作業 </a:t>
            </a:r>
            <a:r>
              <a:rPr lang="en-US" altLang="zh-TW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:</a:t>
            </a:r>
            <a:r>
              <a:rPr lang="zh-TW" altLang="en-US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網頁</a:t>
            </a:r>
            <a:r>
              <a:rPr lang="en-US" altLang="zh-TW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(</a:t>
            </a:r>
            <a:r>
              <a:rPr lang="zh-TW" altLang="en-US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前端</a:t>
            </a:r>
            <a:r>
              <a:rPr lang="en-US" altLang="zh-TW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)</a:t>
            </a:r>
            <a:r>
              <a:rPr lang="zh-TW" altLang="en-US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lang="en-US" altLang="zh-TW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+</a:t>
            </a:r>
            <a:r>
              <a:rPr lang="zh-TW" altLang="en-US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均線計算</a:t>
            </a:r>
            <a:r>
              <a:rPr lang="en-US" altLang="zh-TW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(</a:t>
            </a:r>
            <a:r>
              <a:rPr lang="zh-TW" altLang="en-US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後端</a:t>
            </a:r>
            <a:r>
              <a:rPr lang="en-US" altLang="zh-TW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)</a:t>
            </a:r>
          </a:p>
          <a:p>
            <a:endParaRPr lang="en-US" altLang="zh-TW" sz="2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zh-TW" altLang="en-US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後端運算 </a:t>
            </a:r>
            <a:r>
              <a:rPr lang="en-US" altLang="zh-TW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:</a:t>
            </a:r>
            <a:r>
              <a:rPr lang="zh-TW" altLang="en-US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五日成交量的均線、蠟燭圖</a:t>
            </a:r>
            <a:r>
              <a:rPr lang="en-US" altLang="zh-TW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(</a:t>
            </a:r>
            <a:r>
              <a:rPr lang="zh-TW" altLang="en-US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開高低收</a:t>
            </a:r>
            <a:r>
              <a:rPr lang="en-US" altLang="zh-TW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)</a:t>
            </a:r>
            <a:r>
              <a:rPr lang="zh-TW" altLang="en-US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、成交量、爆大量</a:t>
            </a:r>
            <a:r>
              <a:rPr lang="en-US" altLang="zh-TW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(&gt;5</a:t>
            </a:r>
            <a:r>
              <a:rPr lang="zh-TW" altLang="en-US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日均線</a:t>
            </a:r>
            <a:r>
              <a:rPr lang="en-US" altLang="zh-TW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)</a:t>
            </a:r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2C983867-700E-A128-BE63-959CA55EFB38}"/>
              </a:ext>
            </a:extLst>
          </p:cNvPr>
          <p:cNvSpPr txBox="1"/>
          <p:nvPr/>
        </p:nvSpPr>
        <p:spPr>
          <a:xfrm>
            <a:off x="522960" y="2524490"/>
            <a:ext cx="12037683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安裝 </a:t>
            </a:r>
            <a:r>
              <a:rPr lang="en-US" altLang="zh-TW" sz="2400" dirty="0" err="1">
                <a:latin typeface="微軟正黑體" panose="020B0604030504040204" pitchFamily="34" charset="-120"/>
                <a:ea typeface="微軟正黑體" panose="020B0604030504040204" pitchFamily="34" charset="-120"/>
              </a:rPr>
              <a:t>yfinance</a:t>
            </a:r>
            <a:r>
              <a:rPr lang="zh-TW" altLang="en-US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、</a:t>
            </a:r>
            <a:r>
              <a:rPr lang="en-US" altLang="zh-TW" sz="2400" dirty="0" err="1">
                <a:latin typeface="微軟正黑體" panose="020B0604030504040204" pitchFamily="34" charset="-120"/>
                <a:ea typeface="微軟正黑體" panose="020B0604030504040204" pitchFamily="34" charset="-120"/>
              </a:rPr>
              <a:t>talib</a:t>
            </a:r>
            <a:r>
              <a:rPr lang="zh-TW" altLang="en-US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、</a:t>
            </a:r>
            <a:r>
              <a:rPr lang="en-US" altLang="zh-TW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pandas</a:t>
            </a:r>
            <a:r>
              <a:rPr lang="zh-TW" altLang="en-US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、</a:t>
            </a:r>
            <a:r>
              <a:rPr lang="en-US" altLang="zh-TW" sz="2400" dirty="0" err="1">
                <a:latin typeface="微軟正黑體" panose="020B0604030504040204" pitchFamily="34" charset="-120"/>
                <a:ea typeface="微軟正黑體" panose="020B0604030504040204" pitchFamily="34" charset="-120"/>
              </a:rPr>
              <a:t>numpy</a:t>
            </a:r>
            <a:r>
              <a:rPr lang="en-US" altLang="zh-TW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(</a:t>
            </a:r>
            <a:r>
              <a:rPr lang="zh-TW" altLang="en-US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如果需要</a:t>
            </a:r>
            <a:r>
              <a:rPr lang="en-US" altLang="zh-TW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)</a:t>
            </a:r>
          </a:p>
          <a:p>
            <a:r>
              <a:rPr lang="zh-TW" altLang="en-US" sz="105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endParaRPr lang="en-US" altLang="zh-TW" sz="105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zh-TW" altLang="en-US" sz="105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endParaRPr lang="en-US" altLang="zh-TW" sz="105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zh-TW" altLang="en-US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使用</a:t>
            </a:r>
            <a:r>
              <a:rPr lang="en-US" altLang="zh-TW" sz="2400" dirty="0" err="1">
                <a:latin typeface="微軟正黑體" panose="020B0604030504040204" pitchFamily="34" charset="-120"/>
                <a:ea typeface="微軟正黑體" panose="020B0604030504040204" pitchFamily="34" charset="-120"/>
              </a:rPr>
              <a:t>yfinance</a:t>
            </a:r>
            <a:r>
              <a:rPr lang="zh-TW" altLang="en-US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取開高低收 </a:t>
            </a:r>
            <a:r>
              <a:rPr lang="en-US" altLang="zh-TW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:</a:t>
            </a:r>
          </a:p>
          <a:p>
            <a:r>
              <a:rPr lang="zh-TW" altLang="en-US" sz="105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endParaRPr lang="en-US" altLang="zh-TW" sz="105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en-US" altLang="zh-TW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lang="en-US" altLang="zh-TW" sz="2400" dirty="0" err="1">
                <a:latin typeface="微軟正黑體" panose="020B0604030504040204" pitchFamily="34" charset="-120"/>
                <a:ea typeface="微軟正黑體" panose="020B0604030504040204" pitchFamily="34" charset="-120"/>
              </a:rPr>
              <a:t>df</a:t>
            </a:r>
            <a:r>
              <a:rPr lang="en-US" altLang="zh-TW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= </a:t>
            </a:r>
            <a:r>
              <a:rPr lang="en-US" altLang="zh-TW" sz="2400" dirty="0" err="1">
                <a:latin typeface="微軟正黑體" panose="020B0604030504040204" pitchFamily="34" charset="-120"/>
                <a:ea typeface="微軟正黑體" panose="020B0604030504040204" pitchFamily="34" charset="-120"/>
              </a:rPr>
              <a:t>pd.DataFrame</a:t>
            </a:r>
            <a:r>
              <a:rPr lang="en-US" altLang="zh-TW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(</a:t>
            </a:r>
            <a:r>
              <a:rPr lang="en-US" altLang="zh-TW" sz="2400" dirty="0" err="1">
                <a:latin typeface="微軟正黑體" panose="020B0604030504040204" pitchFamily="34" charset="-120"/>
                <a:ea typeface="微軟正黑體" panose="020B0604030504040204" pitchFamily="34" charset="-120"/>
              </a:rPr>
              <a:t>yf.download</a:t>
            </a:r>
            <a:r>
              <a:rPr lang="en-US" altLang="zh-TW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(</a:t>
            </a:r>
            <a:r>
              <a:rPr lang="zh-TW" altLang="en-US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股票名</a:t>
            </a:r>
            <a:r>
              <a:rPr lang="en-US" altLang="zh-TW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,</a:t>
            </a:r>
            <a:r>
              <a:rPr lang="zh-TW" altLang="en-US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開始日</a:t>
            </a:r>
            <a:r>
              <a:rPr lang="en-US" altLang="zh-TW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,</a:t>
            </a:r>
            <a:r>
              <a:rPr lang="zh-TW" altLang="en-US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截止日</a:t>
            </a:r>
            <a:r>
              <a:rPr lang="en-US" altLang="zh-TW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))</a:t>
            </a:r>
          </a:p>
          <a:p>
            <a:endParaRPr lang="en-US" altLang="zh-TW" sz="2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zh-TW" altLang="en-US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用</a:t>
            </a:r>
            <a:r>
              <a:rPr lang="en-US" altLang="zh-TW" sz="2400" dirty="0" err="1">
                <a:latin typeface="微軟正黑體" panose="020B0604030504040204" pitchFamily="34" charset="-120"/>
                <a:ea typeface="微軟正黑體" panose="020B0604030504040204" pitchFamily="34" charset="-120"/>
              </a:rPr>
              <a:t>talib</a:t>
            </a:r>
            <a:r>
              <a:rPr lang="zh-TW" altLang="en-US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計算均線 </a:t>
            </a:r>
            <a:r>
              <a:rPr lang="en-US" altLang="zh-TW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:</a:t>
            </a:r>
            <a:r>
              <a:rPr lang="zh-TW" altLang="en-US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endParaRPr lang="en-US" altLang="zh-TW" sz="2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zh-TW" altLang="en-US" sz="105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endParaRPr lang="en-US" altLang="zh-TW" sz="105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en-US" altLang="zh-TW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lang="en-US" altLang="zh-TW" sz="2400" dirty="0" err="1">
                <a:latin typeface="微軟正黑體" panose="020B0604030504040204" pitchFamily="34" charset="-120"/>
                <a:ea typeface="微軟正黑體" panose="020B0604030504040204" pitchFamily="34" charset="-120"/>
              </a:rPr>
              <a:t>df</a:t>
            </a:r>
            <a:r>
              <a:rPr lang="en-US" altLang="zh-TW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['5DayAvgVolume'] = </a:t>
            </a:r>
            <a:r>
              <a:rPr lang="en-US" altLang="zh-TW" sz="2400" dirty="0" err="1">
                <a:latin typeface="微軟正黑體" panose="020B0604030504040204" pitchFamily="34" charset="-120"/>
                <a:ea typeface="微軟正黑體" panose="020B0604030504040204" pitchFamily="34" charset="-120"/>
              </a:rPr>
              <a:t>talib.SMA</a:t>
            </a:r>
            <a:r>
              <a:rPr lang="en-US" altLang="zh-TW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(</a:t>
            </a:r>
            <a:r>
              <a:rPr lang="en-US" altLang="zh-TW" sz="2400" dirty="0" err="1">
                <a:latin typeface="微軟正黑體" panose="020B0604030504040204" pitchFamily="34" charset="-120"/>
                <a:ea typeface="微軟正黑體" panose="020B0604030504040204" pitchFamily="34" charset="-120"/>
              </a:rPr>
              <a:t>df</a:t>
            </a:r>
            <a:r>
              <a:rPr lang="en-US" altLang="zh-TW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['Volume'], </a:t>
            </a:r>
            <a:r>
              <a:rPr lang="en-US" altLang="zh-TW" sz="2400" dirty="0" err="1">
                <a:latin typeface="微軟正黑體" panose="020B0604030504040204" pitchFamily="34" charset="-120"/>
                <a:ea typeface="微軟正黑體" panose="020B0604030504040204" pitchFamily="34" charset="-120"/>
              </a:rPr>
              <a:t>timeperiod</a:t>
            </a:r>
            <a:r>
              <a:rPr lang="en-US" altLang="zh-TW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=</a:t>
            </a:r>
            <a:r>
              <a:rPr lang="en-US" altLang="zh-TW" sz="2400" dirty="0" err="1">
                <a:latin typeface="微軟正黑體" panose="020B0604030504040204" pitchFamily="34" charset="-120"/>
                <a:ea typeface="微軟正黑體" panose="020B0604030504040204" pitchFamily="34" charset="-120"/>
              </a:rPr>
              <a:t>timeperiod_set</a:t>
            </a:r>
            <a:r>
              <a:rPr lang="en-US" altLang="zh-TW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)</a:t>
            </a:r>
          </a:p>
          <a:p>
            <a:endParaRPr lang="en-US" altLang="zh-TW" sz="2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endParaRPr lang="en-US" altLang="zh-TW" sz="2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56119759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A33112-3DCB-839D-8AE8-D97128B960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直線接點 7">
            <a:extLst>
              <a:ext uri="{FF2B5EF4-FFF2-40B4-BE49-F238E27FC236}">
                <a16:creationId xmlns:a16="http://schemas.microsoft.com/office/drawing/2014/main" id="{FB6A3789-E4AF-E26B-27D9-AF00FF4F6C91}"/>
              </a:ext>
            </a:extLst>
          </p:cNvPr>
          <p:cNvCxnSpPr>
            <a:cxnSpLocks/>
          </p:cNvCxnSpPr>
          <p:nvPr/>
        </p:nvCxnSpPr>
        <p:spPr>
          <a:xfrm>
            <a:off x="144049" y="926926"/>
            <a:ext cx="11931041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文字方塊 10">
            <a:extLst>
              <a:ext uri="{FF2B5EF4-FFF2-40B4-BE49-F238E27FC236}">
                <a16:creationId xmlns:a16="http://schemas.microsoft.com/office/drawing/2014/main" id="{948F5A1A-0AA0-4B4B-B843-94EA18B98A3F}"/>
              </a:ext>
            </a:extLst>
          </p:cNvPr>
          <p:cNvSpPr txBox="1"/>
          <p:nvPr/>
        </p:nvSpPr>
        <p:spPr>
          <a:xfrm>
            <a:off x="522961" y="280595"/>
            <a:ext cx="609704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sz="3600" b="0" i="0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成交量</a:t>
            </a:r>
            <a:endParaRPr lang="zh-TW" altLang="en-US" sz="3600" dirty="0"/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259DAE71-DFFE-05AD-6A86-3A88E6136738}"/>
              </a:ext>
            </a:extLst>
          </p:cNvPr>
          <p:cNvSpPr txBox="1"/>
          <p:nvPr/>
        </p:nvSpPr>
        <p:spPr>
          <a:xfrm>
            <a:off x="522961" y="1350835"/>
            <a:ext cx="9896218" cy="48936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Talib</a:t>
            </a:r>
            <a:r>
              <a:rPr lang="zh-TW" altLang="en-US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安裝教學</a:t>
            </a:r>
            <a:r>
              <a:rPr lang="en-US" altLang="zh-TW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:</a:t>
            </a:r>
          </a:p>
          <a:p>
            <a:endParaRPr lang="en-US" altLang="zh-TW" sz="2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en-US" altLang="zh-TW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lang="en-US" altLang="zh-TW" sz="2400" dirty="0">
                <a:latin typeface="微軟正黑體" panose="020B0604030504040204" pitchFamily="34" charset="-120"/>
                <a:ea typeface="微軟正黑體" panose="020B0604030504040204" pitchFamily="34" charset="-120"/>
                <a:hlinkClick r:id="rId2"/>
              </a:rPr>
              <a:t>https://quantpass.org/python_talib/</a:t>
            </a:r>
            <a:r>
              <a:rPr lang="zh-TW" altLang="en-US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endParaRPr lang="en-US" altLang="zh-TW" sz="2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endParaRPr lang="en-US" altLang="zh-TW" sz="2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en-US" altLang="zh-TW" sz="2400" dirty="0" err="1">
                <a:latin typeface="微軟正黑體" panose="020B0604030504040204" pitchFamily="34" charset="-120"/>
                <a:ea typeface="微軟正黑體" panose="020B0604030504040204" pitchFamily="34" charset="-120"/>
              </a:rPr>
              <a:t>Yfinance</a:t>
            </a:r>
            <a:r>
              <a:rPr lang="zh-TW" altLang="en-US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安裝 </a:t>
            </a:r>
            <a:r>
              <a:rPr lang="en-US" altLang="zh-TW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:</a:t>
            </a:r>
            <a:r>
              <a:rPr lang="zh-TW" altLang="en-US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endParaRPr lang="en-US" altLang="zh-TW" sz="2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endParaRPr lang="en-US" altLang="zh-TW" sz="2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en-US" altLang="zh-TW" sz="2400" dirty="0">
                <a:latin typeface="微軟正黑體" panose="020B0604030504040204" pitchFamily="34" charset="-120"/>
                <a:ea typeface="微軟正黑體" panose="020B0604030504040204" pitchFamily="34" charset="-120"/>
                <a:hlinkClick r:id="rId3"/>
              </a:rPr>
              <a:t>https://ithelp.ithome.com.tw/articles/10341344</a:t>
            </a:r>
            <a:endParaRPr lang="en-US" altLang="zh-TW" sz="2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endParaRPr lang="en-US" altLang="zh-TW" sz="2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en-US" altLang="zh-TW" sz="2400" dirty="0" err="1">
                <a:latin typeface="微軟正黑體" panose="020B0604030504040204" pitchFamily="34" charset="-120"/>
                <a:ea typeface="微軟正黑體" panose="020B0604030504040204" pitchFamily="34" charset="-120"/>
              </a:rPr>
              <a:t>HighChart</a:t>
            </a:r>
            <a:r>
              <a:rPr lang="zh-TW" altLang="en-US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圖表</a:t>
            </a:r>
            <a:r>
              <a:rPr lang="en-US" altLang="zh-TW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: </a:t>
            </a:r>
          </a:p>
          <a:p>
            <a:r>
              <a:rPr lang="en-US" altLang="zh-TW" sz="2400" dirty="0">
                <a:latin typeface="微軟正黑體" panose="020B0604030504040204" pitchFamily="34" charset="-120"/>
                <a:ea typeface="微軟正黑體" panose="020B0604030504040204" pitchFamily="34" charset="-120"/>
                <a:hlinkClick r:id="rId4"/>
              </a:rPr>
              <a:t>https://www.highcharts.com/</a:t>
            </a:r>
            <a:r>
              <a:rPr lang="zh-TW" altLang="en-US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endParaRPr lang="en-US" altLang="zh-TW" sz="2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endParaRPr lang="en-US" altLang="zh-TW" sz="2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en-US" altLang="zh-TW" sz="2400" dirty="0" err="1">
                <a:latin typeface="微軟正黑體" panose="020B0604030504040204" pitchFamily="34" charset="-120"/>
                <a:ea typeface="微軟正黑體" panose="020B0604030504040204" pitchFamily="34" charset="-120"/>
              </a:rPr>
              <a:t>DataTable</a:t>
            </a:r>
            <a:r>
              <a:rPr lang="en-US" altLang="zh-TW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: </a:t>
            </a:r>
          </a:p>
          <a:p>
            <a:r>
              <a:rPr lang="en-US" altLang="zh-TW" sz="2400" dirty="0">
                <a:latin typeface="微軟正黑體" panose="020B0604030504040204" pitchFamily="34" charset="-120"/>
                <a:ea typeface="微軟正黑體" panose="020B0604030504040204" pitchFamily="34" charset="-120"/>
                <a:hlinkClick r:id="rId5"/>
              </a:rPr>
              <a:t>https://datatables.net/examples/basic_init/zero_configuration.html</a:t>
            </a:r>
            <a:r>
              <a:rPr lang="en-US" altLang="zh-TW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lang="zh-TW" altLang="en-US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endParaRPr lang="en-US" altLang="zh-TW" sz="2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84437189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760</Words>
  <Application>Microsoft Office PowerPoint</Application>
  <PresentationFormat>寬螢幕</PresentationFormat>
  <Paragraphs>92</Paragraphs>
  <Slides>11</Slides>
  <Notes>1</Notes>
  <HiddenSlides>0</HiddenSlides>
  <MMClips>0</MMClips>
  <ScaleCrop>false</ScaleCrop>
  <HeadingPairs>
    <vt:vector size="6" baseType="variant">
      <vt:variant>
        <vt:lpstr>使用字型</vt:lpstr>
      </vt:variant>
      <vt:variant>
        <vt:i4>6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11</vt:i4>
      </vt:variant>
    </vt:vector>
  </HeadingPairs>
  <TitlesOfParts>
    <vt:vector size="18" baseType="lpstr">
      <vt:lpstr>Ampersand</vt:lpstr>
      <vt:lpstr>微軟正黑體</vt:lpstr>
      <vt:lpstr>Arial</vt:lpstr>
      <vt:lpstr>Calibri</vt:lpstr>
      <vt:lpstr>Calibri Light</vt:lpstr>
      <vt:lpstr>Lato</vt:lpstr>
      <vt:lpstr>Office 佈景主題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Andrew Huang</dc:creator>
  <cp:lastModifiedBy>Andrew Huang</cp:lastModifiedBy>
  <cp:revision>1</cp:revision>
  <dcterms:created xsi:type="dcterms:W3CDTF">2025-01-12T12:30:25Z</dcterms:created>
  <dcterms:modified xsi:type="dcterms:W3CDTF">2025-01-12T12:31:26Z</dcterms:modified>
</cp:coreProperties>
</file>