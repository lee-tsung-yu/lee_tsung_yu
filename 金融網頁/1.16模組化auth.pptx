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1143" r:id="rId2"/>
    <p:sldId id="1986" r:id="rId3"/>
    <p:sldId id="308" r:id="rId4"/>
    <p:sldId id="310" r:id="rId5"/>
    <p:sldId id="311" r:id="rId6"/>
    <p:sldId id="312" r:id="rId7"/>
    <p:sldId id="1150" r:id="rId8"/>
    <p:sldId id="315" r:id="rId9"/>
    <p:sldId id="316" r:id="rId10"/>
    <p:sldId id="988" r:id="rId11"/>
    <p:sldId id="320" r:id="rId12"/>
    <p:sldId id="989" r:id="rId13"/>
    <p:sldId id="277" r:id="rId14"/>
    <p:sldId id="280" r:id="rId15"/>
    <p:sldId id="321" r:id="rId16"/>
    <p:sldId id="323" r:id="rId17"/>
    <p:sldId id="326" r:id="rId18"/>
    <p:sldId id="1987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0FA2D4-A3EF-4DA0-AB36-EE0DAD15A07F}" v="159" dt="2024-05-26T17:39:40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31" autoAdjust="0"/>
    <p:restoredTop sz="89876" autoAdjust="0"/>
  </p:normalViewPr>
  <p:slideViewPr>
    <p:cSldViewPr snapToGrid="0">
      <p:cViewPr varScale="1">
        <p:scale>
          <a:sx n="145" d="100"/>
          <a:sy n="145" d="100"/>
        </p:scale>
        <p:origin x="3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B6253-6FA9-482A-8A02-6FEAEBFD0940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50F6B-E61E-4FF5-8F58-787157AB22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51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32480-E78B-4A77-9D41-BBF927379BA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428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Django </a:t>
            </a:r>
            <a:r>
              <a:rPr lang="zh-TW" altLang="en-US" dirty="0"/>
              <a:t>身份驗證系統處理身份驗證和授權。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認證系統包括：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使用者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權限：二進位是</a:t>
            </a:r>
            <a:r>
              <a:rPr lang="en-US" altLang="zh-TW" dirty="0"/>
              <a:t>/</a:t>
            </a:r>
            <a:r>
              <a:rPr lang="zh-TW" altLang="en-US" dirty="0"/>
              <a:t>否標誌指定使用者是否可以執行特定任務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群組：一種將標籤和權限應用於多個使用者的通用方法。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可設定的密碼雜湊系統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用於登入使用者或限制內容的表單和檢視工具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帳號密碼後端系統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TW" dirty="0"/>
              <a:t>The Django authentication system handles both authentication and authorization.</a:t>
            </a:r>
          </a:p>
          <a:p>
            <a:pPr marL="0" indent="0">
              <a:buNone/>
            </a:pPr>
            <a:endParaRPr lang="en-TW" dirty="0"/>
          </a:p>
          <a:p>
            <a:pPr marL="0" indent="0">
              <a:buNone/>
            </a:pPr>
            <a:r>
              <a:rPr lang="en-TW" dirty="0"/>
              <a:t>The auth system consists of:</a:t>
            </a:r>
          </a:p>
          <a:p>
            <a:r>
              <a:rPr lang="en-TW" dirty="0"/>
              <a:t>Users</a:t>
            </a:r>
          </a:p>
          <a:p>
            <a:r>
              <a:rPr lang="en-TW" dirty="0"/>
              <a:t>Permissions: Binary yes/no flags designating whether a use may perform a certain task</a:t>
            </a:r>
          </a:p>
          <a:p>
            <a:r>
              <a:rPr lang="en-TW" dirty="0"/>
              <a:t>Groups: </a:t>
            </a:r>
            <a:r>
              <a:rPr lang="en-US" dirty="0"/>
              <a:t>A generic way of applying labels and permissions to more than one user.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 configurable password hashing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Forms and view tools for logging in users, or restricting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A pluggable backend system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643E5-037C-E64F-A88C-FD151A08740E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80456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轉移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1BD1E-6007-42E2-9B27-405D8FAC1C4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059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Django session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是一種用來在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Web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應用程式中跟蹤用戶狀態的機制。</a:t>
            </a:r>
            <a:endParaRPr lang="en-US" altLang="zh-TW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當用戶訪問網站時，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Web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應用程式可以為每個用戶創建一個獨立的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session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對象，並在後續的請求中使用這個對象來存儲和檢索用戶相關的數據。</a:t>
            </a:r>
            <a:endParaRPr lang="en-US" altLang="zh-TW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總的來說，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Django session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是一個有助於保持用戶狀態和數據的工具，使得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Web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應用程式能夠更好地處理用戶之間的連續性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1BD1E-6007-42E2-9B27-405D8FAC1C4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5646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middleware</a:t>
            </a: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在中間先做點一些事情，可以節省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source-serif-pro"/>
              </a:rPr>
              <a:t>django</a:t>
            </a: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的資源、也可以做安全性認證或者配合如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cache</a:t>
            </a: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方法等優化。</a:t>
            </a:r>
            <a:br>
              <a:rPr lang="zh-TW" altLang="en-US" dirty="0"/>
            </a:b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若想修改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request，</a:t>
            </a: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例如被傳送到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view</a:t>
            </a: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中的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source-serif-pro"/>
              </a:rPr>
              <a:t>HttpRequest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。</a:t>
            </a:r>
          </a:p>
          <a:p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或者你想修改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view</a:t>
            </a: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返回的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source-serif-pro"/>
              </a:rPr>
              <a:t>Httpresponse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，</a:t>
            </a: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或者想在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view</a:t>
            </a: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執行之前做一些操作，這些都可以通過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middleware</a:t>
            </a:r>
            <a:r>
              <a:rPr lang="zh-TW" altLang="en-US" b="0" i="0" dirty="0">
                <a:solidFill>
                  <a:srgbClr val="292929"/>
                </a:solidFill>
                <a:effectLst/>
                <a:latin typeface="source-serif-pro"/>
              </a:rPr>
              <a:t>實現。</a:t>
            </a: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643E5-037C-E64F-A88C-FD151A08740E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64513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Anonymous : </a:t>
            </a:r>
            <a:r>
              <a:rPr lang="zh-TW" altLang="en-US" dirty="0"/>
              <a:t>匿名的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1BD1E-6007-42E2-9B27-405D8FAC1C4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創立新的</a:t>
            </a:r>
            <a:r>
              <a:rPr lang="en-US" altLang="zh-TW" dirty="0"/>
              <a:t>Database</a:t>
            </a: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643E5-037C-E64F-A88C-FD151A08740E}" type="slidenum">
              <a:rPr lang="en-TW" smtClean="0"/>
              <a:t>13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84766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Django </a:t>
            </a:r>
            <a:r>
              <a:rPr lang="zh-TW" altLang="en-US" dirty="0"/>
              <a:t>中的 </a:t>
            </a:r>
            <a:r>
              <a:rPr lang="en-US" altLang="zh-TW" dirty="0"/>
              <a:t>SECRET_KEY </a:t>
            </a:r>
            <a:r>
              <a:rPr lang="zh-TW" altLang="en-US" dirty="0"/>
              <a:t>用法：簽署序列化資料例如 </a:t>
            </a:r>
            <a:r>
              <a:rPr lang="en-US" altLang="zh-TW" dirty="0"/>
              <a:t>JSON </a:t>
            </a:r>
            <a:r>
              <a:rPr lang="zh-TW" altLang="en-US" dirty="0"/>
              <a:t>文件。</a:t>
            </a:r>
            <a:endParaRPr lang="en-US" altLang="zh-TW" dirty="0"/>
          </a:p>
          <a:p>
            <a:r>
              <a:rPr lang="zh-TW" altLang="en-US" dirty="0"/>
              <a:t>使用者會話、密碼重設請求、訊息等的唯一 </a:t>
            </a:r>
            <a:r>
              <a:rPr lang="en-US" altLang="zh-TW" dirty="0"/>
              <a:t>token</a:t>
            </a:r>
            <a:r>
              <a:rPr lang="zh-TW" altLang="en-US" dirty="0"/>
              <a:t>。</a:t>
            </a: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643E5-037C-E64F-A88C-FD151A08740E}" type="slidenum">
              <a:rPr lang="en-TW" smtClean="0"/>
              <a:t>14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744777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1BD1E-6007-42E2-9B27-405D8FAC1C4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7874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53CF38-F65A-91E7-8099-809A8BE3F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913FF5-3FF1-3B14-DBD8-99F600014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9F6EB5-B91D-F63D-BC70-C28B8D886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FB025C-B2B4-16F2-B9F4-4F100B627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59E3E7-468B-854A-93C8-C62B0323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924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97206F-9C12-F925-4B52-0273B5C3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E69465-ADE4-3A3F-31D1-B18CDD3F3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CA5012-2CFC-4CB1-6330-4D5BD3CA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3B7C08-785D-8692-EA6E-99D19B4A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83ABE6-521A-6868-1559-1B8FD4EE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5D533-DEF7-3ACD-535B-307BCA97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7D9FA8-8661-C406-F5D6-734168C53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64AF5-903F-6FC6-69FB-93AE6642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BD0415-23ED-40EE-93CC-D621D30A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958803-6AFA-6224-FFC8-0D23B425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6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6D8742-47D5-87B7-2310-3F684460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CAB94F-9333-ED4E-918D-4DCDC1AA1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805535-1501-9106-7900-195698F18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4B47B2-5C26-6A5B-857C-F4B476E5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E0F90D-0C59-1348-F62E-1CFEDF909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AA7A01-B5FF-97A9-A6F9-0D853C6D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76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30A312-E3CB-C1D8-9069-A8B4D3A18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4F56B6-280E-74E6-9699-29218EC68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DA932B-C4EB-D326-9CC7-EE40739F1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C11D78-D844-E5D9-6A3F-17B8CB9C3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A179C3-DBFF-064A-2E42-70B30F024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E791A84-3E5A-AFC5-484D-F305671B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D01DFE0-CA0F-93D6-1448-FE8248C7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0C29E4C-E078-BB6B-D0DC-2765DB1F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27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FE7F2F-72CA-7F91-71FD-09172BBB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72858AE-143D-7B0A-9B40-B46F7CE5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67B8014-F1C1-5D68-0B79-EA7639D2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DB742F-2ADF-7ACB-A846-E0AB81DA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052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318A4-D82A-361D-1D20-5AFC36B1A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39DEF9-BC0A-13B4-3BA3-00E67A57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353529-39F6-ECE8-6583-CC4232DE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44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86C099-42C8-D272-325A-73C884BEA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382787-6F8D-0C61-1E8C-E00FE5485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9D03CC9-85CC-9B96-92B1-83A4792F1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8CAA77-1175-3FFA-35ED-D1677341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FD2120-2C7A-362A-0AA1-A36DDE93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E36D07-64EB-5BDF-516C-5043B3BE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897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AD9318-CBAC-8DA3-ED4C-537B9D9F4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878F60F-3565-ACAD-3EB7-4861C91DB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8468A6-0C12-7E9D-AC4E-920336270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C7126-3A96-9D98-7CA2-571A3CAD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989918-3FEE-B876-19E9-4CF0E3B00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0E3E62-5161-0C76-3241-419942D4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17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F9675F-3BBF-DCC3-6330-AC07BDE5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2B88C8-EDFC-75D0-97C7-A6F2CEBE6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AF6264-F153-B7BF-DCB4-6603F0F3C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EF461A-026A-5D53-05FA-5E17E2AE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01595B-AB90-A514-CF3E-62879A12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2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F3CDA50-D0DD-DECE-E4D5-017FC1AC7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CB7FEB-A42B-0853-2038-1E6BCFFFB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2EFB92-FABD-677C-0FDE-AEBF7A5A8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623E46-6C37-371C-4F7F-DDABCF00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D3A448-13D6-0C15-115B-71B46C14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34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9E37D58-AFE5-D729-647A-7B83BC66C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6CA15-26E7-E298-6A86-07F1054D4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173290-83CE-34C7-995B-A0E066D98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B4E73-C8DB-4D86-828C-1F17D709BF75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500453-54CF-0A02-CF9D-14A73C249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7EF9E4-02D5-4663-105E-40AE7E7F0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87EE9-FCFB-44CB-A604-2F754569E6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077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JsxGGrHs6Y_wIZXIKg7hbQgcsek7BTef/view?usp=sharing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png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1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.jpeg"/><Relationship Id="rId10" Type="http://schemas.openxmlformats.org/officeDocument/2006/relationships/image" Target="../media/image28.png"/><Relationship Id="rId4" Type="http://schemas.openxmlformats.org/officeDocument/2006/relationships/image" Target="../media/image12.sv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djangoproject.com/en/stable/topics/signing/#protecting-complex-data-structures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.jpeg"/><Relationship Id="rId10" Type="http://schemas.openxmlformats.org/officeDocument/2006/relationships/hyperlink" Target="https://docs.djangoproject.com/en/4.1/topics/signing/" TargetMode="External"/><Relationship Id="rId4" Type="http://schemas.openxmlformats.org/officeDocument/2006/relationships/image" Target="../media/image12.svg"/><Relationship Id="rId9" Type="http://schemas.openxmlformats.org/officeDocument/2006/relationships/hyperlink" Target="https://docs.djangoproject.com/en/4.1/ref/settings/#std:setting-SECRET_KEY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GfteFq_6Co" TargetMode="External"/><Relationship Id="rId2" Type="http://schemas.openxmlformats.org/officeDocument/2006/relationships/hyperlink" Target="https://ticyyang.medium.com/sql-%E5%AE%89%E8%A3%9Dpostgresql-6040002d131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fy-42clnbmc" TargetMode="External"/><Relationship Id="rId4" Type="http://schemas.openxmlformats.org/officeDocument/2006/relationships/hyperlink" Target="https://www.youtube.com/watch?v=2P5guvvqP5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2B883-E9D4-1DA7-A7FE-DE616C18E903}"/>
              </a:ext>
            </a:extLst>
          </p:cNvPr>
          <p:cNvSpPr txBox="1">
            <a:spLocks/>
          </p:cNvSpPr>
          <p:nvPr/>
        </p:nvSpPr>
        <p:spPr>
          <a:xfrm>
            <a:off x="2997679" y="2642249"/>
            <a:ext cx="6196642" cy="15735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TW" sz="5400" b="1" dirty="0">
                <a:latin typeface="inherit"/>
                <a:ea typeface="+mn-ea"/>
                <a:cs typeface="+mn-cs"/>
              </a:rPr>
              <a:t>Django </a:t>
            </a:r>
            <a:r>
              <a:rPr lang="en-US" altLang="zh-TW" sz="5400" b="1" dirty="0">
                <a:latin typeface="inherit"/>
                <a:ea typeface="+mn-ea"/>
                <a:cs typeface="+mn-cs"/>
              </a:rPr>
              <a:t>A</a:t>
            </a:r>
            <a:r>
              <a:rPr lang="en-TW" sz="5400" b="1" dirty="0">
                <a:latin typeface="inherit"/>
                <a:ea typeface="+mn-ea"/>
                <a:cs typeface="+mn-cs"/>
              </a:rPr>
              <a:t>uth</a:t>
            </a:r>
            <a:endParaRPr lang="en-US" sz="5400" b="1" dirty="0">
              <a:latin typeface="inherit"/>
              <a:ea typeface="+mn-ea"/>
              <a:cs typeface="+mn-cs"/>
            </a:endParaRPr>
          </a:p>
          <a:p>
            <a:pPr algn="ctr"/>
            <a:r>
              <a:rPr lang="en-US" altLang="zh-TW" sz="3600" b="1" dirty="0">
                <a:latin typeface="inherit"/>
                <a:hlinkClick r:id="rId2"/>
              </a:rPr>
              <a:t>Example</a:t>
            </a:r>
            <a:r>
              <a:rPr lang="zh-TW" altLang="en-US" sz="3600" b="1" dirty="0">
                <a:latin typeface="inherit"/>
              </a:rPr>
              <a:t> </a:t>
            </a:r>
            <a:endParaRPr lang="en-US" altLang="zh-TW" sz="3600" b="1" dirty="0"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64245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字方塊 4">
            <a:extLst>
              <a:ext uri="{FF2B5EF4-FFF2-40B4-BE49-F238E27FC236}">
                <a16:creationId xmlns:a16="http://schemas.microsoft.com/office/drawing/2014/main" id="{9D0ACB4B-0DD2-927C-664A-A5A57F992E66}"/>
              </a:ext>
            </a:extLst>
          </p:cNvPr>
          <p:cNvSpPr txBox="1"/>
          <p:nvPr/>
        </p:nvSpPr>
        <p:spPr>
          <a:xfrm>
            <a:off x="138191" y="135599"/>
            <a:ext cx="469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投影片編號版面配置區 42">
            <a:extLst>
              <a:ext uri="{FF2B5EF4-FFF2-40B4-BE49-F238E27FC236}">
                <a16:creationId xmlns:a16="http://schemas.microsoft.com/office/drawing/2014/main" id="{FB704323-D8A3-F125-C72F-F35C5D14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3104" y="6356350"/>
            <a:ext cx="430696" cy="365125"/>
          </a:xfrm>
        </p:spPr>
        <p:txBody>
          <a:bodyPr/>
          <a:lstStyle/>
          <a:p>
            <a:fld id="{73E00628-F362-444E-A27A-60F810D68A32}" type="slidenum">
              <a:rPr lang="zh-TW" altLang="en-US" smtClean="0"/>
              <a:t>2</a:t>
            </a:fld>
            <a:endParaRPr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6F7B2BB0-22FB-17C3-7B22-7BF0BD876BE5}"/>
              </a:ext>
            </a:extLst>
          </p:cNvPr>
          <p:cNvGrpSpPr/>
          <p:nvPr/>
        </p:nvGrpSpPr>
        <p:grpSpPr>
          <a:xfrm>
            <a:off x="1951944" y="1400917"/>
            <a:ext cx="7970812" cy="4819459"/>
            <a:chOff x="-199199" y="1414074"/>
            <a:chExt cx="7970812" cy="4819459"/>
          </a:xfrm>
        </p:grpSpPr>
        <p:pic>
          <p:nvPicPr>
            <p:cNvPr id="4" name="Picture 2" descr="學群課程">
              <a:extLst>
                <a:ext uri="{FF2B5EF4-FFF2-40B4-BE49-F238E27FC236}">
                  <a16:creationId xmlns:a16="http://schemas.microsoft.com/office/drawing/2014/main" id="{CC3EF4FE-07D3-A661-8DE3-7C9C6527A7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9880" y="4168446"/>
              <a:ext cx="481918" cy="5314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47BAE79-6780-2333-A2E4-5B56FC12CBCF}"/>
                </a:ext>
              </a:extLst>
            </p:cNvPr>
            <p:cNvSpPr txBox="1"/>
            <p:nvPr/>
          </p:nvSpPr>
          <p:spPr>
            <a:xfrm>
              <a:off x="6381798" y="4295676"/>
              <a:ext cx="13898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User Database</a:t>
              </a:r>
              <a:endParaRPr lang="zh-TW" altLang="en-US" sz="1200" dirty="0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9DFEADA2-7B55-8DCF-1317-B271BB087E78}"/>
                </a:ext>
              </a:extLst>
            </p:cNvPr>
            <p:cNvSpPr/>
            <p:nvPr/>
          </p:nvSpPr>
          <p:spPr>
            <a:xfrm>
              <a:off x="4150059" y="3998199"/>
              <a:ext cx="865121" cy="89374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Auth backend</a:t>
              </a:r>
              <a:endParaRPr lang="zh-TW" altLang="en-US" sz="900" dirty="0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7F870496-1F8E-8A60-1921-4603232F5362}"/>
                </a:ext>
              </a:extLst>
            </p:cNvPr>
            <p:cNvSpPr/>
            <p:nvPr/>
          </p:nvSpPr>
          <p:spPr>
            <a:xfrm>
              <a:off x="4149669" y="2555179"/>
              <a:ext cx="865511" cy="893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Web</a:t>
              </a:r>
            </a:p>
            <a:p>
              <a:pPr algn="ctr"/>
              <a:r>
                <a:rPr lang="en-US" altLang="zh-TW" sz="900" dirty="0"/>
                <a:t>backend</a:t>
              </a:r>
              <a:endParaRPr lang="zh-TW" altLang="en-US" sz="900" dirty="0"/>
            </a:p>
          </p:txBody>
        </p:sp>
        <p:cxnSp>
          <p:nvCxnSpPr>
            <p:cNvPr id="12" name="接點: 肘形 11">
              <a:extLst>
                <a:ext uri="{FF2B5EF4-FFF2-40B4-BE49-F238E27FC236}">
                  <a16:creationId xmlns:a16="http://schemas.microsoft.com/office/drawing/2014/main" id="{0A1F94EA-6591-70C4-5B65-B609D9BB5EF5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rot="5400000" flipH="1" flipV="1">
              <a:off x="4419637" y="2116953"/>
              <a:ext cx="601015" cy="275439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矩形: 圓角 13">
              <a:extLst>
                <a:ext uri="{FF2B5EF4-FFF2-40B4-BE49-F238E27FC236}">
                  <a16:creationId xmlns:a16="http://schemas.microsoft.com/office/drawing/2014/main" id="{E97D26B3-AAF1-ED66-8384-A6F7BA4F19DB}"/>
                </a:ext>
              </a:extLst>
            </p:cNvPr>
            <p:cNvSpPr/>
            <p:nvPr/>
          </p:nvSpPr>
          <p:spPr>
            <a:xfrm>
              <a:off x="3847766" y="1414074"/>
              <a:ext cx="3711128" cy="4819459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7551E40B-21D9-A8A7-670D-A05B26EC5E70}"/>
                </a:ext>
              </a:extLst>
            </p:cNvPr>
            <p:cNvCxnSpPr>
              <a:cxnSpLocks/>
              <a:stCxn id="8" idx="4"/>
              <a:endCxn id="7" idx="0"/>
            </p:cNvCxnSpPr>
            <p:nvPr/>
          </p:nvCxnSpPr>
          <p:spPr>
            <a:xfrm>
              <a:off x="4582425" y="3448929"/>
              <a:ext cx="195" cy="54927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橢圓 13">
              <a:extLst>
                <a:ext uri="{FF2B5EF4-FFF2-40B4-BE49-F238E27FC236}">
                  <a16:creationId xmlns:a16="http://schemas.microsoft.com/office/drawing/2014/main" id="{ECDF0F89-155A-FD38-8674-B7EB37C5F996}"/>
                </a:ext>
              </a:extLst>
            </p:cNvPr>
            <p:cNvSpPr/>
            <p:nvPr/>
          </p:nvSpPr>
          <p:spPr>
            <a:xfrm>
              <a:off x="2800538" y="2570536"/>
              <a:ext cx="865511" cy="8937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Web</a:t>
              </a:r>
            </a:p>
            <a:p>
              <a:pPr algn="ctr"/>
              <a:r>
                <a:rPr lang="en-US" altLang="zh-TW" sz="900" dirty="0"/>
                <a:t>frontend</a:t>
              </a:r>
              <a:endParaRPr lang="zh-TW" altLang="en-US" sz="900" dirty="0"/>
            </a:p>
          </p:txBody>
        </p:sp>
        <p:sp>
          <p:nvSpPr>
            <p:cNvPr id="21" name="橢圓 12">
              <a:extLst>
                <a:ext uri="{FF2B5EF4-FFF2-40B4-BE49-F238E27FC236}">
                  <a16:creationId xmlns:a16="http://schemas.microsoft.com/office/drawing/2014/main" id="{A221FBA7-FA72-8509-D682-5A9FDFD5CEE3}"/>
                </a:ext>
              </a:extLst>
            </p:cNvPr>
            <p:cNvSpPr/>
            <p:nvPr/>
          </p:nvSpPr>
          <p:spPr>
            <a:xfrm>
              <a:off x="2804833" y="3998199"/>
              <a:ext cx="865510" cy="89374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Auth frontend</a:t>
              </a:r>
              <a:endParaRPr lang="zh-TW" altLang="en-US" sz="900" dirty="0"/>
            </a:p>
          </p:txBody>
        </p:sp>
        <p:cxnSp>
          <p:nvCxnSpPr>
            <p:cNvPr id="23" name="Straight Arrow Connector 61">
              <a:extLst>
                <a:ext uri="{FF2B5EF4-FFF2-40B4-BE49-F238E27FC236}">
                  <a16:creationId xmlns:a16="http://schemas.microsoft.com/office/drawing/2014/main" id="{D3F5E6BF-A99D-A805-D758-E4DF8CFF13F8}"/>
                </a:ext>
              </a:extLst>
            </p:cNvPr>
            <p:cNvCxnSpPr>
              <a:cxnSpLocks/>
              <a:stCxn id="20" idx="6"/>
              <a:endCxn id="8" idx="2"/>
            </p:cNvCxnSpPr>
            <p:nvPr/>
          </p:nvCxnSpPr>
          <p:spPr>
            <a:xfrm flipV="1">
              <a:off x="3666049" y="3002054"/>
              <a:ext cx="483620" cy="15357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63">
              <a:extLst>
                <a:ext uri="{FF2B5EF4-FFF2-40B4-BE49-F238E27FC236}">
                  <a16:creationId xmlns:a16="http://schemas.microsoft.com/office/drawing/2014/main" id="{7C7CB8F3-D174-64B2-D19B-0C8FF1D4C19E}"/>
                </a:ext>
              </a:extLst>
            </p:cNvPr>
            <p:cNvCxnSpPr>
              <a:cxnSpLocks/>
              <a:stCxn id="21" idx="6"/>
              <a:endCxn id="7" idx="2"/>
            </p:cNvCxnSpPr>
            <p:nvPr/>
          </p:nvCxnSpPr>
          <p:spPr>
            <a:xfrm>
              <a:off x="3670343" y="4445074"/>
              <a:ext cx="479716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494F0BF1-08EA-88B2-E671-16EC7F478A5D}"/>
                </a:ext>
              </a:extLst>
            </p:cNvPr>
            <p:cNvCxnSpPr>
              <a:cxnSpLocks/>
              <a:stCxn id="7" idx="6"/>
              <a:endCxn id="4" idx="1"/>
            </p:cNvCxnSpPr>
            <p:nvPr/>
          </p:nvCxnSpPr>
          <p:spPr>
            <a:xfrm flipV="1">
              <a:off x="5015180" y="4434176"/>
              <a:ext cx="884700" cy="1089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接點: 肘形 27">
              <a:extLst>
                <a:ext uri="{FF2B5EF4-FFF2-40B4-BE49-F238E27FC236}">
                  <a16:creationId xmlns:a16="http://schemas.microsoft.com/office/drawing/2014/main" id="{6242CEF1-216F-C37B-4DB9-FEE2B6C9606D}"/>
                </a:ext>
              </a:extLst>
            </p:cNvPr>
            <p:cNvCxnSpPr>
              <a:cxnSpLocks/>
              <a:stCxn id="8" idx="5"/>
              <a:endCxn id="4" idx="0"/>
            </p:cNvCxnSpPr>
            <p:nvPr/>
          </p:nvCxnSpPr>
          <p:spPr>
            <a:xfrm rot="16200000" flipH="1">
              <a:off x="5089432" y="3117039"/>
              <a:ext cx="850404" cy="1252410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D9501DFC-723A-67B6-C516-2DBB10FBCD41}"/>
                </a:ext>
              </a:extLst>
            </p:cNvPr>
            <p:cNvSpPr/>
            <p:nvPr/>
          </p:nvSpPr>
          <p:spPr>
            <a:xfrm>
              <a:off x="2819977" y="5146779"/>
              <a:ext cx="815070" cy="803094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Tracker</a:t>
              </a:r>
              <a:endParaRPr lang="zh-TW" altLang="en-US" sz="900" dirty="0"/>
            </a:p>
          </p:txBody>
        </p:sp>
        <p:cxnSp>
          <p:nvCxnSpPr>
            <p:cNvPr id="30" name="接點: 肘形 29">
              <a:extLst>
                <a:ext uri="{FF2B5EF4-FFF2-40B4-BE49-F238E27FC236}">
                  <a16:creationId xmlns:a16="http://schemas.microsoft.com/office/drawing/2014/main" id="{7992E8E7-FBF9-30DD-9BDC-B068B02BDE76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 flipV="1">
              <a:off x="3615606" y="4699906"/>
              <a:ext cx="2525233" cy="864164"/>
            </a:xfrm>
            <a:prstGeom prst="bentConnector2">
              <a:avLst/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接點: 肘形 33">
              <a:extLst>
                <a:ext uri="{FF2B5EF4-FFF2-40B4-BE49-F238E27FC236}">
                  <a16:creationId xmlns:a16="http://schemas.microsoft.com/office/drawing/2014/main" id="{F691F915-D8DA-B642-21CB-1857E97A10DB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rot="10800000" flipV="1">
              <a:off x="2819978" y="1954164"/>
              <a:ext cx="2037887" cy="3594162"/>
            </a:xfrm>
            <a:prstGeom prst="bentConnector3">
              <a:avLst>
                <a:gd name="adj1" fmla="val 111218"/>
              </a:avLst>
            </a:prstGeom>
            <a:ln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A9B144E-5239-2E4F-7FDD-91C8C812A8E4}"/>
                </a:ext>
              </a:extLst>
            </p:cNvPr>
            <p:cNvSpPr/>
            <p:nvPr/>
          </p:nvSpPr>
          <p:spPr>
            <a:xfrm>
              <a:off x="2669295" y="2434427"/>
              <a:ext cx="2552712" cy="11613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7B76923-8F61-2F8C-F90C-66A545B54454}"/>
                </a:ext>
              </a:extLst>
            </p:cNvPr>
            <p:cNvSpPr/>
            <p:nvPr/>
          </p:nvSpPr>
          <p:spPr>
            <a:xfrm>
              <a:off x="2669295" y="3795545"/>
              <a:ext cx="2552712" cy="12666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F2ACDCAC-3869-C993-8B95-026B73C7AFEB}"/>
                </a:ext>
              </a:extLst>
            </p:cNvPr>
            <p:cNvSpPr txBox="1"/>
            <p:nvPr/>
          </p:nvSpPr>
          <p:spPr>
            <a:xfrm>
              <a:off x="-180536" y="2723285"/>
              <a:ext cx="304837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http://1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.1:1985/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web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B69466B5-68E5-8189-6465-6D35BB81ACBF}"/>
                </a:ext>
              </a:extLst>
            </p:cNvPr>
            <p:cNvSpPr txBox="1"/>
            <p:nvPr/>
          </p:nvSpPr>
          <p:spPr>
            <a:xfrm>
              <a:off x="-199199" y="4268274"/>
              <a:ext cx="304837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http://1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:198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</a:t>
              </a:r>
              <a:r>
                <a: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  <a:r>
                <a:rPr lang="en-US" altLang="zh-TW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</a:t>
              </a:r>
              <a:endParaRPr lang="zh-TW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476F050-3526-DD19-FE76-EE7FCADB812A}"/>
                </a:ext>
              </a:extLst>
            </p:cNvPr>
            <p:cNvSpPr/>
            <p:nvPr/>
          </p:nvSpPr>
          <p:spPr>
            <a:xfrm>
              <a:off x="4589002" y="1841957"/>
              <a:ext cx="639583" cy="3267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B5B1A132-1C49-A158-C962-57C8C6038EC4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3476131" y="2971738"/>
            <a:ext cx="332773" cy="12833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CC7ECA27-C7BE-57DB-EA2D-0DAAAFA8CF8E}"/>
              </a:ext>
            </a:extLst>
          </p:cNvPr>
          <p:cNvSpPr txBox="1"/>
          <p:nvPr/>
        </p:nvSpPr>
        <p:spPr>
          <a:xfrm>
            <a:off x="1984925" y="3576197"/>
            <a:ext cx="2560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Port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可以自己訂</a:t>
            </a:r>
          </a:p>
        </p:txBody>
      </p:sp>
    </p:spTree>
    <p:extLst>
      <p:ext uri="{BB962C8B-B14F-4D97-AF65-F5344CB8AC3E}">
        <p14:creationId xmlns:p14="http://schemas.microsoft.com/office/powerpoint/2010/main" val="420348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732E9-85D9-194C-AED9-8EB3C827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665" y="267555"/>
            <a:ext cx="5423010" cy="1020588"/>
          </a:xfrm>
        </p:spPr>
        <p:txBody>
          <a:bodyPr>
            <a:normAutofit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Django auth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9711-11D4-A648-A21C-4081634F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7523" cy="4351338"/>
          </a:xfrm>
        </p:spPr>
        <p:txBody>
          <a:bodyPr/>
          <a:lstStyle/>
          <a:p>
            <a:pPr marL="0" indent="0">
              <a:buNone/>
            </a:pPr>
            <a:r>
              <a:rPr lang="en-TW" dirty="0"/>
              <a:t>The Django authentication system handles both authentication and authorization.</a:t>
            </a:r>
          </a:p>
          <a:p>
            <a:pPr marL="0" indent="0">
              <a:buNone/>
            </a:pPr>
            <a:endParaRPr lang="en-TW" dirty="0"/>
          </a:p>
          <a:p>
            <a:pPr marL="0" indent="0">
              <a:buNone/>
            </a:pPr>
            <a:r>
              <a:rPr lang="en-TW" dirty="0"/>
              <a:t>The auth system consists of:</a:t>
            </a:r>
          </a:p>
          <a:p>
            <a:pPr marL="0" indent="0">
              <a:buNone/>
            </a:pPr>
            <a:endParaRPr lang="en-TW" dirty="0"/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BB00B29A-C271-E84F-BD45-2F8CAE93E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2045" y="4568371"/>
            <a:ext cx="914400" cy="914400"/>
          </a:xfrm>
          <a:prstGeom prst="rect">
            <a:avLst/>
          </a:prstGeom>
        </p:spPr>
      </p:pic>
      <p:pic>
        <p:nvPicPr>
          <p:cNvPr id="7" name="Graphic 6" descr="Users with solid fill">
            <a:extLst>
              <a:ext uri="{FF2B5EF4-FFF2-40B4-BE49-F238E27FC236}">
                <a16:creationId xmlns:a16="http://schemas.microsoft.com/office/drawing/2014/main" id="{4C1450E4-4AB6-D74E-856B-39B02F117D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0198" y="4568371"/>
            <a:ext cx="914400" cy="914400"/>
          </a:xfrm>
          <a:prstGeom prst="rect">
            <a:avLst/>
          </a:prstGeom>
        </p:spPr>
      </p:pic>
      <p:pic>
        <p:nvPicPr>
          <p:cNvPr id="1028" name="Picture 4" descr="5,899,428 張禁止圖片、庫存照片和向量圖| Shutterstock">
            <a:extLst>
              <a:ext uri="{FF2B5EF4-FFF2-40B4-BE49-F238E27FC236}">
                <a16:creationId xmlns:a16="http://schemas.microsoft.com/office/drawing/2014/main" id="{B32F930D-48E9-C048-82EE-84067EC193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36"/>
          <a:stretch/>
        </p:blipFill>
        <p:spPr bwMode="auto">
          <a:xfrm>
            <a:off x="4735363" y="4481285"/>
            <a:ext cx="1084995" cy="108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Key with solid fill">
            <a:extLst>
              <a:ext uri="{FF2B5EF4-FFF2-40B4-BE49-F238E27FC236}">
                <a16:creationId xmlns:a16="http://schemas.microsoft.com/office/drawing/2014/main" id="{0EA52D52-A834-7745-9389-EC274D1AD6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1465" y="4568371"/>
            <a:ext cx="914400" cy="914400"/>
          </a:xfrm>
          <a:prstGeom prst="rect">
            <a:avLst/>
          </a:prstGeom>
        </p:spPr>
      </p:pic>
      <p:pic>
        <p:nvPicPr>
          <p:cNvPr id="11" name="Graphic 10" descr="Document outline">
            <a:extLst>
              <a:ext uri="{FF2B5EF4-FFF2-40B4-BE49-F238E27FC236}">
                <a16:creationId xmlns:a16="http://schemas.microsoft.com/office/drawing/2014/main" id="{03E9AEE1-6FC1-2846-9BD2-D6B376B0CA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4498" y="4568371"/>
            <a:ext cx="914400" cy="914400"/>
          </a:xfrm>
          <a:prstGeom prst="rect">
            <a:avLst/>
          </a:prstGeom>
        </p:spPr>
      </p:pic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E260D96A-3E5C-634C-AC30-FEF958E77F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32203" y="4568371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2A05FB-FBEA-0144-9B46-29016D82939E}"/>
              </a:ext>
            </a:extLst>
          </p:cNvPr>
          <p:cNvSpPr txBox="1"/>
          <p:nvPr/>
        </p:nvSpPr>
        <p:spPr>
          <a:xfrm>
            <a:off x="1360506" y="556985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User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41C833-14CE-F544-8F4B-B64A95A0F755}"/>
              </a:ext>
            </a:extLst>
          </p:cNvPr>
          <p:cNvSpPr txBox="1"/>
          <p:nvPr/>
        </p:nvSpPr>
        <p:spPr>
          <a:xfrm>
            <a:off x="2941170" y="5569857"/>
            <a:ext cx="772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Group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287170-71D5-DB47-B8C1-53FFB32259A5}"/>
              </a:ext>
            </a:extLst>
          </p:cNvPr>
          <p:cNvSpPr txBox="1"/>
          <p:nvPr/>
        </p:nvSpPr>
        <p:spPr>
          <a:xfrm>
            <a:off x="4674072" y="5643387"/>
            <a:ext cx="1207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Permission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566388-E77E-6D49-81B5-51CA2031F91F}"/>
              </a:ext>
            </a:extLst>
          </p:cNvPr>
          <p:cNvSpPr txBox="1"/>
          <p:nvPr/>
        </p:nvSpPr>
        <p:spPr>
          <a:xfrm>
            <a:off x="6583748" y="5643387"/>
            <a:ext cx="1729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Password hasing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36EB29-67A0-9946-83DD-1FCE94EA6984}"/>
              </a:ext>
            </a:extLst>
          </p:cNvPr>
          <p:cNvSpPr txBox="1"/>
          <p:nvPr/>
        </p:nvSpPr>
        <p:spPr>
          <a:xfrm>
            <a:off x="8854875" y="5643387"/>
            <a:ext cx="67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Form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43CD29-E96D-AE40-8DC1-E85BB9780E86}"/>
              </a:ext>
            </a:extLst>
          </p:cNvPr>
          <p:cNvSpPr txBox="1"/>
          <p:nvPr/>
        </p:nvSpPr>
        <p:spPr>
          <a:xfrm>
            <a:off x="10069815" y="5643387"/>
            <a:ext cx="167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Backend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50A00-05CB-D046-B397-6C36F705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274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4881-0AD2-5144-B1A9-8B9632D82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6"/>
            <a:ext cx="5415951" cy="914400"/>
          </a:xfrm>
        </p:spPr>
        <p:txBody>
          <a:bodyPr>
            <a:normAutofit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Django database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66D42-9207-924F-ACA1-0ECBC5F67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463" y="2342134"/>
            <a:ext cx="2713726" cy="3142209"/>
          </a:xfrm>
          <a:prstGeom prst="rect">
            <a:avLst/>
          </a:prstGeom>
        </p:spPr>
      </p:pic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890FDC28-14E0-3349-A9D8-6E4670E021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5682" y="3200399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388D6B-D9FD-934E-AEC5-8EED97B0D1C0}"/>
              </a:ext>
            </a:extLst>
          </p:cNvPr>
          <p:cNvSpPr txBox="1"/>
          <p:nvPr/>
        </p:nvSpPr>
        <p:spPr>
          <a:xfrm>
            <a:off x="6966218" y="4117953"/>
            <a:ext cx="1153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models.py</a:t>
            </a:r>
          </a:p>
        </p:txBody>
      </p:sp>
      <p:sp>
        <p:nvSpPr>
          <p:cNvPr id="3" name="Left Arrow 2">
            <a:extLst>
              <a:ext uri="{FF2B5EF4-FFF2-40B4-BE49-F238E27FC236}">
                <a16:creationId xmlns:a16="http://schemas.microsoft.com/office/drawing/2014/main" id="{008D46B1-EAB8-5045-BF14-35D76671AC48}"/>
              </a:ext>
            </a:extLst>
          </p:cNvPr>
          <p:cNvSpPr/>
          <p:nvPr/>
        </p:nvSpPr>
        <p:spPr>
          <a:xfrm>
            <a:off x="4513998" y="3657599"/>
            <a:ext cx="707923" cy="25563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8DCE8-E816-7A45-AAE2-69B5FB19AF46}"/>
              </a:ext>
            </a:extLst>
          </p:cNvPr>
          <p:cNvSpPr txBox="1"/>
          <p:nvPr/>
        </p:nvSpPr>
        <p:spPr>
          <a:xfrm>
            <a:off x="4421050" y="3238091"/>
            <a:ext cx="904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8D3D30-2AB5-A948-93C5-D2EFD8F1C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0819" y="2764735"/>
            <a:ext cx="3654842" cy="2297006"/>
          </a:xfrm>
          <a:prstGeom prst="rect">
            <a:avLst/>
          </a:prstGeom>
        </p:spPr>
      </p:pic>
      <p:pic>
        <p:nvPicPr>
          <p:cNvPr id="9" name="Picture 2" descr="學群課程">
            <a:extLst>
              <a:ext uri="{FF2B5EF4-FFF2-40B4-BE49-F238E27FC236}">
                <a16:creationId xmlns:a16="http://schemas.microsoft.com/office/drawing/2014/main" id="{2840B250-BB4D-8A40-BCB3-4F1E7EA53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61" y="3381421"/>
            <a:ext cx="699191" cy="77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118430-DFB4-8049-ACF8-F03CB99B1749}"/>
              </a:ext>
            </a:extLst>
          </p:cNvPr>
          <p:cNvSpPr txBox="1"/>
          <p:nvPr/>
        </p:nvSpPr>
        <p:spPr>
          <a:xfrm>
            <a:off x="225434" y="4337157"/>
            <a:ext cx="152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database</a:t>
            </a:r>
          </a:p>
        </p:txBody>
      </p:sp>
      <p:pic>
        <p:nvPicPr>
          <p:cNvPr id="11" name="Graphic 10" descr="Server with solid fill">
            <a:extLst>
              <a:ext uri="{FF2B5EF4-FFF2-40B4-BE49-F238E27FC236}">
                <a16:creationId xmlns:a16="http://schemas.microsoft.com/office/drawing/2014/main" id="{F42FF1FE-0236-B340-9583-0E0E4D8BC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96268" y="3346547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43141C-3A36-6C4D-BBB2-387FC1D43EAD}"/>
              </a:ext>
            </a:extLst>
          </p:cNvPr>
          <p:cNvSpPr txBox="1"/>
          <p:nvPr/>
        </p:nvSpPr>
        <p:spPr>
          <a:xfrm>
            <a:off x="5330729" y="4337157"/>
            <a:ext cx="1682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backend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6CB4D2-2676-FA41-A210-753E294FD585}"/>
              </a:ext>
            </a:extLst>
          </p:cNvPr>
          <p:cNvSpPr txBox="1"/>
          <p:nvPr/>
        </p:nvSpPr>
        <p:spPr>
          <a:xfrm>
            <a:off x="8003389" y="2342134"/>
            <a:ext cx="197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AuthUser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B611150-AF96-014F-A509-3E41A87D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6770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B63568A2-C198-B2EF-13E7-E9ACF9956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56" y="1032628"/>
            <a:ext cx="7767961" cy="28524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E29A41C-8B0C-B567-A7ED-3830A45AC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66" y="3771327"/>
            <a:ext cx="9241654" cy="28595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51322D-DD9D-8342-9303-03AB55F27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18" y="227103"/>
            <a:ext cx="3578525" cy="661418"/>
          </a:xfrm>
        </p:spPr>
        <p:txBody>
          <a:bodyPr>
            <a:normAutofit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Django session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69C0FFEE-D081-EC4E-BC73-77D971AE358A}"/>
              </a:ext>
            </a:extLst>
          </p:cNvPr>
          <p:cNvCxnSpPr>
            <a:cxnSpLocks/>
            <a:endCxn id="10" idx="3"/>
          </p:cNvCxnSpPr>
          <p:nvPr/>
        </p:nvCxnSpPr>
        <p:spPr>
          <a:xfrm>
            <a:off x="8776317" y="2334808"/>
            <a:ext cx="1102434" cy="1527670"/>
          </a:xfrm>
          <a:prstGeom prst="bentConnector3">
            <a:avLst>
              <a:gd name="adj1" fmla="val 12073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A2CB6C-9CB3-B942-8AE5-3DBC8444631F}"/>
              </a:ext>
            </a:extLst>
          </p:cNvPr>
          <p:cNvSpPr txBox="1"/>
          <p:nvPr/>
        </p:nvSpPr>
        <p:spPr>
          <a:xfrm>
            <a:off x="10074723" y="2944754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登入後保持會話窗口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B858D3-9E5F-1E48-A90D-6815BA87E329}"/>
              </a:ext>
            </a:extLst>
          </p:cNvPr>
          <p:cNvSpPr/>
          <p:nvPr/>
        </p:nvSpPr>
        <p:spPr>
          <a:xfrm>
            <a:off x="8678174" y="3429000"/>
            <a:ext cx="1200577" cy="866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A3F59F-7160-234C-B7BF-2C8AAF03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5</a:t>
            </a:fld>
            <a:endParaRPr lang="en-TW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9ACE765-CD3B-8002-961A-6CE11F3F9C85}"/>
              </a:ext>
            </a:extLst>
          </p:cNvPr>
          <p:cNvSpPr txBox="1"/>
          <p:nvPr/>
        </p:nvSpPr>
        <p:spPr>
          <a:xfrm>
            <a:off x="1109252" y="2122907"/>
            <a:ext cx="3465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http://140.116.214.156:1984/account/login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98D1648-F969-7D5A-C665-DB8DFE5922CB}"/>
              </a:ext>
            </a:extLst>
          </p:cNvPr>
          <p:cNvSpPr txBox="1"/>
          <p:nvPr/>
        </p:nvSpPr>
        <p:spPr>
          <a:xfrm>
            <a:off x="721369" y="4939502"/>
            <a:ext cx="3048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http://140.116.214.156:1985/correlation/</a:t>
            </a:r>
          </a:p>
        </p:txBody>
      </p:sp>
    </p:spTree>
    <p:extLst>
      <p:ext uri="{BB962C8B-B14F-4D97-AF65-F5344CB8AC3E}">
        <p14:creationId xmlns:p14="http://schemas.microsoft.com/office/powerpoint/2010/main" val="350718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1AFA-F7CE-1D41-9DF2-F9761E6BE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8" y="230489"/>
            <a:ext cx="5355566" cy="880465"/>
          </a:xfrm>
        </p:spPr>
        <p:txBody>
          <a:bodyPr>
            <a:normAutofit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Django auth sequence</a:t>
            </a:r>
          </a:p>
        </p:txBody>
      </p:sp>
      <p:pic>
        <p:nvPicPr>
          <p:cNvPr id="2050" name="Picture 2" descr="Django Session-based Auth for Single Page Apps | TestDriven.io">
            <a:extLst>
              <a:ext uri="{FF2B5EF4-FFF2-40B4-BE49-F238E27FC236}">
                <a16:creationId xmlns:a16="http://schemas.microsoft.com/office/drawing/2014/main" id="{73388E3E-1D9E-6A4D-9485-68A2A66F2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346833"/>
            <a:ext cx="6164489" cy="5009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C50D65-90BE-9F45-BAAB-53B2E349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4365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289C8D4A-B01C-20C5-8F4D-A3B17D26C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347" y="1769325"/>
            <a:ext cx="5652723" cy="1098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D0C505-092B-444D-AE45-9D1DFDA9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21" y="366800"/>
            <a:ext cx="4613694" cy="687298"/>
          </a:xfrm>
        </p:spPr>
        <p:txBody>
          <a:bodyPr>
            <a:normAutofit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Django middleware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FFC5D-E73A-BD41-92FD-4534808E4E9C}"/>
              </a:ext>
            </a:extLst>
          </p:cNvPr>
          <p:cNvSpPr/>
          <p:nvPr/>
        </p:nvSpPr>
        <p:spPr>
          <a:xfrm>
            <a:off x="4326474" y="2087776"/>
            <a:ext cx="2393504" cy="148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BFCB6AE8-A27F-E648-9DDD-7FAEA74B3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3989" y="4585434"/>
            <a:ext cx="914400" cy="914400"/>
          </a:xfrm>
          <a:prstGeom prst="rect">
            <a:avLst/>
          </a:prstGeom>
        </p:spPr>
      </p:pic>
      <p:pic>
        <p:nvPicPr>
          <p:cNvPr id="7" name="Graphic 6" descr="Server with solid fill">
            <a:extLst>
              <a:ext uri="{FF2B5EF4-FFF2-40B4-BE49-F238E27FC236}">
                <a16:creationId xmlns:a16="http://schemas.microsoft.com/office/drawing/2014/main" id="{EB8B8A56-7E58-F343-8EE6-681448AD98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7750" y="4585434"/>
            <a:ext cx="914400" cy="914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B574A5-4A23-3244-B9CB-8E8AACA25750}"/>
              </a:ext>
            </a:extLst>
          </p:cNvPr>
          <p:cNvCxnSpPr/>
          <p:nvPr/>
        </p:nvCxnSpPr>
        <p:spPr>
          <a:xfrm>
            <a:off x="5378389" y="4854534"/>
            <a:ext cx="1649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2D924D-1F9E-194A-A097-7355ADFCAA12}"/>
              </a:ext>
            </a:extLst>
          </p:cNvPr>
          <p:cNvCxnSpPr/>
          <p:nvPr/>
        </p:nvCxnSpPr>
        <p:spPr>
          <a:xfrm flipH="1">
            <a:off x="5378389" y="5287153"/>
            <a:ext cx="1649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128E210-0028-894C-AFEB-D216187CB1D7}"/>
              </a:ext>
            </a:extLst>
          </p:cNvPr>
          <p:cNvSpPr txBox="1"/>
          <p:nvPr/>
        </p:nvSpPr>
        <p:spPr>
          <a:xfrm>
            <a:off x="4463989" y="3342736"/>
            <a:ext cx="29878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TW" dirty="0">
                <a:solidFill>
                  <a:srgbClr val="FF0000"/>
                </a:solidFill>
              </a:rPr>
              <a:t>request.session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W" dirty="0">
                <a:solidFill>
                  <a:srgbClr val="FF0000"/>
                </a:solidFill>
              </a:rPr>
              <a:t>request.user</a:t>
            </a:r>
          </a:p>
          <a:p>
            <a:r>
              <a:rPr lang="en-TW" dirty="0"/>
              <a:t>How to implement in Django?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8FF6C-68AE-F04D-B538-8B3995CAB33B}"/>
              </a:ext>
            </a:extLst>
          </p:cNvPr>
          <p:cNvSpPr txBox="1"/>
          <p:nvPr/>
        </p:nvSpPr>
        <p:spPr>
          <a:xfrm>
            <a:off x="4571029" y="5499834"/>
            <a:ext cx="700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client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A5FDAB-8A1D-AA44-9249-38D44F1B8299}"/>
              </a:ext>
            </a:extLst>
          </p:cNvPr>
          <p:cNvSpPr txBox="1"/>
          <p:nvPr/>
        </p:nvSpPr>
        <p:spPr>
          <a:xfrm>
            <a:off x="7067041" y="5499834"/>
            <a:ext cx="76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server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F38E08-93B1-E14C-98CD-4FA53E54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14005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24F5-C4C0-F849-80F1-238446EE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61" y="244356"/>
            <a:ext cx="5257800" cy="730430"/>
          </a:xfrm>
        </p:spPr>
        <p:txBody>
          <a:bodyPr>
            <a:normAutofit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Django middleware</a:t>
            </a:r>
          </a:p>
        </p:txBody>
      </p:sp>
      <p:pic>
        <p:nvPicPr>
          <p:cNvPr id="3074" name="Picture 2" descr="Django 中间件| 菜鸟教程">
            <a:extLst>
              <a:ext uri="{FF2B5EF4-FFF2-40B4-BE49-F238E27FC236}">
                <a16:creationId xmlns:a16="http://schemas.microsoft.com/office/drawing/2014/main" id="{21FE6264-A792-FA49-9AB8-7F0EA10A2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620" y="1475027"/>
            <a:ext cx="8232321" cy="466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B8B512-775F-0345-98F4-F8B37BC3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31128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9B76-BC5B-F14E-8D33-F43B38B34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15" y="356499"/>
            <a:ext cx="4883774" cy="834380"/>
          </a:xfrm>
        </p:spPr>
        <p:txBody>
          <a:bodyPr>
            <a:normAutofit fontScale="90000"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Django middleware</a:t>
            </a:r>
            <a:br>
              <a:rPr 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zh-TW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settings.py</a:t>
            </a:r>
            <a:endParaRPr lang="en-TW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1C94E-5000-E44D-8119-451B6161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81" y="2175894"/>
            <a:ext cx="9530919" cy="250621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23F600-2DF4-D745-9E01-803090A0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9</a:t>
            </a:fld>
            <a:endParaRPr lang="en-TW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7899269D-1E5A-192E-774A-B1AFB79902E4}"/>
              </a:ext>
            </a:extLst>
          </p:cNvPr>
          <p:cNvSpPr txBox="1"/>
          <p:nvPr/>
        </p:nvSpPr>
        <p:spPr>
          <a:xfrm>
            <a:off x="2391572" y="3493698"/>
            <a:ext cx="5398081" cy="2033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82044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06C83826-9CD9-13A3-513D-02D1E79D9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33" y="3959320"/>
            <a:ext cx="7767961" cy="28524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0DDB5C10-2B87-D2DA-E258-CF6FA08B42A1}"/>
              </a:ext>
            </a:extLst>
          </p:cNvPr>
          <p:cNvSpPr txBox="1"/>
          <p:nvPr/>
        </p:nvSpPr>
        <p:spPr>
          <a:xfrm>
            <a:off x="933478" y="5142660"/>
            <a:ext cx="3465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http://140.116.214.156:</a:t>
            </a:r>
            <a:r>
              <a:rPr lang="zh-TW" altLang="en-US" sz="12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1984</a:t>
            </a:r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/account/login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C6F105-451F-2B56-C105-5BC5A48FD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651" y="958453"/>
            <a:ext cx="9241654" cy="28595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Down Arrow 6">
            <a:extLst>
              <a:ext uri="{FF2B5EF4-FFF2-40B4-BE49-F238E27FC236}">
                <a16:creationId xmlns:a16="http://schemas.microsoft.com/office/drawing/2014/main" id="{5D2E4541-5FB0-7B50-9D80-D002FFE28FE6}"/>
              </a:ext>
            </a:extLst>
          </p:cNvPr>
          <p:cNvSpPr/>
          <p:nvPr/>
        </p:nvSpPr>
        <p:spPr>
          <a:xfrm>
            <a:off x="5991045" y="3657053"/>
            <a:ext cx="104955" cy="23345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BF30A908-E104-7657-9F00-136BD4B2E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019" y="3925016"/>
            <a:ext cx="1371599" cy="2623929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15F78686-25C5-3CD5-A1F6-9BE2A85613F8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980373" y="5236981"/>
            <a:ext cx="2171646" cy="13119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BF19DBD-3F57-9AA1-B246-18E7D7D14E05}"/>
              </a:ext>
            </a:extLst>
          </p:cNvPr>
          <p:cNvSpPr txBox="1"/>
          <p:nvPr/>
        </p:nvSpPr>
        <p:spPr>
          <a:xfrm>
            <a:off x="8553812" y="5953095"/>
            <a:ext cx="36381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http://140.116.214.156:</a:t>
            </a:r>
            <a:r>
              <a:rPr lang="zh-TW" altLang="en-US" sz="12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1984</a:t>
            </a:r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/account/register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23EFA240-71E6-555C-B244-AF818FACF1E1}"/>
              </a:ext>
            </a:extLst>
          </p:cNvPr>
          <p:cNvSpPr txBox="1"/>
          <p:nvPr/>
        </p:nvSpPr>
        <p:spPr>
          <a:xfrm>
            <a:off x="8523618" y="4945064"/>
            <a:ext cx="3121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1600" dirty="0"/>
              <a:t>Authentication server register page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7B433BAF-AB14-6EEE-6D7A-4826811ACE82}"/>
              </a:ext>
            </a:extLst>
          </p:cNvPr>
          <p:cNvSpPr txBox="1"/>
          <p:nvPr/>
        </p:nvSpPr>
        <p:spPr>
          <a:xfrm>
            <a:off x="2219143" y="4290721"/>
            <a:ext cx="2892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1600" dirty="0"/>
              <a:t>Authentication server login page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8C8A802-5AC2-CBDB-6FBA-CE5A047C5CE7}"/>
              </a:ext>
            </a:extLst>
          </p:cNvPr>
          <p:cNvSpPr txBox="1"/>
          <p:nvPr/>
        </p:nvSpPr>
        <p:spPr>
          <a:xfrm>
            <a:off x="6221444" y="3511285"/>
            <a:ext cx="424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TW" altLang="zh-TW" sz="1400" dirty="0"/>
              <a:t>沒登入會被擋 轉址到Authentication server強制登入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2FE9D81-04DB-C633-EDCF-411ACD2EAD7D}"/>
              </a:ext>
            </a:extLst>
          </p:cNvPr>
          <p:cNvSpPr txBox="1">
            <a:spLocks/>
          </p:cNvSpPr>
          <p:nvPr/>
        </p:nvSpPr>
        <p:spPr>
          <a:xfrm>
            <a:off x="104955" y="249471"/>
            <a:ext cx="2036551" cy="6872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Website</a:t>
            </a:r>
            <a:endParaRPr lang="en-TW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362ECE9-A102-BC35-C785-EDF67C542E33}"/>
              </a:ext>
            </a:extLst>
          </p:cNvPr>
          <p:cNvSpPr txBox="1"/>
          <p:nvPr/>
        </p:nvSpPr>
        <p:spPr>
          <a:xfrm>
            <a:off x="1874471" y="711404"/>
            <a:ext cx="3048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http://140.116.214.156:</a:t>
            </a:r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1985</a:t>
            </a:r>
            <a:r>
              <a:rPr lang="zh-TW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/correlation/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D9A31AA-2E6F-B91A-3239-FA698CC72C40}"/>
              </a:ext>
            </a:extLst>
          </p:cNvPr>
          <p:cNvSpPr txBox="1"/>
          <p:nvPr/>
        </p:nvSpPr>
        <p:spPr>
          <a:xfrm>
            <a:off x="8928154" y="1435882"/>
            <a:ext cx="36381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http://140.116.214.156:</a:t>
            </a:r>
            <a:r>
              <a:rPr lang="zh-TW" altLang="en-US" sz="12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1984</a:t>
            </a:r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/account/</a:t>
            </a:r>
            <a:r>
              <a:rPr lang="en-US" altLang="zh-TW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endParaRPr lang="zh-TW" alt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019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AD82-26E9-2245-8DB4-2470FD56F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92" y="339443"/>
            <a:ext cx="3735188" cy="687298"/>
          </a:xfrm>
        </p:spPr>
        <p:txBody>
          <a:bodyPr>
            <a:normAutofit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Authentication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00EA7-1887-0E4D-9F25-FFFE1BC24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35477"/>
            <a:ext cx="2592614" cy="45274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8DF6B1-210D-DA4F-ABC4-9FDBD3690D40}"/>
              </a:ext>
            </a:extLst>
          </p:cNvPr>
          <p:cNvSpPr txBox="1"/>
          <p:nvPr/>
        </p:nvSpPr>
        <p:spPr>
          <a:xfrm>
            <a:off x="3783354" y="5791802"/>
            <a:ext cx="1696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/>
              <a:t>login successful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09FC0-8A32-DE40-BA0A-A317D951D15D}"/>
              </a:ext>
            </a:extLst>
          </p:cNvPr>
          <p:cNvSpPr txBox="1"/>
          <p:nvPr/>
        </p:nvSpPr>
        <p:spPr>
          <a:xfrm>
            <a:off x="3783354" y="6356349"/>
            <a:ext cx="269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u="sng" dirty="0"/>
              <a:t>user:</a:t>
            </a:r>
            <a:r>
              <a:rPr lang="zh-TW" altLang="en-US" u="sng" dirty="0"/>
              <a:t> </a:t>
            </a:r>
            <a:r>
              <a:rPr lang="en-TW" u="sng" dirty="0"/>
              <a:t>anonymous-&gt;thomas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A8DAF9-8B58-6146-B469-99FD6446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11</a:t>
            </a:fld>
            <a:endParaRPr lang="en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F352A78-87BD-28DB-7F99-B43945F2E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417" y="2701492"/>
            <a:ext cx="8149312" cy="2521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96C0A0F-A5CC-E8F3-514D-B7952AF6425F}"/>
              </a:ext>
            </a:extLst>
          </p:cNvPr>
          <p:cNvSpPr txBox="1"/>
          <p:nvPr/>
        </p:nvSpPr>
        <p:spPr>
          <a:xfrm>
            <a:off x="773679" y="1613169"/>
            <a:ext cx="3465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http://140.116.214.156:</a:t>
            </a:r>
            <a:r>
              <a:rPr lang="zh-TW" altLang="en-US" sz="12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1984</a:t>
            </a:r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/account/login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E7B9E86-5E92-B1C6-5BE8-39E077D6A9EB}"/>
              </a:ext>
            </a:extLst>
          </p:cNvPr>
          <p:cNvSpPr txBox="1"/>
          <p:nvPr/>
        </p:nvSpPr>
        <p:spPr>
          <a:xfrm>
            <a:off x="3427255" y="2376201"/>
            <a:ext cx="3048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http://140.116.214.156:</a:t>
            </a:r>
            <a:r>
              <a:rPr lang="zh-TW" altLang="en-US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1985</a:t>
            </a:r>
            <a:r>
              <a:rPr lang="zh-TW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/correlation/</a:t>
            </a:r>
          </a:p>
        </p:txBody>
      </p:sp>
    </p:spTree>
    <p:extLst>
      <p:ext uri="{BB962C8B-B14F-4D97-AF65-F5344CB8AC3E}">
        <p14:creationId xmlns:p14="http://schemas.microsoft.com/office/powerpoint/2010/main" val="3243642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3674C68-FF13-FA72-7E6F-B6E1128CF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79" y="1833201"/>
            <a:ext cx="9241654" cy="28595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F1DDC144-3791-BE8D-3516-2C4B18961837}"/>
              </a:ext>
            </a:extLst>
          </p:cNvPr>
          <p:cNvSpPr/>
          <p:nvPr/>
        </p:nvSpPr>
        <p:spPr>
          <a:xfrm>
            <a:off x="9888252" y="2024508"/>
            <a:ext cx="710182" cy="354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4DBBF5-B0D6-8851-342D-EDCEFF2C1069}"/>
              </a:ext>
            </a:extLst>
          </p:cNvPr>
          <p:cNvSpPr txBox="1">
            <a:spLocks/>
          </p:cNvSpPr>
          <p:nvPr/>
        </p:nvSpPr>
        <p:spPr>
          <a:xfrm>
            <a:off x="104955" y="249471"/>
            <a:ext cx="2036551" cy="6872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Website</a:t>
            </a:r>
            <a:endParaRPr lang="en-TW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00981FD9-C8C4-E429-45D5-D97C8C8C19A5}"/>
              </a:ext>
            </a:extLst>
          </p:cNvPr>
          <p:cNvSpPr txBox="1"/>
          <p:nvPr/>
        </p:nvSpPr>
        <p:spPr>
          <a:xfrm>
            <a:off x="7581565" y="2816906"/>
            <a:ext cx="364715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information can be obtained???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TW" altLang="zh-TW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 </a:t>
            </a:r>
            <a:endParaRPr lang="en-US" altLang="zh-TW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  <a:endParaRPr lang="en-TW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0D10A63-EFA6-4DB6-A3E9-F519AE50AA87}"/>
              </a:ext>
            </a:extLst>
          </p:cNvPr>
          <p:cNvSpPr txBox="1"/>
          <p:nvPr/>
        </p:nvSpPr>
        <p:spPr>
          <a:xfrm>
            <a:off x="9016127" y="2379216"/>
            <a:ext cx="36381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http://140.116.214.156:</a:t>
            </a:r>
            <a:r>
              <a:rPr lang="zh-TW" altLang="en-US" sz="12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1984</a:t>
            </a:r>
            <a:r>
              <a:rPr lang="zh-TW" alt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/account/</a:t>
            </a:r>
            <a:r>
              <a:rPr lang="en-US" altLang="zh-TW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endParaRPr lang="zh-TW" alt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333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3EB4-4E4B-7246-804E-30243F8F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1" y="331555"/>
            <a:ext cx="4903900" cy="640556"/>
          </a:xfrm>
        </p:spPr>
        <p:txBody>
          <a:bodyPr>
            <a:normAutofit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Software architecture</a:t>
            </a:r>
          </a:p>
        </p:txBody>
      </p:sp>
      <p:pic>
        <p:nvPicPr>
          <p:cNvPr id="4" name="Graphic 3" descr="Server with solid fill">
            <a:extLst>
              <a:ext uri="{FF2B5EF4-FFF2-40B4-BE49-F238E27FC236}">
                <a16:creationId xmlns:a16="http://schemas.microsoft.com/office/drawing/2014/main" id="{F76AD5BD-4675-C349-BD9F-FFB9DF2A6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9185" y="2696873"/>
            <a:ext cx="914400" cy="914400"/>
          </a:xfrm>
          <a:prstGeom prst="rect">
            <a:avLst/>
          </a:prstGeom>
        </p:spPr>
      </p:pic>
      <p:pic>
        <p:nvPicPr>
          <p:cNvPr id="5" name="Graphic 4" descr="Server with solid fill">
            <a:extLst>
              <a:ext uri="{FF2B5EF4-FFF2-40B4-BE49-F238E27FC236}">
                <a16:creationId xmlns:a16="http://schemas.microsoft.com/office/drawing/2014/main" id="{5149C19A-5EFD-C142-B4F3-B7DB5A8B8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2352" y="2696873"/>
            <a:ext cx="914400" cy="914400"/>
          </a:xfrm>
          <a:prstGeom prst="rect">
            <a:avLst/>
          </a:prstGeom>
        </p:spPr>
      </p:pic>
      <p:pic>
        <p:nvPicPr>
          <p:cNvPr id="6" name="Picture 2" descr="學群課程">
            <a:extLst>
              <a:ext uri="{FF2B5EF4-FFF2-40B4-BE49-F238E27FC236}">
                <a16:creationId xmlns:a16="http://schemas.microsoft.com/office/drawing/2014/main" id="{83C1AF42-6541-AB45-993A-F0A292074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601" y="1285247"/>
            <a:ext cx="699191" cy="77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6C3D92-0480-8E4B-A31E-D5E582952842}"/>
              </a:ext>
            </a:extLst>
          </p:cNvPr>
          <p:cNvSpPr txBox="1"/>
          <p:nvPr/>
        </p:nvSpPr>
        <p:spPr>
          <a:xfrm>
            <a:off x="7793173" y="2988385"/>
            <a:ext cx="1256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Web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6FA82-0858-3F47-A5D7-45716BB2455D}"/>
              </a:ext>
            </a:extLst>
          </p:cNvPr>
          <p:cNvSpPr txBox="1"/>
          <p:nvPr/>
        </p:nvSpPr>
        <p:spPr>
          <a:xfrm>
            <a:off x="1833346" y="2997959"/>
            <a:ext cx="221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Authentication server</a:t>
            </a:r>
          </a:p>
        </p:txBody>
      </p:sp>
      <p:pic>
        <p:nvPicPr>
          <p:cNvPr id="13" name="Graphic 12" descr="Browser window outline">
            <a:extLst>
              <a:ext uri="{FF2B5EF4-FFF2-40B4-BE49-F238E27FC236}">
                <a16:creationId xmlns:a16="http://schemas.microsoft.com/office/drawing/2014/main" id="{8D22249F-72B0-A94D-A2BA-8C8235834A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2351" y="4867787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45F088-4BC6-F245-8DE3-F7004E6CF68C}"/>
              </a:ext>
            </a:extLst>
          </p:cNvPr>
          <p:cNvSpPr txBox="1"/>
          <p:nvPr/>
        </p:nvSpPr>
        <p:spPr>
          <a:xfrm>
            <a:off x="3480455" y="5686085"/>
            <a:ext cx="205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login / register page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4F552B-56C5-0E41-B4A3-1FA383C903A9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4509552" y="2056317"/>
            <a:ext cx="1495645" cy="6405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0F33C9-B50F-3247-84B4-C9A5100CE1F1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H="1" flipV="1">
            <a:off x="6005197" y="2056317"/>
            <a:ext cx="1351188" cy="6405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AE9C1C-80EB-7048-AB5A-F92D0CDE612C}"/>
              </a:ext>
            </a:extLst>
          </p:cNvPr>
          <p:cNvCxnSpPr>
            <a:cxnSpLocks/>
            <a:stCxn id="13" idx="0"/>
            <a:endCxn id="5" idx="2"/>
          </p:cNvCxnSpPr>
          <p:nvPr/>
        </p:nvCxnSpPr>
        <p:spPr>
          <a:xfrm flipV="1">
            <a:off x="4509551" y="3611273"/>
            <a:ext cx="1" cy="12565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BF77E76-B1E0-C04F-A1D4-14538BF0B434}"/>
              </a:ext>
            </a:extLst>
          </p:cNvPr>
          <p:cNvSpPr txBox="1"/>
          <p:nvPr/>
        </p:nvSpPr>
        <p:spPr>
          <a:xfrm>
            <a:off x="5569792" y="2772755"/>
            <a:ext cx="97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redirect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454F4-2C71-2A45-9F44-7A620F2E9AAF}"/>
              </a:ext>
            </a:extLst>
          </p:cNvPr>
          <p:cNvSpPr txBox="1"/>
          <p:nvPr/>
        </p:nvSpPr>
        <p:spPr>
          <a:xfrm>
            <a:off x="5294332" y="883628"/>
            <a:ext cx="152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User database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9775D5-BF71-3C41-831E-03F6E11E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13</a:t>
            </a:fld>
            <a:endParaRPr lang="en-TW"/>
          </a:p>
        </p:txBody>
      </p:sp>
      <p:cxnSp>
        <p:nvCxnSpPr>
          <p:cNvPr id="11" name="Straight Arrow Connector 15">
            <a:extLst>
              <a:ext uri="{FF2B5EF4-FFF2-40B4-BE49-F238E27FC236}">
                <a16:creationId xmlns:a16="http://schemas.microsoft.com/office/drawing/2014/main" id="{A67A356C-45F3-BE06-2ABC-EC33A6C0D6A4}"/>
              </a:ext>
            </a:extLst>
          </p:cNvPr>
          <p:cNvCxnSpPr>
            <a:cxnSpLocks/>
          </p:cNvCxnSpPr>
          <p:nvPr/>
        </p:nvCxnSpPr>
        <p:spPr>
          <a:xfrm flipV="1">
            <a:off x="5138363" y="3284303"/>
            <a:ext cx="1692841" cy="45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9">
            <a:extLst>
              <a:ext uri="{FF2B5EF4-FFF2-40B4-BE49-F238E27FC236}">
                <a16:creationId xmlns:a16="http://schemas.microsoft.com/office/drawing/2014/main" id="{D2237CC7-1520-4FAD-2E35-6A4DF7EF1C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2649" y="3902785"/>
            <a:ext cx="3479981" cy="809746"/>
          </a:xfrm>
          <a:prstGeom prst="rect">
            <a:avLst/>
          </a:prstGeom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3A8C88F4-D6DE-462C-FCCF-F8B36E714C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4859" y="4097546"/>
            <a:ext cx="1371599" cy="262392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B836FEA-3B17-EF74-BCB8-7F4F7350DD8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8651" t="10056" r="38406" b="-10"/>
          <a:stretch/>
        </p:blipFill>
        <p:spPr>
          <a:xfrm>
            <a:off x="396815" y="4155621"/>
            <a:ext cx="1585648" cy="241978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2EDA7059-EA90-843F-FC1D-5E7D4D899929}"/>
              </a:ext>
            </a:extLst>
          </p:cNvPr>
          <p:cNvSpPr txBox="1"/>
          <p:nvPr/>
        </p:nvSpPr>
        <p:spPr>
          <a:xfrm>
            <a:off x="7010281" y="3591992"/>
            <a:ext cx="1071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onfirm</a:t>
            </a:r>
          </a:p>
        </p:txBody>
      </p:sp>
    </p:spTree>
    <p:extLst>
      <p:ext uri="{BB962C8B-B14F-4D97-AF65-F5344CB8AC3E}">
        <p14:creationId xmlns:p14="http://schemas.microsoft.com/office/powerpoint/2010/main" val="3492463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3EB4-4E4B-7246-804E-30243F8F5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409" y="190185"/>
            <a:ext cx="3457378" cy="822332"/>
          </a:xfrm>
        </p:spPr>
        <p:txBody>
          <a:bodyPr>
            <a:normAutofit fontScale="90000"/>
          </a:bodyPr>
          <a:lstStyle/>
          <a:p>
            <a:pPr algn="ctr"/>
            <a:r>
              <a:rPr lang="en-TW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Authentication</a:t>
            </a:r>
            <a:br>
              <a:rPr lang="en-US" sz="36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TW" sz="27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session-base</a:t>
            </a:r>
            <a:endParaRPr lang="en-TW" sz="3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Graphic 3" descr="Server with solid fill">
            <a:extLst>
              <a:ext uri="{FF2B5EF4-FFF2-40B4-BE49-F238E27FC236}">
                <a16:creationId xmlns:a16="http://schemas.microsoft.com/office/drawing/2014/main" id="{F76AD5BD-4675-C349-BD9F-FFB9DF2A6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4166" y="3102314"/>
            <a:ext cx="914400" cy="914400"/>
          </a:xfrm>
          <a:prstGeom prst="rect">
            <a:avLst/>
          </a:prstGeom>
        </p:spPr>
      </p:pic>
      <p:pic>
        <p:nvPicPr>
          <p:cNvPr id="5" name="Graphic 4" descr="Server with solid fill">
            <a:extLst>
              <a:ext uri="{FF2B5EF4-FFF2-40B4-BE49-F238E27FC236}">
                <a16:creationId xmlns:a16="http://schemas.microsoft.com/office/drawing/2014/main" id="{5149C19A-5EFD-C142-B4F3-B7DB5A8B8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7333" y="3102314"/>
            <a:ext cx="914400" cy="914400"/>
          </a:xfrm>
          <a:prstGeom prst="rect">
            <a:avLst/>
          </a:prstGeom>
        </p:spPr>
      </p:pic>
      <p:pic>
        <p:nvPicPr>
          <p:cNvPr id="6" name="Picture 2" descr="學群課程">
            <a:extLst>
              <a:ext uri="{FF2B5EF4-FFF2-40B4-BE49-F238E27FC236}">
                <a16:creationId xmlns:a16="http://schemas.microsoft.com/office/drawing/2014/main" id="{83C1AF42-6541-AB45-993A-F0A292074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582" y="1690688"/>
            <a:ext cx="699191" cy="77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6C3D92-0480-8E4B-A31E-D5E582952842}"/>
              </a:ext>
            </a:extLst>
          </p:cNvPr>
          <p:cNvSpPr txBox="1"/>
          <p:nvPr/>
        </p:nvSpPr>
        <p:spPr>
          <a:xfrm>
            <a:off x="4683117" y="4051849"/>
            <a:ext cx="1256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6FA82-0858-3F47-A5D7-45716BB2455D}"/>
              </a:ext>
            </a:extLst>
          </p:cNvPr>
          <p:cNvSpPr txBox="1"/>
          <p:nvPr/>
        </p:nvSpPr>
        <p:spPr>
          <a:xfrm>
            <a:off x="17632" y="3403592"/>
            <a:ext cx="221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server</a:t>
            </a:r>
          </a:p>
        </p:txBody>
      </p:sp>
      <p:pic>
        <p:nvPicPr>
          <p:cNvPr id="13" name="Graphic 12" descr="Browser window outline">
            <a:extLst>
              <a:ext uri="{FF2B5EF4-FFF2-40B4-BE49-F238E27FC236}">
                <a16:creationId xmlns:a16="http://schemas.microsoft.com/office/drawing/2014/main" id="{8D22249F-72B0-A94D-A2BA-8C8235834A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07332" y="5273228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45F088-4BC6-F245-8DE3-F7004E6CF68C}"/>
              </a:ext>
            </a:extLst>
          </p:cNvPr>
          <p:cNvSpPr txBox="1"/>
          <p:nvPr/>
        </p:nvSpPr>
        <p:spPr>
          <a:xfrm>
            <a:off x="1435436" y="6091526"/>
            <a:ext cx="205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/ register page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24F552B-56C5-0E41-B4A3-1FA383C903A9}"/>
              </a:ext>
            </a:extLst>
          </p:cNvPr>
          <p:cNvCxnSpPr>
            <a:stCxn id="5" idx="0"/>
            <a:endCxn id="6" idx="2"/>
          </p:cNvCxnSpPr>
          <p:nvPr/>
        </p:nvCxnSpPr>
        <p:spPr>
          <a:xfrm flipV="1">
            <a:off x="2464533" y="2461758"/>
            <a:ext cx="1495645" cy="6405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0F33C9-B50F-3247-84B4-C9A5100CE1F1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H="1" flipV="1">
            <a:off x="3960178" y="2461758"/>
            <a:ext cx="1351188" cy="6405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AE9C1C-80EB-7048-AB5A-F92D0CDE612C}"/>
              </a:ext>
            </a:extLst>
          </p:cNvPr>
          <p:cNvCxnSpPr>
            <a:cxnSpLocks/>
            <a:stCxn id="13" idx="0"/>
            <a:endCxn id="5" idx="2"/>
          </p:cNvCxnSpPr>
          <p:nvPr/>
        </p:nvCxnSpPr>
        <p:spPr>
          <a:xfrm flipV="1">
            <a:off x="2464532" y="4016714"/>
            <a:ext cx="1" cy="12565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BF77E76-B1E0-C04F-A1D4-14538BF0B434}"/>
              </a:ext>
            </a:extLst>
          </p:cNvPr>
          <p:cNvSpPr txBox="1"/>
          <p:nvPr/>
        </p:nvSpPr>
        <p:spPr>
          <a:xfrm>
            <a:off x="3524773" y="3178196"/>
            <a:ext cx="97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454F4-2C71-2A45-9F44-7A620F2E9AAF}"/>
              </a:ext>
            </a:extLst>
          </p:cNvPr>
          <p:cNvSpPr txBox="1"/>
          <p:nvPr/>
        </p:nvSpPr>
        <p:spPr>
          <a:xfrm>
            <a:off x="3252942" y="1291850"/>
            <a:ext cx="152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database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B93CE-DFBC-534E-AEE5-F0798DC74CE4}"/>
              </a:ext>
            </a:extLst>
          </p:cNvPr>
          <p:cNvSpPr txBox="1"/>
          <p:nvPr/>
        </p:nvSpPr>
        <p:spPr>
          <a:xfrm>
            <a:off x="6482139" y="1891557"/>
            <a:ext cx="3805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兩個Server SECRET_KEY 必須相同!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A36898-88D7-6C48-8E98-9193787D4359}"/>
              </a:ext>
            </a:extLst>
          </p:cNvPr>
          <p:cNvSpPr txBox="1"/>
          <p:nvPr/>
        </p:nvSpPr>
        <p:spPr>
          <a:xfrm>
            <a:off x="6393459" y="2416496"/>
            <a:ext cx="554057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2000" dirty="0">
                <a:solidFill>
                  <a:srgbClr val="2326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SECRET_KEY in Django usage:</a:t>
            </a:r>
            <a:endParaRPr lang="en-US" sz="2000" dirty="0">
              <a:solidFill>
                <a:srgbClr val="232629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u="sng" dirty="0">
                <a:solidFill>
                  <a:srgbClr val="2326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Signing serialised data</a:t>
            </a:r>
            <a:r>
              <a:rPr lang="en-US" sz="2000" b="0" i="0" dirty="0">
                <a:solidFill>
                  <a:srgbClr val="2326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e.g. JSON documents.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 tokens for a user session, password reset request, messages, etc.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326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cross-site or replay attacks by adding and then expecting unique values for the request.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326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Generating a unique salt for hash functions.</a:t>
            </a:r>
          </a:p>
          <a:p>
            <a:endParaRPr lang="en-TW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7B54B3-6550-004A-9219-EF197D100446}"/>
              </a:ext>
            </a:extLst>
          </p:cNvPr>
          <p:cNvSpPr txBox="1"/>
          <p:nvPr/>
        </p:nvSpPr>
        <p:spPr>
          <a:xfrm>
            <a:off x="4496899" y="4929546"/>
            <a:ext cx="74356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ref to:</a:t>
            </a:r>
            <a:r>
              <a:rPr lang="en-US" dirty="0"/>
              <a:t> </a:t>
            </a:r>
          </a:p>
          <a:p>
            <a:r>
              <a:rPr lang="en-US" dirty="0">
                <a:hlinkClick r:id="rId9"/>
              </a:rPr>
              <a:t>https://docs.djangoproject.com/en/4.1/ref/settings/#std:setting-SECRET_KEY</a:t>
            </a:r>
            <a:endParaRPr lang="en-US" dirty="0"/>
          </a:p>
          <a:p>
            <a:r>
              <a:rPr lang="en-US" dirty="0">
                <a:hlinkClick r:id="rId10"/>
              </a:rPr>
              <a:t>https://docs.djangoproject.com/en/4.1/topics/signing/</a:t>
            </a:r>
            <a:endParaRPr lang="en-US" dirty="0"/>
          </a:p>
          <a:p>
            <a:endParaRPr lang="en-TW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2B2268B-415E-0541-8589-B58C9FF4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14</a:t>
            </a:fld>
            <a:endParaRPr lang="en-TW"/>
          </a:p>
        </p:txBody>
      </p:sp>
      <p:cxnSp>
        <p:nvCxnSpPr>
          <p:cNvPr id="18" name="Straight Arrow Connector 15">
            <a:extLst>
              <a:ext uri="{FF2B5EF4-FFF2-40B4-BE49-F238E27FC236}">
                <a16:creationId xmlns:a16="http://schemas.microsoft.com/office/drawing/2014/main" id="{539CA65A-7ACE-AEFA-5DBA-F97B0879F235}"/>
              </a:ext>
            </a:extLst>
          </p:cNvPr>
          <p:cNvCxnSpPr>
            <a:cxnSpLocks/>
          </p:cNvCxnSpPr>
          <p:nvPr/>
        </p:nvCxnSpPr>
        <p:spPr>
          <a:xfrm flipV="1">
            <a:off x="2990276" y="3691761"/>
            <a:ext cx="1692841" cy="45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09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E29B-22A9-BD42-9484-C18B933E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6" y="251965"/>
            <a:ext cx="3233469" cy="842573"/>
          </a:xfrm>
        </p:spPr>
        <p:txBody>
          <a:bodyPr>
            <a:normAutofit/>
          </a:bodyPr>
          <a:lstStyle/>
          <a:p>
            <a:pPr algn="ctr"/>
            <a:r>
              <a:rPr lang="en-TW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Authentication</a:t>
            </a:r>
            <a:br>
              <a:rPr 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TW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SECRET_KEY</a:t>
            </a:r>
            <a:endParaRPr lang="en-TW" sz="3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38971-5919-1941-A6F1-0980F116D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246" y="1856756"/>
            <a:ext cx="7868811" cy="660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9986EE-F9B3-B64A-8D5D-50E9537E2364}"/>
              </a:ext>
            </a:extLst>
          </p:cNvPr>
          <p:cNvSpPr txBox="1"/>
          <p:nvPr/>
        </p:nvSpPr>
        <p:spPr>
          <a:xfrm>
            <a:off x="1951982" y="1464176"/>
            <a:ext cx="1195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settings.py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91D3E5-CCE4-C140-89A9-570B4C561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246" y="2941811"/>
            <a:ext cx="4305300" cy="32131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DA3AE-5E67-7542-B7A9-91C938AE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0F58-A12C-2844-96EF-9A40900462A9}" type="slidenum">
              <a:rPr lang="en-TW" smtClean="0"/>
              <a:t>15</a:t>
            </a:fld>
            <a:endParaRPr lang="en-TW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F216A358-23C1-765D-80E1-A9E07520D600}"/>
              </a:ext>
            </a:extLst>
          </p:cNvPr>
          <p:cNvSpPr txBox="1"/>
          <p:nvPr/>
        </p:nvSpPr>
        <p:spPr>
          <a:xfrm>
            <a:off x="6800457" y="3947288"/>
            <a:ext cx="3620286" cy="78752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兩個Server SECRET_KEY 必須相同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需連接相同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Database</a:t>
            </a:r>
            <a:endParaRPr lang="en-TW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435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DACE-72D0-F447-894B-4A775C54C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99" y="262281"/>
            <a:ext cx="2661503" cy="661417"/>
          </a:xfrm>
        </p:spPr>
        <p:txBody>
          <a:bodyPr>
            <a:normAutofit fontScale="90000"/>
          </a:bodyPr>
          <a:lstStyle/>
          <a:p>
            <a:pPr algn="ctr"/>
            <a:r>
              <a:rPr lang="en-TW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Sequence</a:t>
            </a:r>
            <a:endParaRPr lang="en-TW" sz="32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Graphic 5" descr="Server with solid fill">
            <a:extLst>
              <a:ext uri="{FF2B5EF4-FFF2-40B4-BE49-F238E27FC236}">
                <a16:creationId xmlns:a16="http://schemas.microsoft.com/office/drawing/2014/main" id="{D33D2434-CF58-2643-A805-CF91AD222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5801" y="1235282"/>
            <a:ext cx="914400" cy="914400"/>
          </a:xfrm>
          <a:prstGeom prst="rect">
            <a:avLst/>
          </a:prstGeom>
        </p:spPr>
      </p:pic>
      <p:pic>
        <p:nvPicPr>
          <p:cNvPr id="8" name="Graphic 7" descr="Server with solid fill">
            <a:extLst>
              <a:ext uri="{FF2B5EF4-FFF2-40B4-BE49-F238E27FC236}">
                <a16:creationId xmlns:a16="http://schemas.microsoft.com/office/drawing/2014/main" id="{EE684509-4F98-D749-B227-6E329E4A9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5698" y="1293030"/>
            <a:ext cx="914400" cy="914400"/>
          </a:xfrm>
          <a:prstGeom prst="rect">
            <a:avLst/>
          </a:prstGeom>
        </p:spPr>
      </p:pic>
      <p:pic>
        <p:nvPicPr>
          <p:cNvPr id="10" name="Graphic 9" descr="Browser window outline">
            <a:extLst>
              <a:ext uri="{FF2B5EF4-FFF2-40B4-BE49-F238E27FC236}">
                <a16:creationId xmlns:a16="http://schemas.microsoft.com/office/drawing/2014/main" id="{713E948B-3148-9B4C-BA42-79C41E77E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2661" y="1264156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412721-B7A3-6B43-B728-F1C406D44C98}"/>
              </a:ext>
            </a:extLst>
          </p:cNvPr>
          <p:cNvSpPr txBox="1"/>
          <p:nvPr/>
        </p:nvSpPr>
        <p:spPr>
          <a:xfrm>
            <a:off x="2465533" y="2149682"/>
            <a:ext cx="234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/ logout / register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1A4B86-1390-6245-87C5-C88E17C1D538}"/>
              </a:ext>
            </a:extLst>
          </p:cNvPr>
          <p:cNvSpPr txBox="1"/>
          <p:nvPr/>
        </p:nvSpPr>
        <p:spPr>
          <a:xfrm>
            <a:off x="5671583" y="2178556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web server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6757C6-D7A8-6049-99B2-6559C721B3D1}"/>
              </a:ext>
            </a:extLst>
          </p:cNvPr>
          <p:cNvSpPr txBox="1"/>
          <p:nvPr/>
        </p:nvSpPr>
        <p:spPr>
          <a:xfrm>
            <a:off x="8414616" y="2178556"/>
            <a:ext cx="219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927AD-75E0-E240-8B59-F0CD75E960E8}"/>
              </a:ext>
            </a:extLst>
          </p:cNvPr>
          <p:cNvSpPr txBox="1"/>
          <p:nvPr/>
        </p:nvSpPr>
        <p:spPr>
          <a:xfrm>
            <a:off x="8568908" y="2597983"/>
            <a:ext cx="20441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sign_in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sign_up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logout</a:t>
            </a:r>
          </a:p>
        </p:txBody>
      </p:sp>
      <p:sp>
        <p:nvSpPr>
          <p:cNvPr id="19" name="Left-Right Arrow 18">
            <a:extLst>
              <a:ext uri="{FF2B5EF4-FFF2-40B4-BE49-F238E27FC236}">
                <a16:creationId xmlns:a16="http://schemas.microsoft.com/office/drawing/2014/main" id="{CE564E5A-BEEA-5D43-87E7-D5233CC48B56}"/>
              </a:ext>
            </a:extLst>
          </p:cNvPr>
          <p:cNvSpPr/>
          <p:nvPr/>
        </p:nvSpPr>
        <p:spPr>
          <a:xfrm>
            <a:off x="7301119" y="1721356"/>
            <a:ext cx="1189703" cy="18681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D17F64-2A07-BF4C-82C4-8DCECA0E5BC8}"/>
              </a:ext>
            </a:extLst>
          </p:cNvPr>
          <p:cNvSpPr txBox="1"/>
          <p:nvPr/>
        </p:nvSpPr>
        <p:spPr>
          <a:xfrm>
            <a:off x="7419344" y="1264156"/>
            <a:ext cx="9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/>
              <a:t>redirect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0452A-99BC-CB4A-8DA1-297CB939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70250" y="6356350"/>
            <a:ext cx="483550" cy="365125"/>
          </a:xfrm>
        </p:spPr>
        <p:txBody>
          <a:bodyPr/>
          <a:lstStyle/>
          <a:p>
            <a:fld id="{4C0F0F58-A12C-2844-96EF-9A40900462A9}" type="slidenum">
              <a:rPr lang="en-TW" smtClean="0"/>
              <a:t>16</a:t>
            </a:fld>
            <a:endParaRPr lang="en-TW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767DC0A7-8DC2-8214-DF49-28DACEA0230D}"/>
              </a:ext>
            </a:extLst>
          </p:cNvPr>
          <p:cNvSpPr/>
          <p:nvPr/>
        </p:nvSpPr>
        <p:spPr>
          <a:xfrm>
            <a:off x="4390845" y="1685587"/>
            <a:ext cx="405442" cy="18681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F9CBEB7-59DD-D583-7DD6-F3013208197C}"/>
              </a:ext>
            </a:extLst>
          </p:cNvPr>
          <p:cNvSpPr txBox="1"/>
          <p:nvPr/>
        </p:nvSpPr>
        <p:spPr>
          <a:xfrm>
            <a:off x="324740" y="5940311"/>
            <a:ext cx="2763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accounts/account/views.py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7102173-96B0-9E6E-E3A2-1A35F8B5593F}"/>
              </a:ext>
            </a:extLst>
          </p:cNvPr>
          <p:cNvSpPr txBox="1"/>
          <p:nvPr/>
        </p:nvSpPr>
        <p:spPr>
          <a:xfrm>
            <a:off x="4899899" y="6317117"/>
            <a:ext cx="2766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accounts/account/views.py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27BEA93-E257-E997-24A9-FD7A200D9661}"/>
              </a:ext>
            </a:extLst>
          </p:cNvPr>
          <p:cNvSpPr txBox="1"/>
          <p:nvPr/>
        </p:nvSpPr>
        <p:spPr>
          <a:xfrm>
            <a:off x="8629119" y="5560909"/>
            <a:ext cx="3267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accounts/account/views.py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FF5F7CE-2DAE-E89D-CB8E-95B448241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05" y="4031314"/>
            <a:ext cx="3215919" cy="1546994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5E44331-8F22-E6D0-D6E3-19E9200DCB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0822" y="4749956"/>
            <a:ext cx="3360711" cy="769687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02A99C14-4189-9472-CBDD-10045736CD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2112" y="3370256"/>
            <a:ext cx="3901778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708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6E50-4747-1F42-BDE1-49DCA250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17" y="259248"/>
            <a:ext cx="3599593" cy="1325563"/>
          </a:xfrm>
        </p:spPr>
        <p:txBody>
          <a:bodyPr/>
          <a:lstStyle/>
          <a:p>
            <a:pPr algn="ctr"/>
            <a:r>
              <a:rPr lang="en-TW" sz="4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Authentication </a:t>
            </a:r>
            <a:br>
              <a:rPr lang="en-US" sz="4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TW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form</a:t>
            </a:r>
            <a:endParaRPr lang="en-TW" sz="4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BD7877-F77C-2741-B679-1BFF92B3C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72" y="2513210"/>
            <a:ext cx="4706676" cy="22903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4C2830-FD35-8E42-88F7-CF624E062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483" y="2182908"/>
            <a:ext cx="4001607" cy="29509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80281E-F56A-B841-90EF-A1EBF79BB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462" y="1724185"/>
            <a:ext cx="1782306" cy="34096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9FF735-EAF9-DD46-A7E6-8E05B6D0C499}"/>
              </a:ext>
            </a:extLst>
          </p:cNvPr>
          <p:cNvSpPr txBox="1"/>
          <p:nvPr/>
        </p:nvSpPr>
        <p:spPr>
          <a:xfrm>
            <a:off x="6651652" y="5256702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Djagno built-in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2187C-6CE6-AA47-8E79-938C6D6AE2A0}"/>
              </a:ext>
            </a:extLst>
          </p:cNvPr>
          <p:cNvSpPr txBox="1"/>
          <p:nvPr/>
        </p:nvSpPr>
        <p:spPr>
          <a:xfrm>
            <a:off x="1962914" y="4887370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up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DBCAE-A5D7-B745-8D2F-2E0E4C87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6982" y="6356350"/>
            <a:ext cx="346817" cy="365125"/>
          </a:xfrm>
        </p:spPr>
        <p:txBody>
          <a:bodyPr/>
          <a:lstStyle/>
          <a:p>
            <a:fld id="{4C0F0F58-A12C-2844-96EF-9A40900462A9}" type="slidenum">
              <a:rPr lang="en-TW" smtClean="0"/>
              <a:t>17</a:t>
            </a:fld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437689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F46FE-8133-C2BD-06B5-BEBBA609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FC64-72B3-EC7E-DF5F-5A2407476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17" y="259248"/>
            <a:ext cx="359959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sz="4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PostgreSQL</a:t>
            </a:r>
            <a:br>
              <a:rPr lang="en-US" altLang="zh-TW" sz="4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zh-TW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install</a:t>
            </a:r>
            <a:r>
              <a:rPr lang="en-TW" sz="2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br>
              <a:rPr lang="en-US" sz="4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TW" sz="40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CB0A9F-5D7C-E87A-04F3-E278B5C0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6982" y="6356350"/>
            <a:ext cx="346817" cy="365125"/>
          </a:xfrm>
        </p:spPr>
        <p:txBody>
          <a:bodyPr/>
          <a:lstStyle/>
          <a:p>
            <a:fld id="{4C0F0F58-A12C-2844-96EF-9A40900462A9}" type="slidenum">
              <a:rPr lang="en-TW" smtClean="0"/>
              <a:t>18</a:t>
            </a:fld>
            <a:endParaRPr lang="en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40C236-473C-04F3-4F7B-F936144C25F5}"/>
              </a:ext>
            </a:extLst>
          </p:cNvPr>
          <p:cNvSpPr txBox="1"/>
          <p:nvPr/>
        </p:nvSpPr>
        <p:spPr>
          <a:xfrm>
            <a:off x="646330" y="1719433"/>
            <a:ext cx="93397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Window : </a:t>
            </a:r>
          </a:p>
          <a:p>
            <a:r>
              <a:rPr lang="zh-TW" altLang="en-US" dirty="0">
                <a:hlinkClick r:id="rId2"/>
              </a:rPr>
              <a:t>https://ticyyang.medium.com/sql-%E5%AE%89%E8%A3%9Dpostgresql-6040002d1317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Linux:</a:t>
            </a:r>
          </a:p>
          <a:p>
            <a:r>
              <a:rPr lang="en-US" altLang="zh-TW" dirty="0">
                <a:hlinkClick r:id="rId3"/>
              </a:rPr>
              <a:t>https://www.youtube.com/watch?v=UGfteFq_6Co</a:t>
            </a:r>
            <a:r>
              <a:rPr lang="en-US" altLang="zh-TW" dirty="0"/>
              <a:t> </a:t>
            </a:r>
          </a:p>
          <a:p>
            <a:endParaRPr lang="en-US" altLang="zh-TW" dirty="0"/>
          </a:p>
          <a:p>
            <a:r>
              <a:rPr lang="en-US" altLang="zh-TW" dirty="0"/>
              <a:t>MacOS:</a:t>
            </a:r>
          </a:p>
          <a:p>
            <a:r>
              <a:rPr lang="en-US" altLang="zh-TW" dirty="0">
                <a:hlinkClick r:id="rId4"/>
              </a:rPr>
              <a:t>https://www.youtube.com/watch?v=2P5guvvqP5Y</a:t>
            </a:r>
            <a:r>
              <a:rPr lang="en-US" altLang="zh-TW" dirty="0"/>
              <a:t> </a:t>
            </a:r>
          </a:p>
          <a:p>
            <a:r>
              <a:rPr lang="en-US" altLang="zh-TW" dirty="0">
                <a:hlinkClick r:id="rId5"/>
              </a:rPr>
              <a:t>https://www.youtube.com/watch?v=fy-42clnbmc</a:t>
            </a:r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3724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13655</TotalTime>
  <Words>1045</Words>
  <Application>Microsoft Office PowerPoint</Application>
  <PresentationFormat>寬螢幕</PresentationFormat>
  <Paragraphs>165</Paragraphs>
  <Slides>18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8" baseType="lpstr">
      <vt:lpstr>inherit</vt:lpstr>
      <vt:lpstr>Söhne</vt:lpstr>
      <vt:lpstr>source-serif-pro</vt:lpstr>
      <vt:lpstr>微軟正黑體</vt:lpstr>
      <vt:lpstr>標楷體</vt:lpstr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Django auth introduction</vt:lpstr>
      <vt:lpstr>Django database table</vt:lpstr>
      <vt:lpstr>Django session</vt:lpstr>
      <vt:lpstr>Django auth sequence</vt:lpstr>
      <vt:lpstr>Django middleware</vt:lpstr>
      <vt:lpstr>Django middleware</vt:lpstr>
      <vt:lpstr>Django middleware settings.py</vt:lpstr>
      <vt:lpstr>PowerPoint 簡報</vt:lpstr>
      <vt:lpstr>Authentication</vt:lpstr>
      <vt:lpstr>PowerPoint 簡報</vt:lpstr>
      <vt:lpstr>Software architecture</vt:lpstr>
      <vt:lpstr>Authentication session-base</vt:lpstr>
      <vt:lpstr>Authentication SECRET_KEY</vt:lpstr>
      <vt:lpstr>Sequence</vt:lpstr>
      <vt:lpstr>Authentication  form</vt:lpstr>
      <vt:lpstr>PostgreSQL install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黃奕淳</dc:creator>
  <cp:lastModifiedBy>Andrew Huang</cp:lastModifiedBy>
  <cp:revision>75</cp:revision>
  <dcterms:created xsi:type="dcterms:W3CDTF">2024-05-26T15:18:27Z</dcterms:created>
  <dcterms:modified xsi:type="dcterms:W3CDTF">2025-01-15T13:03:01Z</dcterms:modified>
</cp:coreProperties>
</file>