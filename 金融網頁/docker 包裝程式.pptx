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c265160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c265160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c2651606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c2651606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zh-TW"/>
              <a:t>將程式與其所有依賴性資料通通等等打包在一起，使其可以在不同的環境下執行，避免程式執行環境衝突的問題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zh-TW"/>
              <a:t>因為與虛擬機相比不用有guest os的存在 因此速度較快容量較小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zh-TW"/>
              <a:t>image可以視為要建立環境的藍圖，而container可以視為利用這個藍圖建立起來的主機，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c2651606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c2651606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c2651606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c2651606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dockerfile</a:t>
            </a:r>
            <a:r>
              <a:rPr lang="zh-TW"/>
              <a:t>可以視為是自動化建立image的文件，優點有可以在修改建立過程時一併紀錄修改，並且可以藉由提供程式檔案和dockerfile即可在別人的電腦重建環境，不需要傳輸整個映像檔，節省傳輸空間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直接開啟container並使用commit優點為速度較快，偵錯方便，但還是建議使用dockerfile使別人有相同的重建需求時可以更便利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c2651606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c2651606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c2651606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c2651606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c2651606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c2651606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c2651606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c2651606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twtrubiks/docker-tutorial" TargetMode="External"/><Relationship Id="rId4" Type="http://schemas.openxmlformats.org/officeDocument/2006/relationships/hyperlink" Target="https://medium.com/%E4%B8%80%E5%80%8B%E5%B0%8F%E5%B0%8F%E5%B7%A5%E7%A8%8B%E5%B8%AB%E7%9A%84%E9%9A%A8%E6%89%8B%E7%AD%86%E8%A8%98/docker-%E5%AD%B8%E7%BF%92%E7%AD%86%E8%A8%98-%E5%9B%9B-%E5%A6%82%E4%BD%95%E6%92%B0%E5%AF%ABdockerfile-2a209b48553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docker </a:t>
            </a:r>
            <a:r>
              <a:rPr lang="zh-TW"/>
              <a:t>包裝程式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N26124264 </a:t>
            </a:r>
            <a:r>
              <a:rPr lang="zh-TW"/>
              <a:t>盧尚毅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大綱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docker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docker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docker</a:t>
            </a:r>
            <a:r>
              <a:rPr lang="zh-TW"/>
              <a:t>執行與指令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docker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容器化技術 (Containerization)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輕量級虛擬化 (Lightweight Virtualization)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映像與版本管理 (Image &amp; Versioning)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安裝方式(ubuntu 22.04)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# Add Docker's official GPG key: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sudo apt-get update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sudo apt-get install ca-certificates curl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sudo install -m 0755 -d /etc/apt/keyrings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sudo curl -fsSL https://download.docker.com/linux/ubuntu/gpg -o /etc/apt/keyrings/docker.asc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sudo chmod a+r /etc/apt/keyrings/docker.asc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# Add the repository to Apt sources: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echo \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  "deb [arch=$(dpkg --print-architecture) signed-by=/etc/apt/keyrings/docker.asc] https://download.docker.com/linux/ubuntu \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  $(. /etc/os-release &amp;&amp; echo "$VERSION_CODENAME") stable" | \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  sudo tee /etc/apt/sources.list.d/docker.list &gt; /dev/null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sudo apt-get update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sudo apt-get install docker-ce docker-ce-cli containerd.io docker-buildx-plugin docker-compose-plugin docker-compose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dockerfile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373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WORKDIR: </a:t>
            </a:r>
            <a:r>
              <a:rPr lang="zh-TW"/>
              <a:t>調整目前映像檔中的執行目錄</a:t>
            </a:r>
            <a:br>
              <a:rPr lang="zh-TW"/>
            </a:br>
            <a:r>
              <a:rPr lang="zh-TW"/>
              <a:t>RUN: 在映像檔建立時執行的指令</a:t>
            </a:r>
            <a:br>
              <a:rPr lang="zh-TW"/>
            </a:br>
            <a:r>
              <a:rPr lang="zh-TW"/>
              <a:t>CMD: 映像檔執行後，成為container的預設指令。</a:t>
            </a:r>
            <a:br>
              <a:rPr lang="zh-TW"/>
            </a:br>
            <a:r>
              <a:rPr lang="zh-TW"/>
              <a:t>ENV: 設置環境變數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6351" y="0"/>
            <a:ext cx="501764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/>
          <p:nvPr/>
        </p:nvSpPr>
        <p:spPr>
          <a:xfrm>
            <a:off x="4164125" y="7250"/>
            <a:ext cx="1066500" cy="116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6945900" y="7250"/>
            <a:ext cx="2198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  <a:highlight>
                  <a:srgbClr val="FFF2CC"/>
                </a:highlight>
              </a:rPr>
              <a:t>基礎使用的環境與系統映像檔</a:t>
            </a:r>
            <a:endParaRPr sz="1200">
              <a:solidFill>
                <a:schemeClr val="dk2"/>
              </a:solidFill>
              <a:highlight>
                <a:srgbClr val="FFF2CC"/>
              </a:highlight>
            </a:endParaRPr>
          </a:p>
        </p:txBody>
      </p:sp>
      <p:cxnSp>
        <p:nvCxnSpPr>
          <p:cNvPr id="83" name="Google Shape;83;p17"/>
          <p:cNvCxnSpPr>
            <a:stCxn id="81" idx="3"/>
            <a:endCxn id="82" idx="1"/>
          </p:cNvCxnSpPr>
          <p:nvPr/>
        </p:nvCxnSpPr>
        <p:spPr>
          <a:xfrm>
            <a:off x="5230625" y="65300"/>
            <a:ext cx="1715400" cy="6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7"/>
          <p:cNvSpPr/>
          <p:nvPr/>
        </p:nvSpPr>
        <p:spPr>
          <a:xfrm>
            <a:off x="4164125" y="194175"/>
            <a:ext cx="2198100" cy="444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6848325" y="241725"/>
            <a:ext cx="22956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  <a:highlight>
                  <a:srgbClr val="FFF2CC"/>
                </a:highlight>
              </a:rPr>
              <a:t>映像檔資訊(自由選擇是否撰寫)</a:t>
            </a:r>
            <a:endParaRPr sz="1200">
              <a:solidFill>
                <a:schemeClr val="dk2"/>
              </a:solidFill>
              <a:highlight>
                <a:srgbClr val="FFF2CC"/>
              </a:highlight>
            </a:endParaRPr>
          </a:p>
        </p:txBody>
      </p:sp>
      <p:cxnSp>
        <p:nvCxnSpPr>
          <p:cNvPr id="86" name="Google Shape;86;p17"/>
          <p:cNvCxnSpPr>
            <a:stCxn id="84" idx="3"/>
            <a:endCxn id="85" idx="1"/>
          </p:cNvCxnSpPr>
          <p:nvPr/>
        </p:nvCxnSpPr>
        <p:spPr>
          <a:xfrm>
            <a:off x="6362225" y="416325"/>
            <a:ext cx="48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7"/>
          <p:cNvSpPr/>
          <p:nvPr/>
        </p:nvSpPr>
        <p:spPr>
          <a:xfrm>
            <a:off x="4126200" y="883400"/>
            <a:ext cx="2198100" cy="444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6897150" y="930950"/>
            <a:ext cx="22956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  <a:highlight>
                  <a:srgbClr val="FFF2CC"/>
                </a:highlight>
              </a:rPr>
              <a:t>將本機資料移動至映像檔中</a:t>
            </a:r>
            <a:endParaRPr sz="1200">
              <a:solidFill>
                <a:schemeClr val="dk2"/>
              </a:solidFill>
              <a:highlight>
                <a:srgbClr val="FFF2CC"/>
              </a:highlight>
            </a:endParaRPr>
          </a:p>
        </p:txBody>
      </p:sp>
      <p:cxnSp>
        <p:nvCxnSpPr>
          <p:cNvPr id="89" name="Google Shape;89;p17"/>
          <p:cNvCxnSpPr>
            <a:stCxn id="87" idx="3"/>
            <a:endCxn id="88" idx="1"/>
          </p:cNvCxnSpPr>
          <p:nvPr/>
        </p:nvCxnSpPr>
        <p:spPr>
          <a:xfrm>
            <a:off x="6324300" y="1105550"/>
            <a:ext cx="57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17"/>
          <p:cNvSpPr/>
          <p:nvPr/>
        </p:nvSpPr>
        <p:spPr>
          <a:xfrm>
            <a:off x="4126200" y="1376800"/>
            <a:ext cx="5017800" cy="2569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6848325" y="1376800"/>
            <a:ext cx="22956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  <a:highlight>
                  <a:srgbClr val="FFF2CC"/>
                </a:highlight>
              </a:rPr>
              <a:t>建立其他所需環境與相關設定</a:t>
            </a:r>
            <a:endParaRPr sz="1200">
              <a:solidFill>
                <a:schemeClr val="dk2"/>
              </a:solidFill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包裝步驟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新增dockerfile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撰寫dockerfile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(在dockerfile同一層的路徑下) docker build -t “image_name” “path/to/project”</a:t>
            </a:r>
            <a:br>
              <a:rPr lang="zh-TW"/>
            </a:br>
            <a:r>
              <a:rPr lang="zh-TW"/>
              <a:t>確認是否可以正確生成image檔案 =&gt; 若錯誤，回到2.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將image開成container後，確認是否可以正確執行，若錯誤則到下一步，正確則到6.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確認執行指令是否正確，在container中debug並確認是否與套件安裝有問題，若是套件問題 =&gt; 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確認正確執行後，將其上傳至dockerhub </a:t>
            </a:r>
            <a:br>
              <a:rPr lang="zh-TW"/>
            </a:br>
            <a:r>
              <a:rPr lang="zh-TW"/>
              <a:t>(使用docker push {dockerhub_name}/{REPOSITORY}:{tag} 指令)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接著將image拉下執行</a:t>
            </a:r>
            <a:br>
              <a:rPr lang="zh-TW"/>
            </a:br>
            <a:r>
              <a:rPr lang="zh-TW"/>
              <a:t>(使用docker pull </a:t>
            </a:r>
            <a:r>
              <a:rPr lang="zh-TW"/>
              <a:t>{dockerhub_name}/{REPOSITORY}:{tag}</a:t>
            </a:r>
            <a:r>
              <a:rPr lang="zh-TW"/>
              <a:t>指令)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docker執行與指令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docker run --name mirti_web -p 8591:8000 -it mirti /bin/bash</a:t>
            </a:r>
            <a:br>
              <a:rPr lang="zh-TW"/>
            </a:br>
            <a:r>
              <a:rPr lang="zh-TW"/>
              <a:t>(docker run --name 開啟的container名字 -p 外部port:container port -it image名字:版本 執行動作)</a:t>
            </a:r>
            <a:br>
              <a:rPr lang="zh-TW"/>
            </a:br>
            <a:r>
              <a:rPr lang="zh-TW"/>
              <a:t>// 8591為外部server的port 此port不能與同時用同一台server的別人重複，8000是指docker的port因此只要確定docker執行中不會重複使用</a:t>
            </a:r>
            <a:br>
              <a:rPr lang="zh-TW"/>
            </a:br>
            <a:br>
              <a:rPr lang="zh-TW"/>
            </a:br>
            <a:r>
              <a:rPr lang="zh-TW"/>
              <a:t>docker ps -a</a:t>
            </a:r>
            <a:br>
              <a:rPr lang="zh-TW"/>
            </a:br>
            <a:r>
              <a:rPr lang="zh-TW"/>
              <a:t>//CONTAINER ID   IMAGE     COMMAND       CREATED          STATUS                      PORTS     NAMES</a:t>
            </a:r>
            <a:br>
              <a:rPr lang="zh-TW"/>
            </a:br>
            <a:r>
              <a:rPr lang="zh-TW"/>
              <a:t>//868a4b93eff0   mirti     "/bin/bash"   31 minutes ago   Exited (0) 20 minutes ago             mirti_web</a:t>
            </a:r>
            <a:br>
              <a:rPr lang="zh-TW"/>
            </a:br>
            <a:br>
              <a:rPr lang="zh-TW"/>
            </a:br>
            <a:r>
              <a:rPr lang="zh-TW"/>
              <a:t>docker stop {Container ID}    # 停止Container</a:t>
            </a:r>
            <a:br>
              <a:rPr lang="zh-TW"/>
            </a:br>
            <a:r>
              <a:rPr lang="zh-TW"/>
              <a:t>docker start {Container ID}    # 啟動Container</a:t>
            </a:r>
            <a:br>
              <a:rPr lang="zh-TW"/>
            </a:br>
            <a:r>
              <a:rPr lang="zh-TW"/>
              <a:t>docker exec -ti {Container ID} /bin/bash    # 進入Container</a:t>
            </a:r>
            <a:br>
              <a:rPr lang="zh-TW"/>
            </a:br>
            <a:r>
              <a:rPr lang="zh-TW"/>
              <a:t>docker ps    # 查看現在有哪些Container被啟動</a:t>
            </a:r>
            <a:br>
              <a:rPr lang="zh-TW"/>
            </a:br>
            <a:r>
              <a:rPr lang="zh-TW"/>
              <a:t>docker ps -a    # 查看現在有哪些Container (含已經stop的)</a:t>
            </a:r>
            <a:br>
              <a:rPr lang="zh-TW"/>
            </a:br>
            <a:r>
              <a:rPr lang="zh-TW"/>
              <a:t>docker cp {主機檔案} {Container ID}:{Container內位置}    # 將主機內的檔案傳輸至Docker</a:t>
            </a:r>
            <a:br>
              <a:rPr lang="zh-TW"/>
            </a:br>
            <a:r>
              <a:rPr lang="zh-TW"/>
              <a:t>docker tag {REPOSITORY}:{TAG} {dockerhub_name}/{REPOSITORY}    # 更改TAG(要push到docker hub時，規定要改成固定格式</a:t>
            </a:r>
            <a:br>
              <a:rPr lang="zh-TW"/>
            </a:br>
            <a:br>
              <a:rPr lang="zh-TW"/>
            </a:br>
            <a:r>
              <a:rPr lang="zh-TW"/>
              <a:t>sudo docker commit -m "NMOKBC_updated" -a "st1" {Container ID} {REPOSITORY}:{TAG}    # 將Container包裝成image，-m可以寫做了什麼更動，-a可以寫誰改的，{REPOSITORY}類似於image的名字，通常我會取nmokbc，TAG可寫可不寫</a:t>
            </a:r>
            <a:br>
              <a:rPr lang="zh-TW"/>
            </a:br>
            <a:br>
              <a:rPr lang="zh-TW"/>
            </a:br>
            <a:r>
              <a:rPr lang="zh-TW"/>
              <a:t>// 有附加指令的container啟動方式</a:t>
            </a:r>
            <a:br>
              <a:rPr lang="zh-TW"/>
            </a:br>
            <a:r>
              <a:rPr lang="zh-TW"/>
              <a:t>docker run -p 3824:3824 &lt;your_image_name&gt; python manage.py runserver 0.0.0.0:3824</a:t>
            </a:r>
            <a:br>
              <a:rPr lang="zh-TW"/>
            </a:br>
            <a:br>
              <a:rPr lang="zh-TW"/>
            </a:br>
            <a:r>
              <a:rPr lang="zh-TW"/>
              <a:t>// 已開啟的container設定自動重啟 </a:t>
            </a:r>
            <a:br>
              <a:rPr lang="zh-TW"/>
            </a:br>
            <a:r>
              <a:rPr lang="zh-TW"/>
              <a:t>docker update --restart=always &lt;container_id&gt;</a:t>
            </a:r>
            <a:br>
              <a:rPr lang="zh-TW"/>
            </a:br>
            <a:r>
              <a:rPr lang="zh-TW"/>
              <a:t>-v &lt;本機位置&gt;:&lt;container位置&gt; //將本機的空間掛載至container中(vm中bind的感覺)</a:t>
            </a:r>
            <a:br>
              <a:rPr lang="zh-TW"/>
            </a:br>
            <a:r>
              <a:rPr lang="zh-TW"/>
              <a:t>-p &lt;host-port&gt;:&lt;container-port&gt; // 可以不只一個-p參數(可以map多個port至host)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image 更新與上傳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// 登入進去自己的docker hub帳號</a:t>
            </a:r>
            <a:br>
              <a:rPr lang="zh-TW"/>
            </a:br>
            <a:r>
              <a:rPr lang="zh-TW"/>
              <a:t>docker login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// 將想要更改的image執行一個container</a:t>
            </a:r>
            <a:br>
              <a:rPr lang="zh-TW"/>
            </a:br>
            <a:r>
              <a:rPr lang="zh-TW"/>
              <a:t>docker run --name mirti_web -p 8591:8000 -it mirti /bin/bash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zh-TW"/>
              <a:t>// 進行commit 類似github的commit</a:t>
            </a:r>
            <a:br>
              <a:rPr lang="zh-TW"/>
            </a:br>
            <a:r>
              <a:rPr lang="zh-TW"/>
              <a:t>docker commit "container id or name" "REPOSITORY name"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// 也可以利用docker tag 重新命名image</a:t>
            </a:r>
            <a:br>
              <a:rPr lang="zh-TW"/>
            </a:br>
            <a:r>
              <a:rPr lang="zh-TW"/>
              <a:t>docker tag {REPOSITORY}:{TAG} {dockerhub_name}/{REPOSITORY}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// 上傳至自己的docker hub</a:t>
            </a:r>
            <a:br>
              <a:rPr lang="zh-TW"/>
            </a:br>
            <a:r>
              <a:rPr lang="zh-TW"/>
              <a:t>docker push michael1215/mirti:basic</a:t>
            </a:r>
            <a:br>
              <a:rPr lang="zh-TW"/>
            </a:br>
            <a:br>
              <a:rPr lang="zh-TW"/>
            </a:br>
            <a:r>
              <a:rPr lang="zh-TW"/>
              <a:t>// 將在dockerhub上面的image拉下來</a:t>
            </a:r>
            <a:br>
              <a:rPr lang="zh-TW"/>
            </a:br>
            <a:r>
              <a:rPr lang="zh-TW"/>
              <a:t>docker pull michael1215/mirti:basic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推薦資源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docker</a:t>
            </a:r>
            <a:r>
              <a:rPr lang="zh-TW"/>
              <a:t>介紹與教學</a:t>
            </a:r>
            <a:br>
              <a:rPr lang="zh-TW"/>
            </a:br>
            <a:r>
              <a:rPr lang="zh-TW" u="sng">
                <a:solidFill>
                  <a:schemeClr val="hlink"/>
                </a:solidFill>
                <a:hlinkClick r:id="rId3"/>
              </a:rPr>
              <a:t>https://github.com/twtrubiks/docker-tutorial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dockerfile</a:t>
            </a:r>
            <a:br>
              <a:rPr lang="zh-TW"/>
            </a:br>
            <a:r>
              <a:rPr lang="zh-TW" u="sng">
                <a:solidFill>
                  <a:schemeClr val="hlink"/>
                </a:solidFill>
                <a:hlinkClick r:id="rId4"/>
              </a:rPr>
              <a:t>https://medium.com/%E4%B8%80%E5%80%8B%E5%B0%8F%E5%B0%8F%E5%B7%A5%E7%A8%8B%E5%B8%AB%E7%9A%84%E9%9A%A8%E6%89%8B%E7%AD%86%E8%A8%98/docker-%E5%AD%B8%E7%BF%92%E7%AD%86%E8%A8%98-%E5%9B%9B-%E5%A6%82%E4%BD%95%E6%92%B0%E5%AF%ABdockerfile-2a209b485530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