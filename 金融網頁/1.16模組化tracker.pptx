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1065" r:id="rId2"/>
    <p:sldId id="1992" r:id="rId3"/>
    <p:sldId id="1067" r:id="rId4"/>
    <p:sldId id="2142" r:id="rId5"/>
    <p:sldId id="2125" r:id="rId6"/>
    <p:sldId id="1001" r:id="rId7"/>
    <p:sldId id="1019" r:id="rId8"/>
    <p:sldId id="307" r:id="rId9"/>
    <p:sldId id="1069" r:id="rId10"/>
    <p:sldId id="2135" r:id="rId11"/>
    <p:sldId id="1071" r:id="rId12"/>
    <p:sldId id="1070" r:id="rId13"/>
    <p:sldId id="1073" r:id="rId14"/>
    <p:sldId id="2136" r:id="rId15"/>
    <p:sldId id="1074" r:id="rId16"/>
    <p:sldId id="1075" r:id="rId17"/>
    <p:sldId id="1076" r:id="rId18"/>
    <p:sldId id="2137" r:id="rId19"/>
    <p:sldId id="1077" r:id="rId20"/>
    <p:sldId id="1072" r:id="rId21"/>
    <p:sldId id="1991" r:id="rId22"/>
    <p:sldId id="305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92913" autoAdjust="0"/>
  </p:normalViewPr>
  <p:slideViewPr>
    <p:cSldViewPr snapToGrid="0">
      <p:cViewPr varScale="1">
        <p:scale>
          <a:sx n="150" d="100"/>
          <a:sy n="150" d="100"/>
        </p:scale>
        <p:origin x="3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B6253-6FA9-482A-8A02-6FEAEBFD0940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50F6B-E61E-4FF5-8F58-787157AB22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51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展示網站</a:t>
            </a:r>
            <a:r>
              <a:rPr lang="en-US" altLang="zh-TW" dirty="0"/>
              <a:t>!!!!!!!!!!!!!!!!!!!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50F6B-E61E-4FF5-8F58-787157AB227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961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Monitor: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後端要跟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tracker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資料庫溝通都靠</a:t>
            </a:r>
            <a:r>
              <a:rPr lang="en-US" altLang="zh-TW" sz="1200" dirty="0">
                <a:solidFill>
                  <a:schemeClr val="tx1"/>
                </a:solidFill>
              </a:rPr>
              <a:t>user_setting_operation.py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50F6B-E61E-4FF5-8F58-787157AB227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12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需要先創立 </a:t>
            </a:r>
            <a:r>
              <a:rPr lang="en-US" altLang="zh-TW" dirty="0"/>
              <a:t>database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table</a:t>
            </a:r>
            <a:r>
              <a:rPr lang="zh-TW" altLang="en-US" dirty="0"/>
              <a:t> 存取使用者追蹤的資料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44F4-8B06-41D7-BA63-CEBD82004C0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985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需要一個物件整理收集追蹤功能需要的</a:t>
            </a:r>
            <a:r>
              <a:rPr lang="en-US" altLang="zh-TW" dirty="0"/>
              <a:t>method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39B91-E66A-485D-87D3-E4029091EE0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799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DDL </a:t>
            </a:r>
            <a:r>
              <a:rPr lang="zh-TW" altLang="en-US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又稱為資料定義語言，能建立或刪除資料庫和資料表等用來儲存的單位。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DML </a:t>
            </a:r>
            <a:r>
              <a:rPr lang="zh-TW" altLang="en-US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能查詢或修改資料表的紀錄。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DCL </a:t>
            </a:r>
            <a:r>
              <a:rPr lang="zh-TW" altLang="en-US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為可用來取消操作和設定操作權限的指令。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9457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參數不會真正合併到查詢中：查詢和參數是分開傳送到伺服器的</a:t>
            </a:r>
            <a:endParaRPr lang="en-US" altLang="zh-TW" dirty="0"/>
          </a:p>
          <a:p>
            <a:r>
              <a:rPr lang="zh-TW" altLang="en-US" dirty="0"/>
              <a:t>伺服器端綁定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034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瀏覽追蹤頁面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44F4-8B06-41D7-BA63-CEBD82004C0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014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瀏覽追蹤頁面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44F4-8B06-41D7-BA63-CEBD82004C0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6725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瀏覽追蹤頁面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44F4-8B06-41D7-BA63-CEBD82004C09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254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在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email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套件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(Package)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下的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mime(Multipurpose Internet Mail Extensions)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子套件，為網際網路媒體類型，</a:t>
            </a:r>
            <a:endParaRPr lang="en-US" altLang="zh-TW" b="0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定義了在網路上傳輸電子郵件的格式標準，在其底下的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multipart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子套件中，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MIMEMultipart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類別能夠讓電子郵件的格式包含純文字或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HTML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的內容。</a:t>
            </a:r>
            <a:endParaRPr lang="en-US" altLang="zh-TW" b="0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endParaRPr lang="en-US" altLang="zh-TW" b="0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pPr algn="l"/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而一封基本的電子郵件，分別有標題、寄件者、收件者及內容，透過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MIMEMultipart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物件即可進行各欄位的資料設定</a:t>
            </a:r>
            <a:endParaRPr lang="en-US" altLang="zh-TW" b="0" i="0" dirty="0">
              <a:solidFill>
                <a:srgbClr val="000000"/>
              </a:solidFill>
              <a:effectLst/>
              <a:latin typeface="Lora" pitchFamily="2" charset="0"/>
            </a:endParaRPr>
          </a:p>
          <a:p>
            <a:pPr algn="l"/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郵件內容使用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MIMEMultipart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物件的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attach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方法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(Method)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進行設定，而內容需引用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MIMEText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Lora" pitchFamily="2" charset="0"/>
              </a:rPr>
              <a:t>類別來建立物件，</a:t>
            </a:r>
            <a:endParaRPr lang="en-US" altLang="zh-TW" b="0" i="0" dirty="0">
              <a:solidFill>
                <a:srgbClr val="000000"/>
              </a:solidFill>
              <a:effectLst/>
              <a:latin typeface="Lora" pitchFamily="2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29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53CF38-F65A-91E7-8099-809A8BE3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913FF5-3FF1-3B14-DBD8-99F600014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F6EB5-B91D-F63D-BC70-C28B8D88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FB025C-B2B4-16F2-B9F4-4F100B62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59E3E7-468B-854A-93C8-C62B0323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24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7206F-9C12-F925-4B52-0273B5C3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E69465-ADE4-3A3F-31D1-B18CDD3F3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CA5012-2CFC-4CB1-6330-4D5BD3CA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3B7C08-785D-8692-EA6E-99D19B4A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83ABE6-521A-6868-1559-1B8FD4EE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5D533-DEF7-3ACD-535B-307BCA97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7D9FA8-8661-C406-F5D6-734168C5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64AF5-903F-6FC6-69FB-93AE6642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BD0415-23ED-40EE-93CC-D621D30A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958803-6AFA-6224-FFC8-0D23B425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6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D8742-47D5-87B7-2310-3F684460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CAB94F-9333-ED4E-918D-4DCDC1AA1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805535-1501-9106-7900-195698F18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4B47B2-5C26-6A5B-857C-F4B476E5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E0F90D-0C59-1348-F62E-1CFEDF90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AA7A01-B5FF-97A9-A6F9-0D853C6D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76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0A312-E3CB-C1D8-9069-A8B4D3A1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4F56B6-280E-74E6-9699-29218EC68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DA932B-C4EB-D326-9CC7-EE40739F1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C11D78-D844-E5D9-6A3F-17B8CB9C3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A179C3-DBFF-064A-2E42-70B30F02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E791A84-3E5A-AFC5-484D-F305671B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D01DFE0-CA0F-93D6-1448-FE8248C7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0C29E4C-E078-BB6B-D0DC-2765DB1F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2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E7F2F-72CA-7F91-71FD-09172BBB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72858AE-143D-7B0A-9B40-B46F7CE5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7B8014-F1C1-5D68-0B79-EA7639D2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DB742F-2ADF-7ACB-A846-E0AB81DA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52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318A4-D82A-361D-1D20-5AFC36B1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9DEF9-BC0A-13B4-3BA3-00E67A57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353529-39F6-ECE8-6583-CC4232DE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44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86C099-42C8-D272-325A-73C884BE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82787-6F8D-0C61-1E8C-E00FE548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D03CC9-85CC-9B96-92B1-83A4792F1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8CAA77-1175-3FFA-35ED-D1677341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FD2120-2C7A-362A-0AA1-A36DDE93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E36D07-64EB-5BDF-516C-5043B3BE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97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AD9318-CBAC-8DA3-ED4C-537B9D9F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78F60F-3565-ACAD-3EB7-4861C91DB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8468A6-0C12-7E9D-AC4E-920336270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C7126-3A96-9D98-7CA2-571A3CAD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989918-3FEE-B876-19E9-4CF0E3B0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0E3E62-5161-0C76-3241-419942D4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17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9675F-3BBF-DCC3-6330-AC07BDE5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2B88C8-EDFC-75D0-97C7-A6F2CEBE6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AF6264-F153-B7BF-DCB4-6603F0F3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F461A-026A-5D53-05FA-5E17E2AE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1595B-AB90-A514-CF3E-62879A12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F3CDA50-D0DD-DECE-E4D5-017FC1AC7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CB7FEB-A42B-0853-2038-1E6BCFFFB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2EFB92-FABD-677C-0FDE-AEBF7A5A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623E46-6C37-371C-4F7F-DDABCF00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D3A448-13D6-0C15-115B-71B46C14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3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E37D58-AFE5-D729-647A-7B83BC66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6CA15-26E7-E298-6A86-07F1054D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173290-83CE-34C7-995B-A0E066D98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500453-54CF-0A02-CF9D-14A73C24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7EF9E4-02D5-4663-105E-40AE7E7F0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07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echbridge.cc/2020/02/09/sql-basic-tutorial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ycopg.org/psycopg3/docs/basic/param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_j6ILT-X0k" TargetMode="External"/><Relationship Id="rId2" Type="http://schemas.openxmlformats.org/officeDocument/2006/relationships/hyperlink" Target="https://www.youtube.com/watch?v=YQboCnlOb6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g_j6ILT-X0k&amp;t=2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81A440-5B35-27D0-24BF-C6ED71AD9D3E}"/>
              </a:ext>
            </a:extLst>
          </p:cNvPr>
          <p:cNvSpPr txBox="1"/>
          <p:nvPr/>
        </p:nvSpPr>
        <p:spPr>
          <a:xfrm>
            <a:off x="3048699" y="2767280"/>
            <a:ext cx="60946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73EB87-1A1C-CC1D-460E-13D8E499EB3A}"/>
              </a:ext>
            </a:extLst>
          </p:cNvPr>
          <p:cNvSpPr txBox="1"/>
          <p:nvPr/>
        </p:nvSpPr>
        <p:spPr>
          <a:xfrm>
            <a:off x="347213" y="592259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根據不同</a:t>
            </a:r>
            <a:r>
              <a:rPr lang="en-TW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將有興趣</a:t>
            </a:r>
            <a:r>
              <a:rPr lang="en-TW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交易對資訊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TW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追蹤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清單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1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BDB4E7A9-5342-CB86-9009-6ADF87D7BBFA}"/>
              </a:ext>
            </a:extLst>
          </p:cNvPr>
          <p:cNvSpPr txBox="1"/>
          <p:nvPr/>
        </p:nvSpPr>
        <p:spPr>
          <a:xfrm>
            <a:off x="75293" y="166893"/>
            <a:ext cx="3772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Tracker’s Structure</a:t>
            </a:r>
            <a:endParaRPr lang="en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033A957-6875-F25D-B625-F2BFFC756B94}"/>
              </a:ext>
            </a:extLst>
          </p:cNvPr>
          <p:cNvSpPr/>
          <p:nvPr/>
        </p:nvSpPr>
        <p:spPr>
          <a:xfrm>
            <a:off x="4916806" y="1340953"/>
            <a:ext cx="2057352" cy="36933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distance_method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8A14C02-6C47-14C3-BAFA-9AE57EBDD729}"/>
              </a:ext>
            </a:extLst>
          </p:cNvPr>
          <p:cNvSpPr/>
          <p:nvPr/>
        </p:nvSpPr>
        <p:spPr>
          <a:xfrm>
            <a:off x="8494026" y="2618159"/>
            <a:ext cx="818008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27DD3D6-205C-DD69-47D5-D55D99665005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6970319" y="685448"/>
            <a:ext cx="907874" cy="29575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7BCC5D14-B022-2330-22BD-B31FA2EB37EE}"/>
              </a:ext>
            </a:extLst>
          </p:cNvPr>
          <p:cNvCxnSpPr>
            <a:cxnSpLocks/>
          </p:cNvCxnSpPr>
          <p:nvPr/>
        </p:nvCxnSpPr>
        <p:spPr>
          <a:xfrm rot="5400000">
            <a:off x="3797804" y="478189"/>
            <a:ext cx="921933" cy="33734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51B3871-AF64-A7B2-24B8-4CA40AC8F73F}"/>
              </a:ext>
            </a:extLst>
          </p:cNvPr>
          <p:cNvSpPr/>
          <p:nvPr/>
        </p:nvSpPr>
        <p:spPr>
          <a:xfrm>
            <a:off x="5328982" y="2667686"/>
            <a:ext cx="1490668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web_floder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B7EC61E-C646-9E63-3D9B-A3C300120016}"/>
              </a:ext>
            </a:extLst>
          </p:cNvPr>
          <p:cNvSpPr/>
          <p:nvPr/>
        </p:nvSpPr>
        <p:spPr>
          <a:xfrm>
            <a:off x="6953125" y="2618159"/>
            <a:ext cx="822969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547AD201-5255-1CE7-F4B4-4499680D6E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31199" y="2118218"/>
            <a:ext cx="957401" cy="128834"/>
          </a:xfrm>
          <a:prstGeom prst="bentConnector3">
            <a:avLst>
              <a:gd name="adj1" fmla="val 4814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C16E7221-6D92-45F4-F0DF-D95FB17B6490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6201109" y="1454658"/>
            <a:ext cx="907874" cy="141912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1800718C-DF0B-CF49-397C-649AE369ADD8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5400000">
            <a:off x="5005557" y="3843748"/>
            <a:ext cx="1601514" cy="5360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3892B50-CE80-FA6A-81FB-65DE428CED8E}"/>
              </a:ext>
            </a:extLst>
          </p:cNvPr>
          <p:cNvSpPr/>
          <p:nvPr/>
        </p:nvSpPr>
        <p:spPr>
          <a:xfrm>
            <a:off x="4958813" y="4912507"/>
            <a:ext cx="1158996" cy="383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settings.py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5EB53B5-6984-131D-45A2-10A1B7BF2B45}"/>
              </a:ext>
            </a:extLst>
          </p:cNvPr>
          <p:cNvSpPr/>
          <p:nvPr/>
        </p:nvSpPr>
        <p:spPr>
          <a:xfrm>
            <a:off x="6218073" y="4916392"/>
            <a:ext cx="769206" cy="325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urls.py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067B6ADB-659B-EE79-41CD-D7B23970637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5535797" y="3849512"/>
            <a:ext cx="1605399" cy="5283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0A17675-C0E6-7EA5-5692-A32EB317ABD2}"/>
              </a:ext>
            </a:extLst>
          </p:cNvPr>
          <p:cNvSpPr/>
          <p:nvPr/>
        </p:nvSpPr>
        <p:spPr>
          <a:xfrm>
            <a:off x="3662121" y="2645147"/>
            <a:ext cx="1319667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A4F83762-C337-8C7E-6CFE-84BF3E32F4D7}"/>
              </a:ext>
            </a:extLst>
          </p:cNvPr>
          <p:cNvCxnSpPr>
            <a:cxnSpLocks/>
          </p:cNvCxnSpPr>
          <p:nvPr/>
        </p:nvCxnSpPr>
        <p:spPr>
          <a:xfrm rot="5400000">
            <a:off x="4666288" y="1353253"/>
            <a:ext cx="934862" cy="162352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6762D6B-0B9F-6BDD-29ED-05D2F96A8D6C}"/>
              </a:ext>
            </a:extLst>
          </p:cNvPr>
          <p:cNvSpPr/>
          <p:nvPr/>
        </p:nvSpPr>
        <p:spPr>
          <a:xfrm>
            <a:off x="3556794" y="3271446"/>
            <a:ext cx="153031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TW" altLang="zh-TW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</a:t>
            </a:r>
            <a:r>
              <a:rPr lang="en-US" altLang="zh-TW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tracker</a:t>
            </a:r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新增的</a:t>
            </a:r>
            <a:r>
              <a:rPr lang="en-US" altLang="zh-TW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app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B4D171B-3CEF-B069-6A14-01F43DC68D03}"/>
              </a:ext>
            </a:extLst>
          </p:cNvPr>
          <p:cNvSpPr/>
          <p:nvPr/>
        </p:nvSpPr>
        <p:spPr>
          <a:xfrm>
            <a:off x="2131603" y="2632218"/>
            <a:ext cx="880909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endParaRPr lang="zh-TW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2A010E1-2A2E-A9A0-5EED-CFE18131D1B5}"/>
              </a:ext>
            </a:extLst>
          </p:cNvPr>
          <p:cNvSpPr txBox="1"/>
          <p:nvPr/>
        </p:nvSpPr>
        <p:spPr>
          <a:xfrm>
            <a:off x="3069286" y="5303153"/>
            <a:ext cx="9750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寄信功能</a:t>
            </a: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C35064C9-35F6-5963-E832-47B57635454B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 rot="5400000">
            <a:off x="1441513" y="3810182"/>
            <a:ext cx="1665202" cy="59588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A3CC936D-B1BA-E26E-6C84-251BE28980A4}"/>
              </a:ext>
            </a:extLst>
          </p:cNvPr>
          <p:cNvCxnSpPr>
            <a:cxnSpLocks/>
            <a:endCxn id="25" idx="2"/>
          </p:cNvCxnSpPr>
          <p:nvPr/>
        </p:nvCxnSpPr>
        <p:spPr bwMode="auto">
          <a:xfrm rot="16200000" flipV="1">
            <a:off x="2220280" y="3627303"/>
            <a:ext cx="1659072" cy="95551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3BB2629-52B0-A1DC-3196-901E3C69D30E}"/>
              </a:ext>
            </a:extLst>
          </p:cNvPr>
          <p:cNvSpPr txBox="1"/>
          <p:nvPr/>
        </p:nvSpPr>
        <p:spPr>
          <a:xfrm>
            <a:off x="3519744" y="6095045"/>
            <a:ext cx="2360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DB</a:t>
            </a:r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溝通操作追蹤內容</a:t>
            </a:r>
            <a:endParaRPr lang="en-US" altLang="zh-TW" sz="11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02DC07AA-2A5A-1C0A-20E9-034DE4AEE8FE}"/>
              </a:ext>
            </a:extLst>
          </p:cNvPr>
          <p:cNvCxnSpPr>
            <a:cxnSpLocks/>
          </p:cNvCxnSpPr>
          <p:nvPr/>
        </p:nvCxnSpPr>
        <p:spPr bwMode="auto">
          <a:xfrm rot="16200000" flipV="1">
            <a:off x="2389997" y="3457586"/>
            <a:ext cx="2453540" cy="2089417"/>
          </a:xfrm>
          <a:prstGeom prst="bentConnector3">
            <a:avLst>
              <a:gd name="adj1" fmla="val 66305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30ECEA0A-9881-5AF2-248D-9D8D55C00430}"/>
              </a:ext>
            </a:extLst>
          </p:cNvPr>
          <p:cNvSpPr/>
          <p:nvPr/>
        </p:nvSpPr>
        <p:spPr>
          <a:xfrm>
            <a:off x="8285005" y="3587947"/>
            <a:ext cx="1236115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monitor.js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97E79C69-A77C-5223-C8B1-C6B1D2E3C759}"/>
              </a:ext>
            </a:extLst>
          </p:cNvPr>
          <p:cNvSpPr/>
          <p:nvPr/>
        </p:nvSpPr>
        <p:spPr>
          <a:xfrm>
            <a:off x="6795245" y="3603402"/>
            <a:ext cx="1160638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monitor.html</a:t>
            </a: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24BEC613-F3B6-2A02-8805-3372F1DE314B}"/>
              </a:ext>
            </a:extLst>
          </p:cNvPr>
          <p:cNvSpPr/>
          <p:nvPr/>
        </p:nvSpPr>
        <p:spPr>
          <a:xfrm>
            <a:off x="2807359" y="4927471"/>
            <a:ext cx="1424770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Daily_update.py</a:t>
            </a: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8BAB8BE9-21BC-DAFC-2A70-AB3490DDFD74}"/>
              </a:ext>
            </a:extLst>
          </p:cNvPr>
          <p:cNvSpPr/>
          <p:nvPr/>
        </p:nvSpPr>
        <p:spPr>
          <a:xfrm>
            <a:off x="3568260" y="5712863"/>
            <a:ext cx="2186432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</a:rPr>
              <a:t>user_setting_operation.py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72E9EEE3-FB9B-FBE8-147A-9D9617BDAED2}"/>
              </a:ext>
            </a:extLst>
          </p:cNvPr>
          <p:cNvSpPr/>
          <p:nvPr/>
        </p:nvSpPr>
        <p:spPr>
          <a:xfrm>
            <a:off x="1339452" y="4938456"/>
            <a:ext cx="1306817" cy="3693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 err="1">
                <a:solidFill>
                  <a:schemeClr val="tx1"/>
                </a:solidFill>
              </a:rPr>
              <a:t>tracker_results</a:t>
            </a:r>
            <a:endParaRPr lang="en-US" altLang="zh-TW" sz="1300" dirty="0">
              <a:solidFill>
                <a:schemeClr val="tx1"/>
              </a:solidFill>
            </a:endParaRPr>
          </a:p>
        </p:txBody>
      </p: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BE4311BB-7879-FF10-7B33-64BD8DFD0B3C}"/>
              </a:ext>
            </a:extLst>
          </p:cNvPr>
          <p:cNvCxnSpPr>
            <a:cxnSpLocks/>
            <a:stCxn id="7" idx="2"/>
            <a:endCxn id="48" idx="0"/>
          </p:cNvCxnSpPr>
          <p:nvPr/>
        </p:nvCxnSpPr>
        <p:spPr>
          <a:xfrm>
            <a:off x="8903030" y="3261466"/>
            <a:ext cx="33" cy="326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79403EE1-A18D-843F-9979-EE7B44FB7BED}"/>
              </a:ext>
            </a:extLst>
          </p:cNvPr>
          <p:cNvCxnSpPr>
            <a:cxnSpLocks/>
            <a:stCxn id="12" idx="2"/>
            <a:endCxn id="54" idx="0"/>
          </p:cNvCxnSpPr>
          <p:nvPr/>
        </p:nvCxnSpPr>
        <p:spPr>
          <a:xfrm>
            <a:off x="7364610" y="3261466"/>
            <a:ext cx="10954" cy="341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7CAC32F0-5146-372F-7ED3-FA60861D48F7}"/>
              </a:ext>
            </a:extLst>
          </p:cNvPr>
          <p:cNvSpPr txBox="1"/>
          <p:nvPr/>
        </p:nvSpPr>
        <p:spPr>
          <a:xfrm>
            <a:off x="1362972" y="5347824"/>
            <a:ext cx="12909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儲存追蹤計算的</a:t>
            </a:r>
            <a:endParaRPr lang="en-US" altLang="zh-TW" sz="11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1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json</a:t>
            </a:r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結果</a:t>
            </a:r>
            <a:endParaRPr lang="en-US" altLang="zh-TW" sz="11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5" name="矩形: 圓角 134">
            <a:extLst>
              <a:ext uri="{FF2B5EF4-FFF2-40B4-BE49-F238E27FC236}">
                <a16:creationId xmlns:a16="http://schemas.microsoft.com/office/drawing/2014/main" id="{7905B244-EEA3-2D1D-B900-120EC3FDA64C}"/>
              </a:ext>
            </a:extLst>
          </p:cNvPr>
          <p:cNvSpPr/>
          <p:nvPr/>
        </p:nvSpPr>
        <p:spPr>
          <a:xfrm>
            <a:off x="7747167" y="4284164"/>
            <a:ext cx="818008" cy="6433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146" name="矩形: 圓角 145">
            <a:extLst>
              <a:ext uri="{FF2B5EF4-FFF2-40B4-BE49-F238E27FC236}">
                <a16:creationId xmlns:a16="http://schemas.microsoft.com/office/drawing/2014/main" id="{CE09CF93-4602-6851-C581-A8EFC9D5EAE8}"/>
              </a:ext>
            </a:extLst>
          </p:cNvPr>
          <p:cNvSpPr/>
          <p:nvPr/>
        </p:nvSpPr>
        <p:spPr>
          <a:xfrm>
            <a:off x="7244958" y="5253952"/>
            <a:ext cx="1751917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dirty="0" err="1">
                <a:solidFill>
                  <a:schemeClr val="tx1"/>
                </a:solidFill>
              </a:rPr>
              <a:t>correlation_db.json</a:t>
            </a:r>
            <a:endParaRPr lang="en-US" altLang="zh-TW" sz="1300" dirty="0">
              <a:solidFill>
                <a:schemeClr val="tx1"/>
              </a:solidFill>
            </a:endParaRPr>
          </a:p>
        </p:txBody>
      </p:sp>
      <p:cxnSp>
        <p:nvCxnSpPr>
          <p:cNvPr id="148" name="接點: 肘形 147">
            <a:extLst>
              <a:ext uri="{FF2B5EF4-FFF2-40B4-BE49-F238E27FC236}">
                <a16:creationId xmlns:a16="http://schemas.microsoft.com/office/drawing/2014/main" id="{F2CD376C-478B-35EB-8D5C-A39942DD9BF4}"/>
              </a:ext>
            </a:extLst>
          </p:cNvPr>
          <p:cNvCxnSpPr>
            <a:cxnSpLocks/>
            <a:stCxn id="5" idx="2"/>
            <a:endCxn id="135" idx="0"/>
          </p:cNvCxnSpPr>
          <p:nvPr/>
        </p:nvCxnSpPr>
        <p:spPr>
          <a:xfrm rot="16200000" flipH="1">
            <a:off x="5763887" y="1891879"/>
            <a:ext cx="2573879" cy="2210689"/>
          </a:xfrm>
          <a:prstGeom prst="bentConnector3">
            <a:avLst>
              <a:gd name="adj1" fmla="val 1749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6CD6AEE7-BB07-D6AF-C269-5CF86C49CA2C}"/>
              </a:ext>
            </a:extLst>
          </p:cNvPr>
          <p:cNvSpPr txBox="1"/>
          <p:nvPr/>
        </p:nvSpPr>
        <p:spPr>
          <a:xfrm>
            <a:off x="7424256" y="5628600"/>
            <a:ext cx="14871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儲存資料庫登入資訊</a:t>
            </a:r>
            <a:endParaRPr lang="en-US" altLang="zh-TW" sz="11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7" name="文字方塊 186">
            <a:extLst>
              <a:ext uri="{FF2B5EF4-FFF2-40B4-BE49-F238E27FC236}">
                <a16:creationId xmlns:a16="http://schemas.microsoft.com/office/drawing/2014/main" id="{E44DD2E7-C598-B52F-D504-E1A79FEDF402}"/>
              </a:ext>
            </a:extLst>
          </p:cNvPr>
          <p:cNvSpPr txBox="1"/>
          <p:nvPr/>
        </p:nvSpPr>
        <p:spPr>
          <a:xfrm>
            <a:off x="3547508" y="3397164"/>
            <a:ext cx="15134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1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altLang="zh-TW" sz="11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altLang="zh-TW" sz="11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1843AA8-5EF4-921A-BBEA-5A98235EAFCB}"/>
              </a:ext>
            </a:extLst>
          </p:cNvPr>
          <p:cNvCxnSpPr>
            <a:cxnSpLocks/>
          </p:cNvCxnSpPr>
          <p:nvPr/>
        </p:nvCxnSpPr>
        <p:spPr>
          <a:xfrm>
            <a:off x="8156138" y="4927471"/>
            <a:ext cx="33" cy="326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3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962657EE-E54A-EE81-7216-7B724447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11" y="2706944"/>
            <a:ext cx="2281307" cy="25842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20810B63-6502-0488-980D-68635CE84A40}"/>
              </a:ext>
            </a:extLst>
          </p:cNvPr>
          <p:cNvSpPr txBox="1">
            <a:spLocks/>
          </p:cNvSpPr>
          <p:nvPr/>
        </p:nvSpPr>
        <p:spPr>
          <a:xfrm>
            <a:off x="138890" y="299111"/>
            <a:ext cx="1815745" cy="563562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endParaRPr lang="en-TW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D8B7F8-D2D4-5D5E-E26B-CD005C44B1D3}"/>
              </a:ext>
            </a:extLst>
          </p:cNvPr>
          <p:cNvSpPr txBox="1"/>
          <p:nvPr/>
        </p:nvSpPr>
        <p:spPr>
          <a:xfrm>
            <a:off x="0" y="215936"/>
            <a:ext cx="3982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(create table :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user_track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105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61BB830-6447-5CD2-480A-3358FBF4F9C9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1684653" y="2600410"/>
            <a:ext cx="1367448" cy="1111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A488E0E-0F5B-C737-ADBB-C20628AA86D9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896518" y="4867091"/>
            <a:ext cx="1406612" cy="306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69521FB-AFAD-BD1F-3D77-701D9ABC6274}"/>
              </a:ext>
            </a:extLst>
          </p:cNvPr>
          <p:cNvSpPr/>
          <p:nvPr/>
        </p:nvSpPr>
        <p:spPr>
          <a:xfrm>
            <a:off x="660995" y="3563740"/>
            <a:ext cx="1023658" cy="244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D3298EF-D7E7-A521-268F-F6FE0270BB94}"/>
              </a:ext>
            </a:extLst>
          </p:cNvPr>
          <p:cNvSpPr/>
          <p:nvPr/>
        </p:nvSpPr>
        <p:spPr>
          <a:xfrm>
            <a:off x="605531" y="5051025"/>
            <a:ext cx="1276353" cy="244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45EA1A67-8C77-DDD3-1ABE-C33EF5C42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130" y="4277959"/>
            <a:ext cx="8283339" cy="1178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D5DD0F48-D253-4B0A-AFB7-D7233DDEB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101" y="1719469"/>
            <a:ext cx="8791967" cy="1761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975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70338DB-086B-AD13-0EEE-469A6B9682CE}"/>
              </a:ext>
            </a:extLst>
          </p:cNvPr>
          <p:cNvSpPr txBox="1"/>
          <p:nvPr/>
        </p:nvSpPr>
        <p:spPr>
          <a:xfrm>
            <a:off x="0" y="199210"/>
            <a:ext cx="4906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table_config_monitor</a:t>
            </a:r>
            <a:endParaRPr lang="zh-TW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5813A3-8B96-B92B-6E82-CDDA677E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34" y="1004260"/>
            <a:ext cx="6835732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2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D210D9-0CD4-DCA3-5E03-682A1EDC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98" y="1273938"/>
            <a:ext cx="4922482" cy="5022570"/>
          </a:xfrm>
          <a:prstGeom prst="rect">
            <a:avLst/>
          </a:prstGeom>
        </p:spPr>
      </p:pic>
      <p:sp>
        <p:nvSpPr>
          <p:cNvPr id="4" name="文字方塊 4">
            <a:extLst>
              <a:ext uri="{FF2B5EF4-FFF2-40B4-BE49-F238E27FC236}">
                <a16:creationId xmlns:a16="http://schemas.microsoft.com/office/drawing/2014/main" id="{59B0D94C-BAF5-8FA2-FE17-499D790FBE7B}"/>
              </a:ext>
            </a:extLst>
          </p:cNvPr>
          <p:cNvSpPr txBox="1"/>
          <p:nvPr/>
        </p:nvSpPr>
        <p:spPr>
          <a:xfrm>
            <a:off x="189780" y="79300"/>
            <a:ext cx="4675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user_setting_operation</a:t>
            </a:r>
            <a:endParaRPr lang="zh-TW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D4036A-0980-D8FD-407F-7F774D378C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339"/>
          <a:stretch/>
        </p:blipFill>
        <p:spPr>
          <a:xfrm>
            <a:off x="5958639" y="2161939"/>
            <a:ext cx="4785402" cy="75178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93667BA-87BB-90E2-D39F-3D2CF4AFA430}"/>
              </a:ext>
            </a:extLst>
          </p:cNvPr>
          <p:cNvSpPr txBox="1"/>
          <p:nvPr/>
        </p:nvSpPr>
        <p:spPr>
          <a:xfrm>
            <a:off x="5880017" y="3642957"/>
            <a:ext cx="6007183" cy="225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add :  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增加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追蹤資料至資料表</a:t>
            </a:r>
            <a:endParaRPr lang="en-US" altLang="zh-TW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 :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從資料表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移除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追蹤資料</a:t>
            </a:r>
            <a:endParaRPr lang="en-US" altLang="zh-TW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get_user_email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拿取資料表內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特定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</a:t>
            </a:r>
            <a:r>
              <a:rPr lang="en-US" altLang="zh-TW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e-mail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get_all_user_info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拿取資料表內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有追蹤的使用者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名稱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en-US" altLang="zh-TW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e-mail</a:t>
            </a:r>
            <a:endParaRPr lang="en-US" altLang="zh-TW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get_all_track_params_combination_from_user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拿取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特定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使用者所有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追蹤資料</a:t>
            </a:r>
            <a:endParaRPr lang="en-US" altLang="zh-TW" sz="1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get_all_track_params_combination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拿取資料表內</a:t>
            </a:r>
            <a:r>
              <a: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有追蹤的</a:t>
            </a:r>
            <a:r>
              <a:rPr lang="en-US" altLang="zh-TW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symbol</a:t>
            </a:r>
            <a:endParaRPr lang="zh-TW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587BF64-1039-6AF7-67F0-946D75D67F4E}"/>
              </a:ext>
            </a:extLst>
          </p:cNvPr>
          <p:cNvCxnSpPr>
            <a:cxnSpLocks/>
          </p:cNvCxnSpPr>
          <p:nvPr/>
        </p:nvCxnSpPr>
        <p:spPr>
          <a:xfrm flipH="1">
            <a:off x="2527539" y="1145279"/>
            <a:ext cx="3431100" cy="5901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D62BD2F-D5AA-EB69-C7E9-26FBC07B183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381555" y="2155068"/>
            <a:ext cx="2577084" cy="3827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D5732615-8641-4B1E-9D52-FE5407F45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639" y="160141"/>
            <a:ext cx="4785402" cy="17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FE6AA96-F62F-2120-FF5A-00F9C27FECCD}"/>
              </a:ext>
            </a:extLst>
          </p:cNvPr>
          <p:cNvSpPr txBox="1"/>
          <p:nvPr/>
        </p:nvSpPr>
        <p:spPr>
          <a:xfrm>
            <a:off x="917942" y="2013851"/>
            <a:ext cx="5239116" cy="346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DDLData</a:t>
            </a:r>
            <a:r>
              <a:rPr lang="en-US" altLang="zh-TW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Definition Language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CREATE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DROP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ALTER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altLang="zh-TW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TW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DMLData</a:t>
            </a:r>
            <a:r>
              <a:rPr lang="en-US" altLang="zh-TW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Manipulation Language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INSERT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UPDATE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DELETE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F6D90DE-95B9-F7CF-5B1B-AA9AB1CBA3F4}"/>
              </a:ext>
            </a:extLst>
          </p:cNvPr>
          <p:cNvSpPr txBox="1"/>
          <p:nvPr/>
        </p:nvSpPr>
        <p:spPr>
          <a:xfrm>
            <a:off x="156064" y="243512"/>
            <a:ext cx="866262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basic overview and classification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https://blog.techbridge.cc/2020/02/09/sql-basic-tutorial/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QL: ODBC Task">
            <a:extLst>
              <a:ext uri="{FF2B5EF4-FFF2-40B4-BE49-F238E27FC236}">
                <a16:creationId xmlns:a16="http://schemas.microsoft.com/office/drawing/2014/main" id="{91FBD482-FB26-04FF-BB25-3B068D4C5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771" y="2532745"/>
            <a:ext cx="4034106" cy="268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28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C775F6-4916-1C4E-92A7-B6F0A487D978}"/>
              </a:ext>
            </a:extLst>
          </p:cNvPr>
          <p:cNvSpPr txBox="1"/>
          <p:nvPr/>
        </p:nvSpPr>
        <p:spPr>
          <a:xfrm>
            <a:off x="6096000" y="2117441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C1410-98B7-F349-A3F7-20A4C754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9071"/>
            <a:ext cx="4812958" cy="18734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3B6D3-9F7A-A247-B3DA-6F2142A3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7</a:t>
            </a:fld>
            <a:endParaRPr lang="en-TW"/>
          </a:p>
        </p:txBody>
      </p:sp>
      <p:pic>
        <p:nvPicPr>
          <p:cNvPr id="7" name="Picture 2" descr="Understanding Joins in PostgreSQL">
            <a:extLst>
              <a:ext uri="{FF2B5EF4-FFF2-40B4-BE49-F238E27FC236}">
                <a16:creationId xmlns:a16="http://schemas.microsoft.com/office/drawing/2014/main" id="{B63D4345-24B8-1D20-3DAD-E7EA26F69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6" r="49976" b="43095"/>
          <a:stretch/>
        </p:blipFill>
        <p:spPr bwMode="auto">
          <a:xfrm>
            <a:off x="1477797" y="2420058"/>
            <a:ext cx="3016937" cy="220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2BC5A1-6435-3419-8FEB-CE6467444202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3637333" cy="10951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TW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SQL </a:t>
            </a:r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lang="en-TW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uery </a:t>
            </a:r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TW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kill </a:t>
            </a:r>
            <a:endParaRPr lang="en-US" altLang="zh-TW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TW" altLang="zh-TW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PostgreSQL</a:t>
            </a:r>
            <a:endParaRPr lang="zh-TW" altLang="en-US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0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906D-5F02-6343-BE24-A2BCADA4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5" y="273512"/>
            <a:ext cx="6588095" cy="65960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Passing parameters to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6AC3-2559-6243-B984-27F296188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998" y="933116"/>
            <a:ext cx="6724828" cy="341488"/>
          </a:xfrm>
        </p:spPr>
        <p:txBody>
          <a:bodyPr>
            <a:normAutofit fontScale="92500" lnSpcReduction="10000"/>
          </a:bodyPr>
          <a:lstStyle/>
          <a:p>
            <a:r>
              <a:rPr lang="en-TW" sz="2000" dirty="0"/>
              <a:t>ref: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https://www.psycopg.org/psycopg3/docs/basic/params.html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821C4F-D623-5743-AB86-3911286F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844" y="1953062"/>
            <a:ext cx="2642606" cy="3971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9DEEEA-1A8C-7C41-9FB6-BC4BCAEEBC07}"/>
              </a:ext>
            </a:extLst>
          </p:cNvPr>
          <p:cNvSpPr txBox="1"/>
          <p:nvPr/>
        </p:nvSpPr>
        <p:spPr>
          <a:xfrm>
            <a:off x="1513318" y="2152423"/>
            <a:ext cx="3925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get user id in 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9A36B-535E-6746-AE6C-3BCFC98B7E54}"/>
              </a:ext>
            </a:extLst>
          </p:cNvPr>
          <p:cNvSpPr txBox="1"/>
          <p:nvPr/>
        </p:nvSpPr>
        <p:spPr>
          <a:xfrm>
            <a:off x="9435659" y="4690841"/>
            <a:ext cx="457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32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2088B-DA20-EE4E-930A-C121C623D8C6}"/>
              </a:ext>
            </a:extLst>
          </p:cNvPr>
          <p:cNvSpPr txBox="1"/>
          <p:nvPr/>
        </p:nvSpPr>
        <p:spPr>
          <a:xfrm>
            <a:off x="9435659" y="3428280"/>
            <a:ext cx="457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32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F9FDF-EA21-B343-AF8E-D68B6C3D5B96}"/>
              </a:ext>
            </a:extLst>
          </p:cNvPr>
          <p:cNvSpPr txBox="1"/>
          <p:nvPr/>
        </p:nvSpPr>
        <p:spPr>
          <a:xfrm>
            <a:off x="9435659" y="2212225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32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337F68-EF28-F34D-A146-6B6D4547B871}"/>
              </a:ext>
            </a:extLst>
          </p:cNvPr>
          <p:cNvSpPr txBox="1"/>
          <p:nvPr/>
        </p:nvSpPr>
        <p:spPr>
          <a:xfrm>
            <a:off x="1553655" y="2642652"/>
            <a:ext cx="4748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parameters will not be really merged to the query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query and the parameters are sent to the server separately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F9EEC-3CC2-6B47-B085-8A032839573B}"/>
              </a:ext>
            </a:extLst>
          </p:cNvPr>
          <p:cNvSpPr txBox="1"/>
          <p:nvPr/>
        </p:nvSpPr>
        <p:spPr>
          <a:xfrm>
            <a:off x="1553655" y="3643723"/>
            <a:ext cx="299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Keyword: Server-side-binding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087BDEB-F296-8B45-9FFB-DD32723F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7219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81A440-5B35-27D0-24BF-C6ED71AD9D3E}"/>
              </a:ext>
            </a:extLst>
          </p:cNvPr>
          <p:cNvSpPr txBox="1"/>
          <p:nvPr/>
        </p:nvSpPr>
        <p:spPr>
          <a:xfrm>
            <a:off x="1232947" y="2696941"/>
            <a:ext cx="97261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monitor</a:t>
            </a:r>
            <a:r>
              <a:rPr lang="zh-TW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416981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6914254-1548-F66E-9967-DB2CD000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69" y="1569454"/>
            <a:ext cx="11345662" cy="371909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C3EE9-D995-22C5-91A7-970DA3A629F0}"/>
              </a:ext>
            </a:extLst>
          </p:cNvPr>
          <p:cNvSpPr/>
          <p:nvPr/>
        </p:nvSpPr>
        <p:spPr>
          <a:xfrm>
            <a:off x="10555550" y="1844661"/>
            <a:ext cx="967666" cy="552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 descr="一張含有 黑色, 黑暗 的圖片&#10;&#10;自動產生的描述">
            <a:extLst>
              <a:ext uri="{FF2B5EF4-FFF2-40B4-BE49-F238E27FC236}">
                <a16:creationId xmlns:a16="http://schemas.microsoft.com/office/drawing/2014/main" id="{0AFC3D4B-AA71-0349-4C28-FB98EE47E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5414" y="2200440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2E5D85-470A-7C4A-AC16-AA0F9F2B4028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2911515" cy="616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Monitor</a:t>
            </a:r>
            <a:r>
              <a:rPr lang="zh-TW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35892D6-F623-381C-9B0F-6552254BA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8" y="1569454"/>
            <a:ext cx="11345662" cy="41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3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E38F552-CB35-18CD-F0F0-5497A5F83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049" y="1555329"/>
            <a:ext cx="4235044" cy="10873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966A9B5-8106-2EE5-EA8B-00AECC6B8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666" y="3714745"/>
            <a:ext cx="4508723" cy="259707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6555248-50B5-40E8-93C0-D835E456AFF7}"/>
              </a:ext>
            </a:extLst>
          </p:cNvPr>
          <p:cNvSpPr txBox="1"/>
          <p:nvPr/>
        </p:nvSpPr>
        <p:spPr>
          <a:xfrm>
            <a:off x="1899704" y="3308173"/>
            <a:ext cx="1454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7B2075-2E60-CB59-40CA-EB7744B9394F}"/>
              </a:ext>
            </a:extLst>
          </p:cNvPr>
          <p:cNvSpPr txBox="1"/>
          <p:nvPr/>
        </p:nvSpPr>
        <p:spPr>
          <a:xfrm>
            <a:off x="153099" y="276729"/>
            <a:ext cx="5392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Monitor Page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E7D2258E-1081-89BD-83A2-676D649E8CDD}"/>
              </a:ext>
            </a:extLst>
          </p:cNvPr>
          <p:cNvSpPr/>
          <p:nvPr/>
        </p:nvSpPr>
        <p:spPr>
          <a:xfrm rot="19301897">
            <a:off x="2657657" y="4844379"/>
            <a:ext cx="451799" cy="19973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E8BCB0-6F7C-E039-070F-D0D51D63F5EA}"/>
              </a:ext>
            </a:extLst>
          </p:cNvPr>
          <p:cNvSpPr txBox="1"/>
          <p:nvPr/>
        </p:nvSpPr>
        <p:spPr>
          <a:xfrm>
            <a:off x="1865477" y="5162632"/>
            <a:ext cx="155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渲染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html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頁面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DB575AC-355A-FDDE-F236-CF676BCAFF5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300234" y="1882174"/>
            <a:ext cx="922815" cy="207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C30C9D7-56EF-E119-8DC3-02E70A58663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070391" y="2642705"/>
            <a:ext cx="3270180" cy="103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393E175-927B-2A04-DBF4-895029134E92}"/>
              </a:ext>
            </a:extLst>
          </p:cNvPr>
          <p:cNvSpPr txBox="1"/>
          <p:nvPr/>
        </p:nvSpPr>
        <p:spPr>
          <a:xfrm>
            <a:off x="5016699" y="1236505"/>
            <a:ext cx="960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64FD311-8AFC-92C5-F785-73E56CB699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218" b="82899"/>
          <a:stretch/>
        </p:blipFill>
        <p:spPr>
          <a:xfrm>
            <a:off x="2088400" y="1336373"/>
            <a:ext cx="2211834" cy="1091601"/>
          </a:xfrm>
          <a:prstGeom prst="rect">
            <a:avLst/>
          </a:prstGeom>
        </p:spPr>
      </p:pic>
      <p:pic>
        <p:nvPicPr>
          <p:cNvPr id="15" name="圖片 14" descr="一張含有 黑色, 黑暗 的圖片&#10;&#10;自動產生的描述">
            <a:extLst>
              <a:ext uri="{FF2B5EF4-FFF2-40B4-BE49-F238E27FC236}">
                <a16:creationId xmlns:a16="http://schemas.microsoft.com/office/drawing/2014/main" id="{67EAB7F5-C0DA-DA83-86A8-FF2F85B7A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719" y="1924251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5BA8E57-3BE2-55EB-F2CA-847FE2152DB2}"/>
              </a:ext>
            </a:extLst>
          </p:cNvPr>
          <p:cNvSpPr/>
          <p:nvPr/>
        </p:nvSpPr>
        <p:spPr>
          <a:xfrm>
            <a:off x="5473051" y="1723283"/>
            <a:ext cx="1796067" cy="158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407C7DE-114D-6CB7-771D-A20EA4CAD18F}"/>
              </a:ext>
            </a:extLst>
          </p:cNvPr>
          <p:cNvSpPr txBox="1"/>
          <p:nvPr/>
        </p:nvSpPr>
        <p:spPr>
          <a:xfrm>
            <a:off x="6774211" y="3241633"/>
            <a:ext cx="1546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monitor.js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9C03669-1148-1C38-1684-5F866E799B9D}"/>
              </a:ext>
            </a:extLst>
          </p:cNvPr>
          <p:cNvCxnSpPr>
            <a:cxnSpLocks/>
          </p:cNvCxnSpPr>
          <p:nvPr/>
        </p:nvCxnSpPr>
        <p:spPr>
          <a:xfrm>
            <a:off x="5844298" y="4265146"/>
            <a:ext cx="1165368" cy="6344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EE2C8CC-A201-F961-5C56-8F30AA6843F8}"/>
              </a:ext>
            </a:extLst>
          </p:cNvPr>
          <p:cNvSpPr/>
          <p:nvPr/>
        </p:nvSpPr>
        <p:spPr>
          <a:xfrm>
            <a:off x="7422649" y="4016202"/>
            <a:ext cx="1851627" cy="10235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10A1067-32DE-B268-95E8-5A6E85BC7B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7502" y="3712313"/>
            <a:ext cx="3703641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42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A5ED669B-1526-773E-7341-0CD244A8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788" y="780053"/>
            <a:ext cx="4057254" cy="413974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C7E8D4B-9D69-74B4-9B12-EBD5D223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57" y="3801512"/>
            <a:ext cx="4537709" cy="1745273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20F6F3D-5471-3D27-5090-E1F663457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64" y="1442246"/>
            <a:ext cx="4235044" cy="108737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86070BE-1B57-72E2-57D9-4FB581B6C6D6}"/>
              </a:ext>
            </a:extLst>
          </p:cNvPr>
          <p:cNvSpPr txBox="1"/>
          <p:nvPr/>
        </p:nvSpPr>
        <p:spPr>
          <a:xfrm>
            <a:off x="153099" y="276729"/>
            <a:ext cx="5392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Monitor Page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61B4403-0567-4E9C-F656-5E5FED725841}"/>
              </a:ext>
            </a:extLst>
          </p:cNvPr>
          <p:cNvSpPr txBox="1"/>
          <p:nvPr/>
        </p:nvSpPr>
        <p:spPr>
          <a:xfrm>
            <a:off x="280012" y="1085932"/>
            <a:ext cx="960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9E5B1392-4F33-0AA8-60BD-1E9E19AC533A}"/>
              </a:ext>
            </a:extLst>
          </p:cNvPr>
          <p:cNvSpPr/>
          <p:nvPr/>
        </p:nvSpPr>
        <p:spPr>
          <a:xfrm>
            <a:off x="713505" y="1730410"/>
            <a:ext cx="3910253" cy="16872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D43AE9-E6DF-C0D4-DB73-AF8A8517E13D}"/>
              </a:ext>
            </a:extLst>
          </p:cNvPr>
          <p:cNvSpPr txBox="1"/>
          <p:nvPr/>
        </p:nvSpPr>
        <p:spPr>
          <a:xfrm>
            <a:off x="812080" y="2609719"/>
            <a:ext cx="1454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B581DE0-EA35-5F9A-4B98-95FD4F9C2E0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509572" y="2436879"/>
            <a:ext cx="617809" cy="5366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7D992B-4122-5667-19EB-C124C5A23508}"/>
              </a:ext>
            </a:extLst>
          </p:cNvPr>
          <p:cNvSpPr/>
          <p:nvPr/>
        </p:nvSpPr>
        <p:spPr>
          <a:xfrm>
            <a:off x="1957621" y="4313230"/>
            <a:ext cx="3587502" cy="20527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B38119D-DDA3-4DC7-F354-9A8969CB9EA3}"/>
              </a:ext>
            </a:extLst>
          </p:cNvPr>
          <p:cNvSpPr/>
          <p:nvPr/>
        </p:nvSpPr>
        <p:spPr>
          <a:xfrm>
            <a:off x="7074508" y="4019236"/>
            <a:ext cx="3846534" cy="49926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09749E7-52E2-143E-84EC-7CAAB931941B}"/>
              </a:ext>
            </a:extLst>
          </p:cNvPr>
          <p:cNvCxnSpPr>
            <a:cxnSpLocks/>
          </p:cNvCxnSpPr>
          <p:nvPr/>
        </p:nvCxnSpPr>
        <p:spPr>
          <a:xfrm flipV="1">
            <a:off x="5641671" y="2759091"/>
            <a:ext cx="1222117" cy="2313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6D6DC9-B047-07DE-62CF-2F8848552CCB}"/>
              </a:ext>
            </a:extLst>
          </p:cNvPr>
          <p:cNvSpPr txBox="1"/>
          <p:nvPr/>
        </p:nvSpPr>
        <p:spPr>
          <a:xfrm>
            <a:off x="6664715" y="410721"/>
            <a:ext cx="291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user_setting_operation.py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45515424-A1FB-C3A7-28B7-619499CFC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757" y="2973496"/>
            <a:ext cx="4055248" cy="71333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50CBDCF-B83F-5A87-4BD8-4F5773D90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703" y="4997413"/>
            <a:ext cx="5083067" cy="168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59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81A440-5B35-27D0-24BF-C6ED71AD9D3E}"/>
              </a:ext>
            </a:extLst>
          </p:cNvPr>
          <p:cNvSpPr txBox="1"/>
          <p:nvPr/>
        </p:nvSpPr>
        <p:spPr>
          <a:xfrm>
            <a:off x="1232947" y="2696941"/>
            <a:ext cx="97261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TW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</a:p>
        </p:txBody>
      </p:sp>
    </p:spTree>
    <p:extLst>
      <p:ext uri="{BB962C8B-B14F-4D97-AF65-F5344CB8AC3E}">
        <p14:creationId xmlns:p14="http://schemas.microsoft.com/office/powerpoint/2010/main" val="990016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6914254-1548-F66E-9967-DB2CD000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69" y="1569454"/>
            <a:ext cx="11345662" cy="3719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5E55B4E-911D-FA4B-BD92-3AE888E5F914}"/>
              </a:ext>
            </a:extLst>
          </p:cNvPr>
          <p:cNvSpPr/>
          <p:nvPr/>
        </p:nvSpPr>
        <p:spPr>
          <a:xfrm>
            <a:off x="6029417" y="4687410"/>
            <a:ext cx="646591" cy="390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 descr="一張含有 黑色, 黑暗 的圖片&#10;&#10;自動產生的描述">
            <a:extLst>
              <a:ext uri="{FF2B5EF4-FFF2-40B4-BE49-F238E27FC236}">
                <a16:creationId xmlns:a16="http://schemas.microsoft.com/office/drawing/2014/main" id="{9B2D6DBF-8F45-8299-C56E-F9AB4FB55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206" y="4895485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8C3C694-D46E-9AA3-8A46-58A30A74C551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2911515" cy="616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 Track</a:t>
            </a:r>
          </a:p>
        </p:txBody>
      </p:sp>
    </p:spTree>
    <p:extLst>
      <p:ext uri="{BB962C8B-B14F-4D97-AF65-F5344CB8AC3E}">
        <p14:creationId xmlns:p14="http://schemas.microsoft.com/office/powerpoint/2010/main" val="824302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B936E53E-AA36-89D1-61E9-F00F32017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84" y="4280523"/>
            <a:ext cx="3626450" cy="24036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A304C12-C5F3-750C-722A-DC6D3120C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126" y="1045092"/>
            <a:ext cx="2797493" cy="1541051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951514BE-D8E8-EFA8-BEBE-9AF834A7A2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933" t="78737" r="40038" b="3427"/>
          <a:stretch/>
        </p:blipFill>
        <p:spPr>
          <a:xfrm>
            <a:off x="1862085" y="1027089"/>
            <a:ext cx="3199044" cy="91563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6555248-50B5-40E8-93C0-D835E456AFF7}"/>
              </a:ext>
            </a:extLst>
          </p:cNvPr>
          <p:cNvSpPr txBox="1"/>
          <p:nvPr/>
        </p:nvSpPr>
        <p:spPr>
          <a:xfrm>
            <a:off x="6010217" y="3143925"/>
            <a:ext cx="1454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DB575AC-355A-FDDE-F236-CF676BCAFF5A}"/>
              </a:ext>
            </a:extLst>
          </p:cNvPr>
          <p:cNvCxnSpPr>
            <a:cxnSpLocks/>
          </p:cNvCxnSpPr>
          <p:nvPr/>
        </p:nvCxnSpPr>
        <p:spPr>
          <a:xfrm>
            <a:off x="5346929" y="4681936"/>
            <a:ext cx="834855" cy="7383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C30C9D7-56EF-E119-8DC3-02E70A58663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061129" y="1484905"/>
            <a:ext cx="532365" cy="3840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 descr="一張含有 黑色, 黑暗 的圖片&#10;&#10;自動產生的描述">
            <a:extLst>
              <a:ext uri="{FF2B5EF4-FFF2-40B4-BE49-F238E27FC236}">
                <a16:creationId xmlns:a16="http://schemas.microsoft.com/office/drawing/2014/main" id="{67EAB7F5-C0DA-DA83-86A8-FF2F85B7A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16" y="1535912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1407C7DE-114D-6CB7-771D-A20EA4CAD18F}"/>
              </a:ext>
            </a:extLst>
          </p:cNvPr>
          <p:cNvSpPr txBox="1"/>
          <p:nvPr/>
        </p:nvSpPr>
        <p:spPr>
          <a:xfrm>
            <a:off x="5238584" y="673229"/>
            <a:ext cx="1546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.js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9C03669-1148-1C38-1684-5F866E799B9D}"/>
              </a:ext>
            </a:extLst>
          </p:cNvPr>
          <p:cNvCxnSpPr>
            <a:cxnSpLocks/>
          </p:cNvCxnSpPr>
          <p:nvPr/>
        </p:nvCxnSpPr>
        <p:spPr>
          <a:xfrm flipH="1">
            <a:off x="3323719" y="2707217"/>
            <a:ext cx="3870114" cy="14765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EE2C8CC-A201-F961-5C56-8F30AA6843F8}"/>
              </a:ext>
            </a:extLst>
          </p:cNvPr>
          <p:cNvSpPr/>
          <p:nvPr/>
        </p:nvSpPr>
        <p:spPr>
          <a:xfrm>
            <a:off x="6010217" y="1213677"/>
            <a:ext cx="1944781" cy="15594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E19625D-5F8C-5CB0-4964-6C0ADF5CC14A}"/>
              </a:ext>
            </a:extLst>
          </p:cNvPr>
          <p:cNvSpPr/>
          <p:nvPr/>
        </p:nvSpPr>
        <p:spPr>
          <a:xfrm>
            <a:off x="6414034" y="6078769"/>
            <a:ext cx="1116826" cy="30477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B9A146F-FDB7-236D-2423-645B88277185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2911515" cy="616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 Track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C72F3C85-0004-D00B-8186-9AD18C215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84" y="3476699"/>
            <a:ext cx="4055248" cy="71333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4BA786D-65F9-8914-752F-A7AE9B36AA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63" y="4235771"/>
            <a:ext cx="4235044" cy="108737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76E9762-AC95-0DE3-F093-99D177EF98E9}"/>
              </a:ext>
            </a:extLst>
          </p:cNvPr>
          <p:cNvSpPr txBox="1"/>
          <p:nvPr/>
        </p:nvSpPr>
        <p:spPr>
          <a:xfrm>
            <a:off x="814713" y="3916947"/>
            <a:ext cx="960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B0DD310-0DC1-2E88-F27C-A474AEF8866F}"/>
              </a:ext>
            </a:extLst>
          </p:cNvPr>
          <p:cNvSpPr/>
          <p:nvPr/>
        </p:nvSpPr>
        <p:spPr>
          <a:xfrm>
            <a:off x="1272448" y="4681935"/>
            <a:ext cx="3127024" cy="166109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149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FE57-F6E5-8386-2893-AE600C68A62B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2646585" cy="5384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 Track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DAC98FE-5495-19AC-0F63-44333DEB0B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5"/>
          <a:stretch/>
        </p:blipFill>
        <p:spPr>
          <a:xfrm>
            <a:off x="1065889" y="1830590"/>
            <a:ext cx="4087791" cy="402744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5BAFC8F2-1982-74DC-2567-F2A4E212EFCF}"/>
              </a:ext>
            </a:extLst>
          </p:cNvPr>
          <p:cNvSpPr/>
          <p:nvPr/>
        </p:nvSpPr>
        <p:spPr>
          <a:xfrm>
            <a:off x="1219272" y="3167382"/>
            <a:ext cx="1684702" cy="36933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10919A8-B71A-5788-2B4C-18EC58E0B378}"/>
              </a:ext>
            </a:extLst>
          </p:cNvPr>
          <p:cNvSpPr txBox="1"/>
          <p:nvPr/>
        </p:nvSpPr>
        <p:spPr>
          <a:xfrm>
            <a:off x="866816" y="1495943"/>
            <a:ext cx="291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user_setting_operation.py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8168767-8C24-067B-CC28-FA31FB8AE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77" y="1416043"/>
            <a:ext cx="5471634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09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81A440-5B35-27D0-24BF-C6ED71AD9D3E}"/>
              </a:ext>
            </a:extLst>
          </p:cNvPr>
          <p:cNvSpPr txBox="1"/>
          <p:nvPr/>
        </p:nvSpPr>
        <p:spPr>
          <a:xfrm>
            <a:off x="1232947" y="2696941"/>
            <a:ext cx="97261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zh-TW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</a:p>
        </p:txBody>
      </p:sp>
    </p:spTree>
    <p:extLst>
      <p:ext uri="{BB962C8B-B14F-4D97-AF65-F5344CB8AC3E}">
        <p14:creationId xmlns:p14="http://schemas.microsoft.com/office/powerpoint/2010/main" val="1321688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9C8227A-7311-AD21-2DCF-85132302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3" y="1988599"/>
            <a:ext cx="11791353" cy="301889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C542D04-F60F-A3F1-9EBB-4AAA2DA7AC56}"/>
              </a:ext>
            </a:extLst>
          </p:cNvPr>
          <p:cNvSpPr/>
          <p:nvPr/>
        </p:nvSpPr>
        <p:spPr>
          <a:xfrm>
            <a:off x="9590842" y="3269201"/>
            <a:ext cx="735367" cy="1382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黑色, 黑暗 的圖片&#10;&#10;自動產生的描述">
            <a:extLst>
              <a:ext uri="{FF2B5EF4-FFF2-40B4-BE49-F238E27FC236}">
                <a16:creationId xmlns:a16="http://schemas.microsoft.com/office/drawing/2014/main" id="{56FEF57B-1674-3437-D263-2DF20293A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525" y="4271845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779FF-F934-F179-FA78-7F786E1057C5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3299633" cy="616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Remove Track</a:t>
            </a:r>
          </a:p>
        </p:txBody>
      </p:sp>
    </p:spTree>
    <p:extLst>
      <p:ext uri="{BB962C8B-B14F-4D97-AF65-F5344CB8AC3E}">
        <p14:creationId xmlns:p14="http://schemas.microsoft.com/office/powerpoint/2010/main" val="2388745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F5BFE6B7-8323-1311-7F80-8361FD17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84" y="4758551"/>
            <a:ext cx="3162574" cy="199661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81DC274-4CB4-07F7-7505-06EEC320A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883" y="1393580"/>
            <a:ext cx="2423370" cy="190516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0A2D95D-ADAE-BF28-7A09-9AAFBBD6B8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08" t="10717" r="77297" b="48810"/>
          <a:stretch/>
        </p:blipFill>
        <p:spPr>
          <a:xfrm>
            <a:off x="2035075" y="1417793"/>
            <a:ext cx="2248362" cy="184902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6555248-50B5-40E8-93C0-D835E456AFF7}"/>
              </a:ext>
            </a:extLst>
          </p:cNvPr>
          <p:cNvSpPr txBox="1"/>
          <p:nvPr/>
        </p:nvSpPr>
        <p:spPr>
          <a:xfrm>
            <a:off x="6880796" y="3625006"/>
            <a:ext cx="1454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DB575AC-355A-FDDE-F236-CF676BCAFF5A}"/>
              </a:ext>
            </a:extLst>
          </p:cNvPr>
          <p:cNvCxnSpPr>
            <a:cxnSpLocks/>
          </p:cNvCxnSpPr>
          <p:nvPr/>
        </p:nvCxnSpPr>
        <p:spPr>
          <a:xfrm>
            <a:off x="6211088" y="4939125"/>
            <a:ext cx="949025" cy="5356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C30C9D7-56EF-E119-8DC3-02E70A586638}"/>
              </a:ext>
            </a:extLst>
          </p:cNvPr>
          <p:cNvCxnSpPr>
            <a:cxnSpLocks/>
          </p:cNvCxnSpPr>
          <p:nvPr/>
        </p:nvCxnSpPr>
        <p:spPr>
          <a:xfrm>
            <a:off x="4904343" y="2361802"/>
            <a:ext cx="1438972" cy="443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 descr="一張含有 黑色, 黑暗 的圖片&#10;&#10;自動產生的描述">
            <a:extLst>
              <a:ext uri="{FF2B5EF4-FFF2-40B4-BE49-F238E27FC236}">
                <a16:creationId xmlns:a16="http://schemas.microsoft.com/office/drawing/2014/main" id="{67EAB7F5-C0DA-DA83-86A8-FF2F85B7A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53" y="2692988"/>
            <a:ext cx="575604" cy="575604"/>
          </a:xfrm>
          <a:prstGeom prst="rect">
            <a:avLst/>
          </a:prstGeom>
          <a:ln>
            <a:noFill/>
          </a:ln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1407C7DE-114D-6CB7-771D-A20EA4CAD18F}"/>
              </a:ext>
            </a:extLst>
          </p:cNvPr>
          <p:cNvSpPr txBox="1"/>
          <p:nvPr/>
        </p:nvSpPr>
        <p:spPr>
          <a:xfrm>
            <a:off x="6211088" y="1013875"/>
            <a:ext cx="1546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.js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9C03669-1148-1C38-1684-5F866E799B9D}"/>
              </a:ext>
            </a:extLst>
          </p:cNvPr>
          <p:cNvCxnSpPr>
            <a:cxnSpLocks/>
          </p:cNvCxnSpPr>
          <p:nvPr/>
        </p:nvCxnSpPr>
        <p:spPr>
          <a:xfrm flipH="1">
            <a:off x="4187878" y="3429000"/>
            <a:ext cx="3483197" cy="10119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EE2C8CC-A201-F961-5C56-8F30AA6843F8}"/>
              </a:ext>
            </a:extLst>
          </p:cNvPr>
          <p:cNvSpPr/>
          <p:nvPr/>
        </p:nvSpPr>
        <p:spPr>
          <a:xfrm>
            <a:off x="6977473" y="1610610"/>
            <a:ext cx="1623064" cy="13012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E19625D-5F8C-5CB0-4964-6C0ADF5CC14A}"/>
              </a:ext>
            </a:extLst>
          </p:cNvPr>
          <p:cNvSpPr/>
          <p:nvPr/>
        </p:nvSpPr>
        <p:spPr>
          <a:xfrm>
            <a:off x="7412704" y="6270798"/>
            <a:ext cx="2794810" cy="159599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B9A146F-FDB7-236D-2423-645B88277185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3299633" cy="6167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Remove Track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8E73B12-5256-31FB-ECE5-D18241B0F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0113" y="3994338"/>
            <a:ext cx="4055248" cy="7133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97EAE07-120F-347E-FE60-F73AA2C705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0956" y="4542016"/>
            <a:ext cx="4235044" cy="108737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E89C01-F582-A319-CFFE-E8FFE40738CE}"/>
              </a:ext>
            </a:extLst>
          </p:cNvPr>
          <p:cNvSpPr txBox="1"/>
          <p:nvPr/>
        </p:nvSpPr>
        <p:spPr>
          <a:xfrm>
            <a:off x="1654606" y="4223192"/>
            <a:ext cx="960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urls.py</a:t>
            </a:r>
            <a:endParaRPr lang="zh-TW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F6C77A3-93B3-C2E4-993F-C12A32B4FAE5}"/>
              </a:ext>
            </a:extLst>
          </p:cNvPr>
          <p:cNvSpPr/>
          <p:nvPr/>
        </p:nvSpPr>
        <p:spPr>
          <a:xfrm>
            <a:off x="2103714" y="5146505"/>
            <a:ext cx="3641478" cy="166109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524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D8FF-380D-5D21-3FFC-971DFE2D5D8E}"/>
              </a:ext>
            </a:extLst>
          </p:cNvPr>
          <p:cNvSpPr txBox="1">
            <a:spLocks/>
          </p:cNvSpPr>
          <p:nvPr/>
        </p:nvSpPr>
        <p:spPr>
          <a:xfrm>
            <a:off x="157000" y="237962"/>
            <a:ext cx="4314516" cy="10080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Remove Track</a:t>
            </a:r>
          </a:p>
          <a:p>
            <a:r>
              <a:rPr lang="zh-TW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user_setting_operation.py</a:t>
            </a:r>
            <a:endParaRPr lang="en-US" altLang="zh-TW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C68E8FE-6848-3033-F250-C35CC272B0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5"/>
          <a:stretch/>
        </p:blipFill>
        <p:spPr>
          <a:xfrm>
            <a:off x="1065889" y="1830590"/>
            <a:ext cx="4087791" cy="402744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FF6E2FFC-AFB9-55BF-D241-5A9E0D30F1F3}"/>
              </a:ext>
            </a:extLst>
          </p:cNvPr>
          <p:cNvSpPr/>
          <p:nvPr/>
        </p:nvSpPr>
        <p:spPr>
          <a:xfrm>
            <a:off x="1239368" y="3492323"/>
            <a:ext cx="2538812" cy="36933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BE6178-D427-3D3B-C220-189E46AC2D5E}"/>
              </a:ext>
            </a:extLst>
          </p:cNvPr>
          <p:cNvSpPr txBox="1"/>
          <p:nvPr/>
        </p:nvSpPr>
        <p:spPr>
          <a:xfrm>
            <a:off x="866816" y="1495943"/>
            <a:ext cx="291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user_setting_operation.py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EE48CB-B41C-2365-76CA-7172C4C1E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650" y="1649562"/>
            <a:ext cx="5464013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9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B883-E9D4-1DA7-A7FE-DE616C18E903}"/>
              </a:ext>
            </a:extLst>
          </p:cNvPr>
          <p:cNvSpPr txBox="1">
            <a:spLocks/>
          </p:cNvSpPr>
          <p:nvPr/>
        </p:nvSpPr>
        <p:spPr>
          <a:xfrm>
            <a:off x="2997679" y="2632891"/>
            <a:ext cx="6196642" cy="10773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8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Email</a:t>
            </a:r>
            <a:endParaRPr lang="en-TW" sz="8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0E6E053-E7A2-E723-32E6-584D7D3A58E1}"/>
              </a:ext>
            </a:extLst>
          </p:cNvPr>
          <p:cNvSpPr txBox="1"/>
          <p:nvPr/>
        </p:nvSpPr>
        <p:spPr>
          <a:xfrm>
            <a:off x="367153" y="6056634"/>
            <a:ext cx="3384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rgbClr val="0F0F0F"/>
                </a:solidFill>
                <a:effectLst/>
                <a:latin typeface="YouTube Sans"/>
                <a:hlinkClick r:id="rId2"/>
              </a:rPr>
              <a:t>Python Email </a:t>
            </a:r>
            <a:r>
              <a:rPr lang="zh-TW" altLang="en-US" b="1" i="0" dirty="0">
                <a:solidFill>
                  <a:srgbClr val="0F0F0F"/>
                </a:solidFill>
                <a:effectLst/>
                <a:latin typeface="YouTube Sans"/>
                <a:hlinkClick r:id="rId2"/>
              </a:rPr>
              <a:t>發送電子郵件</a:t>
            </a:r>
            <a:endParaRPr lang="zh-TW" altLang="en-US" b="1" i="0" dirty="0">
              <a:solidFill>
                <a:srgbClr val="0F0F0F"/>
              </a:solidFill>
              <a:effectLst/>
              <a:latin typeface="YouTube Sans"/>
            </a:endParaRPr>
          </a:p>
        </p:txBody>
      </p:sp>
      <p:sp>
        <p:nvSpPr>
          <p:cNvPr id="4" name="文字方塊 3">
            <a:hlinkClick r:id="rId3"/>
            <a:extLst>
              <a:ext uri="{FF2B5EF4-FFF2-40B4-BE49-F238E27FC236}">
                <a16:creationId xmlns:a16="http://schemas.microsoft.com/office/drawing/2014/main" id="{5034D260-A4E8-ABA2-B296-049E3E7E1D7D}"/>
              </a:ext>
            </a:extLst>
          </p:cNvPr>
          <p:cNvSpPr txBox="1"/>
          <p:nvPr/>
        </p:nvSpPr>
        <p:spPr>
          <a:xfrm>
            <a:off x="367153" y="5663465"/>
            <a:ext cx="4729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rgbClr val="0F0F0F"/>
                </a:solidFill>
                <a:effectLst/>
                <a:latin typeface="YouTube Sans"/>
                <a:hlinkClick r:id="rId4"/>
              </a:rPr>
              <a:t>How to Send Emails with Python</a:t>
            </a:r>
            <a:endParaRPr lang="en-US" altLang="zh-TW" b="1" i="0" dirty="0">
              <a:solidFill>
                <a:srgbClr val="0F0F0F"/>
              </a:solidFill>
              <a:effectLst/>
              <a:latin typeface="YouTube Sans"/>
            </a:endParaRPr>
          </a:p>
        </p:txBody>
      </p:sp>
    </p:spTree>
    <p:extLst>
      <p:ext uri="{BB962C8B-B14F-4D97-AF65-F5344CB8AC3E}">
        <p14:creationId xmlns:p14="http://schemas.microsoft.com/office/powerpoint/2010/main" val="3688921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1480CD-DF33-65EE-17DD-C9CF7F8C86AB}"/>
              </a:ext>
            </a:extLst>
          </p:cNvPr>
          <p:cNvSpPr txBox="1"/>
          <p:nvPr/>
        </p:nvSpPr>
        <p:spPr>
          <a:xfrm>
            <a:off x="73477" y="249063"/>
            <a:ext cx="2065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E84E88D-755B-E541-22F1-3827B780B38C}"/>
              </a:ext>
            </a:extLst>
          </p:cNvPr>
          <p:cNvSpPr txBox="1"/>
          <p:nvPr/>
        </p:nvSpPr>
        <p:spPr>
          <a:xfrm>
            <a:off x="703810" y="2077834"/>
            <a:ext cx="3596780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基本電子郵件內容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取得</a:t>
            </a:r>
            <a:r>
              <a:rPr lang="en-US" altLang="zh-TW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Gmail</a:t>
            </a:r>
            <a:r>
              <a:rPr lang="zh-TW" altLang="en-US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應用程式密碼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SMTP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伺服器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(SMTP Server)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電子郵件內容增加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Excel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4B027C7-B41C-86B1-C7DD-BA28680E9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799" y="1432096"/>
            <a:ext cx="5842886" cy="6457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B84CD2D-B6C7-EC17-6769-93DE5AB05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798" y="2592295"/>
            <a:ext cx="5780621" cy="257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09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19421</TotalTime>
  <Words>638</Words>
  <Application>Microsoft Office PowerPoint</Application>
  <PresentationFormat>寬螢幕</PresentationFormat>
  <Paragraphs>125</Paragraphs>
  <Slides>22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YouTube Sans</vt:lpstr>
      <vt:lpstr>Aptos</vt:lpstr>
      <vt:lpstr>Aptos Display</vt:lpstr>
      <vt:lpstr>Arial</vt:lpstr>
      <vt:lpstr>Lora</vt:lpstr>
      <vt:lpstr>times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Passing parameters to SQL queries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黃奕淳</dc:creator>
  <cp:lastModifiedBy>Andrew Huang</cp:lastModifiedBy>
  <cp:revision>133</cp:revision>
  <dcterms:created xsi:type="dcterms:W3CDTF">2024-05-26T15:18:27Z</dcterms:created>
  <dcterms:modified xsi:type="dcterms:W3CDTF">2025-01-15T12:20:19Z</dcterms:modified>
</cp:coreProperties>
</file>