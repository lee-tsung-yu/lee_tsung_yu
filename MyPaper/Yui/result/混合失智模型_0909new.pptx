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5" r:id="rId2"/>
    <p:sldId id="344" r:id="rId3"/>
    <p:sldId id="346" r:id="rId4"/>
    <p:sldId id="347" r:id="rId5"/>
    <p:sldId id="342" r:id="rId6"/>
    <p:sldId id="34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8" y="118290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702" y="6374585"/>
            <a:ext cx="779767" cy="365125"/>
          </a:xfrm>
        </p:spPr>
        <p:txBody>
          <a:bodyPr/>
          <a:lstStyle/>
          <a:p>
            <a:fld id="{850A69B3-6E1B-4E7E-B7AC-588186BCF1AE}" type="slidenum">
              <a:rPr lang="zh-TW" altLang="en-US" smtClean="0">
                <a:solidFill>
                  <a:schemeClr val="tx1"/>
                </a:solidFill>
              </a:rPr>
              <a:t>1</a:t>
            </a:fld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3635197" y="773131"/>
            <a:ext cx="4921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(n=329) </a:t>
            </a:r>
            <a:endParaRPr lang="zh-TW" altLang="en-US" b="1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CA66585-801F-3FCE-F542-C6081E135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86334"/>
              </p:ext>
            </p:extLst>
          </p:nvPr>
        </p:nvGraphicFramePr>
        <p:xfrm>
          <a:off x="334872" y="1244462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25.627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7.667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1.605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4.977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3.224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0.619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9.551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1.912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-0.850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0.427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0.299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-10.163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0.743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-0.042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0.582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0.161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1.174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0.014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-0.057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3652BDE-F688-5ED4-CBA4-89A595C21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250008"/>
              </p:ext>
            </p:extLst>
          </p:nvPr>
        </p:nvGraphicFramePr>
        <p:xfrm>
          <a:off x="6132261" y="1244462"/>
          <a:ext cx="5844208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5266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207841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97663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9597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24.984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5.741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0.843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2.322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2.496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0.736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24.093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1.756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-0.828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0.437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0.233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715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-10.335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0.750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0.653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0.155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1.168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0.022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-0.056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5F817CB-4138-60C5-025D-83BA963881A4}"/>
              </a:ext>
            </a:extLst>
          </p:cNvPr>
          <p:cNvSpPr/>
          <p:nvPr/>
        </p:nvSpPr>
        <p:spPr>
          <a:xfrm>
            <a:off x="427383" y="4518371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2078.71 for the imputing data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EB32D1-F699-A47B-8A50-C10E22A642E3}"/>
              </a:ext>
            </a:extLst>
          </p:cNvPr>
          <p:cNvSpPr/>
          <p:nvPr/>
        </p:nvSpPr>
        <p:spPr>
          <a:xfrm>
            <a:off x="6188766" y="4518371"/>
            <a:ext cx="435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2076.00 for the complete data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129B8D-C205-44AD-302F-823819DB7825}"/>
              </a:ext>
            </a:extLst>
          </p:cNvPr>
          <p:cNvSpPr txBox="1"/>
          <p:nvPr/>
        </p:nvSpPr>
        <p:spPr>
          <a:xfrm>
            <a:off x="838199" y="495135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FF"/>
                </a:solidFill>
              </a:rPr>
              <a:t>插補遺失值的模型並不會減少</a:t>
            </a:r>
            <a:r>
              <a:rPr lang="en-US" altLang="zh-TW" sz="2400" b="1" dirty="0">
                <a:solidFill>
                  <a:srgbClr val="0000FF"/>
                </a:solidFill>
              </a:rPr>
              <a:t>AIC</a:t>
            </a:r>
            <a:r>
              <a:rPr lang="zh-TW" altLang="en-US" sz="2400" b="1" dirty="0">
                <a:solidFill>
                  <a:srgbClr val="0000FF"/>
                </a:solidFill>
              </a:rPr>
              <a:t>。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機率和風險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MMSE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13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144067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69B3-6E1B-4E7E-B7AC-588186BCF1AE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4E6F48-3CE4-B54D-2230-B51B9265B19F}"/>
              </a:ext>
            </a:extLst>
          </p:cNvPr>
          <p:cNvSpPr txBox="1"/>
          <p:nvPr/>
        </p:nvSpPr>
        <p:spPr>
          <a:xfrm>
            <a:off x="838199" y="495135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FF"/>
                </a:solidFill>
              </a:rPr>
              <a:t>插補遺失值的模型並不會減少</a:t>
            </a:r>
            <a:r>
              <a:rPr lang="en-US" altLang="zh-TW" sz="2400" b="1" dirty="0">
                <a:solidFill>
                  <a:srgbClr val="0000FF"/>
                </a:solidFill>
              </a:rPr>
              <a:t>AIC</a:t>
            </a:r>
            <a:r>
              <a:rPr lang="zh-TW" altLang="en-US" sz="2400" b="1" dirty="0">
                <a:solidFill>
                  <a:srgbClr val="0000FF"/>
                </a:solidFill>
              </a:rPr>
              <a:t>。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CASI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87CC0D-B1F4-47E1-9BCE-A906154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788538"/>
              </p:ext>
            </p:extLst>
          </p:nvPr>
        </p:nvGraphicFramePr>
        <p:xfrm>
          <a:off x="330199" y="1226531"/>
          <a:ext cx="57658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82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49.084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17.344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18.651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2.090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3.539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3.712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34.438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0.340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-0.507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0.602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-10.779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0.775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-0.038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0.600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0.207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1.230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302B97E-C965-4026-936B-1F25123B03F3}"/>
              </a:ext>
            </a:extLst>
          </p:cNvPr>
          <p:cNvSpPr/>
          <p:nvPr/>
        </p:nvSpPr>
        <p:spPr>
          <a:xfrm>
            <a:off x="427383" y="4518371"/>
            <a:ext cx="4455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2022.92 for the imputing data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8907396-C214-4771-A25C-171513E58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503491"/>
              </p:ext>
            </p:extLst>
          </p:nvPr>
        </p:nvGraphicFramePr>
        <p:xfrm>
          <a:off x="6188766" y="1226531"/>
          <a:ext cx="5844208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5266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207841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97663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9597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50.363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17.467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11.249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5.969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3.479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391.054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0.086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-0.519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0.191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0.595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715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-12.803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0.868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0.649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0.211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1.235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24F3707-315A-489E-A83D-DCCE37B185D5}"/>
              </a:ext>
            </a:extLst>
          </p:cNvPr>
          <p:cNvSpPr/>
          <p:nvPr/>
        </p:nvSpPr>
        <p:spPr>
          <a:xfrm>
            <a:off x="6188766" y="4518371"/>
            <a:ext cx="435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1948.63 for the complete data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3727964" y="706314"/>
            <a:ext cx="4921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2.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(n=329) 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98853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8" y="118290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702" y="6374585"/>
            <a:ext cx="779767" cy="365125"/>
          </a:xfrm>
        </p:spPr>
        <p:txBody>
          <a:bodyPr/>
          <a:lstStyle/>
          <a:p>
            <a:fld id="{850A69B3-6E1B-4E7E-B7AC-588186BCF1AE}" type="slidenum">
              <a:rPr lang="zh-TW" altLang="en-US" smtClean="0">
                <a:solidFill>
                  <a:schemeClr val="tx1"/>
                </a:solidFill>
              </a:rPr>
              <a:t>3</a:t>
            </a:fld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4E6F48-3CE4-B54D-2230-B51B9265B19F}"/>
              </a:ext>
            </a:extLst>
          </p:cNvPr>
          <p:cNvSpPr txBox="1"/>
          <p:nvPr/>
        </p:nvSpPr>
        <p:spPr>
          <a:xfrm>
            <a:off x="838199" y="495135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機率和風險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MMSE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87CC0D-B1F4-47E1-9BCE-A906154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11842"/>
              </p:ext>
            </p:extLst>
          </p:nvPr>
        </p:nvGraphicFramePr>
        <p:xfrm>
          <a:off x="586787" y="1244462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3635197" y="773131"/>
            <a:ext cx="4921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</a:t>
            </a:r>
            <a:r>
              <a:rPr lang="en-US" altLang="zh-TW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301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9A48EA-E87A-CFDE-C13E-584539B168D3}"/>
              </a:ext>
            </a:extLst>
          </p:cNvPr>
          <p:cNvSpPr/>
          <p:nvPr/>
        </p:nvSpPr>
        <p:spPr>
          <a:xfrm>
            <a:off x="1210962" y="4565296"/>
            <a:ext cx="358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 for the imputing data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49AD4E5-0279-0616-89E5-15F0A2F1D67C}"/>
              </a:ext>
            </a:extLst>
          </p:cNvPr>
          <p:cNvGraphicFramePr>
            <a:graphicFrameLocks noGrp="1"/>
          </p:cNvGraphicFramePr>
          <p:nvPr/>
        </p:nvGraphicFramePr>
        <p:xfrm>
          <a:off x="6269129" y="1244462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824FDE4-1B76-094D-7B44-789A9FA471A5}"/>
              </a:ext>
            </a:extLst>
          </p:cNvPr>
          <p:cNvSpPr/>
          <p:nvPr/>
        </p:nvSpPr>
        <p:spPr>
          <a:xfrm>
            <a:off x="6269129" y="4573661"/>
            <a:ext cx="3704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for the imputing data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073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8" y="118290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702" y="6374585"/>
            <a:ext cx="779767" cy="365125"/>
          </a:xfrm>
        </p:spPr>
        <p:txBody>
          <a:bodyPr/>
          <a:lstStyle/>
          <a:p>
            <a:fld id="{850A69B3-6E1B-4E7E-B7AC-588186BCF1AE}" type="slidenum">
              <a:rPr lang="zh-TW" altLang="en-US" smtClean="0">
                <a:solidFill>
                  <a:schemeClr val="tx1"/>
                </a:solidFill>
              </a:rPr>
              <a:t>4</a:t>
            </a:fld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4E6F48-3CE4-B54D-2230-B51B9265B19F}"/>
              </a:ext>
            </a:extLst>
          </p:cNvPr>
          <p:cNvSpPr txBox="1"/>
          <p:nvPr/>
        </p:nvSpPr>
        <p:spPr>
          <a:xfrm>
            <a:off x="838199" y="495135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機率和風險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MMSE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87CC0D-B1F4-47E1-9BCE-A906154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876780"/>
              </p:ext>
            </p:extLst>
          </p:nvPr>
        </p:nvGraphicFramePr>
        <p:xfrm>
          <a:off x="586787" y="1244462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2818435" y="760371"/>
            <a:ext cx="6555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3.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</a:t>
            </a:r>
            <a:r>
              <a:rPr lang="en-US" altLang="zh-TW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374</a:t>
            </a:r>
            <a:r>
              <a:rPr lang="zh-TW" altLang="en-US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imputed data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9A48EA-E87A-CFDE-C13E-584539B168D3}"/>
              </a:ext>
            </a:extLst>
          </p:cNvPr>
          <p:cNvSpPr/>
          <p:nvPr/>
        </p:nvSpPr>
        <p:spPr>
          <a:xfrm>
            <a:off x="1210962" y="4565296"/>
            <a:ext cx="3704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for the imputing data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49AD4E5-0279-0616-89E5-15F0A2F1D67C}"/>
              </a:ext>
            </a:extLst>
          </p:cNvPr>
          <p:cNvGraphicFramePr>
            <a:graphicFrameLocks noGrp="1"/>
          </p:cNvGraphicFramePr>
          <p:nvPr/>
        </p:nvGraphicFramePr>
        <p:xfrm>
          <a:off x="6269129" y="1244462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824FDE4-1B76-094D-7B44-789A9FA471A5}"/>
              </a:ext>
            </a:extLst>
          </p:cNvPr>
          <p:cNvSpPr/>
          <p:nvPr/>
        </p:nvSpPr>
        <p:spPr>
          <a:xfrm>
            <a:off x="6269129" y="4573661"/>
            <a:ext cx="3704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for the imputing data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236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F8EEFA3-B0F9-465C-A2CD-29922884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7266" y="6356897"/>
            <a:ext cx="779767" cy="365125"/>
          </a:xfrm>
        </p:spPr>
        <p:txBody>
          <a:bodyPr/>
          <a:lstStyle/>
          <a:p>
            <a:fld id="{850A69B3-6E1B-4E7E-B7AC-588186BCF1AE}" type="slidenum">
              <a:rPr lang="zh-TW" altLang="en-US" smtClean="0">
                <a:solidFill>
                  <a:schemeClr val="tx1"/>
                </a:solidFill>
              </a:rPr>
              <a:t>5</a:t>
            </a:fld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30D4BE-C809-41A6-83FE-64E1E60E7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65757"/>
              </p:ext>
            </p:extLst>
          </p:nvPr>
        </p:nvGraphicFramePr>
        <p:xfrm>
          <a:off x="2276061" y="1321713"/>
          <a:ext cx="5072380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0195">
                  <a:extLst>
                    <a:ext uri="{9D8B030D-6E8A-4147-A177-3AD203B41FA5}">
                      <a16:colId xmlns:a16="http://schemas.microsoft.com/office/drawing/2014/main" val="171876863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3651178615"/>
                    </a:ext>
                  </a:extLst>
                </a:gridCol>
                <a:gridCol w="1756410">
                  <a:extLst>
                    <a:ext uri="{9D8B030D-6E8A-4147-A177-3AD203B41FA5}">
                      <a16:colId xmlns:a16="http://schemas.microsoft.com/office/drawing/2014/main" val="896462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Gender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APOE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61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95.946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96.001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0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88.574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88.625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31744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6246D6C-DA69-42E9-852F-6D08136C0531}"/>
              </a:ext>
            </a:extLst>
          </p:cNvPr>
          <p:cNvSpPr/>
          <p:nvPr/>
        </p:nvSpPr>
        <p:spPr>
          <a:xfrm>
            <a:off x="2042547" y="3325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 3.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median time of the final 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dementia by gender and APOE based on the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median of CASI</a:t>
            </a:r>
            <a:endParaRPr lang="zh-TW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602DAAE-B90B-4DD6-A00A-FC81AD2AF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92493"/>
              </p:ext>
            </p:extLst>
          </p:nvPr>
        </p:nvGraphicFramePr>
        <p:xfrm>
          <a:off x="1388533" y="4785525"/>
          <a:ext cx="8701118" cy="1753935"/>
        </p:xfrm>
        <a:graphic>
          <a:graphicData uri="http://schemas.openxmlformats.org/drawingml/2006/table">
            <a:tbl>
              <a:tblPr/>
              <a:tblGrid>
                <a:gridCol w="797445">
                  <a:extLst>
                    <a:ext uri="{9D8B030D-6E8A-4147-A177-3AD203B41FA5}">
                      <a16:colId xmlns:a16="http://schemas.microsoft.com/office/drawing/2014/main" val="648324548"/>
                    </a:ext>
                  </a:extLst>
                </a:gridCol>
                <a:gridCol w="647722">
                  <a:extLst>
                    <a:ext uri="{9D8B030D-6E8A-4147-A177-3AD203B41FA5}">
                      <a16:colId xmlns:a16="http://schemas.microsoft.com/office/drawing/2014/main" val="2164724351"/>
                    </a:ext>
                  </a:extLst>
                </a:gridCol>
                <a:gridCol w="500141">
                  <a:extLst>
                    <a:ext uri="{9D8B030D-6E8A-4147-A177-3AD203B41FA5}">
                      <a16:colId xmlns:a16="http://schemas.microsoft.com/office/drawing/2014/main" val="2621807452"/>
                    </a:ext>
                  </a:extLst>
                </a:gridCol>
                <a:gridCol w="573219">
                  <a:extLst>
                    <a:ext uri="{9D8B030D-6E8A-4147-A177-3AD203B41FA5}">
                      <a16:colId xmlns:a16="http://schemas.microsoft.com/office/drawing/2014/main" val="4100398745"/>
                    </a:ext>
                  </a:extLst>
                </a:gridCol>
                <a:gridCol w="761474">
                  <a:extLst>
                    <a:ext uri="{9D8B030D-6E8A-4147-A177-3AD203B41FA5}">
                      <a16:colId xmlns:a16="http://schemas.microsoft.com/office/drawing/2014/main" val="505586595"/>
                    </a:ext>
                  </a:extLst>
                </a:gridCol>
                <a:gridCol w="656000">
                  <a:extLst>
                    <a:ext uri="{9D8B030D-6E8A-4147-A177-3AD203B41FA5}">
                      <a16:colId xmlns:a16="http://schemas.microsoft.com/office/drawing/2014/main" val="1074813452"/>
                    </a:ext>
                  </a:extLst>
                </a:gridCol>
                <a:gridCol w="898965">
                  <a:extLst>
                    <a:ext uri="{9D8B030D-6E8A-4147-A177-3AD203B41FA5}">
                      <a16:colId xmlns:a16="http://schemas.microsoft.com/office/drawing/2014/main" val="143823452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1934715894"/>
                    </a:ext>
                  </a:extLst>
                </a:gridCol>
                <a:gridCol w="813927">
                  <a:extLst>
                    <a:ext uri="{9D8B030D-6E8A-4147-A177-3AD203B41FA5}">
                      <a16:colId xmlns:a16="http://schemas.microsoft.com/office/drawing/2014/main" val="1913117617"/>
                    </a:ext>
                  </a:extLst>
                </a:gridCol>
                <a:gridCol w="829112">
                  <a:extLst>
                    <a:ext uri="{9D8B030D-6E8A-4147-A177-3AD203B41FA5}">
                      <a16:colId xmlns:a16="http://schemas.microsoft.com/office/drawing/2014/main" val="697446826"/>
                    </a:ext>
                  </a:extLst>
                </a:gridCol>
                <a:gridCol w="1360594">
                  <a:extLst>
                    <a:ext uri="{9D8B030D-6E8A-4147-A177-3AD203B41FA5}">
                      <a16:colId xmlns:a16="http://schemas.microsoft.com/office/drawing/2014/main" val="10970454"/>
                    </a:ext>
                  </a:extLst>
                </a:gridCol>
              </a:tblGrid>
              <a:tr h="7717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PIDN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Gender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event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Birth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Year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Education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APOE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Diagnosis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age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MMSE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CDR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CASI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The probability of never experiencing dementia until death(Imputation)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938781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7073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1956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0.9997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30716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8533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1966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TW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0.9997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000499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8539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1961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TW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0.9997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37364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3497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1953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0.9997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474234"/>
                  </a:ext>
                </a:extLst>
              </a:tr>
            </a:tbl>
          </a:graphicData>
        </a:graphic>
      </p:graphicFrame>
      <p:sp>
        <p:nvSpPr>
          <p:cNvPr id="13" name="語音泡泡: 矩形 12">
            <a:extLst>
              <a:ext uri="{FF2B5EF4-FFF2-40B4-BE49-F238E27FC236}">
                <a16:creationId xmlns:a16="http://schemas.microsoft.com/office/drawing/2014/main" id="{831B2429-49C2-4CF6-B938-281E5663CD12}"/>
              </a:ext>
            </a:extLst>
          </p:cNvPr>
          <p:cNvSpPr/>
          <p:nvPr/>
        </p:nvSpPr>
        <p:spPr>
          <a:xfrm>
            <a:off x="7446231" y="787782"/>
            <a:ext cx="4040919" cy="1168629"/>
          </a:xfrm>
          <a:prstGeom prst="wedgeRectCallout">
            <a:avLst>
              <a:gd name="adj1" fmla="val -54451"/>
              <a:gd name="adj2" fmla="val 6328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男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性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CASI=80.5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沒有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失智年齡的中位數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為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96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歲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。平均來說，男性比女性大約晚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1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年失智，有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 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基因者大約會提早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7.4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年失智。</a:t>
            </a:r>
            <a:endParaRPr lang="zh-TW" altLang="en-US" dirty="0"/>
          </a:p>
        </p:txBody>
      </p:sp>
      <p:sp>
        <p:nvSpPr>
          <p:cNvPr id="14" name="語音泡泡: 矩形 13">
            <a:extLst>
              <a:ext uri="{FF2B5EF4-FFF2-40B4-BE49-F238E27FC236}">
                <a16:creationId xmlns:a16="http://schemas.microsoft.com/office/drawing/2014/main" id="{B4B4E496-780A-41C7-8A80-E4AB78233DEA}"/>
              </a:ext>
            </a:extLst>
          </p:cNvPr>
          <p:cNvSpPr/>
          <p:nvPr/>
        </p:nvSpPr>
        <p:spPr>
          <a:xfrm>
            <a:off x="6433213" y="3362062"/>
            <a:ext cx="3935673" cy="800861"/>
          </a:xfrm>
          <a:prstGeom prst="wedgeRectCallout">
            <a:avLst>
              <a:gd name="adj1" fmla="val 23210"/>
              <a:gd name="adj2" fmla="val 117712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女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性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CASI=99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沒有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基因者終生不會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失智的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機率為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0.9997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334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FC5E02-A27B-455D-8D8A-BE62BD1B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066" y="314362"/>
            <a:ext cx="9609667" cy="94684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研究限制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2E72E-C9E1-4019-BCF6-E5F90E92E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371600"/>
            <a:ext cx="10274134" cy="498475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3000" dirty="0"/>
              <a:t>本研究屬於回溯性研究。因為性別、教育程度、</a:t>
            </a:r>
            <a:r>
              <a:rPr lang="en-US" altLang="zh-TW" sz="3000" dirty="0"/>
              <a:t>MMSE</a:t>
            </a:r>
            <a:r>
              <a:rPr lang="zh-TW" altLang="en-US" sz="3000" dirty="0"/>
              <a:t>和</a:t>
            </a:r>
            <a:r>
              <a:rPr lang="en-US" altLang="zh-TW" sz="3000" dirty="0"/>
              <a:t>CASI</a:t>
            </a:r>
            <a:r>
              <a:rPr lang="zh-TW" altLang="en-US" sz="3000" dirty="0"/>
              <a:t>之間兩兩有關，混合失智模型需要再考慮交互作用項</a:t>
            </a:r>
            <a:endParaRPr lang="en-US" altLang="zh-TW" sz="3000" dirty="0"/>
          </a:p>
          <a:p>
            <a:pPr>
              <a:spcBef>
                <a:spcPts val="600"/>
              </a:spcBef>
            </a:pPr>
            <a:r>
              <a:rPr lang="zh-TW" altLang="en-US" sz="3000" dirty="0"/>
              <a:t>混合失智模型的研究成果能協助醫師，同時依據羅吉斯迴歸模型和</a:t>
            </a:r>
            <a:r>
              <a:rPr lang="en-US" altLang="zh-TW" sz="3000" dirty="0"/>
              <a:t>Cox</a:t>
            </a:r>
            <a:r>
              <a:rPr lang="zh-TW" altLang="en-US" sz="3000" dirty="0"/>
              <a:t>比例風險函數模型預測病患罹患阿茲海默症的機率及風險，以便及早給予病人適當的治療；希望減少病人填寫部分不必要的問卷調查和檢查，使醫院、醫護人員、病人</a:t>
            </a:r>
            <a:r>
              <a:rPr lang="en-US" altLang="zh-TW" sz="3000" dirty="0"/>
              <a:t>/</a:t>
            </a:r>
            <a:r>
              <a:rPr lang="zh-TW" altLang="en-US" sz="3000" dirty="0"/>
              <a:t>照顧家屬三方都能受益。</a:t>
            </a:r>
            <a:endParaRPr lang="en-US" altLang="zh-TW" sz="30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3000" dirty="0"/>
              <a:t>本研究僅使用單一家醫學中心的資料，所建構的模型是否有可推展性，還需要使用別家醫院的資料作外部驗證。</a:t>
            </a:r>
            <a:endParaRPr lang="en-US" altLang="zh-TW" sz="3000" dirty="0"/>
          </a:p>
          <a:p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EFAE23-A0D7-4763-8841-364F475A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5829" y="6356350"/>
            <a:ext cx="779767" cy="365125"/>
          </a:xfrm>
        </p:spPr>
        <p:txBody>
          <a:bodyPr/>
          <a:lstStyle/>
          <a:p>
            <a:fld id="{850A69B3-6E1B-4E7E-B7AC-588186BCF1AE}" type="slidenum">
              <a:rPr lang="zh-TW" altLang="en-US" smtClean="0">
                <a:solidFill>
                  <a:schemeClr val="tx1"/>
                </a:solidFill>
              </a:rPr>
              <a:t>6</a:t>
            </a:fld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834585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775</TotalTime>
  <Words>1042</Words>
  <Application>Microsoft Office PowerPoint</Application>
  <PresentationFormat>寬螢幕</PresentationFormat>
  <Paragraphs>361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新細明體</vt:lpstr>
      <vt:lpstr>Arial</vt:lpstr>
      <vt:lpstr>Calibri</vt:lpstr>
      <vt:lpstr>Cambria</vt:lpstr>
      <vt:lpstr>Century Gothic</vt:lpstr>
      <vt:lpstr>Times New Roman</vt:lpstr>
      <vt:lpstr>Wingdings</vt:lpstr>
      <vt:lpstr>Wingdings 3</vt:lpstr>
      <vt:lpstr>絲縷</vt:lpstr>
      <vt:lpstr>混合失智模型1</vt:lpstr>
      <vt:lpstr>混合失智模型2</vt:lpstr>
      <vt:lpstr>混合失智模型1</vt:lpstr>
      <vt:lpstr>混合失智模型1</vt:lpstr>
      <vt:lpstr>PowerPoint 簡報</vt:lpstr>
      <vt:lpstr>研究限制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混合失智模型</dc:title>
  <dc:creator>mcma</dc:creator>
  <cp:lastModifiedBy>宗祐 李</cp:lastModifiedBy>
  <cp:revision>16</cp:revision>
  <dcterms:created xsi:type="dcterms:W3CDTF">2024-08-09T05:21:29Z</dcterms:created>
  <dcterms:modified xsi:type="dcterms:W3CDTF">2024-09-16T08:28:38Z</dcterms:modified>
</cp:coreProperties>
</file>