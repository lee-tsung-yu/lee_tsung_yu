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85" r:id="rId2"/>
    <p:sldId id="344" r:id="rId3"/>
    <p:sldId id="342" r:id="rId4"/>
    <p:sldId id="34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190D9C-090A-7831-8084-189D89AD0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3911" y="212286"/>
            <a:ext cx="10515600" cy="797753"/>
          </a:xfrm>
        </p:spPr>
        <p:txBody>
          <a:bodyPr>
            <a:normAutofit/>
          </a:bodyPr>
          <a:lstStyle/>
          <a:p>
            <a:r>
              <a:rPr lang="zh-TW" altLang="en-US" sz="3600" dirty="0"/>
              <a:t>混合失智模型</a:t>
            </a:r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9E095E5-DEB2-ACDD-5B66-A8D769B76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69B3-6E1B-4E7E-B7AC-588186BCF1AE}" type="slidenum">
              <a:rPr lang="zh-TW" altLang="en-US" smtClean="0"/>
              <a:t>1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C4E6F48-3CE4-B54D-2230-B51B9265B19F}"/>
              </a:ext>
            </a:extLst>
          </p:cNvPr>
          <p:cNvSpPr txBox="1"/>
          <p:nvPr/>
        </p:nvSpPr>
        <p:spPr>
          <a:xfrm>
            <a:off x="838199" y="4951357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TW" altLang="en-US" sz="2400" b="1" dirty="0">
                <a:solidFill>
                  <a:srgbClr val="0000FF"/>
                </a:solidFill>
              </a:rPr>
              <a:t>插補遺失值的模型並不會減少</a:t>
            </a:r>
            <a:r>
              <a:rPr lang="en-US" altLang="zh-TW" sz="2400" b="1" dirty="0">
                <a:solidFill>
                  <a:srgbClr val="0000FF"/>
                </a:solidFill>
              </a:rPr>
              <a:t>AIC</a:t>
            </a:r>
            <a:r>
              <a:rPr lang="zh-TW" altLang="en-US" sz="2400" b="1" dirty="0">
                <a:solidFill>
                  <a:srgbClr val="0000FF"/>
                </a:solidFill>
              </a:rPr>
              <a:t>。</a:t>
            </a:r>
            <a:endParaRPr lang="en-US" altLang="zh-TW" sz="2400" b="1" dirty="0">
              <a:solidFill>
                <a:srgbClr val="0000F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TW" altLang="zh-TW" sz="2400" b="1" dirty="0">
                <a:solidFill>
                  <a:srgbClr val="0000FF"/>
                </a:solidFill>
              </a:rPr>
              <a:t>有</a:t>
            </a:r>
            <a:r>
              <a:rPr lang="en-US" altLang="zh-TW" sz="2400" b="1" dirty="0">
                <a:solidFill>
                  <a:srgbClr val="0000FF"/>
                </a:solidFill>
              </a:rPr>
              <a:t>APOE(E4</a:t>
            </a:r>
            <a:r>
              <a:rPr lang="zh-TW" altLang="en-US" sz="2400" b="1" dirty="0">
                <a:solidFill>
                  <a:srgbClr val="0000FF"/>
                </a:solidFill>
              </a:rPr>
              <a:t>基因</a:t>
            </a:r>
            <a:r>
              <a:rPr lang="en-US" altLang="zh-TW" sz="2400" b="1" dirty="0">
                <a:solidFill>
                  <a:srgbClr val="0000FF"/>
                </a:solidFill>
              </a:rPr>
              <a:t>)</a:t>
            </a:r>
            <a:r>
              <a:rPr lang="zh-TW" altLang="en-US" sz="2400" b="1" dirty="0">
                <a:solidFill>
                  <a:srgbClr val="0000FF"/>
                </a:solidFill>
              </a:rPr>
              <a:t>者</a:t>
            </a:r>
            <a:r>
              <a:rPr lang="zh-TW" altLang="zh-TW" sz="2400" b="1" dirty="0">
                <a:solidFill>
                  <a:srgbClr val="0000FF"/>
                </a:solidFill>
              </a:rPr>
              <a:t>失智的</a:t>
            </a:r>
            <a:r>
              <a:rPr lang="zh-TW" altLang="en-US" sz="2400" b="1" dirty="0">
                <a:solidFill>
                  <a:srgbClr val="0000FF"/>
                </a:solidFill>
              </a:rPr>
              <a:t>機率和風險</a:t>
            </a:r>
            <a:r>
              <a:rPr lang="zh-TW" altLang="zh-TW" sz="2400" b="1" dirty="0">
                <a:solidFill>
                  <a:srgbClr val="0000FF"/>
                </a:solidFill>
              </a:rPr>
              <a:t>較</a:t>
            </a:r>
            <a:r>
              <a:rPr lang="zh-TW" altLang="en-US" sz="2400" b="1" dirty="0">
                <a:solidFill>
                  <a:srgbClr val="0000FF"/>
                </a:solidFill>
              </a:rPr>
              <a:t>高</a:t>
            </a:r>
            <a:r>
              <a:rPr lang="en-US" altLang="zh-TW" sz="2400" b="1" dirty="0">
                <a:solidFill>
                  <a:srgbClr val="0000FF"/>
                </a:solidFill>
              </a:rPr>
              <a:t>(</a:t>
            </a:r>
            <a:r>
              <a:rPr lang="zh-TW" altLang="en-US" sz="2400" b="1" dirty="0">
                <a:solidFill>
                  <a:srgbClr val="0000FF"/>
                </a:solidFill>
              </a:rPr>
              <a:t>發生失智的年齡較年輕</a:t>
            </a:r>
            <a:r>
              <a:rPr lang="en-US" altLang="zh-TW" sz="2400" b="1" dirty="0">
                <a:solidFill>
                  <a:srgbClr val="0000FF"/>
                </a:solidFill>
              </a:rPr>
              <a:t>)</a:t>
            </a:r>
            <a:r>
              <a:rPr lang="zh-TW" altLang="zh-TW" sz="2400" b="1" dirty="0">
                <a:solidFill>
                  <a:srgbClr val="0000FF"/>
                </a:solidFill>
              </a:rPr>
              <a:t>；</a:t>
            </a:r>
            <a:r>
              <a:rPr lang="en-US" altLang="zh-TW" sz="2400" b="1" dirty="0">
                <a:solidFill>
                  <a:srgbClr val="0000FF"/>
                </a:solidFill>
              </a:rPr>
              <a:t>MMSE</a:t>
            </a:r>
            <a:r>
              <a:rPr lang="zh-TW" altLang="en-US" sz="2400" b="1" dirty="0">
                <a:solidFill>
                  <a:srgbClr val="0000FF"/>
                </a:solidFill>
              </a:rPr>
              <a:t>的</a:t>
            </a:r>
            <a:r>
              <a:rPr lang="zh-TW" altLang="zh-TW" sz="2400" b="1" dirty="0">
                <a:solidFill>
                  <a:srgbClr val="0000FF"/>
                </a:solidFill>
              </a:rPr>
              <a:t>分數愈高，失智的機率</a:t>
            </a:r>
            <a:r>
              <a:rPr lang="zh-TW" altLang="en-US" sz="2400" b="1" dirty="0">
                <a:solidFill>
                  <a:srgbClr val="0000FF"/>
                </a:solidFill>
              </a:rPr>
              <a:t>較小和風險</a:t>
            </a:r>
            <a:r>
              <a:rPr lang="zh-TW" altLang="zh-TW" sz="2400" b="1" dirty="0">
                <a:solidFill>
                  <a:srgbClr val="0000FF"/>
                </a:solidFill>
              </a:rPr>
              <a:t>較</a:t>
            </a:r>
            <a:r>
              <a:rPr lang="zh-TW" altLang="en-US" sz="2400" b="1" dirty="0">
                <a:solidFill>
                  <a:srgbClr val="0000FF"/>
                </a:solidFill>
              </a:rPr>
              <a:t>小</a:t>
            </a:r>
            <a:r>
              <a:rPr lang="en-US" altLang="zh-TW" sz="2400" b="1" dirty="0">
                <a:solidFill>
                  <a:srgbClr val="0000FF"/>
                </a:solidFill>
              </a:rPr>
              <a:t>(</a:t>
            </a:r>
            <a:r>
              <a:rPr lang="zh-TW" altLang="en-US" sz="2400" b="1" dirty="0">
                <a:solidFill>
                  <a:srgbClr val="0000FF"/>
                </a:solidFill>
              </a:rPr>
              <a:t>發生失智的年齡較年長</a:t>
            </a:r>
            <a:r>
              <a:rPr lang="en-US" altLang="zh-TW" sz="2400" b="1" dirty="0">
                <a:solidFill>
                  <a:srgbClr val="0000FF"/>
                </a:solidFill>
              </a:rPr>
              <a:t>) </a:t>
            </a:r>
            <a:r>
              <a:rPr lang="zh-TW" altLang="zh-TW" sz="2400" b="1" dirty="0">
                <a:solidFill>
                  <a:srgbClr val="0000FF"/>
                </a:solidFill>
              </a:rPr>
              <a:t>。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7287CC0D-B1F4-47E1-9BCE-A906154815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445775"/>
              </p:ext>
            </p:extLst>
          </p:nvPr>
        </p:nvGraphicFramePr>
        <p:xfrm>
          <a:off x="508000" y="1162877"/>
          <a:ext cx="5588000" cy="32918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70491">
                  <a:extLst>
                    <a:ext uri="{9D8B030D-6E8A-4147-A177-3AD203B41FA5}">
                      <a16:colId xmlns:a16="http://schemas.microsoft.com/office/drawing/2014/main" val="2775945670"/>
                    </a:ext>
                  </a:extLst>
                </a:gridCol>
                <a:gridCol w="1118629">
                  <a:extLst>
                    <a:ext uri="{9D8B030D-6E8A-4147-A177-3AD203B41FA5}">
                      <a16:colId xmlns:a16="http://schemas.microsoft.com/office/drawing/2014/main" val="1832857645"/>
                    </a:ext>
                  </a:extLst>
                </a:gridCol>
                <a:gridCol w="1191636">
                  <a:extLst>
                    <a:ext uri="{9D8B030D-6E8A-4147-A177-3AD203B41FA5}">
                      <a16:colId xmlns:a16="http://schemas.microsoft.com/office/drawing/2014/main" val="2418515152"/>
                    </a:ext>
                  </a:extLst>
                </a:gridCol>
                <a:gridCol w="1076310">
                  <a:extLst>
                    <a:ext uri="{9D8B030D-6E8A-4147-A177-3AD203B41FA5}">
                      <a16:colId xmlns:a16="http://schemas.microsoft.com/office/drawing/2014/main" val="2918117853"/>
                    </a:ext>
                  </a:extLst>
                </a:gridCol>
                <a:gridCol w="1130934">
                  <a:extLst>
                    <a:ext uri="{9D8B030D-6E8A-4147-A177-3AD203B41FA5}">
                      <a16:colId xmlns:a16="http://schemas.microsoft.com/office/drawing/2014/main" val="5775781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Variables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Estimate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S.E.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Odds ratio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P value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532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Intercept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25.627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7.667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&lt; 0.001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239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Gender</a:t>
                      </a:r>
                      <a:endParaRPr lang="zh-TW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1.605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4.977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3.224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0.619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160283"/>
                  </a:ext>
                </a:extLst>
              </a:tr>
              <a:tr h="6361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APOE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9.551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&gt; 1000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1.912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&lt; 0.001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285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MMSE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-0.850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0.427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0.299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0.004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174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Variables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Estimate</a:t>
                      </a:r>
                      <a:endParaRPr lang="zh-TW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S.E.</a:t>
                      </a:r>
                      <a:endParaRPr lang="zh-TW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Hazard ratio</a:t>
                      </a:r>
                      <a:endParaRPr lang="zh-TW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P value</a:t>
                      </a:r>
                      <a:endParaRPr lang="zh-TW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262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Intercept</a:t>
                      </a:r>
                      <a:endParaRPr lang="zh-TW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-10.163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0.743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&lt; 0.001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599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Gender</a:t>
                      </a:r>
                      <a:endParaRPr lang="zh-TW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-0.042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0.959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0.077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0.582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673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APOE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0.161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1.174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0.065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0.014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203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MMSE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-0.057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0.945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0.008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&lt; 0.001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515742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7302B97E-C965-4026-936B-1F25123B03F3}"/>
              </a:ext>
            </a:extLst>
          </p:cNvPr>
          <p:cNvSpPr/>
          <p:nvPr/>
        </p:nvSpPr>
        <p:spPr>
          <a:xfrm>
            <a:off x="427383" y="4518371"/>
            <a:ext cx="43396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AIC of model: 2078.71 for the imputing data</a:t>
            </a:r>
            <a:endParaRPr lang="zh-TW" altLang="en-US" dirty="0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E8907396-C214-4771-A25C-171513E588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711671"/>
              </p:ext>
            </p:extLst>
          </p:nvPr>
        </p:nvGraphicFramePr>
        <p:xfrm>
          <a:off x="6188766" y="1162877"/>
          <a:ext cx="5844208" cy="32918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65266">
                  <a:extLst>
                    <a:ext uri="{9D8B030D-6E8A-4147-A177-3AD203B41FA5}">
                      <a16:colId xmlns:a16="http://schemas.microsoft.com/office/drawing/2014/main" val="2775945670"/>
                    </a:ext>
                  </a:extLst>
                </a:gridCol>
                <a:gridCol w="1133841">
                  <a:extLst>
                    <a:ext uri="{9D8B030D-6E8A-4147-A177-3AD203B41FA5}">
                      <a16:colId xmlns:a16="http://schemas.microsoft.com/office/drawing/2014/main" val="1832857645"/>
                    </a:ext>
                  </a:extLst>
                </a:gridCol>
                <a:gridCol w="1207841">
                  <a:extLst>
                    <a:ext uri="{9D8B030D-6E8A-4147-A177-3AD203B41FA5}">
                      <a16:colId xmlns:a16="http://schemas.microsoft.com/office/drawing/2014/main" val="2418515152"/>
                    </a:ext>
                  </a:extLst>
                </a:gridCol>
                <a:gridCol w="1097663">
                  <a:extLst>
                    <a:ext uri="{9D8B030D-6E8A-4147-A177-3AD203B41FA5}">
                      <a16:colId xmlns:a16="http://schemas.microsoft.com/office/drawing/2014/main" val="2918117853"/>
                    </a:ext>
                  </a:extLst>
                </a:gridCol>
                <a:gridCol w="1139597">
                  <a:extLst>
                    <a:ext uri="{9D8B030D-6E8A-4147-A177-3AD203B41FA5}">
                      <a16:colId xmlns:a16="http://schemas.microsoft.com/office/drawing/2014/main" val="5775781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Variables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Estimate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S.E.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Odds ratio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P value</a:t>
                      </a:r>
                      <a:endParaRPr lang="zh-TW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532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Intercept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24.984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5.741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&lt; 0.001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239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Gender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0.843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2.322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2.496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0.736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160283"/>
                  </a:ext>
                </a:extLst>
              </a:tr>
              <a:tr h="6361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APOE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24.093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&gt; 1000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1.756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&lt; 0.001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285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MMSE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-0.828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0.437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0.233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&lt; 0.001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174982"/>
                  </a:ext>
                </a:extLst>
              </a:tr>
              <a:tr h="7156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Variables</a:t>
                      </a:r>
                      <a:endParaRPr lang="zh-TW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Estimate</a:t>
                      </a:r>
                      <a:endParaRPr lang="zh-TW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S.E.</a:t>
                      </a:r>
                      <a:endParaRPr lang="zh-TW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Hazard ratio</a:t>
                      </a:r>
                      <a:endParaRPr lang="zh-TW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P value</a:t>
                      </a:r>
                      <a:endParaRPr lang="zh-TW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262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Intercept</a:t>
                      </a:r>
                      <a:endParaRPr lang="zh-TW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-10.335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0.750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&lt; 0.001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599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Gender</a:t>
                      </a:r>
                      <a:endParaRPr lang="zh-TW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-0.035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0.965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0.078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0.653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673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APOE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0.155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1.168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0.068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0.022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203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MMSE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-0.056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0.945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0.009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&lt; 0.001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515742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B24F3707-315A-489E-A83D-DCCE37B185D5}"/>
              </a:ext>
            </a:extLst>
          </p:cNvPr>
          <p:cNvSpPr/>
          <p:nvPr/>
        </p:nvSpPr>
        <p:spPr>
          <a:xfrm>
            <a:off x="6188766" y="4518371"/>
            <a:ext cx="43524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AIC of model: 2076.00 for the complete data</a:t>
            </a:r>
            <a:endParaRPr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D5A435-1D83-4A00-B0B2-95E188C42C90}"/>
              </a:ext>
            </a:extLst>
          </p:cNvPr>
          <p:cNvSpPr/>
          <p:nvPr/>
        </p:nvSpPr>
        <p:spPr>
          <a:xfrm>
            <a:off x="5203617" y="729891"/>
            <a:ext cx="50578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kern="100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Table 1.</a:t>
            </a:r>
            <a:r>
              <a:rPr lang="en-US" altLang="zh-TW" kern="100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kern="100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TW" altLang="en-US" b="1" kern="100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kern="100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mixed dementia model</a:t>
            </a:r>
            <a:r>
              <a:rPr lang="zh-TW" altLang="en-US" b="1" kern="100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kern="100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(n=329) 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1260139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190D9C-090A-7831-8084-189D89AD0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2400" y="144067"/>
            <a:ext cx="10515600" cy="797753"/>
          </a:xfrm>
        </p:spPr>
        <p:txBody>
          <a:bodyPr>
            <a:normAutofit/>
          </a:bodyPr>
          <a:lstStyle/>
          <a:p>
            <a:r>
              <a:rPr lang="zh-TW" altLang="en-US" sz="3600" dirty="0"/>
              <a:t>混合失智模型</a:t>
            </a:r>
            <a:r>
              <a:rPr lang="en-US" altLang="zh-TW" sz="3600" dirty="0"/>
              <a:t>2</a:t>
            </a:r>
            <a:endParaRPr lang="zh-TW" altLang="en-US" sz="36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9E095E5-DEB2-ACDD-5B66-A8D769B76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69B3-6E1B-4E7E-B7AC-588186BCF1AE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C4E6F48-3CE4-B54D-2230-B51B9265B19F}"/>
              </a:ext>
            </a:extLst>
          </p:cNvPr>
          <p:cNvSpPr txBox="1"/>
          <p:nvPr/>
        </p:nvSpPr>
        <p:spPr>
          <a:xfrm>
            <a:off x="838199" y="4951357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TW" altLang="en-US" sz="2400" b="1" dirty="0">
                <a:solidFill>
                  <a:srgbClr val="0000FF"/>
                </a:solidFill>
              </a:rPr>
              <a:t>插補遺失值的模型並不會減少</a:t>
            </a:r>
            <a:r>
              <a:rPr lang="en-US" altLang="zh-TW" sz="2400" b="1" dirty="0">
                <a:solidFill>
                  <a:srgbClr val="0000FF"/>
                </a:solidFill>
              </a:rPr>
              <a:t>AIC</a:t>
            </a:r>
            <a:r>
              <a:rPr lang="zh-TW" altLang="en-US" sz="2400" b="1" dirty="0">
                <a:solidFill>
                  <a:srgbClr val="0000FF"/>
                </a:solidFill>
              </a:rPr>
              <a:t>。</a:t>
            </a:r>
            <a:endParaRPr lang="en-US" altLang="zh-TW" sz="2400" b="1" dirty="0">
              <a:solidFill>
                <a:srgbClr val="0000F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TW" altLang="zh-TW" sz="2400" b="1" dirty="0">
                <a:solidFill>
                  <a:srgbClr val="0000FF"/>
                </a:solidFill>
              </a:rPr>
              <a:t>有</a:t>
            </a:r>
            <a:r>
              <a:rPr lang="en-US" altLang="zh-TW" sz="2400" b="1" dirty="0">
                <a:solidFill>
                  <a:srgbClr val="0000FF"/>
                </a:solidFill>
              </a:rPr>
              <a:t>APOE(E4</a:t>
            </a:r>
            <a:r>
              <a:rPr lang="zh-TW" altLang="en-US" sz="2400" b="1" dirty="0">
                <a:solidFill>
                  <a:srgbClr val="0000FF"/>
                </a:solidFill>
              </a:rPr>
              <a:t>基因</a:t>
            </a:r>
            <a:r>
              <a:rPr lang="en-US" altLang="zh-TW" sz="2400" b="1" dirty="0">
                <a:solidFill>
                  <a:srgbClr val="0000FF"/>
                </a:solidFill>
              </a:rPr>
              <a:t>)</a:t>
            </a:r>
            <a:r>
              <a:rPr lang="zh-TW" altLang="en-US" sz="2400" b="1" dirty="0">
                <a:solidFill>
                  <a:srgbClr val="0000FF"/>
                </a:solidFill>
              </a:rPr>
              <a:t>者</a:t>
            </a:r>
            <a:r>
              <a:rPr lang="zh-TW" altLang="zh-TW" sz="2400" b="1" dirty="0">
                <a:solidFill>
                  <a:srgbClr val="0000FF"/>
                </a:solidFill>
              </a:rPr>
              <a:t>失智的</a:t>
            </a:r>
            <a:r>
              <a:rPr lang="zh-TW" altLang="en-US" sz="2400" b="1" dirty="0">
                <a:solidFill>
                  <a:srgbClr val="0000FF"/>
                </a:solidFill>
              </a:rPr>
              <a:t>風險</a:t>
            </a:r>
            <a:r>
              <a:rPr lang="zh-TW" altLang="zh-TW" sz="2400" b="1" dirty="0">
                <a:solidFill>
                  <a:srgbClr val="0000FF"/>
                </a:solidFill>
              </a:rPr>
              <a:t>較</a:t>
            </a:r>
            <a:r>
              <a:rPr lang="zh-TW" altLang="en-US" sz="2400" b="1" dirty="0">
                <a:solidFill>
                  <a:srgbClr val="0000FF"/>
                </a:solidFill>
              </a:rPr>
              <a:t>高</a:t>
            </a:r>
            <a:r>
              <a:rPr lang="en-US" altLang="zh-TW" sz="2400" b="1" dirty="0">
                <a:solidFill>
                  <a:srgbClr val="0000FF"/>
                </a:solidFill>
              </a:rPr>
              <a:t>(</a:t>
            </a:r>
            <a:r>
              <a:rPr lang="zh-TW" altLang="en-US" sz="2400" b="1" dirty="0">
                <a:solidFill>
                  <a:srgbClr val="0000FF"/>
                </a:solidFill>
              </a:rPr>
              <a:t>發生失智的年齡較年輕</a:t>
            </a:r>
            <a:r>
              <a:rPr lang="en-US" altLang="zh-TW" sz="2400" b="1" dirty="0">
                <a:solidFill>
                  <a:srgbClr val="0000FF"/>
                </a:solidFill>
              </a:rPr>
              <a:t>)</a:t>
            </a:r>
            <a:r>
              <a:rPr lang="zh-TW" altLang="zh-TW" sz="2400" b="1" dirty="0">
                <a:solidFill>
                  <a:srgbClr val="0000FF"/>
                </a:solidFill>
              </a:rPr>
              <a:t>；</a:t>
            </a:r>
            <a:r>
              <a:rPr lang="en-US" altLang="zh-TW" sz="2400" b="1" dirty="0">
                <a:solidFill>
                  <a:srgbClr val="0000FF"/>
                </a:solidFill>
              </a:rPr>
              <a:t>CASI</a:t>
            </a:r>
            <a:r>
              <a:rPr lang="zh-TW" altLang="en-US" sz="2400" b="1" dirty="0">
                <a:solidFill>
                  <a:srgbClr val="0000FF"/>
                </a:solidFill>
              </a:rPr>
              <a:t>的</a:t>
            </a:r>
            <a:r>
              <a:rPr lang="zh-TW" altLang="zh-TW" sz="2400" b="1" dirty="0">
                <a:solidFill>
                  <a:srgbClr val="0000FF"/>
                </a:solidFill>
              </a:rPr>
              <a:t>分數愈高，失智的機率</a:t>
            </a:r>
            <a:r>
              <a:rPr lang="zh-TW" altLang="en-US" sz="2400" b="1" dirty="0">
                <a:solidFill>
                  <a:srgbClr val="0000FF"/>
                </a:solidFill>
              </a:rPr>
              <a:t>較小和風險</a:t>
            </a:r>
            <a:r>
              <a:rPr lang="zh-TW" altLang="zh-TW" sz="2400" b="1" dirty="0">
                <a:solidFill>
                  <a:srgbClr val="0000FF"/>
                </a:solidFill>
              </a:rPr>
              <a:t>較</a:t>
            </a:r>
            <a:r>
              <a:rPr lang="zh-TW" altLang="en-US" sz="2400" b="1" dirty="0">
                <a:solidFill>
                  <a:srgbClr val="0000FF"/>
                </a:solidFill>
              </a:rPr>
              <a:t>小</a:t>
            </a:r>
            <a:r>
              <a:rPr lang="en-US" altLang="zh-TW" sz="2400" b="1" dirty="0">
                <a:solidFill>
                  <a:srgbClr val="0000FF"/>
                </a:solidFill>
              </a:rPr>
              <a:t>(</a:t>
            </a:r>
            <a:r>
              <a:rPr lang="zh-TW" altLang="en-US" sz="2400" b="1" dirty="0">
                <a:solidFill>
                  <a:srgbClr val="0000FF"/>
                </a:solidFill>
              </a:rPr>
              <a:t>發生失智的年齡較年長</a:t>
            </a:r>
            <a:r>
              <a:rPr lang="en-US" altLang="zh-TW" sz="2400" b="1" dirty="0">
                <a:solidFill>
                  <a:srgbClr val="0000FF"/>
                </a:solidFill>
              </a:rPr>
              <a:t>) </a:t>
            </a:r>
            <a:r>
              <a:rPr lang="zh-TW" altLang="zh-TW" sz="2400" b="1" dirty="0">
                <a:solidFill>
                  <a:srgbClr val="0000FF"/>
                </a:solidFill>
              </a:rPr>
              <a:t>。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7287CC0D-B1F4-47E1-9BCE-A906154815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3713123"/>
              </p:ext>
            </p:extLst>
          </p:nvPr>
        </p:nvGraphicFramePr>
        <p:xfrm>
          <a:off x="330200" y="1162877"/>
          <a:ext cx="5765800" cy="32918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48291">
                  <a:extLst>
                    <a:ext uri="{9D8B030D-6E8A-4147-A177-3AD203B41FA5}">
                      <a16:colId xmlns:a16="http://schemas.microsoft.com/office/drawing/2014/main" val="2775945670"/>
                    </a:ext>
                  </a:extLst>
                </a:gridCol>
                <a:gridCol w="1118629">
                  <a:extLst>
                    <a:ext uri="{9D8B030D-6E8A-4147-A177-3AD203B41FA5}">
                      <a16:colId xmlns:a16="http://schemas.microsoft.com/office/drawing/2014/main" val="1832857645"/>
                    </a:ext>
                  </a:extLst>
                </a:gridCol>
                <a:gridCol w="1191636">
                  <a:extLst>
                    <a:ext uri="{9D8B030D-6E8A-4147-A177-3AD203B41FA5}">
                      <a16:colId xmlns:a16="http://schemas.microsoft.com/office/drawing/2014/main" val="2418515152"/>
                    </a:ext>
                  </a:extLst>
                </a:gridCol>
                <a:gridCol w="1076310">
                  <a:extLst>
                    <a:ext uri="{9D8B030D-6E8A-4147-A177-3AD203B41FA5}">
                      <a16:colId xmlns:a16="http://schemas.microsoft.com/office/drawing/2014/main" val="2918117853"/>
                    </a:ext>
                  </a:extLst>
                </a:gridCol>
                <a:gridCol w="1130934">
                  <a:extLst>
                    <a:ext uri="{9D8B030D-6E8A-4147-A177-3AD203B41FA5}">
                      <a16:colId xmlns:a16="http://schemas.microsoft.com/office/drawing/2014/main" val="5775781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Variables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Estimate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S.E.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Odds ratio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P value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532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Intercept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49.084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17.344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0.005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239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Gender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18.651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2.090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&gt; 1000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&lt; 0.001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160283"/>
                  </a:ext>
                </a:extLst>
              </a:tr>
              <a:tr h="6361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APOE</a:t>
                      </a:r>
                      <a:endParaRPr lang="zh-TW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3.539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3.712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34.438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0.340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285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ASI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-0.507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0.190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0.602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0.008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174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Variables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Estimate</a:t>
                      </a:r>
                      <a:endParaRPr lang="zh-TW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S.E.</a:t>
                      </a:r>
                      <a:endParaRPr lang="zh-TW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Hazard ratio</a:t>
                      </a:r>
                      <a:endParaRPr lang="zh-TW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P value</a:t>
                      </a:r>
                      <a:endParaRPr lang="zh-TW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262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Intercept</a:t>
                      </a:r>
                      <a:endParaRPr lang="zh-TW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-10.779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0.775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&lt; </a:t>
                      </a: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0.001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599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Gender</a:t>
                      </a:r>
                      <a:endParaRPr lang="zh-TW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-0.038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0.073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0.963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0.600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673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APOE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0.207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0.069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1.230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0.003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203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ASI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-0.017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0.002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0.983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&lt; 0.001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515742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7302B97E-C965-4026-936B-1F25123B03F3}"/>
              </a:ext>
            </a:extLst>
          </p:cNvPr>
          <p:cNvSpPr/>
          <p:nvPr/>
        </p:nvSpPr>
        <p:spPr>
          <a:xfrm>
            <a:off x="427383" y="4518371"/>
            <a:ext cx="44550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AIC of model: 2022.92 for the imputing data</a:t>
            </a:r>
            <a:endParaRPr lang="zh-TW" altLang="en-US" dirty="0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E8907396-C214-4771-A25C-171513E588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6441660"/>
              </p:ext>
            </p:extLst>
          </p:nvPr>
        </p:nvGraphicFramePr>
        <p:xfrm>
          <a:off x="6188766" y="1162877"/>
          <a:ext cx="5844208" cy="32918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65266">
                  <a:extLst>
                    <a:ext uri="{9D8B030D-6E8A-4147-A177-3AD203B41FA5}">
                      <a16:colId xmlns:a16="http://schemas.microsoft.com/office/drawing/2014/main" val="2775945670"/>
                    </a:ext>
                  </a:extLst>
                </a:gridCol>
                <a:gridCol w="1133841">
                  <a:extLst>
                    <a:ext uri="{9D8B030D-6E8A-4147-A177-3AD203B41FA5}">
                      <a16:colId xmlns:a16="http://schemas.microsoft.com/office/drawing/2014/main" val="1832857645"/>
                    </a:ext>
                  </a:extLst>
                </a:gridCol>
                <a:gridCol w="1207841">
                  <a:extLst>
                    <a:ext uri="{9D8B030D-6E8A-4147-A177-3AD203B41FA5}">
                      <a16:colId xmlns:a16="http://schemas.microsoft.com/office/drawing/2014/main" val="2418515152"/>
                    </a:ext>
                  </a:extLst>
                </a:gridCol>
                <a:gridCol w="1097663">
                  <a:extLst>
                    <a:ext uri="{9D8B030D-6E8A-4147-A177-3AD203B41FA5}">
                      <a16:colId xmlns:a16="http://schemas.microsoft.com/office/drawing/2014/main" val="2918117853"/>
                    </a:ext>
                  </a:extLst>
                </a:gridCol>
                <a:gridCol w="1139597">
                  <a:extLst>
                    <a:ext uri="{9D8B030D-6E8A-4147-A177-3AD203B41FA5}">
                      <a16:colId xmlns:a16="http://schemas.microsoft.com/office/drawing/2014/main" val="5775781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Variables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Estimate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S.E.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Odds ratio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P value</a:t>
                      </a:r>
                      <a:endParaRPr lang="zh-TW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532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Intercept</a:t>
                      </a:r>
                      <a:endParaRPr lang="zh-TW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50.363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17.467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0.004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239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Gender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11.249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2.190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&gt; 1000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&lt; 0.001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160283"/>
                  </a:ext>
                </a:extLst>
              </a:tr>
              <a:tr h="6361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APOE</a:t>
                      </a:r>
                      <a:endParaRPr lang="zh-TW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5.969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3.479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391.054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0.086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285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ASI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-0.519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0.191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0.595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0.007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174982"/>
                  </a:ext>
                </a:extLst>
              </a:tr>
              <a:tr h="7156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Variables</a:t>
                      </a:r>
                      <a:endParaRPr lang="zh-TW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Estimate</a:t>
                      </a:r>
                      <a:endParaRPr lang="zh-TW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S.E.</a:t>
                      </a:r>
                      <a:endParaRPr lang="zh-TW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Hazard ratio</a:t>
                      </a:r>
                      <a:endParaRPr lang="zh-TW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P value</a:t>
                      </a:r>
                      <a:endParaRPr lang="zh-TW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262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Intercept</a:t>
                      </a:r>
                      <a:endParaRPr lang="zh-TW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-12.803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0.868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&lt; 0.001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599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Gender</a:t>
                      </a:r>
                      <a:endParaRPr lang="zh-TW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-0.035</a:t>
                      </a:r>
                      <a:endParaRPr lang="zh-TW" sz="18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0.077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0.966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0.649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673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APOE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0.211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0.072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1.235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0.003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203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ASI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-0.018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0.002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0.983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&lt; 0.001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515742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B24F3707-315A-489E-A83D-DCCE37B185D5}"/>
              </a:ext>
            </a:extLst>
          </p:cNvPr>
          <p:cNvSpPr/>
          <p:nvPr/>
        </p:nvSpPr>
        <p:spPr>
          <a:xfrm>
            <a:off x="6188766" y="4518371"/>
            <a:ext cx="43524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AIC of model: 1948.63 for the complete data</a:t>
            </a:r>
            <a:endParaRPr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D5A435-1D83-4A00-B0B2-95E188C42C90}"/>
              </a:ext>
            </a:extLst>
          </p:cNvPr>
          <p:cNvSpPr/>
          <p:nvPr/>
        </p:nvSpPr>
        <p:spPr>
          <a:xfrm>
            <a:off x="5491484" y="708072"/>
            <a:ext cx="49216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kern="100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Table 2.</a:t>
            </a:r>
            <a:r>
              <a:rPr lang="en-US" altLang="zh-TW" kern="100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kern="100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TW" altLang="en-US" b="1" kern="100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kern="100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mixed dementia model</a:t>
            </a:r>
            <a:r>
              <a:rPr lang="zh-TW" altLang="en-US" b="1" kern="100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kern="100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(n=329) 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988539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F8EEFA3-B0F9-465C-A2CD-299228844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69B3-6E1B-4E7E-B7AC-588186BCF1AE}" type="slidenum">
              <a:rPr lang="zh-TW" altLang="en-US" smtClean="0"/>
              <a:t>3</a:t>
            </a:fld>
            <a:endParaRPr lang="zh-TW" altLang="en-US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2D30D4BE-C809-41A6-83FE-64E1E60E7C0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276061" y="1321713"/>
          <a:ext cx="5072380" cy="121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60195">
                  <a:extLst>
                    <a:ext uri="{9D8B030D-6E8A-4147-A177-3AD203B41FA5}">
                      <a16:colId xmlns:a16="http://schemas.microsoft.com/office/drawing/2014/main" val="1718768630"/>
                    </a:ext>
                  </a:extLst>
                </a:gridCol>
                <a:gridCol w="1755775">
                  <a:extLst>
                    <a:ext uri="{9D8B030D-6E8A-4147-A177-3AD203B41FA5}">
                      <a16:colId xmlns:a16="http://schemas.microsoft.com/office/drawing/2014/main" val="3651178615"/>
                    </a:ext>
                  </a:extLst>
                </a:gridCol>
                <a:gridCol w="1756410">
                  <a:extLst>
                    <a:ext uri="{9D8B030D-6E8A-4147-A177-3AD203B41FA5}">
                      <a16:colId xmlns:a16="http://schemas.microsoft.com/office/drawing/2014/main" val="8964620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Gender</a:t>
                      </a:r>
                      <a:endParaRPr lang="zh-TW" sz="2000" b="1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APOE</a:t>
                      </a:r>
                      <a:endParaRPr lang="zh-TW" sz="20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TW" sz="20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TW" sz="20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8617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TW" sz="2000" b="1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70.844</a:t>
                      </a:r>
                      <a:endParaRPr lang="zh-TW" sz="20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71.822</a:t>
                      </a:r>
                      <a:endParaRPr lang="zh-TW" sz="20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804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TW" sz="2000" b="1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65.777</a:t>
                      </a:r>
                      <a:endParaRPr lang="zh-TW" sz="2000" b="1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66.686</a:t>
                      </a:r>
                      <a:endParaRPr lang="zh-TW" sz="20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317442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FB84CF1D-832B-4AA2-AA1A-F4AE1BA5D48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178271" y="3429000"/>
          <a:ext cx="5267960" cy="121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55775">
                  <a:extLst>
                    <a:ext uri="{9D8B030D-6E8A-4147-A177-3AD203B41FA5}">
                      <a16:colId xmlns:a16="http://schemas.microsoft.com/office/drawing/2014/main" val="2037856827"/>
                    </a:ext>
                  </a:extLst>
                </a:gridCol>
                <a:gridCol w="1755775">
                  <a:extLst>
                    <a:ext uri="{9D8B030D-6E8A-4147-A177-3AD203B41FA5}">
                      <a16:colId xmlns:a16="http://schemas.microsoft.com/office/drawing/2014/main" val="3255661443"/>
                    </a:ext>
                  </a:extLst>
                </a:gridCol>
                <a:gridCol w="1756410">
                  <a:extLst>
                    <a:ext uri="{9D8B030D-6E8A-4147-A177-3AD203B41FA5}">
                      <a16:colId xmlns:a16="http://schemas.microsoft.com/office/drawing/2014/main" val="7884085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Gender</a:t>
                      </a:r>
                      <a:endParaRPr lang="zh-TW" sz="2000" b="1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APOE</a:t>
                      </a:r>
                      <a:endParaRPr lang="zh-TW" sz="20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TW" sz="20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TW" sz="20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052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TW" sz="2000" b="1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71.187</a:t>
                      </a:r>
                      <a:endParaRPr lang="zh-TW" sz="2000" b="1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71.951</a:t>
                      </a:r>
                      <a:endParaRPr lang="zh-TW" sz="20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386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TW" sz="2000" b="1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66.726</a:t>
                      </a:r>
                      <a:endParaRPr lang="zh-TW" sz="2000" b="1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67.442</a:t>
                      </a:r>
                      <a:endParaRPr lang="zh-TW" sz="20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509268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56246D6C-DA69-42E9-852F-6D08136C0531}"/>
              </a:ext>
            </a:extLst>
          </p:cNvPr>
          <p:cNvSpPr/>
          <p:nvPr/>
        </p:nvSpPr>
        <p:spPr>
          <a:xfrm>
            <a:off x="2042547" y="33256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TW" b="1" kern="100" dirty="0">
                <a:solidFill>
                  <a:srgbClr val="0D0D0D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Table 3.</a:t>
            </a:r>
            <a:r>
              <a:rPr lang="en-US" altLang="zh-TW" kern="100" dirty="0">
                <a:solidFill>
                  <a:srgbClr val="0D0D0D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en-US" altLang="zh-TW" kern="1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the median time of the final </a:t>
            </a:r>
            <a:r>
              <a:rPr lang="en-US" altLang="zh-TW" kern="100" dirty="0">
                <a:solidFill>
                  <a:srgbClr val="0D0D0D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dementia by gender and APOE based on the </a:t>
            </a:r>
            <a:r>
              <a:rPr lang="en-US" altLang="zh-TW" kern="1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median of CASI (</a:t>
            </a:r>
            <a:r>
              <a:rPr lang="en-US" altLang="zh-TW" kern="100" dirty="0">
                <a:highlight>
                  <a:srgbClr val="FFFF00"/>
                </a:highlight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Imputation</a:t>
            </a:r>
            <a:r>
              <a:rPr lang="en-US" altLang="zh-TW" kern="1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)</a:t>
            </a:r>
            <a:endParaRPr lang="zh-TW" altLang="zh-TW" kern="100" dirty="0"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9C6FAC-83DE-48A0-84C2-D9D1ACA929B3}"/>
              </a:ext>
            </a:extLst>
          </p:cNvPr>
          <p:cNvSpPr/>
          <p:nvPr/>
        </p:nvSpPr>
        <p:spPr>
          <a:xfrm>
            <a:off x="2042547" y="2682701"/>
            <a:ext cx="70070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TW" b="1" kern="100" dirty="0">
                <a:solidFill>
                  <a:srgbClr val="0D0D0D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Table 4.</a:t>
            </a:r>
            <a:r>
              <a:rPr lang="en-US" altLang="zh-TW" kern="100" dirty="0">
                <a:solidFill>
                  <a:srgbClr val="0D0D0D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en-US" altLang="zh-TW" kern="1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the median time of the final </a:t>
            </a:r>
            <a:r>
              <a:rPr lang="en-US" altLang="zh-TW" kern="100" dirty="0">
                <a:solidFill>
                  <a:srgbClr val="0D0D0D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dementia by gender and APOE based on the </a:t>
            </a:r>
            <a:r>
              <a:rPr lang="en-US" altLang="zh-TW" kern="1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median of CASI (</a:t>
            </a:r>
            <a:r>
              <a:rPr lang="en-US" altLang="zh-TW" kern="100" dirty="0">
                <a:highlight>
                  <a:srgbClr val="FFFF00"/>
                </a:highlight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complete case</a:t>
            </a:r>
            <a:r>
              <a:rPr lang="en-US" altLang="zh-TW" kern="1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)</a:t>
            </a:r>
            <a:endParaRPr lang="zh-TW" altLang="zh-TW" kern="100" dirty="0"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0602DAAE-B90B-4DD6-A00A-FC81AD2AF9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11074"/>
              </p:ext>
            </p:extLst>
          </p:nvPr>
        </p:nvGraphicFramePr>
        <p:xfrm>
          <a:off x="1388533" y="4785525"/>
          <a:ext cx="10183194" cy="1753935"/>
        </p:xfrm>
        <a:graphic>
          <a:graphicData uri="http://schemas.openxmlformats.org/drawingml/2006/table">
            <a:tbl>
              <a:tblPr/>
              <a:tblGrid>
                <a:gridCol w="797445">
                  <a:extLst>
                    <a:ext uri="{9D8B030D-6E8A-4147-A177-3AD203B41FA5}">
                      <a16:colId xmlns:a16="http://schemas.microsoft.com/office/drawing/2014/main" val="648324548"/>
                    </a:ext>
                  </a:extLst>
                </a:gridCol>
                <a:gridCol w="647722">
                  <a:extLst>
                    <a:ext uri="{9D8B030D-6E8A-4147-A177-3AD203B41FA5}">
                      <a16:colId xmlns:a16="http://schemas.microsoft.com/office/drawing/2014/main" val="2164724351"/>
                    </a:ext>
                  </a:extLst>
                </a:gridCol>
                <a:gridCol w="500141">
                  <a:extLst>
                    <a:ext uri="{9D8B030D-6E8A-4147-A177-3AD203B41FA5}">
                      <a16:colId xmlns:a16="http://schemas.microsoft.com/office/drawing/2014/main" val="2621807452"/>
                    </a:ext>
                  </a:extLst>
                </a:gridCol>
                <a:gridCol w="573219">
                  <a:extLst>
                    <a:ext uri="{9D8B030D-6E8A-4147-A177-3AD203B41FA5}">
                      <a16:colId xmlns:a16="http://schemas.microsoft.com/office/drawing/2014/main" val="4100398745"/>
                    </a:ext>
                  </a:extLst>
                </a:gridCol>
                <a:gridCol w="761474">
                  <a:extLst>
                    <a:ext uri="{9D8B030D-6E8A-4147-A177-3AD203B41FA5}">
                      <a16:colId xmlns:a16="http://schemas.microsoft.com/office/drawing/2014/main" val="505586595"/>
                    </a:ext>
                  </a:extLst>
                </a:gridCol>
                <a:gridCol w="656000">
                  <a:extLst>
                    <a:ext uri="{9D8B030D-6E8A-4147-A177-3AD203B41FA5}">
                      <a16:colId xmlns:a16="http://schemas.microsoft.com/office/drawing/2014/main" val="1074813452"/>
                    </a:ext>
                  </a:extLst>
                </a:gridCol>
                <a:gridCol w="898965">
                  <a:extLst>
                    <a:ext uri="{9D8B030D-6E8A-4147-A177-3AD203B41FA5}">
                      <a16:colId xmlns:a16="http://schemas.microsoft.com/office/drawing/2014/main" val="143823452"/>
                    </a:ext>
                  </a:extLst>
                </a:gridCol>
                <a:gridCol w="862519">
                  <a:extLst>
                    <a:ext uri="{9D8B030D-6E8A-4147-A177-3AD203B41FA5}">
                      <a16:colId xmlns:a16="http://schemas.microsoft.com/office/drawing/2014/main" val="1934715894"/>
                    </a:ext>
                  </a:extLst>
                </a:gridCol>
                <a:gridCol w="813927">
                  <a:extLst>
                    <a:ext uri="{9D8B030D-6E8A-4147-A177-3AD203B41FA5}">
                      <a16:colId xmlns:a16="http://schemas.microsoft.com/office/drawing/2014/main" val="1913117617"/>
                    </a:ext>
                  </a:extLst>
                </a:gridCol>
                <a:gridCol w="829112">
                  <a:extLst>
                    <a:ext uri="{9D8B030D-6E8A-4147-A177-3AD203B41FA5}">
                      <a16:colId xmlns:a16="http://schemas.microsoft.com/office/drawing/2014/main" val="697446826"/>
                    </a:ext>
                  </a:extLst>
                </a:gridCol>
                <a:gridCol w="1360594">
                  <a:extLst>
                    <a:ext uri="{9D8B030D-6E8A-4147-A177-3AD203B41FA5}">
                      <a16:colId xmlns:a16="http://schemas.microsoft.com/office/drawing/2014/main" val="10970454"/>
                    </a:ext>
                  </a:extLst>
                </a:gridCol>
                <a:gridCol w="1482076">
                  <a:extLst>
                    <a:ext uri="{9D8B030D-6E8A-4147-A177-3AD203B41FA5}">
                      <a16:colId xmlns:a16="http://schemas.microsoft.com/office/drawing/2014/main" val="2781520526"/>
                    </a:ext>
                  </a:extLst>
                </a:gridCol>
              </a:tblGrid>
              <a:tr h="77173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PIDN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Gender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event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Birth</a:t>
                      </a:r>
                    </a:p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Year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Education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APOE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Diagnosis</a:t>
                      </a:r>
                    </a:p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age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MMSE</a:t>
                      </a:r>
                    </a:p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score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CDR</a:t>
                      </a:r>
                    </a:p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score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CASI</a:t>
                      </a:r>
                    </a:p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score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The probability of never experiencing dementia until death(Imputation)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The probability of never experiencing dementia until death(Complete case)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2938781"/>
                  </a:ext>
                </a:extLst>
              </a:tr>
              <a:tr h="2070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7073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1956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22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62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30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99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0.754 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0.738 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030716"/>
                  </a:ext>
                </a:extLst>
              </a:tr>
              <a:tr h="2070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8533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1966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14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54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30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99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0.754 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0.738 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9000499"/>
                  </a:ext>
                </a:extLst>
              </a:tr>
              <a:tr h="2070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8539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1961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12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59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30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99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0.754 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0.738 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037364"/>
                  </a:ext>
                </a:extLst>
              </a:tr>
              <a:tr h="2070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3497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1953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16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63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29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99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0.754 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0.738 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474234"/>
                  </a:ext>
                </a:extLst>
              </a:tr>
            </a:tbl>
          </a:graphicData>
        </a:graphic>
      </p:graphicFrame>
      <p:sp>
        <p:nvSpPr>
          <p:cNvPr id="13" name="語音泡泡: 矩形 12">
            <a:extLst>
              <a:ext uri="{FF2B5EF4-FFF2-40B4-BE49-F238E27FC236}">
                <a16:creationId xmlns:a16="http://schemas.microsoft.com/office/drawing/2014/main" id="{831B2429-49C2-4CF6-B938-281E5663CD12}"/>
              </a:ext>
            </a:extLst>
          </p:cNvPr>
          <p:cNvSpPr/>
          <p:nvPr/>
        </p:nvSpPr>
        <p:spPr>
          <a:xfrm>
            <a:off x="7446231" y="787782"/>
            <a:ext cx="3935673" cy="1168629"/>
          </a:xfrm>
          <a:prstGeom prst="wedgeRectCallout">
            <a:avLst>
              <a:gd name="adj1" fmla="val -54451"/>
              <a:gd name="adj2" fmla="val 63289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男</a:t>
            </a:r>
            <a:r>
              <a:rPr lang="zh-TW" altLang="zh-TW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性</a:t>
            </a:r>
            <a:r>
              <a:rPr lang="zh-TW" altLang="en-US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，</a:t>
            </a:r>
            <a:r>
              <a:rPr lang="en-US" altLang="zh-TW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CASI=84</a:t>
            </a:r>
            <a:r>
              <a:rPr lang="zh-TW" altLang="en-US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，</a:t>
            </a:r>
            <a:r>
              <a:rPr lang="zh-TW" altLang="zh-TW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沒有</a:t>
            </a:r>
            <a:r>
              <a:rPr lang="en-US" altLang="zh-TW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APOE4</a:t>
            </a:r>
            <a:r>
              <a:rPr lang="zh-TW" altLang="en-US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基因者</a:t>
            </a:r>
            <a:r>
              <a:rPr lang="zh-TW" altLang="zh-TW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失智年齡的中位數</a:t>
            </a:r>
            <a:r>
              <a:rPr lang="zh-TW" altLang="en-US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為</a:t>
            </a:r>
            <a:r>
              <a:rPr lang="en-US" altLang="zh-TW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71.8</a:t>
            </a:r>
            <a:r>
              <a:rPr lang="zh-TW" altLang="zh-TW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歲</a:t>
            </a:r>
            <a:r>
              <a:rPr lang="zh-TW" altLang="en-US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。平均來說，男性比女性大約晚</a:t>
            </a:r>
            <a:r>
              <a:rPr lang="en-US" altLang="zh-TW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1</a:t>
            </a:r>
            <a:r>
              <a:rPr lang="zh-TW" altLang="en-US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年失智，有</a:t>
            </a:r>
            <a:r>
              <a:rPr lang="en-US" altLang="zh-TW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APOE E4</a:t>
            </a:r>
            <a:r>
              <a:rPr lang="zh-TW" altLang="en-US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基因者大約會提早</a:t>
            </a:r>
            <a:r>
              <a:rPr lang="en-US" altLang="zh-TW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5</a:t>
            </a:r>
            <a:r>
              <a:rPr lang="zh-TW" altLang="en-US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年失智。</a:t>
            </a:r>
            <a:endParaRPr lang="zh-TW" altLang="en-US" dirty="0"/>
          </a:p>
        </p:txBody>
      </p:sp>
      <p:sp>
        <p:nvSpPr>
          <p:cNvPr id="14" name="語音泡泡: 矩形 13">
            <a:extLst>
              <a:ext uri="{FF2B5EF4-FFF2-40B4-BE49-F238E27FC236}">
                <a16:creationId xmlns:a16="http://schemas.microsoft.com/office/drawing/2014/main" id="{B4B4E496-780A-41C7-8A80-E4AB78233DEA}"/>
              </a:ext>
            </a:extLst>
          </p:cNvPr>
          <p:cNvSpPr/>
          <p:nvPr/>
        </p:nvSpPr>
        <p:spPr>
          <a:xfrm>
            <a:off x="8014363" y="3466357"/>
            <a:ext cx="3935673" cy="800861"/>
          </a:xfrm>
          <a:prstGeom prst="wedgeRectCallout">
            <a:avLst>
              <a:gd name="adj1" fmla="val 23210"/>
              <a:gd name="adj2" fmla="val 117712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女</a:t>
            </a:r>
            <a:r>
              <a:rPr lang="zh-TW" altLang="zh-TW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性</a:t>
            </a:r>
            <a:r>
              <a:rPr lang="zh-TW" altLang="en-US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，</a:t>
            </a:r>
            <a:r>
              <a:rPr lang="en-US" altLang="zh-TW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CASI=99</a:t>
            </a:r>
            <a:r>
              <a:rPr lang="zh-TW" altLang="en-US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，</a:t>
            </a:r>
            <a:r>
              <a:rPr lang="zh-TW" altLang="zh-TW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沒有</a:t>
            </a:r>
            <a:r>
              <a:rPr lang="en-US" altLang="zh-TW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APOE</a:t>
            </a:r>
            <a:r>
              <a:rPr lang="zh-TW" altLang="en-US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 </a:t>
            </a:r>
            <a:r>
              <a:rPr lang="en-US" altLang="zh-TW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E4</a:t>
            </a:r>
            <a:r>
              <a:rPr lang="zh-TW" altLang="en-US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基因者終生不會</a:t>
            </a:r>
            <a:r>
              <a:rPr lang="zh-TW" altLang="zh-TW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失智的</a:t>
            </a:r>
            <a:r>
              <a:rPr lang="zh-TW" altLang="en-US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機率為</a:t>
            </a:r>
            <a:r>
              <a:rPr lang="en-US" altLang="zh-TW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0.738</a:t>
            </a:r>
            <a:r>
              <a:rPr lang="zh-TW" altLang="en-US" b="1" kern="0" dirty="0">
                <a:solidFill>
                  <a:srgbClr val="0000FF"/>
                </a:solidFill>
                <a:ea typeface="新細明體" panose="02020500000000000000" pitchFamily="18" charset="-120"/>
                <a:cs typeface="新細明體" panose="02020500000000000000" pitchFamily="18" charset="-120"/>
              </a:rPr>
              <a:t>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33342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FC5E02-A27B-455D-8D8A-BE62BD1B5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1066" y="314362"/>
            <a:ext cx="9609667" cy="946840"/>
          </a:xfrm>
        </p:spPr>
        <p:txBody>
          <a:bodyPr>
            <a:normAutofit/>
          </a:bodyPr>
          <a:lstStyle/>
          <a:p>
            <a:r>
              <a:rPr lang="zh-TW" altLang="en-US" sz="4000" dirty="0"/>
              <a:t>研究限制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1B2E72E-C9E1-4019-BCF6-E5F90E92E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579" y="1371600"/>
            <a:ext cx="10274134" cy="498475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zh-TW" altLang="en-US" sz="3000" dirty="0"/>
              <a:t>本研究屬於回溯性研究。因為性別、教育程度、</a:t>
            </a:r>
            <a:r>
              <a:rPr lang="en-US" altLang="zh-TW" sz="3000" dirty="0"/>
              <a:t>MMSE</a:t>
            </a:r>
            <a:r>
              <a:rPr lang="zh-TW" altLang="en-US" sz="3000" dirty="0"/>
              <a:t>和</a:t>
            </a:r>
            <a:r>
              <a:rPr lang="en-US" altLang="zh-TW" sz="3000" dirty="0"/>
              <a:t>CASI</a:t>
            </a:r>
            <a:r>
              <a:rPr lang="zh-TW" altLang="en-US" sz="3000" dirty="0"/>
              <a:t>之間兩兩有關，混合失智模型需要再考慮交互作用項</a:t>
            </a:r>
            <a:endParaRPr lang="en-US" altLang="zh-TW" sz="3000" dirty="0"/>
          </a:p>
          <a:p>
            <a:pPr>
              <a:spcBef>
                <a:spcPts val="600"/>
              </a:spcBef>
            </a:pPr>
            <a:r>
              <a:rPr lang="zh-TW" altLang="en-US" sz="3000" dirty="0"/>
              <a:t>混合失智模型的研究成果能協助醫師，同時依據羅吉斯迴歸模型和</a:t>
            </a:r>
            <a:r>
              <a:rPr lang="en-US" altLang="zh-TW" sz="3000" dirty="0"/>
              <a:t>Cox</a:t>
            </a:r>
            <a:r>
              <a:rPr lang="zh-TW" altLang="en-US" sz="3000" dirty="0"/>
              <a:t>比例風險函數模型預測病患罹患阿茲海默症的機率及風險，以便及早給予病人適當的治療；希望減少病人填寫部分不必要的問卷調查和檢查，使醫院、醫護人員、病人</a:t>
            </a:r>
            <a:r>
              <a:rPr lang="en-US" altLang="zh-TW" sz="3000" dirty="0"/>
              <a:t>/</a:t>
            </a:r>
            <a:r>
              <a:rPr lang="zh-TW" altLang="en-US" sz="3000" dirty="0"/>
              <a:t>照顧家屬三方都能受益。</a:t>
            </a:r>
            <a:endParaRPr lang="en-US" altLang="zh-TW" sz="3000" dirty="0"/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TW" altLang="en-US" sz="3000" dirty="0"/>
              <a:t>本研究僅使用單一家醫學中心的資料，所建構的模型是否有可推展性，還需要使用別家醫院的資料作外部驗證。</a:t>
            </a:r>
            <a:endParaRPr lang="en-US" altLang="zh-TW" sz="3000" dirty="0"/>
          </a:p>
          <a:p>
            <a:endParaRPr lang="zh-TW" altLang="en-US" sz="36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BEFAE23-A0D7-4763-8841-364F475AA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69B3-6E1B-4E7E-B7AC-588186BCF1A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1834585"/>
      </p:ext>
    </p:extLst>
  </p:cSld>
  <p:clrMapOvr>
    <a:masterClrMapping/>
  </p:clrMapOvr>
</p:sld>
</file>

<file path=ppt/theme/theme1.xml><?xml version="1.0" encoding="utf-8"?>
<a:theme xmlns:a="http://schemas.openxmlformats.org/drawingml/2006/main" name="絲縷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99</TotalTime>
  <Words>826</Words>
  <Application>Microsoft Office PowerPoint</Application>
  <PresentationFormat>寬螢幕</PresentationFormat>
  <Paragraphs>309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5" baseType="lpstr">
      <vt:lpstr>微軟正黑體</vt:lpstr>
      <vt:lpstr>新細明體</vt:lpstr>
      <vt:lpstr>標楷體</vt:lpstr>
      <vt:lpstr>Arial</vt:lpstr>
      <vt:lpstr>Calibri</vt:lpstr>
      <vt:lpstr>Cambria</vt:lpstr>
      <vt:lpstr>Century Gothic</vt:lpstr>
      <vt:lpstr>Times New Roman</vt:lpstr>
      <vt:lpstr>Wingdings</vt:lpstr>
      <vt:lpstr>Wingdings 3</vt:lpstr>
      <vt:lpstr>絲縷</vt:lpstr>
      <vt:lpstr>混合失智模型1</vt:lpstr>
      <vt:lpstr>混合失智模型2</vt:lpstr>
      <vt:lpstr>PowerPoint 簡報</vt:lpstr>
      <vt:lpstr>研究限制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混合失智模型</dc:title>
  <dc:creator>mcma</dc:creator>
  <cp:lastModifiedBy>mcma</cp:lastModifiedBy>
  <cp:revision>13</cp:revision>
  <dcterms:created xsi:type="dcterms:W3CDTF">2024-08-09T05:21:29Z</dcterms:created>
  <dcterms:modified xsi:type="dcterms:W3CDTF">2024-08-09T07:40:29Z</dcterms:modified>
</cp:coreProperties>
</file>