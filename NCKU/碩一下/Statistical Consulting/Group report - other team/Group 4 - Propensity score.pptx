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14"/>
          <a:sy d="100" n="114"/>
        </p:scale>
        <p:origin x="562" y="8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1" Type="http://schemas.openxmlformats.org/officeDocument/2006/relationships/viewProps" Target="viewProps.xml" /><Relationship Id="rId7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3" Type="http://schemas.openxmlformats.org/officeDocument/2006/relationships/tableStyles" Target="tableStyles.xml" /><Relationship Id="rId7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738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558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19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1456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192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8517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88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70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0049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b="b" l="0" r="r" t="0"/>
              <a:pathLst>
                <a:path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b="b" l="0" r="r" t="0"/>
              <a:pathLst>
                <a:path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b="b" l="0" r="r" t="0"/>
              <a:pathLst>
                <a:path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b="b" l="0" r="r" t="0"/>
              <a:pathLst>
                <a:path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b="b" l="0" r="r" t="0"/>
              <a:pathLst>
                <a:path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b="b" l="0" r="r" t="0"/>
              <a:pathLst>
                <a:path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b="b" l="0" r="r" t="0"/>
              <a:pathLst>
                <a:path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b="b" l="0" r="r" t="0"/>
              <a:pathLst>
                <a:path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b="b" l="0" r="r" t="0"/>
              <a:pathLst>
                <a:path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b="b" l="0" r="r" t="0"/>
              <a:pathLst>
                <a:path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b="b" l="0" r="r" t="0"/>
              <a:pathLst>
                <a:path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b="b" l="0" r="r" t="0"/>
              <a:pathLst>
                <a:path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118"/>
            <a:ext cx="1767506" cy="5139822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b="b" l="0" r="r" t="0"/>
              <a:pathLst>
                <a:path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b="b" l="0" r="r" t="0"/>
              <a:pathLst>
                <a:path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b="b" l="0" r="r" t="0"/>
              <a:pathLst>
                <a:path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b="b" l="0" r="r" t="0"/>
              <a:pathLst>
                <a:path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b="b" l="0" r="r" t="0"/>
              <a:pathLst>
                <a:path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b="b" l="0" r="r" t="0"/>
              <a:pathLst>
                <a:path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b="b" l="0" r="r" t="0"/>
              <a:pathLst>
                <a:path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b="b" l="0" r="r" t="0"/>
              <a:pathLst>
                <a:path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b="b" l="0" r="r" t="0"/>
              <a:pathLst>
                <a:path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b="b" l="0" r="r" t="0"/>
              <a:pathLst>
                <a:path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b="b" l="0" r="r" t="0"/>
              <a:pathLst>
                <a:path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b="b" l="0" r="r" t="0"/>
              <a:pathLst>
                <a:path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anchor="t" bIns="45720" lIns="91440" rIns="91440" rtlCol="0" tIns="45720" vert="horz">
            <a:normAutofit/>
          </a:bodyPr>
          <a:lstStyle/>
          <a:p>
            <a:r>
              <a:rPr altLang="en-US" dirty="0" lang="zh-TW"/>
              <a:t>按一下以編輯母片標題樣式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TW"/>
              <a:t>按一下以編輯母片文字樣式</a:t>
            </a:r>
          </a:p>
          <a:p>
            <a:pPr lvl="1"/>
            <a:r>
              <a:rPr altLang="en-US" dirty="0" lang="zh-TW"/>
              <a:t>第二層</a:t>
            </a:r>
          </a:p>
          <a:p>
            <a:pPr lvl="2"/>
            <a:r>
              <a:rPr altLang="en-US" dirty="0" lang="zh-TW"/>
              <a:t>第三層</a:t>
            </a:r>
          </a:p>
          <a:p>
            <a:pPr lvl="3"/>
            <a:r>
              <a:rPr altLang="en-US" dirty="0" lang="zh-TW"/>
              <a:t>第四層</a:t>
            </a:r>
          </a:p>
          <a:p>
            <a:pPr lvl="4"/>
            <a:r>
              <a:rPr altLang="en-US" dirty="0" lang="zh-TW"/>
              <a:t>第五層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9097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3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342900" eaLnBrk="1" hangingPunct="1" indent="-257175" latinLnBrk="0" marL="257175" rtl="0">
        <a:spcBef>
          <a:spcPts val="750"/>
        </a:spcBef>
        <a:spcAft>
          <a:spcPts val="0"/>
        </a:spcAft>
        <a:buClr>
          <a:schemeClr val="accent1"/>
        </a:buClr>
        <a:buFont charset="2" typeface="Wingdings 3"/>
        <a:buChar char=""/>
        <a:defRPr kern="1200"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algn="l" defTabSz="342900" eaLnBrk="1" hangingPunct="1" indent="-214313" latinLnBrk="0" marL="557213" rtl="0">
        <a:spcBef>
          <a:spcPts val="750"/>
        </a:spcBef>
        <a:spcAft>
          <a:spcPts val="0"/>
        </a:spcAft>
        <a:buClr>
          <a:schemeClr val="accent1"/>
        </a:buClr>
        <a:buFont charset="2" typeface="Wingdings 3"/>
        <a:buChar char=""/>
        <a:defRPr kern="1200"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algn="l" defTabSz="342900" eaLnBrk="1" hangingPunct="1" indent="-171450" latinLnBrk="0" marL="857250" rtl="0">
        <a:spcBef>
          <a:spcPts val="750"/>
        </a:spcBef>
        <a:spcAft>
          <a:spcPts val="0"/>
        </a:spcAft>
        <a:buClr>
          <a:schemeClr val="accent1"/>
        </a:buClr>
        <a:buFont charset="2" typeface="Wingdings 3"/>
        <a:buChar char=""/>
        <a:defRPr kern="1200"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algn="l" defTabSz="342900" eaLnBrk="1" hangingPunct="1" indent="-171450" latinLnBrk="0" marL="1200150" rtl="0">
        <a:spcBef>
          <a:spcPts val="750"/>
        </a:spcBef>
        <a:spcAft>
          <a:spcPts val="0"/>
        </a:spcAft>
        <a:buClr>
          <a:schemeClr val="accent1"/>
        </a:buClr>
        <a:buFont charset="2" typeface="Wingdings 3"/>
        <a:buChar char=""/>
        <a:defRPr kern="1200" sz="11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algn="l" defTabSz="342900" eaLnBrk="1" hangingPunct="1" indent="-171450" latinLnBrk="0" marL="1543050" rtl="0">
        <a:spcBef>
          <a:spcPts val="750"/>
        </a:spcBef>
        <a:spcAft>
          <a:spcPts val="0"/>
        </a:spcAft>
        <a:buClr>
          <a:schemeClr val="accent1"/>
        </a:buClr>
        <a:buFont charset="2" typeface="Wingdings 3"/>
        <a:buChar char=""/>
        <a:defRPr kern="1200" sz="11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algn="l" defTabSz="342900" eaLnBrk="1" hangingPunct="1" indent="-171450" latinLnBrk="0" marL="1885950" rtl="0">
        <a:spcBef>
          <a:spcPts val="750"/>
        </a:spcBef>
        <a:spcAft>
          <a:spcPts val="0"/>
        </a:spcAft>
        <a:buClr>
          <a:schemeClr val="accent1"/>
        </a:buClr>
        <a:buFont charset="2" typeface="Wingdings 3"/>
        <a:buChar char="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algn="l" defTabSz="342900" eaLnBrk="1" hangingPunct="1" indent="-171450" latinLnBrk="0" marL="2228850" rtl="0">
        <a:spcBef>
          <a:spcPts val="750"/>
        </a:spcBef>
        <a:spcAft>
          <a:spcPts val="0"/>
        </a:spcAft>
        <a:buClr>
          <a:schemeClr val="accent1"/>
        </a:buClr>
        <a:buFont charset="2" typeface="Wingdings 3"/>
        <a:buChar char="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algn="l" defTabSz="342900" eaLnBrk="1" hangingPunct="1" indent="-171450" latinLnBrk="0" marL="2571750" rtl="0">
        <a:spcBef>
          <a:spcPts val="750"/>
        </a:spcBef>
        <a:spcAft>
          <a:spcPts val="0"/>
        </a:spcAft>
        <a:buClr>
          <a:schemeClr val="accent1"/>
        </a:buClr>
        <a:buFont charset="2" typeface="Wingdings 3"/>
        <a:buChar char="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algn="l" defTabSz="342900" eaLnBrk="1" hangingPunct="1" indent="-171450" latinLnBrk="0" marL="2914650" rtl="0">
        <a:spcBef>
          <a:spcPts val="750"/>
        </a:spcBef>
        <a:spcAft>
          <a:spcPts val="0"/>
        </a:spcAft>
        <a:buClr>
          <a:schemeClr val="accent1"/>
        </a:buClr>
        <a:buFont charset="2" typeface="Wingdings 3"/>
        <a:buChar char="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3.xml" /><Relationship Id="rId3" Type="http://schemas.openxmlformats.org/officeDocument/2006/relationships/slide" Target="slide10.xml" /><Relationship Id="rId4" Type="http://schemas.openxmlformats.org/officeDocument/2006/relationships/slide" Target="slide17.xml" /><Relationship Id="rId5" Type="http://schemas.openxmlformats.org/officeDocument/2006/relationships/slide" Target="slide5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7.png" /><Relationship Id="rId2" Type="http://schemas.openxmlformats.org/officeDocument/2006/relationships/image" Target="../media/image6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openpublishing.library.umass.edu/pare/article/1370/galley/1321/view/" TargetMode="Externa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1.png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2.png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3.png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5.png" /><Relationship Id="rId2" Type="http://schemas.openxmlformats.org/officeDocument/2006/relationships/image" Target="../media/image23.png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7.png" /><Relationship Id="rId2" Type="http://schemas.openxmlformats.org/officeDocument/2006/relationships/image" Target="../media/image23.png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8.png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9.png" /><Relationship Id="rId2" Type="http://schemas.openxmlformats.org/officeDocument/2006/relationships/image" Target="../media/image23.png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0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Statistic matching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苗鈺(RE6111016),蔡昇翰(R28114014),林詠晴(H24096045)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 action="ppaction://hlinksldjump"/>
              </a:rPr>
              <a:t>introduction</a:t>
            </a:r>
          </a:p>
          <a:p>
            <a:pPr lvl="0"/>
            <a:r>
              <a:rPr>
                <a:hlinkClick r:id="rId3" action="ppaction://hlinksldjump"/>
              </a:rPr>
              <a:t>Matching Methods</a:t>
            </a:r>
          </a:p>
          <a:p>
            <a:pPr lvl="0"/>
            <a:r>
              <a:rPr>
                <a:hlinkClick r:id="rId4" action="ppaction://hlinksldjump"/>
              </a:rPr>
              <a:t>Propensity Score</a:t>
            </a:r>
          </a:p>
          <a:p>
            <a:pPr lvl="0"/>
            <a:r>
              <a:rPr>
                <a:hlinkClick r:id="rId5" action="ppaction://hlinksldjump"/>
              </a:rPr>
              <a:t>example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 s statistical matching</a:t>
            </a:r>
          </a:p>
        </p:txBody>
      </p:sp>
      <p:pic>
        <p:nvPicPr>
          <p:cNvPr descr="pictur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30400" y="1905000"/>
            <a:ext cx="6680200" cy="229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Types of Epidemiological studies</a:t>
            </a:r>
          </a:p>
        </p:txBody>
      </p:sp>
      <p:pic>
        <p:nvPicPr>
          <p:cNvPr descr="pictur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81300" y="1600200"/>
            <a:ext cx="4965700" cy="290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do we need statistical matching?</a:t>
            </a:r>
          </a:p>
        </p:txBody>
      </p:sp>
      <p:pic>
        <p:nvPicPr>
          <p:cNvPr descr="pictur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30400" y="2463800"/>
            <a:ext cx="6680200" cy="116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do we need statistical matching?</a:t>
            </a:r>
          </a:p>
        </p:txBody>
      </p:sp>
      <p:pic>
        <p:nvPicPr>
          <p:cNvPr descr="pictur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06600" y="1600200"/>
            <a:ext cx="6515100" cy="290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1.Conditionally independent(matching variables v.s. confounding factors)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2.Validity of matching variables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3.Availability and quality of data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4.Appropriate selection of Matching method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1.Data Completeness Enhancement (Data imputation, transformation, and filtering)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2.Bias Reduction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3.Comparability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Matching Methods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Nearest Neighbor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Description:</a:t>
            </a:r>
          </a:p>
          <a:p>
            <a:pPr lvl="0"/>
            <a:r>
              <a:rPr/>
              <a:t>Match each treated unit with the closest control unit based on a defined distance or similarity metrics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Pros:</a:t>
            </a:r>
          </a:p>
          <a:p>
            <a:pPr lvl="0"/>
            <a:r>
              <a:rPr/>
              <a:t>Simple to implement, computationally efficient.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Cons:</a:t>
            </a:r>
          </a:p>
          <a:p>
            <a:pPr lvl="0"/>
            <a:r>
              <a:rPr/>
              <a:t>May not always find the best matches, sensitive to choice of distance metric.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Nearest Neighbor Matching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Euclidean Distance 歐氏距離：</a:t>
                </a:r>
                <a14:m>
                  <m:oMath xmlns:m="http://schemas.openxmlformats.org/officeDocument/2006/math">
                    <m:r>
                      <m:t>d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y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</m:naryPr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1</m:t>
                            </m:r>
                          </m:sub>
                          <m:sup>
                            <m: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sSub>
                                      <m:e>
                                        <m: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m:t>)</m:t>
                        </m:r>
                      </m:e>
                    </m:rad>
                  </m:oMath>
                </a14:m>
              </a:p>
              <a:p>
                <a:pPr lvl="0"/>
                <a:r>
                  <a:rPr/>
                  <a:t>Manhattan Distance 曼哈頓距離：</a:t>
                </a:r>
                <a14:m>
                  <m:oMath xmlns:m="http://schemas.openxmlformats.org/officeDocument/2006/math">
                    <m:r>
                      <m:t>d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y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|"/>
                        <m:endChr m:val="|"/>
                        <m:sepChr m:val=""/>
                        <m:grow/>
                      </m:dPr>
                      <m:e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m:t>+</m:t>
                    </m:r>
                    <m:d>
                      <m:dPr>
                        <m:begChr m:val="|"/>
                        <m:endChr m:val="|"/>
                        <m:sepChr m:val=""/>
                        <m:grow/>
                      </m:dPr>
                      <m:e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2</m:t>
                            </m:r>
                          </m:sub>
                        </m:sSub>
                      </m:e>
                    </m:d>
                  </m:oMath>
                </a14:m>
              </a:p>
              <a:p>
                <a:pPr lvl="0"/>
                <a:r>
                  <a:rPr/>
                  <a:t>Cosine Similarity 餘弦相似度：</a:t>
                </a:r>
                <a14:m>
                  <m:oMath xmlns:m="http://schemas.openxmlformats.org/officeDocument/2006/math">
                    <m:r>
                      <m:t>s</m:t>
                    </m:r>
                    <m:r>
                      <m:t>i</m:t>
                    </m:r>
                    <m:r>
                      <m:t>m</m:t>
                    </m:r>
                    <m:r>
                      <m:t>i</m:t>
                    </m:r>
                    <m:r>
                      <m:t>l</m:t>
                    </m:r>
                    <m:r>
                      <m:t>a</m:t>
                    </m:r>
                    <m:r>
                      <m:t>r</m:t>
                    </m:r>
                    <m:r>
                      <m:t>i</m:t>
                    </m:r>
                    <m:r>
                      <m:t>t</m:t>
                    </m:r>
                    <m:r>
                      <m:t>y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y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r>
                          <m:rPr>
                            <m:sty m:val="p"/>
                          </m:rPr>
                          <m:t>×</m:t>
                        </m:r>
                        <m:r>
                          <m:t>y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sepChr m:val=""/>
                            <m:grow/>
                          </m:dPr>
                          <m:e>
                            <m:r>
                              <m:t>x</m:t>
                            </m:r>
                          </m:e>
                        </m:d>
                        <m:d>
                          <m:dPr>
                            <m:begChr m:val="|"/>
                            <m:endChr m:val="|"/>
                            <m:sepChr m:val=""/>
                            <m:grow/>
                          </m:dPr>
                          <m:e>
                            <m:r>
                              <m:t>y</m:t>
                            </m:r>
                          </m:e>
                        </m:d>
                      </m:den>
                    </m:f>
                  </m:oMath>
                </a14:m>
              </a:p>
              <a:p>
                <a:pPr lvl="0"/>
                <a:r>
                  <a:rPr/>
                  <a:t>Mahalanobis Distance 馬氏距離：</a:t>
                </a:r>
                <a14:m>
                  <m:oMath xmlns:m="http://schemas.openxmlformats.org/officeDocument/2006/math">
                    <m:r>
                      <m:t>d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y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y</m:t>
                                </m:r>
                              </m:e>
                            </m:d>
                          </m:e>
                          <m:sup>
                            <m:r>
                              <m:t>T</m:t>
                            </m:r>
                          </m:sup>
                        </m:sSup>
                        <m:sSup>
                          <m:e>
                            <m:r>
                              <m:t>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y</m:t>
                            </m:r>
                          </m:e>
                        </m:d>
                      </m:e>
                    </m:rad>
                  </m:oMath>
                </a14:m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Nearest Neighbor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Description:</a:t>
            </a:r>
          </a:p>
          <a:p>
            <a:pPr lvl="0"/>
            <a:r>
              <a:rPr/>
              <a:t>Match each treated unit with the closest control unit based on a defined distance or similarity metrics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Pros:</a:t>
            </a:r>
          </a:p>
          <a:p>
            <a:pPr lvl="0"/>
            <a:r>
              <a:rPr/>
              <a:t>Simplicity; No assumptions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Cons:</a:t>
            </a:r>
          </a:p>
          <a:p>
            <a:pPr lvl="0"/>
            <a:r>
              <a:rPr/>
              <a:t>Sensitive to outliers; Requires large sample sizes; Incomplete Matches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Optimal Pair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Description:</a:t>
            </a:r>
          </a:p>
          <a:p>
            <a:pPr lvl="0"/>
            <a:r>
              <a:rPr/>
              <a:t>Finds the best pairings between treated and control units to minimize the average within-pair distance or maximize the similarity between pairs.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Pros:</a:t>
            </a:r>
          </a:p>
          <a:p>
            <a:pPr lvl="0"/>
            <a:r>
              <a:rPr/>
              <a:t>Produces robust matches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Cons:</a:t>
            </a:r>
          </a:p>
          <a:p>
            <a:pPr lvl="0"/>
            <a:r>
              <a:rPr/>
              <a:t>More computing resources and time may be required.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Genetic Matching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Description:</a:t>
                </a:r>
              </a:p>
              <a:p>
                <a:pPr lvl="0"/>
                <a:r>
                  <a:rPr/>
                  <a:t>Based on the standard Mahalanobis distance along with a weighting matrix </a:t>
                </a:r>
                <a14:m>
                  <m:oMath xmlns:m="http://schemas.openxmlformats.org/officeDocument/2006/math">
                    <m:r>
                      <m:t>W</m:t>
                    </m:r>
                  </m:oMath>
                </a14:m>
                <a:r>
                  <a:rPr/>
                  <a:t>, where </a:t>
                </a:r>
                <a14:m>
                  <m:oMath xmlns:m="http://schemas.openxmlformats.org/officeDocument/2006/math">
                    <m:r>
                      <m:t>W</m:t>
                    </m:r>
                  </m:oMath>
                </a14:m>
                <a:r>
                  <a:rPr/>
                  <a:t> is a diagonal matrix with scaling factors </a:t>
                </a:r>
                <a14:m>
                  <m:oMath xmlns:m="http://schemas.openxmlformats.org/officeDocument/2006/math">
                    <m:r>
                      <m:t>w</m:t>
                    </m:r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d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sSup>
                            <m:e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y</m:t>
                                  </m:r>
                                </m:e>
                              </m:d>
                            </m:e>
                            <m:sup>
                              <m:r>
                                <m:t>T</m:t>
                              </m:r>
                            </m:sup>
                          </m:sSup>
                          <m:sSup>
                            <m:e>
                              <m:r>
                                <m:t>S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m:t>/</m:t>
                              </m:r>
                              <m:r>
                                <m:t>2</m:t>
                              </m:r>
                            </m:sup>
                          </m:sSup>
                          <m:sSup>
                            <m:e>
                              <m:r>
                                <m:t>W</m:t>
                              </m:r>
                              <m:r>
                                <m:t>S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m:t>/</m:t>
                              </m:r>
                              <m:r>
                                <m:t>2</m:t>
                              </m:r>
                            </m:sup>
                          </m:sSup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y</m:t>
                              </m:r>
                            </m:e>
                          </m:d>
                        </m:e>
                      </m:rad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Pros:</a:t>
                </a:r>
              </a:p>
              <a:p>
                <a:pPr lvl="0"/>
                <a:r>
                  <a:rPr/>
                  <a:t>Get more accurate information about the effect from covariates.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Cons:</a:t>
                </a:r>
              </a:p>
              <a:p>
                <a:pPr lvl="0"/>
                <a:r>
                  <a:rPr/>
                  <a:t>Computationally intensive, may require tuning of algorithm parameters.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Exact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Description:</a:t>
            </a:r>
          </a:p>
          <a:p>
            <a:pPr lvl="0"/>
            <a:r>
              <a:rPr/>
              <a:t>Requires each treated unit to be exactly matched with one or more control units on specified covariates.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Pros:</a:t>
            </a:r>
          </a:p>
          <a:p>
            <a:pPr lvl="0"/>
            <a:r>
              <a:rPr/>
              <a:t>Reduced Confounding Effects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Cons:</a:t>
            </a:r>
          </a:p>
          <a:p>
            <a:pPr lvl="0"/>
            <a:r>
              <a:rPr/>
              <a:t>Limited Sample Size; Potential for Selection Bias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Propensity Score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Causal effect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𝐷</m:t>
                      </m:r>
                      <m:r>
                        <m:rPr>
                          <m:sty m:val="p"/>
                        </m:rPr>
                        <m:t>:</m:t>
                      </m:r>
                      <m:r>
                        <m:rPr>
                          <m:nor/>
                          <m:sty m:val="p"/>
                        </m:rPr>
                        <m:t>treatment indicator</m:t>
                      </m:r>
                      <m:r>
                        <m:rPr>
                          <m:sty m:val="p"/>
                        </m:rPr>
                        <m:t>;</m:t>
                      </m:r>
                      <m:r>
                        <m:t>𝑋</m:t>
                      </m:r>
                      <m:r>
                        <m:rPr>
                          <m:sty m:val="p"/>
                        </m:rPr>
                        <m:t>∈</m:t>
                      </m:r>
                      <m:sSup>
                        <m:e>
                          <m:r>
                            <m:t>ℝ</m:t>
                          </m:r>
                        </m:e>
                        <m:sup>
                          <m:r>
                            <m:t>𝑝</m:t>
                          </m:r>
                        </m:sup>
                      </m:sSup>
                      <m:r>
                        <m:rPr>
                          <m:sty m:val="p"/>
                        </m:rPr>
                        <m:t>:</m:t>
                      </m:r>
                      <m:r>
                        <m:rPr>
                          <m:nor/>
                          <m:sty m:val="p"/>
                        </m:rPr>
                        <m:t>covariate of subjects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𝑌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:</m:t>
                      </m:r>
                      <m:r>
                        <m:rPr>
                          <m:nor/>
                          <m:sty m:val="p"/>
                        </m:rPr>
                        <m:t> effect of treatment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𝑌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m:t>:</m:t>
                      </m:r>
                      <m:r>
                        <m:rPr>
                          <m:nor/>
                          <m:sty m:val="p"/>
                        </m:rPr>
                        <m:t>effect of NO treatment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𝑌</m:t>
                          </m:r>
                        </m:e>
                        <m:sub>
                          <m: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𝐷</m:t>
                          </m:r>
                        </m:e>
                        <m:sub>
                          <m:r>
                            <m:t>𝑖</m:t>
                          </m:r>
                        </m:sub>
                      </m:sSub>
                      <m:sSub>
                        <m:e>
                          <m:r>
                            <m:t>𝑌</m:t>
                          </m:r>
                        </m:e>
                        <m:sub>
                          <m:r>
                            <m:t>𝑖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𝐷</m:t>
                              </m:r>
                            </m:e>
                            <m:sub>
                              <m:r>
                                <m:t>𝑖</m:t>
                              </m:r>
                            </m:sub>
                          </m:sSub>
                        </m:e>
                      </m:d>
                      <m:sSub>
                        <m:e>
                          <m:r>
                            <m:t>𝑌</m:t>
                          </m:r>
                        </m:e>
                        <m:sub>
                          <m:r>
                            <m:t>𝑖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m:t>:</m:t>
                      </m:r>
                      <m:r>
                        <m:rPr>
                          <m:nor/>
                          <m:sty m:val="p"/>
                        </m:rPr>
                        <m:t>outcome of ith subject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Treatment effect </m:t>
                      </m:r>
                      <m:sSub>
                        <m:e>
                          <m:r>
                            <m:t>𝜏</m:t>
                          </m:r>
                        </m:e>
                        <m:sub>
                          <m: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𝑖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𝑖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nor/>
                          <m:sty m:val="p"/>
                        </m:rPr>
                        <m:t> (SUTVA, Rubin)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𝜏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Ε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Ε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Y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Y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0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Confounding factor</a:t>
            </a:r>
          </a:p>
        </p:txBody>
      </p:sp>
      <p:pic>
        <p:nvPicPr>
          <p:cNvPr descr="picture/2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17800" y="1600200"/>
            <a:ext cx="5118100" cy="290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RCT vs. Non-RCT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Treatment: </m:t>
                      </m:r>
                      <m:r>
                        <m:t>Ε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𝑌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𝐷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Control: </m:t>
                      </m:r>
                      <m:r>
                        <m:t>Ε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𝑌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0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𝐷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0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RCT: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𝜏</m:t>
                      </m:r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Y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Y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0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Ε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Y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Y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0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𝐷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Ε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𝑌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𝐷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−</m:t>
                      </m:r>
                      <m:r>
                        <m:t>Ε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𝑌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0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𝐷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0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Observational study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Ε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Y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1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m:t>≠</m:t>
                      </m:r>
                      <m:r>
                        <m:t>Ε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Y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𝐷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Strongly ignorable assumption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Unconfoundedness: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𝑌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0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𝑌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1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m:t>⫫</m:t>
                      </m:r>
                      <m:r>
                        <m:t>𝐷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t>𝑋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𝑎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t>𝑠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Common support: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0</m:t>
                      </m:r>
                      <m:r>
                        <m:rPr>
                          <m:sty m:val="p"/>
                        </m:rPr>
                        <m:t>&lt;</m:t>
                      </m:r>
                      <m:r>
                        <m:t>𝑝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𝑋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𝐷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𝑋</m:t>
                          </m:r>
                        </m:e>
                      </m:d>
                      <m:r>
                        <m:rPr>
                          <m:sty m:val="p"/>
                        </m:rPr>
                        <m:t>&lt;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𝑎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t>𝑠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Propensity score</a:t>
            </a:r>
          </a:p>
        </p:txBody>
      </p:sp>
      <p:pic>
        <p:nvPicPr>
          <p:cNvPr descr="pictur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90600" y="1193800"/>
            <a:ext cx="2959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Paul R. Rosenbaum</a:t>
            </a:r>
          </a:p>
        </p:txBody>
      </p:sp>
      <p:pic>
        <p:nvPicPr>
          <p:cNvPr descr="picture/6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30800" y="1193800"/>
            <a:ext cx="3073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Donald B. Rubin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Balancing score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Balancing score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𝑏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𝑋</m:t>
                          </m:r>
                        </m:e>
                      </m:d>
                      <m:r>
                        <m:rPr>
                          <m:sty m:val="p"/>
                        </m:rPr>
                        <m:t>: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⫫</m:t>
                      </m:r>
                      <m:r>
                        <m:t>𝐷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t>𝑏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𝑋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Propensity score: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𝑝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𝑋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𝐷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𝑋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Property of Propensity Score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Balancing score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𝑋</m:t>
                      </m:r>
                      <m:r>
                        <m:rPr>
                          <m:sty m:val="p"/>
                        </m:rPr>
                        <m:t>⫫</m:t>
                      </m:r>
                      <m:r>
                        <m:t>𝐷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t>𝑝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𝑋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Strongly ignorable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X strongly ignorable</m:t>
                      </m:r>
                      <m:r>
                        <m:rPr>
                          <m:sty m:val="p"/>
                        </m:rPr>
                        <m:t>→</m:t>
                      </m:r>
                      <m:r>
                        <m:t>𝑝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𝑋</m:t>
                          </m:r>
                        </m:e>
                      </m:d>
                      <m:r>
                        <m:t> </m:t>
                      </m:r>
                      <m:r>
                        <m:rPr>
                          <m:nor/>
                          <m:sty m:val="p"/>
                        </m:rPr>
                        <m:t>strongly ignorable</m:t>
                      </m:r>
                    </m:oMath>
                  </m:oMathPara>
                </a14:m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𝑌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0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𝑌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1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m:t>⫫</m:t>
                      </m:r>
                      <m:r>
                        <m:t>𝐷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t>𝑝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𝑋</m:t>
                          </m:r>
                        </m:e>
                      </m:d>
                    </m:oMath>
                  </m:oMathPara>
                </a14:m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𝜏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Ε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Y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－</m:t>
                          </m:r>
                          <m:r>
                            <m:t>𝑌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0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𝑝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𝑋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Ε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𝑌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𝑌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0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m:t>|</m:t>
                              </m:r>
                              <m:r>
                                <m:t>𝑝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𝑝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𝑋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D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E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𝑌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m:t>|</m:t>
                              </m:r>
                              <m:r>
                                <m:t>𝐷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𝑝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𝑋</m:t>
                                  </m:r>
                                </m:e>
                              </m:d>
                            </m:e>
                          </m:d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Ε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Y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0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m:t>|</m:t>
                              </m:r>
                              <m: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𝑝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Study design</a:t>
            </a:r>
          </a:p>
          <a:p>
            <a:pPr lvl="0"/>
            <a:r>
              <a:rPr/>
              <a:t>PS estimation</a:t>
            </a:r>
          </a:p>
          <a:p>
            <a:pPr lvl="0"/>
            <a:r>
              <a:rPr/>
              <a:t>Check PS balance</a:t>
            </a:r>
          </a:p>
          <a:p>
            <a:pPr lvl="0"/>
            <a:r>
              <a:rPr/>
              <a:t>Construct comparable groups</a:t>
            </a:r>
          </a:p>
          <a:p>
            <a:pPr lvl="0"/>
            <a:r>
              <a:rPr/>
              <a:t>Check covariate balance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Analysis</a:t>
            </a:r>
          </a:p>
          <a:p>
            <a:pPr lvl="0"/>
            <a:r>
              <a:rPr/>
              <a:t>Effect estimation</a:t>
            </a:r>
          </a:p>
          <a:p>
            <a:pPr lvl="0"/>
            <a:r>
              <a:rPr/>
              <a:t>Sensitivity analysis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 Estimating propensity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Parametric or nonparametric estimation: discriminant function, probit, ML (generalized boosted model…)…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 RCT: pre-define treatment ratio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NO outcome information now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Variable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Domain knowledge</a:t>
            </a:r>
          </a:p>
          <a:p>
            <a:pPr lvl="0"/>
            <a:r>
              <a:rPr/>
              <a:t>All baseline covariates(1+2)</a:t>
            </a:r>
          </a:p>
          <a:p>
            <a:pPr lvl="0"/>
            <a:r>
              <a:rPr/>
              <a:t>Instrumental variable (1)</a:t>
            </a:r>
          </a:p>
          <a:p>
            <a:pPr lvl="0"/>
            <a:r>
              <a:rPr/>
              <a:t>All covariates affect the outcome (potential confounders) (4)</a:t>
            </a:r>
          </a:p>
          <a:p>
            <a:pPr lvl="0"/>
            <a:r>
              <a:rPr/>
              <a:t>Covariates affect both treatment and outcome (true confounders)</a:t>
            </a:r>
          </a:p>
          <a:p>
            <a:pPr lvl="0"/>
            <a:r>
              <a:rPr/>
              <a:t>Covariate affected by treatment (3)</a:t>
            </a:r>
          </a:p>
        </p:txBody>
      </p:sp>
      <p:pic>
        <p:nvPicPr>
          <p:cNvPr descr="pictur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473200"/>
            <a:ext cx="4038600" cy="283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2 Checking balance</a:t>
            </a:r>
          </a:p>
        </p:txBody>
      </p:sp>
      <p:pic>
        <p:nvPicPr>
          <p:cNvPr descr="pictur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41600" y="1600200"/>
            <a:ext cx="5270500" cy="290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3 Construct comparison group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Type of effect: ATE or ATT, depend on aim of study</a:t>
                </a:r>
              </a:p>
              <a:p>
                <a:pPr lvl="0"/>
                <a:r>
                  <a:rPr/>
                  <a:t>Average treatment effect (ATE):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𝜏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Ε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𝜏</m:t>
                              </m:r>
                            </m:e>
                            <m:sub>
                              <m:r>
                                <m:t>𝑖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Ε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Y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Y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0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  <a:p>
                <a:pPr lvl="0"/>
                <a:r>
                  <a:rPr/>
                  <a:t>Average treatment effect on the treated (ATT):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𝜏</m:t>
                          </m:r>
                        </m:e>
                        <m:sub>
                          <m:r>
                            <m:t>𝐴</m:t>
                          </m:r>
                          <m:r>
                            <m:t>𝑇</m:t>
                          </m:r>
                          <m:r>
                            <m:t>𝑇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Ε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𝜏</m:t>
                              </m:r>
                            </m:e>
                            <m:sub>
                              <m: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𝐷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Ε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𝑖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𝑖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0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𝐷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63900" y="1600200"/>
            <a:ext cx="4025900" cy="240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930400" y="4000500"/>
            <a:ext cx="6680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Kuss O. Dtsch Arztebl Int 2016; 113: 597–603.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4 Checking balance</a:t>
            </a:r>
          </a:p>
        </p:txBody>
      </p:sp>
      <p:pic>
        <p:nvPicPr>
          <p:cNvPr descr="pictur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600200"/>
            <a:ext cx="5727700" cy="240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930400" y="4000500"/>
            <a:ext cx="6680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Violation of ignorable assumption?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PS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Distance = PS or logit of PS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With(out) replacement</a:t>
            </a:r>
          </a:p>
          <a:p>
            <a:pPr lvl="0"/>
            <a:r>
              <a:rPr/>
              <a:t>Dependent samples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Ratio: 1:1, 1:N, variable</a:t>
            </a:r>
          </a:p>
          <a:p>
            <a:pPr lvl="0"/>
            <a:r>
              <a:rPr/>
              <a:t>Bias variance trade-off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May not use full data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PS matching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Greedy (Nearest neighbor) or optimal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With or without Caliper</a:t>
                </a:r>
              </a:p>
              <a:p>
                <a:pPr lvl="0"/>
                <a:r>
                  <a:rPr/>
                  <a:t>0.25*</a:t>
                </a: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D</m:t>
                        </m:r>
                      </m:e>
                      <m:sub>
                        <m:r>
                          <m:t>l</m:t>
                        </m:r>
                        <m:r>
                          <m:t>o</m:t>
                        </m:r>
                        <m:r>
                          <m:t>g</m:t>
                        </m:r>
                        <m:r>
                          <m:t>i</m:t>
                        </m:r>
                        <m:r>
                          <m:t>t</m:t>
                        </m:r>
                        <m:r>
                          <m:t>o</m:t>
                        </m:r>
                        <m:r>
                          <m:t>f</m:t>
                        </m:r>
                        <m:r>
                          <m:t>P</m:t>
                        </m:r>
                        <m:r>
                          <m:t>S</m:t>
                        </m:r>
                      </m:sub>
                    </m:sSub>
                  </m:oMath>
                </a14:m>
                <a:r>
                  <a:rPr/>
                  <a:t> (standardized difference) (Rubin 2015); variable caliper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Kernel matching</a:t>
                </a:r>
              </a:p>
            </p:txBody>
          </p:sp>
        </mc:Choice>
      </mc:AlternateContent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Bias</a:t>
            </a:r>
          </a:p>
        </p:txBody>
      </p:sp>
      <p:pic>
        <p:nvPicPr>
          <p:cNvPr descr="pictur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63800" y="1600200"/>
            <a:ext cx="5613400" cy="240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930400" y="4000500"/>
            <a:ext cx="6680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Replacement &gt; nonreplaced; Caliper &gt; nearest neighbor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Variance</a:t>
            </a:r>
          </a:p>
        </p:txBody>
      </p:sp>
      <p:pic>
        <p:nvPicPr>
          <p:cNvPr descr="pictur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600200"/>
            <a:ext cx="5715000" cy="240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930400" y="4000500"/>
            <a:ext cx="6680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Replacement &lt; nonreplaced; Caliper &gt; nearest neighbor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Trade-offs between Bias and efficiency</a:t>
            </a:r>
          </a:p>
        </p:txBody>
      </p:sp>
      <p:pic>
        <p:nvPicPr>
          <p:cNvPr descr="pictur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09800" y="1600200"/>
            <a:ext cx="6121400" cy="290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5-10 equal size strata : remove ~ 90% bias due to measured confounders (Cochran, 1968).</a:t>
            </a:r>
          </a:p>
          <a:p>
            <a:pPr lvl="0"/>
            <a:r>
              <a:rPr/>
              <a:t>More strata vs. lower bias Full matching</a:t>
            </a:r>
          </a:p>
        </p:txBody>
      </p:sp>
      <p:pic>
        <p:nvPicPr>
          <p:cNvPr descr="pictur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86300" y="1193800"/>
            <a:ext cx="3962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Wang, Zhiqiang. The Internet Journal of Epidemiology 2008: 1-21.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83000" y="1600200"/>
            <a:ext cx="3175000" cy="240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930400" y="4000500"/>
            <a:ext cx="6680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https://documentation.sas.com/doc/en/statcdc/14.2/statug/statug_psmatch_examples02.htm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Inverted probability of treatment weighted (IPTW)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/>
                  </m:oMathPara>
                </a14:m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𝑤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𝐷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t>𝑃</m:t>
                      </m:r>
                      <m:r>
                        <m:t>𝑆</m:t>
                      </m:r>
                      <m:r>
                        <m:rPr>
                          <m:sty m:val="p"/>
                        </m:rPr>
                        <m:t>+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𝐷</m:t>
                          </m:r>
                        </m:e>
                      </m:d>
                      <m:r>
                        <m:rPr>
                          <m:sty m:val="p"/>
                        </m:rPr>
                        <m:t>/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𝑃</m:t>
                          </m:r>
                          <m:r>
                            <m:t>𝑆</m:t>
                          </m:r>
                        </m:e>
                      </m:d>
                    </m:oMath>
                  </m:oMathPara>
                </a14:m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𝑤</m:t>
                          </m:r>
                        </m:e>
                        <m:sub>
                          <m:r>
                            <m:t>𝐴</m:t>
                          </m:r>
                          <m:r>
                            <m:t>𝑇</m:t>
                          </m:r>
                          <m:r>
                            <m:t>𝑇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𝐷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𝑃</m:t>
                      </m:r>
                      <m:r>
                        <m:t>𝑆</m:t>
                      </m:r>
                      <m:r>
                        <m:rPr>
                          <m:sty m:val="p"/>
                        </m:rPr>
                        <m:t>/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𝑃</m:t>
                          </m:r>
                          <m:r>
                            <m:t>𝑆</m:t>
                          </m:r>
                        </m:e>
                      </m:d>
                      <m:r>
                        <m:rPr>
                          <m:sty m:val="p"/>
                        </m:rPr>
                        <m:t>∗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𝐷</m:t>
                          </m:r>
                        </m:e>
                      </m:d>
                    </m:oMath>
                  </m:oMathPara>
                </a14:m>
              </a:p>
              <a:p>
                <a:pPr lvl="0"/>
                <a:r>
                  <a:rPr/>
                  <a:t>All data used</a:t>
                </a:r>
              </a:p>
            </p:txBody>
          </p:sp>
        </mc:Choice>
      </mc:AlternateContent>
      <p:pic>
        <p:nvPicPr>
          <p:cNvPr descr="pictur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68900" y="1193800"/>
            <a:ext cx="2997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5. Estimate treatment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 (treated) or ATE (general)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Residual imbalance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(±) Regression method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1.Paired method (Austin, 2009): McNemar, stratified log rank…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2.Match ratio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Inference on only matched population?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Both ATT and ATE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Meta-analysis of quasi-RCT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Effect: (weighted) average of strata effect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IPTW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ATE or ATT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Large variance if extreme weight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Doubly robustness: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𝜏</m:t>
                      </m:r>
                      <m:r>
                        <m:rPr>
                          <m:sty m:val="p"/>
                        </m:rPr>
                        <m:t>̂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1</m:t>
                          </m:r>
                        </m:sub>
                        <m:sup>
                          <m:r>
                            <m:t>𝑁</m:t>
                          </m:r>
                        </m:sup>
                        <m:e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d>
                                    <m:dPr>
                                      <m:begChr m:val="("/>
                                      <m:endChr m:val=")"/>
                                      <m:sepChr m:val="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t>D</m:t>
                                          </m:r>
                                        </m:e>
                                        <m:sub>
                                          <m: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("/>
                                          <m:endChr m:val=")"/>
                                          <m:sepChr m:val=""/>
                                          <m:grow/>
                                        </m:dPr>
                                        <m:e>
                                          <m:sSub>
                                            <m:e>
                                              <m: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m:t>−</m:t>
                                          </m:r>
                                          <m:r>
                                            <m:t>𝜇</m:t>
                                          </m:r>
                                          <m:sSub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m:t>̂</m:t>
                                              </m:r>
                                            </m:e>
                                            <m:sub>
                                              <m:r>
                                                <m:t>1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begChr m:val="("/>
                                              <m:endChr m:val=")"/>
                                              <m:sepChr m:val=""/>
                                              <m:grow/>
                                            </m:dPr>
                                            <m:e>
                                              <m:sSub>
                                                <m:e>
                                                  <m: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r>
                                    <m:t>𝑝</m:t>
                                  </m:r>
                                  <m:d>
                                    <m:dPr>
                                      <m:begChr m:val="("/>
                                      <m:endChr m:val=")"/>
                                      <m:sepChr m:val="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𝜇</m:t>
                              </m:r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m:t>̂</m:t>
                                  </m:r>
                                </m:e>
                                <m:sub>
                                  <m: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𝑋</m:t>
                                      </m:r>
                                    </m:e>
                                    <m:sub>
                                      <m: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1</m:t>
                          </m:r>
                        </m:sub>
                        <m:sup>
                          <m:r>
                            <m:t>𝑁</m:t>
                          </m:r>
                        </m:sup>
                        <m:e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d>
                                    <m:dPr>
                                      <m:begChr m:val="("/>
                                      <m:endChr m:val=")"/>
                                      <m:sepChr m:val=""/>
                                      <m:grow/>
                                    </m:dPr>
                                    <m:e>
                                      <m: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sSub>
                                        <m:e>
                                          <m:r>
                                            <m:t>D</m:t>
                                          </m:r>
                                        </m:e>
                                        <m:sub>
                                          <m: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("/>
                                      <m:endChr m:val=")"/>
                                      <m:sepChr m:val="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r>
                                        <m:t>𝜇</m:t>
                                      </m:r>
                                      <m:sSub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m:t>̂</m:t>
                                          </m:r>
                                        </m:e>
                                        <m:sub>
                                          <m:r>
                                            <m:t>0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("/>
                                          <m:endChr m:val=")"/>
                                          <m:sepChr m:val=""/>
                                          <m:grow/>
                                        </m:dPr>
                                        <m:e>
                                          <m:sSub>
                                            <m:e>
                                              <m: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𝑝</m:t>
                                  </m:r>
                                  <m:d>
                                    <m:dPr>
                                      <m:begChr m:val="("/>
                                      <m:endChr m:val=")"/>
                                      <m:sepChr m:val="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𝜇</m:t>
                              </m:r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m:t>̂</m:t>
                                  </m:r>
                                </m:e>
                                <m:sub>
                                  <m: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𝑋</m:t>
                                      </m:r>
                                    </m:e>
                                    <m:sub>
                                      <m: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Covariate adjustment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𝑌</m:t>
                        </m:r>
                      </m:e>
                      <m:sub>
                        <m: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𝑓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b>
                          <m:e>
                            <m:r>
                              <m:t>𝐷</m:t>
                            </m:r>
                          </m:e>
                          <m:sub>
                            <m: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,</m:t>
                        </m:r>
                        <m:r>
                          <m:t>𝑃</m:t>
                        </m:r>
                        <m:sSub>
                          <m:e>
                            <m:r>
                              <m:t>𝑆</m:t>
                            </m:r>
                          </m:e>
                          <m:sub>
                            <m:r>
                              <m:t>𝑖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𝜀</m:t>
                        </m:r>
                      </m:e>
                      <m:sub>
                        <m:r>
                          <m:t>𝑖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Balance?</a:t>
                </a:r>
              </a:p>
              <a:p>
                <a:pPr lvl="0"/>
                <a:r>
                  <a:rPr/>
                  <a:t>Combine other prognostic factors (Rubin, 2000)</a:t>
                </a:r>
              </a:p>
              <a:p>
                <a:pPr lvl="0"/>
                <a:r>
                  <a:rPr/>
                  <a:t>Reduce residual difference</a:t>
                </a:r>
              </a:p>
              <a:p>
                <a:pPr lvl="0"/>
                <a:r>
                  <a:rPr/>
                  <a:t>Bias estimate for binary or hazard (Austin, 2007)</a:t>
                </a:r>
              </a:p>
              <a:p>
                <a:pPr lvl="0"/>
                <a:r>
                  <a:rPr/>
                  <a:t>Need specify model (maybe incorrect?)</a:t>
                </a:r>
              </a:p>
            </p:txBody>
          </p:sp>
        </mc:Choice>
      </mc:AlternateContent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Variance estimate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Usual analysis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Matched (Imbens, 2004) vs. independent (Schafer, 2008)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Bootstrapping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Large sample distribution (Imbens, 2016)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Advantage of PS over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Conditional vs. Marginal estimate Collapsible: marginal = conditional effect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Risk ratio vs. odds ratio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Easy exam baseline balance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Lower standard deviation (Smith, 1997)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Advantage of PS over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Restricted number of confounders in the model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Confounding by indication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Modelling assumption (simpler to determine adequate score)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Model design not separated from outcome analysis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PS vs. regression</a:t>
            </a:r>
          </a:p>
        </p:txBody>
      </p:sp>
      <p:pic>
        <p:nvPicPr>
          <p:cNvPr descr="picture/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30400" y="1625600"/>
            <a:ext cx="66802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/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36800" y="1600200"/>
            <a:ext cx="5880100" cy="240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930400" y="4000500"/>
            <a:ext cx="6680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Reduce systematic difference: matching ≧(≃) weighting &gt; stratify, adjustment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6. Sensitivity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Effect on variables unrelated to treatment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Estimates effect of variable uncorrelated to outcome (pre-treatment outcome…) (Imbens, 2004)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Analysis sensitive to unobserved variable (Rosenbaum and Rubin, 1983)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example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Package &amp;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dataset</a:t>
            </a:r>
          </a:p>
          <a:p>
            <a:pPr lvl="0"/>
            <a:r>
              <a:rPr/>
              <a:t>Nycflights13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Package</a:t>
            </a:r>
          </a:p>
          <a:p>
            <a:pPr lvl="0"/>
            <a:r>
              <a:rPr/>
              <a:t>MatchIt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Reference</a:t>
            </a:r>
          </a:p>
          <a:p>
            <a:pPr lvl="0"/>
            <a:r>
              <a:rPr>
                <a:hlinkClick r:id="rId2"/>
              </a:rPr>
              <a:t>A Step-by-Step Guide to Propensity Score Matching in R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Flights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month(2013,Jan.~Dec.)</a:t>
            </a:r>
          </a:p>
          <a:p>
            <a:pPr lvl="0"/>
            <a:r>
              <a:rPr/>
              <a:t>dep_delay, arr_delay</a:t>
            </a:r>
          </a:p>
          <a:p>
            <a:pPr lvl="0" indent="0" marL="0">
              <a:buNone/>
            </a:pPr>
            <a:r>
              <a:rPr/>
              <a:t>Departure and arrival delays, in minutes. Negative times represent early departures/arrivals.</a:t>
            </a:r>
          </a:p>
          <a:p>
            <a:pPr lvl="0"/>
            <a:r>
              <a:rPr/>
              <a:t>Delay</a:t>
            </a:r>
          </a:p>
          <a:p>
            <a:pPr lvl="0" indent="0" marL="0">
              <a:buNone/>
            </a:pPr>
            <a:r>
              <a:rPr/>
              <a:t>Arrival on time or not。</a:t>
            </a:r>
          </a:p>
          <a:p>
            <a:pPr lvl="0"/>
            <a:r>
              <a:rPr/>
              <a:t>carrier</a:t>
            </a:r>
          </a:p>
          <a:p>
            <a:pPr lvl="0" indent="0" marL="0">
              <a:buNone/>
            </a:pPr>
            <a:r>
              <a:rPr/>
              <a:t>Two letter carrier abbreviation.</a:t>
            </a:r>
          </a:p>
          <a:p>
            <a:pPr lvl="0"/>
            <a:r>
              <a:rPr/>
              <a:t>air_time(min)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 : is air_time affects delays?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describe</a:t>
            </a:r>
          </a:p>
        </p:txBody>
      </p:sp>
      <p:pic>
        <p:nvPicPr>
          <p:cNvPr descr="picture/describ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14800" y="1600200"/>
            <a:ext cx="2311400" cy="290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The number of delays in August is higher compared to previous months.</a:t>
            </a:r>
          </a:p>
          <a:p>
            <a:pPr lvl="0"/>
            <a:r>
              <a:rPr/>
              <a:t>air_time in two group perform similarly.</a:t>
            </a:r>
          </a:p>
        </p:txBody>
      </p:sp>
      <p:pic>
        <p:nvPicPr>
          <p:cNvPr descr="picture/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70500" y="1193800"/>
            <a:ext cx="2781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psm1 &lt;- </a:t>
            </a:r>
            <a:r>
              <a:rPr>
                <a:solidFill>
                  <a:srgbClr val="4758AB"/>
                </a:solidFill>
                <a:latin typeface="Courier"/>
              </a:rPr>
              <a:t>matchit</a:t>
            </a:r>
            <a:r>
              <a:rPr>
                <a:solidFill>
                  <a:srgbClr val="003B4F"/>
                </a:solidFill>
                <a:latin typeface="Courier"/>
              </a:rPr>
              <a:t>(delay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month 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carrier,</a:t>
            </a:r>
            <a:r>
              <a:rPr>
                <a:solidFill>
                  <a:srgbClr val="657422"/>
                </a:solidFill>
                <a:latin typeface="Courier"/>
              </a:rPr>
              <a:t>method=</a:t>
            </a:r>
            <a:r>
              <a:rPr>
                <a:solidFill>
                  <a:srgbClr val="20794D"/>
                </a:solidFill>
                <a:latin typeface="Courier"/>
              </a:rPr>
              <a:t>"nearest"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657422"/>
                </a:solidFill>
                <a:latin typeface="Courier"/>
              </a:rPr>
              <a:t>data=</a:t>
            </a:r>
            <a:r>
              <a:rPr>
                <a:solidFill>
                  <a:srgbClr val="003B4F"/>
                </a:solidFill>
                <a:latin typeface="Courier"/>
              </a:rPr>
              <a:t>subdataset,</a:t>
            </a:r>
            <a:r>
              <a:rPr>
                <a:solidFill>
                  <a:srgbClr val="657422"/>
                </a:solidFill>
                <a:latin typeface="Courier"/>
              </a:rPr>
              <a:t>distance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"glm"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s1 =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(psm1)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(s1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nn[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),])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Control Treated
All           233      67
Matched        67      67
Unmatched     166       0
Discarded       0       0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(psm1,</a:t>
            </a:r>
            <a:r>
              <a:rPr>
                <a:solidFill>
                  <a:srgbClr val="657422"/>
                </a:solidFill>
                <a:latin typeface="Courier"/>
              </a:rPr>
              <a:t>type=</a:t>
            </a:r>
            <a:r>
              <a:rPr>
                <a:solidFill>
                  <a:srgbClr val="20794D"/>
                </a:solidFill>
                <a:latin typeface="Courier"/>
              </a:rPr>
              <a:t>"hist"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statistic-matching1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table1(after matching)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After matching, the distribution of months and carriers appears to be more evenly balanced.</a:t>
            </a:r>
          </a:p>
          <a:p>
            <a:pPr lvl="0"/>
            <a:r>
              <a:rPr/>
              <a:t>air_time in two group still perform similarly.</a:t>
            </a:r>
          </a:p>
        </p:txBody>
      </p:sp>
      <p:pic>
        <p:nvPicPr>
          <p:cNvPr descr="picture/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70500" y="1193800"/>
            <a:ext cx="2806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love plot</a:t>
            </a:r>
          </a:p>
        </p:txBody>
      </p:sp>
      <p:pic>
        <p:nvPicPr>
          <p:cNvPr descr="picture/19_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51200" y="1600200"/>
            <a:ext cx="4025900" cy="290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t-test(raw data)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conducting a t-test directly on the raw data, at a confidence level of 0.1, under the assumption of the null hypothesis, there is no significant difference in the distance between flights with and without delays.</a:t>
            </a:r>
          </a:p>
          <a:p>
            <a:pPr lvl="0" indent="0">
              <a:buNone/>
            </a:pPr>
            <a:r>
              <a:rPr>
                <a:latin typeface="Courier"/>
              </a:rPr>
              <a:t>[1] "p_value:0.237"</a:t>
            </a:r>
          </a:p>
          <a:p>
            <a:pPr lvl="0" indent="0">
              <a:buNone/>
            </a:pPr>
            <a:r>
              <a:rPr>
                <a:latin typeface="Courier"/>
              </a:rPr>
              <a:t>[1] "90 CI :-7.164~1.185"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t-test(matching data)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conducting a t-test directly on the matched data, at a confidence level of 0.1, under the assumption of the null hypothesis, there is no significant difference in the distance between flights with and without delays.</a:t>
            </a:r>
          </a:p>
          <a:p>
            <a:pPr lvl="0" indent="0">
              <a:buNone/>
            </a:pPr>
            <a:r>
              <a:rPr>
                <a:latin typeface="Courier"/>
              </a:rPr>
              <a:t>[1] "p_value:0.201"</a:t>
            </a:r>
          </a:p>
          <a:p>
            <a:pPr lvl="0" indent="0">
              <a:buNone/>
            </a:pPr>
            <a:r>
              <a:rPr>
                <a:latin typeface="Courier"/>
              </a:rPr>
              <a:t>[1] "90 CI :-9.596~1.208"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pair-t test(matching data)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result of the paired t-test indicates, at a confidence level of 0.1, rejecting the null hypothesis, suggesting a significant difference in flight distances between flights with and without delays.</a:t>
            </a:r>
          </a:p>
          <a:p>
            <a:pPr lvl="0" indent="0">
              <a:buNone/>
            </a:pPr>
            <a:r>
              <a:rPr>
                <a:latin typeface="Courier"/>
              </a:rPr>
              <a:t>[1] "p_value:0.094"</a:t>
            </a:r>
          </a:p>
          <a:p>
            <a:pPr lvl="0" indent="0">
              <a:buNone/>
            </a:pPr>
            <a:r>
              <a:rPr>
                <a:latin typeface="Courier"/>
              </a:rPr>
              <a:t>[1] "90 CI :-8.306~-0.082"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Difference in every method</a:t>
            </a:r>
          </a:p>
        </p:txBody>
      </p:sp>
      <p:pic>
        <p:nvPicPr>
          <p:cNvPr descr="picture/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82700" y="1193800"/>
            <a:ext cx="2387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Nearest Neighbor</a:t>
            </a:r>
          </a:p>
        </p:txBody>
      </p:sp>
      <p:pic>
        <p:nvPicPr>
          <p:cNvPr descr="picture/2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473700" y="1193800"/>
            <a:ext cx="2387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Optimal Pair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love plot(Genetic)</a:t>
            </a:r>
          </a:p>
        </p:txBody>
      </p:sp>
      <p:pic>
        <p:nvPicPr>
          <p:cNvPr descr="picture/21_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67100" y="1600200"/>
            <a:ext cx="3619500" cy="240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930400" y="4000500"/>
            <a:ext cx="6680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Optimal Pair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Difference in every method</a:t>
            </a:r>
          </a:p>
        </p:txBody>
      </p:sp>
      <p:pic>
        <p:nvPicPr>
          <p:cNvPr descr="picture/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82700" y="1193800"/>
            <a:ext cx="2387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Nearest Neighbor</a:t>
            </a:r>
          </a:p>
        </p:txBody>
      </p:sp>
      <p:pic>
        <p:nvPicPr>
          <p:cNvPr descr="picture/22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461000" y="1193800"/>
            <a:ext cx="2425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Genetic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love plot(Genetic)</a:t>
            </a:r>
          </a:p>
        </p:txBody>
      </p:sp>
      <p:pic>
        <p:nvPicPr>
          <p:cNvPr descr="picture/22_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67100" y="1600200"/>
            <a:ext cx="3619500" cy="240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930400" y="4000500"/>
            <a:ext cx="6680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Genetic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Difference in every method</a:t>
            </a:r>
          </a:p>
        </p:txBody>
      </p:sp>
      <p:pic>
        <p:nvPicPr>
          <p:cNvPr descr="picture/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82700" y="1193800"/>
            <a:ext cx="2387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Nearest Neighbor</a:t>
            </a:r>
          </a:p>
        </p:txBody>
      </p:sp>
      <p:pic>
        <p:nvPicPr>
          <p:cNvPr descr="picture/23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410200" y="1193800"/>
            <a:ext cx="2527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Exact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love plot(Exact)</a:t>
            </a:r>
          </a:p>
        </p:txBody>
      </p:sp>
      <p:pic>
        <p:nvPicPr>
          <p:cNvPr descr="picture/23_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67100" y="1600200"/>
            <a:ext cx="3619500" cy="240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930400" y="4000500"/>
            <a:ext cx="6680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Exact</a:t>
            </a:r>
          </a:p>
        </p:txBody>
      </p:sp>
    </p:spTree>
  </p:cSld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</TotalTime>
  <Words>46</Words>
  <Application>Microsoft Office PowerPoint</Application>
  <PresentationFormat>如螢幕大小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Arial</vt:lpstr>
      <vt:lpstr>Calibri</vt:lpstr>
      <vt:lpstr>Times New Roman</vt:lpstr>
      <vt:lpstr>Wingdings 3</vt:lpstr>
      <vt:lpstr>絲縷</vt:lpstr>
      <vt:lpstr>Presentation Title</vt:lpstr>
      <vt:lpstr>Section Header</vt:lpstr>
      <vt:lpstr>Slide Title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 matching</dc:title>
  <dc:creator>苗鈺(RE6111016),蔡昇翰(R28114014),林詠晴(H24096045)</dc:creator>
  <cp:keywords/>
  <dcterms:created xsi:type="dcterms:W3CDTF">2024-04-22T15:12:39Z</dcterms:created>
  <dcterms:modified xsi:type="dcterms:W3CDTF">2024-04-22T15:12:39Z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mainfont">
    <vt:lpwstr>Microsoft JhengHei UI</vt:lpwstr>
  </property>
  <property fmtid="{D5CDD505-2E9C-101B-9397-08002B2CF9AE}" pid="12" name="toc-title">
    <vt:lpwstr>Table of contents</vt:lpwstr>
  </property>
</Properties>
</file>