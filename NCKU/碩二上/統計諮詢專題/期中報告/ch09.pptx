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8" r:id="rId2"/>
    <p:sldId id="327" r:id="rId3"/>
    <p:sldId id="259" r:id="rId4"/>
    <p:sldId id="268" r:id="rId5"/>
    <p:sldId id="269" r:id="rId6"/>
    <p:sldId id="309" r:id="rId7"/>
    <p:sldId id="288" r:id="rId8"/>
    <p:sldId id="310" r:id="rId9"/>
    <p:sldId id="311" r:id="rId10"/>
    <p:sldId id="326" r:id="rId11"/>
    <p:sldId id="328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2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DB14C-C738-4891-9FF3-9CD3A0D4C2B2}" type="datetimeFigureOut">
              <a:rPr lang="en-US" smtClean="0"/>
              <a:t>3/27/2019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10251-FFEA-4FAD-BB7B-C9E8EDD5D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01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7B75D-5331-48BC-9178-23565B61965D}" type="datetimeFigureOut">
              <a:rPr lang="en-US" smtClean="0"/>
              <a:t>3/27/2019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DB139-09BE-4E14-B972-33C55356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0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7976"/>
            <a:ext cx="12192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84800" y="279400"/>
            <a:ext cx="5689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rgbClr val="000000"/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0000"/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0000"/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algn="l">
              <a:defRPr/>
            </a:pPr>
            <a:endParaRPr lang="en-US" sz="2800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  <p:sp>
        <p:nvSpPr>
          <p:cNvPr id="8" name="Title 6"/>
          <p:cNvSpPr>
            <a:spLocks noGrp="1"/>
          </p:cNvSpPr>
          <p:nvPr>
            <p:ph type="ctrTitle" hasCustomPrompt="1"/>
          </p:nvPr>
        </p:nvSpPr>
        <p:spPr>
          <a:xfrm>
            <a:off x="5253643" y="1573474"/>
            <a:ext cx="6688975" cy="217556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Chapter x: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51" y="280587"/>
            <a:ext cx="4572067" cy="609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4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30188" indent="-230188"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422271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447926"/>
            <a:ext cx="10363200" cy="1362075"/>
          </a:xfr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algn="ctr">
              <a:defRPr sz="3200" b="0" cap="sm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10001"/>
            <a:ext cx="10363200" cy="1500187"/>
          </a:xfrm>
        </p:spPr>
        <p:txBody>
          <a:bodyPr anchor="t"/>
          <a:lstStyle>
            <a:lvl1pPr marL="342900" indent="-342900">
              <a:buFont typeface="Wingdings" pitchFamily="2" charset="2"/>
              <a:buChar char="q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5933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70908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18" y="125413"/>
            <a:ext cx="11436349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8452" y="1076325"/>
            <a:ext cx="5581649" cy="4616450"/>
          </a:xfrm>
        </p:spPr>
        <p:txBody>
          <a:bodyPr>
            <a:normAutofit/>
          </a:bodyPr>
          <a:lstStyle>
            <a:lvl1pPr marL="284163" indent="-284163"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3301" y="1076325"/>
            <a:ext cx="5583767" cy="4616450"/>
          </a:xfrm>
        </p:spPr>
        <p:txBody>
          <a:bodyPr>
            <a:normAutofit/>
          </a:bodyPr>
          <a:lstStyle>
            <a:lvl1pPr marL="284163" indent="-284163"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27628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8452" y="1671126"/>
            <a:ext cx="5581649" cy="4616450"/>
          </a:xfrm>
        </p:spPr>
        <p:txBody>
          <a:bodyPr/>
          <a:lstStyle>
            <a:lvl1pPr marL="284163" indent="-284163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3301" y="1671137"/>
            <a:ext cx="5583767" cy="4616450"/>
          </a:xfrm>
        </p:spPr>
        <p:txBody>
          <a:bodyPr>
            <a:normAutofit/>
          </a:bodyPr>
          <a:lstStyle>
            <a:lvl1pPr marL="284163" indent="-284163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313208" y="883395"/>
            <a:ext cx="5581649" cy="671099"/>
          </a:xfrm>
        </p:spPr>
        <p:txBody>
          <a:bodyPr anchor="ctr"/>
          <a:lstStyle>
            <a:lvl1pPr marL="284163" indent="-284163" algn="ctr">
              <a:defRPr sz="2400">
                <a:latin typeface="Arial Rounded MT Bold" panose="020F070403050403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/>
          </p:nvPr>
        </p:nvSpPr>
        <p:spPr>
          <a:xfrm>
            <a:off x="6076315" y="875994"/>
            <a:ext cx="5581649" cy="671099"/>
          </a:xfrm>
        </p:spPr>
        <p:txBody>
          <a:bodyPr anchor="ctr"/>
          <a:lstStyle>
            <a:lvl1pPr marL="284163" indent="-284163" algn="ctr">
              <a:defRPr sz="2400">
                <a:latin typeface="Arial Rounded MT Bold" panose="020F070403050403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31066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2">
                <a:lumMod val="20000"/>
                <a:lumOff val="80000"/>
              </a:schemeClr>
            </a:gs>
            <a:gs pos="100000">
              <a:srgbClr val="FFFFCC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68818" y="125413"/>
            <a:ext cx="11436349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8451" y="1076325"/>
            <a:ext cx="11368616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64548" name="Line 4"/>
          <p:cNvSpPr>
            <a:spLocks noChangeShapeType="1"/>
          </p:cNvSpPr>
          <p:nvPr/>
        </p:nvSpPr>
        <p:spPr bwMode="auto">
          <a:xfrm>
            <a:off x="0" y="784225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Verdana" pitchFamily="-65" charset="0"/>
              <a:ea typeface="+mn-ea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1625"/>
            <a:ext cx="12192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4551" name="Line 7"/>
          <p:cNvSpPr>
            <a:spLocks noChangeShapeType="1"/>
          </p:cNvSpPr>
          <p:nvPr/>
        </p:nvSpPr>
        <p:spPr bwMode="auto">
          <a:xfrm>
            <a:off x="0" y="784225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1800">
              <a:latin typeface="Verdana" pitchFamily="-65" charset="0"/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67067" y="6269037"/>
            <a:ext cx="474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5487087-15B1-4B2E-A3F7-27BDCA4E3F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298450" y="6608956"/>
            <a:ext cx="2560079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 2019 Cengage Learning EMEA</a:t>
            </a:r>
          </a:p>
        </p:txBody>
      </p:sp>
      <p:sp>
        <p:nvSpPr>
          <p:cNvPr id="9" name="Text Placeholder 4"/>
          <p:cNvSpPr txBox="1">
            <a:spLocks/>
          </p:cNvSpPr>
          <p:nvPr userDrawn="1"/>
        </p:nvSpPr>
        <p:spPr>
          <a:xfrm>
            <a:off x="4019818" y="-40989"/>
            <a:ext cx="9155289" cy="24895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000" b="1" kern="0" baseline="0" dirty="0" smtClean="0">
                <a:solidFill>
                  <a:schemeClr val="accent6">
                    <a:lumMod val="75000"/>
                  </a:schemeClr>
                </a:solidFill>
                <a:latin typeface="Arial Narrow" pitchFamily="34" charset="0"/>
              </a:rPr>
              <a:t>© 2019 Cengage</a:t>
            </a:r>
            <a:r>
              <a:rPr lang="zh-TW" altLang="zh-TW" sz="1000" b="1" kern="0" baseline="0" dirty="0" smtClean="0">
                <a:solidFill>
                  <a:schemeClr val="accent6">
                    <a:lumMod val="75000"/>
                  </a:schemeClr>
                </a:solidFill>
                <a:latin typeface="Arial Narrow" pitchFamily="34" charset="0"/>
              </a:rPr>
              <a:t>版權所有，為課本著作之延伸教材，亦受著作權法之規範保護，僅作為授課教學使用，禁止列印、影印、未經授權重製和公開散佈</a:t>
            </a:r>
            <a:endParaRPr lang="en-US" altLang="zh-TW" sz="1000" kern="0" baseline="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61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0">
          <a:solidFill>
            <a:schemeClr val="accent2">
              <a:lumMod val="50000"/>
            </a:schemeClr>
          </a:solidFill>
          <a:latin typeface="Arial Rounded MT Bold" panose="020F0704030504030204" pitchFamily="34" charset="0"/>
          <a:ea typeface="ＭＳ Ｐゴシック" pitchFamily="-65" charset="-128"/>
          <a:cs typeface="Tahoma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imes New Roman" pitchFamily="-65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800" b="0">
          <a:solidFill>
            <a:schemeClr val="accent2">
              <a:lumMod val="50000"/>
            </a:schemeClr>
          </a:solidFill>
          <a:latin typeface="Calibri" pitchFamily="34" charset="0"/>
          <a:ea typeface="ＭＳ Ｐゴシック" pitchFamily="-65" charset="-128"/>
          <a:cs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0">
          <a:solidFill>
            <a:schemeClr val="accent2">
              <a:lumMod val="50000"/>
            </a:schemeClr>
          </a:solidFill>
          <a:latin typeface="Calibri" pitchFamily="34" charset="0"/>
          <a:ea typeface="ＭＳ Ｐゴシック" pitchFamily="-65" charset="-128"/>
          <a:cs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0">
          <a:solidFill>
            <a:schemeClr val="accent2">
              <a:lumMod val="50000"/>
            </a:schemeClr>
          </a:solidFill>
          <a:latin typeface="Calibri" pitchFamily="34" charset="0"/>
          <a:ea typeface="ＭＳ Ｐゴシック" pitchFamily="-65" charset="-128"/>
          <a:cs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b="0">
          <a:solidFill>
            <a:schemeClr val="accent2">
              <a:lumMod val="50000"/>
            </a:schemeClr>
          </a:solidFill>
          <a:latin typeface="Calibri" pitchFamily="34" charset="0"/>
          <a:ea typeface="ＭＳ Ｐゴシック" pitchFamily="-65" charset="-128"/>
          <a:cs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b="0">
          <a:solidFill>
            <a:schemeClr val="accent2">
              <a:lumMod val="50000"/>
            </a:schemeClr>
          </a:solidFill>
          <a:latin typeface="Calibri" pitchFamily="34" charset="0"/>
          <a:ea typeface="ＭＳ Ｐゴシック" pitchFamily="-65" charset="-128"/>
          <a:cs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00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00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00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000000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307431" y="2649239"/>
            <a:ext cx="6688975" cy="2175567"/>
          </a:xfrm>
        </p:spPr>
        <p:txBody>
          <a:bodyPr/>
          <a:lstStyle/>
          <a:p>
            <a:r>
              <a:rPr lang="en-US" dirty="0"/>
              <a:t>Chapter 9 </a:t>
            </a:r>
            <a:br>
              <a:rPr lang="en-US" dirty="0"/>
            </a:br>
            <a:r>
              <a:rPr lang="en-US" dirty="0"/>
              <a:t>Structural Equation Modeling: An Introduction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xmlns="" id="{E0B69629-0045-E84B-8130-D3ED7BB46147}"/>
              </a:ext>
            </a:extLst>
          </p:cNvPr>
          <p:cNvSpPr txBox="1">
            <a:spLocks/>
          </p:cNvSpPr>
          <p:nvPr/>
        </p:nvSpPr>
        <p:spPr bwMode="auto">
          <a:xfrm>
            <a:off x="5289501" y="336345"/>
            <a:ext cx="6688975" cy="217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ea typeface="ＭＳ Ｐゴシック" pitchFamily="-65" charset="-128"/>
                <a:cs typeface="Tahom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itchFamily="-65" charset="0"/>
              </a:defRPr>
            </a:lvl9pPr>
          </a:lstStyle>
          <a:p>
            <a:r>
              <a:rPr lang="en-US" sz="2800" kern="0" dirty="0"/>
              <a:t>Section V</a:t>
            </a:r>
          </a:p>
          <a:p>
            <a:r>
              <a:rPr lang="en-US" sz="2800" kern="0" dirty="0"/>
              <a:t>Moving Beyond the Basics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F791CDFC-F641-4725-BE59-146FF099E0F7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287479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9: Structural Equations Modeling (SEM)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51" y="1076324"/>
            <a:ext cx="11368616" cy="5532631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LEARNING OBJECTIVES</a:t>
            </a:r>
          </a:p>
          <a:p>
            <a:r>
              <a:rPr lang="en-US" altLang="en-US" sz="2400" dirty="0"/>
              <a:t>Upon completing this chapter, you should be able to do the following:</a:t>
            </a:r>
          </a:p>
          <a:p>
            <a:endParaRPr lang="en-US" altLang="en-US" sz="2400" dirty="0"/>
          </a:p>
          <a:p>
            <a:pPr marL="969962" lvl="1" indent="-457200"/>
            <a:r>
              <a:rPr lang="en-US" sz="2000" dirty="0"/>
              <a:t>Understand the distinguishing characteristics of structural analysis.</a:t>
            </a:r>
          </a:p>
          <a:p>
            <a:pPr marL="969962" lvl="1" indent="-457200"/>
            <a:r>
              <a:rPr lang="en-US" sz="2000" dirty="0"/>
              <a:t>Distinguish between variables and constructs.</a:t>
            </a:r>
          </a:p>
          <a:p>
            <a:pPr marL="969962" lvl="1" indent="-457200"/>
            <a:r>
              <a:rPr lang="en-US" sz="2000" dirty="0"/>
              <a:t>Understand structural equation modeling and how it can be thought of as a combination of familiar multivariate techniques.</a:t>
            </a:r>
          </a:p>
          <a:p>
            <a:pPr marL="969962" lvl="1" indent="-457200"/>
            <a:r>
              <a:rPr lang="en-US" sz="2000" dirty="0"/>
              <a:t>Know the basic conditions for causality and how SEM can help establish a cause-and-effect relationship.</a:t>
            </a:r>
          </a:p>
          <a:p>
            <a:pPr marL="969962" lvl="1" indent="-457200"/>
            <a:r>
              <a:rPr lang="en-US" sz="2000" dirty="0"/>
              <a:t>Explain the types of relationships involved in SEM.</a:t>
            </a:r>
          </a:p>
          <a:p>
            <a:pPr marL="969962" lvl="1" indent="-457200"/>
            <a:r>
              <a:rPr lang="en-US" sz="2000" dirty="0"/>
              <a:t>Understand that the objective of SEM is to explain covariance and determine the fit of a theoretical model.</a:t>
            </a:r>
          </a:p>
          <a:p>
            <a:pPr marL="969962" lvl="1" indent="-457200"/>
            <a:r>
              <a:rPr lang="en-US" sz="2000" dirty="0"/>
              <a:t>Know how to represent a SEM model visually with a path diagram.</a:t>
            </a:r>
          </a:p>
          <a:p>
            <a:pPr marL="969962" lvl="1" indent="-457200"/>
            <a:r>
              <a:rPr lang="en-US" sz="2000" dirty="0"/>
              <a:t>List the six stages of structural equation modeling and understand the role of theory in the process.</a:t>
            </a:r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5FCAEEF8-5930-44DC-9181-BB238BF8D550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239395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Structural Equation Modeling?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51" y="1076324"/>
            <a:ext cx="11368616" cy="5532632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Structural equation modeling (SEM) </a:t>
            </a:r>
            <a:r>
              <a:rPr lang="en-US" dirty="0"/>
              <a:t>is a family of statistical models that seeks to </a:t>
            </a:r>
            <a:r>
              <a:rPr lang="en-US" b="1" i="1" dirty="0"/>
              <a:t>explain</a:t>
            </a:r>
            <a:r>
              <a:rPr lang="en-US" dirty="0"/>
              <a:t> relationships among multiple variables. In doing so, SEM examines the structure of interrelationships expressed in a series of equations.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SEM involves both </a:t>
            </a:r>
            <a:r>
              <a:rPr lang="en-US" b="1" dirty="0"/>
              <a:t>interdependence and dependence</a:t>
            </a:r>
            <a:r>
              <a:rPr lang="en-US" dirty="0"/>
              <a:t>.</a:t>
            </a:r>
          </a:p>
          <a:p>
            <a:pPr marL="969962" lvl="1" indent="-457200"/>
            <a:r>
              <a:rPr lang="en-US" dirty="0"/>
              <a:t>Multiple equations represent the theoretical structure. </a:t>
            </a:r>
          </a:p>
          <a:p>
            <a:pPr marL="969962" lvl="1" indent="-457200"/>
            <a:r>
              <a:rPr lang="en-US" dirty="0"/>
              <a:t>Theory determines what things are connected.</a:t>
            </a:r>
          </a:p>
          <a:p>
            <a:pPr marL="969962" lvl="1" indent="-457200"/>
            <a:r>
              <a:rPr lang="en-US" dirty="0"/>
              <a:t>Just as importantly, theory determines what things are NOT connected.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SEM </a:t>
            </a:r>
            <a:r>
              <a:rPr lang="en-US" b="1" dirty="0"/>
              <a:t>combines two multivariate procedures </a:t>
            </a:r>
            <a:r>
              <a:rPr lang="en-US" dirty="0"/>
              <a:t>into one:</a:t>
            </a:r>
          </a:p>
          <a:p>
            <a:pPr marL="969962" lvl="1" indent="-457200"/>
            <a:r>
              <a:rPr lang="en-US" dirty="0"/>
              <a:t>Factor Analysis – assesses fit of the theoretical measurement model connecting latent constructs and measured variables</a:t>
            </a:r>
          </a:p>
          <a:p>
            <a:pPr marL="969962" lvl="1" indent="-457200"/>
            <a:r>
              <a:rPr lang="en-US" dirty="0"/>
              <a:t>Regression Analysis – assesses fit of the structural theory connecting latent constructs to each other</a:t>
            </a:r>
          </a:p>
          <a:p>
            <a:pPr marL="457200" indent="-457200"/>
            <a:r>
              <a:rPr lang="en-US" dirty="0"/>
              <a:t>SEM sometimes called:</a:t>
            </a:r>
          </a:p>
          <a:p>
            <a:pPr marL="969962" lvl="1" indent="-457200"/>
            <a:r>
              <a:rPr lang="en-US" dirty="0"/>
              <a:t>Analysis of Covariance or Covariance Structure Analysis</a:t>
            </a:r>
          </a:p>
          <a:p>
            <a:pPr marL="969962" lvl="1" indent="-457200"/>
            <a:r>
              <a:rPr lang="en-US" dirty="0"/>
              <a:t>Latent Variable Analysis</a:t>
            </a:r>
          </a:p>
          <a:p>
            <a:pPr marL="969962" lvl="1" indent="-457200"/>
            <a:r>
              <a:rPr lang="en-US" dirty="0"/>
              <a:t>Causal Modeling </a:t>
            </a:r>
          </a:p>
          <a:p>
            <a:pPr marL="969962" lvl="1" indent="-457200"/>
            <a:r>
              <a:rPr lang="en-US" dirty="0"/>
              <a:t>LISREL, AMOS, EQS</a:t>
            </a:r>
          </a:p>
          <a:p>
            <a:pPr marL="969962" lvl="1" indent="-457200"/>
            <a:endParaRPr lang="en-US" dirty="0"/>
          </a:p>
          <a:p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B243E277-FC12-4187-8AC9-FFE3076CC035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23425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the Structure in SEM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51" y="1076325"/>
            <a:ext cx="11368616" cy="544916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Structure Represents Theory</a:t>
            </a:r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i="1" dirty="0"/>
              <a:t>user</a:t>
            </a:r>
            <a:r>
              <a:rPr lang="en-US" dirty="0"/>
              <a:t> specifies a structural model that includes a limited set of relationships.  Thus, SEM is distinct from other multivariate procedures:</a:t>
            </a:r>
          </a:p>
          <a:p>
            <a:pPr marL="969962" lvl="1" indent="-457200"/>
            <a:r>
              <a:rPr lang="en-US" dirty="0"/>
              <a:t>Structural analysis is </a:t>
            </a:r>
            <a:r>
              <a:rPr lang="en-US" b="1" dirty="0"/>
              <a:t>not</a:t>
            </a:r>
            <a:r>
              <a:rPr lang="en-US" dirty="0"/>
              <a:t> exploratory</a:t>
            </a:r>
          </a:p>
          <a:p>
            <a:pPr marL="969962" lvl="1" indent="-457200"/>
            <a:r>
              <a:rPr lang="en-US" dirty="0"/>
              <a:t>SEM </a:t>
            </a:r>
            <a:r>
              <a:rPr lang="en-US" b="1" dirty="0"/>
              <a:t>tests</a:t>
            </a:r>
            <a:r>
              <a:rPr lang="en-US" dirty="0"/>
              <a:t> the user’s theory and does not explore relationships or reveal a model</a:t>
            </a:r>
          </a:p>
          <a:p>
            <a:pPr marL="969962" lvl="1" indent="-457200"/>
            <a:r>
              <a:rPr lang="en-US" dirty="0"/>
              <a:t>SEM provides more accurate estimates of parameters</a:t>
            </a:r>
          </a:p>
          <a:p>
            <a:pPr marL="1370012" lvl="2" indent="-457200"/>
            <a:r>
              <a:rPr lang="en-US" dirty="0"/>
              <a:t>Corrects for error attenuation (suggests what the relationship would be if no unreliability existed)</a:t>
            </a:r>
          </a:p>
          <a:p>
            <a:pPr marL="969962" lvl="1" indent="-457200"/>
            <a:r>
              <a:rPr lang="en-US" dirty="0"/>
              <a:t>Structural equations only include the relationships necessary to represent the model.</a:t>
            </a:r>
          </a:p>
          <a:p>
            <a:pPr marL="1370012" lvl="2" indent="-457200"/>
            <a:r>
              <a:rPr lang="en-US" dirty="0"/>
              <a:t>All other possible connections are assumed to be 0 (do not exist)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Structural equations </a:t>
            </a:r>
            <a:r>
              <a:rPr lang="en-US" b="1" dirty="0"/>
              <a:t>are contrasted with reduced form equations</a:t>
            </a:r>
            <a:r>
              <a:rPr lang="en-US" dirty="0"/>
              <a:t>:</a:t>
            </a:r>
          </a:p>
          <a:p>
            <a:pPr marL="969962" lvl="1" indent="-457200"/>
            <a:r>
              <a:rPr lang="en-US" dirty="0"/>
              <a:t>A reduced form equation solves for a single endogenous construct (or dependent variable) in a single equation with all and only exogenous constructs (independent variables) employed as predictors</a:t>
            </a:r>
          </a:p>
          <a:p>
            <a:pPr marL="969962" lvl="1" indent="-457200"/>
            <a:endParaRPr lang="en-US" dirty="0"/>
          </a:p>
          <a:p>
            <a:pPr marL="457200" indent="-457200"/>
            <a:endParaRPr lang="en-US" dirty="0"/>
          </a:p>
          <a:p>
            <a:pPr marL="457200" indent="-457200"/>
            <a:endParaRPr lang="en-US" dirty="0"/>
          </a:p>
          <a:p>
            <a:pPr marL="969962" lvl="1" indent="-45720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27DCA328-EB38-4D78-AAFE-2F2FD43F3C8E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304384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719" y="110600"/>
            <a:ext cx="11436349" cy="641350"/>
          </a:xfrm>
        </p:spPr>
        <p:txBody>
          <a:bodyPr/>
          <a:lstStyle/>
          <a:p>
            <a:r>
              <a:rPr lang="en-US" sz="2800" dirty="0"/>
              <a:t>Latent Constructs are Hypothetical, Unobservable, Variables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6DBE4C84-74E6-E243-9158-40DBB284526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98450" y="1671126"/>
            <a:ext cx="5581649" cy="4400490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228600" anchor="t">
            <a:normAutofit/>
          </a:bodyPr>
          <a:lstStyle/>
          <a:p>
            <a:pPr>
              <a:buClr>
                <a:schemeClr val="hlink"/>
              </a:buClr>
              <a:buSzPct val="150000"/>
            </a:pPr>
            <a:r>
              <a:rPr lang="en-US" altLang="en-US" sz="2400" b="0" dirty="0"/>
              <a:t>Exogenous constructs are the </a:t>
            </a:r>
            <a:r>
              <a:rPr lang="en-US" altLang="en-US" sz="2400" b="0" u="sng" dirty="0"/>
              <a:t>latent, multi-item equivalent of independent variables</a:t>
            </a:r>
            <a:r>
              <a:rPr lang="en-US" altLang="en-US" sz="2400" b="0" dirty="0"/>
              <a:t>.   They use a variate (linear combination) of measures to represent the construct, which acts as an independent variable in the model.</a:t>
            </a:r>
          </a:p>
          <a:p>
            <a:pPr lvl="1">
              <a:buClr>
                <a:schemeClr val="accent2"/>
              </a:buClr>
              <a:buSzPct val="150000"/>
            </a:pPr>
            <a:r>
              <a:rPr lang="en-US" altLang="en-US" sz="2000" b="0" dirty="0"/>
              <a:t>Multiple measured (sometimes called manifest) variables (x) represent the exogenous constructs.</a:t>
            </a:r>
            <a:endParaRPr lang="el-GR" altLang="en-US" sz="20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69A4108-FB18-7F41-8422-1468FFE57B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chemeClr val="hlink"/>
              </a:buClr>
              <a:buSzPct val="150000"/>
            </a:pPr>
            <a:r>
              <a:rPr lang="en-US" altLang="en-US" dirty="0"/>
              <a:t>Endogenous constructs are the </a:t>
            </a:r>
            <a:r>
              <a:rPr lang="en-US" altLang="en-US" u="sng" dirty="0"/>
              <a:t>latent, multi-item equivalent to dependent variables</a:t>
            </a:r>
            <a:r>
              <a:rPr lang="en-US" altLang="en-US" dirty="0"/>
              <a:t>.   These constructs are theoretically determined by factors within the model.</a:t>
            </a:r>
          </a:p>
          <a:p>
            <a:pPr lvl="1">
              <a:buClr>
                <a:schemeClr val="accent2"/>
              </a:buClr>
              <a:buSzPct val="150000"/>
            </a:pPr>
            <a:r>
              <a:rPr lang="en-US" altLang="en-US" dirty="0"/>
              <a:t>Multiple measured (sometimes called manifest) variables (y) represent the endogenous constructs.</a:t>
            </a:r>
            <a:endParaRPr lang="el-GR" alt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9AA399B-57D9-E74B-9B0D-E88403262FE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Exogenous Constructs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558975B6-CB30-EE4E-8CEF-84FA714480EA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 dirty="0"/>
              <a:t>Endogenous Constructs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xmlns="" id="{B01EC8A5-0D52-4D8A-A23E-730BB1360A02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14120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AA456859-B2B9-3143-8305-5A49E0FF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Model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571DD881-2C04-EE40-A746-E2C3326B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SEM tests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model  is a </a:t>
            </a:r>
            <a:r>
              <a:rPr lang="en-US" u="sng" dirty="0"/>
              <a:t>representation of a theory</a:t>
            </a:r>
            <a:r>
              <a:rPr lang="en-US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theory is a </a:t>
            </a:r>
            <a:r>
              <a:rPr lang="en-US" u="sng" dirty="0"/>
              <a:t>systematic set of relationships </a:t>
            </a:r>
            <a:r>
              <a:rPr lang="en-US" dirty="0"/>
              <a:t>providing a consistent and comprehensive explanation  of phenomena.  SEM involves:</a:t>
            </a:r>
          </a:p>
          <a:p>
            <a:pPr marL="969962" lvl="1" indent="-457200"/>
            <a:r>
              <a:rPr lang="en-US" u="sng" dirty="0"/>
              <a:t>Measurement theory </a:t>
            </a:r>
            <a:r>
              <a:rPr lang="en-US" dirty="0"/>
              <a:t>– provides measurement model defining pattern (correspondence rules) of relationships between measured variables and each latent construct</a:t>
            </a:r>
          </a:p>
          <a:p>
            <a:pPr marL="969962" lvl="1" indent="-457200"/>
            <a:r>
              <a:rPr lang="en-US" u="sng" dirty="0"/>
              <a:t>Structural theory </a:t>
            </a:r>
            <a:r>
              <a:rPr lang="en-US" dirty="0"/>
              <a:t>– provides correspondence rules linking constructs to each other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0CDAD8F2-E2C0-4C29-AFCC-0A4BDC0B02D1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96829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Depicting Theoretical Relationships in SEM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0176567-8B42-3541-B562-1CB297C60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418" y="1018135"/>
            <a:ext cx="8066659" cy="5324475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B81AAD09-F664-4204-A18B-968B0D6E2D3E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273815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7426DBCE-25D1-1E43-9D79-3E21A1813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Theoretical Models Look Like?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BE1949C-C989-194C-8E2F-1ABE19D0F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984296"/>
            <a:ext cx="8296864" cy="5407127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BD6D2E1F-ABEA-464F-A44A-86C77A07B8B5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75004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319F543-472E-7640-B5B7-7D57C358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 as the Dominant Multivariate Technique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A3C5E32-29EA-5345-9170-0703ECEEF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SEM’s growth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/>
              <a:t>Early 20</a:t>
            </a:r>
            <a:r>
              <a:rPr lang="en-US" u="sng" baseline="30000" dirty="0"/>
              <a:t>th</a:t>
            </a:r>
            <a:r>
              <a:rPr lang="en-US" u="sng" dirty="0"/>
              <a:t> Century</a:t>
            </a:r>
          </a:p>
          <a:p>
            <a:pPr marL="969962" lvl="1" indent="-457200"/>
            <a:r>
              <a:rPr lang="en-US" dirty="0"/>
              <a:t>Sewall Wright (1921) developed a structural model of birth weight with linear regression</a:t>
            </a:r>
          </a:p>
          <a:p>
            <a:pPr marL="969962" lvl="1" indent="-457200"/>
            <a:r>
              <a:rPr lang="en-US" dirty="0" err="1"/>
              <a:t>Thurstone</a:t>
            </a:r>
            <a:r>
              <a:rPr lang="en-US" dirty="0"/>
              <a:t> develops factor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/>
              <a:t>Late 20</a:t>
            </a:r>
            <a:r>
              <a:rPr lang="en-US" u="sng" baseline="30000" dirty="0"/>
              <a:t>th</a:t>
            </a:r>
            <a:r>
              <a:rPr lang="en-US" u="sng" dirty="0"/>
              <a:t> Century</a:t>
            </a:r>
          </a:p>
          <a:p>
            <a:pPr marL="969962" lvl="1" indent="-457200"/>
            <a:r>
              <a:rPr lang="en-US" dirty="0" err="1"/>
              <a:t>Joreskog</a:t>
            </a:r>
            <a:r>
              <a:rPr lang="en-US" dirty="0"/>
              <a:t> and </a:t>
            </a:r>
            <a:r>
              <a:rPr lang="en-US" dirty="0" err="1"/>
              <a:t>Sorbom</a:t>
            </a:r>
            <a:r>
              <a:rPr lang="en-US" dirty="0"/>
              <a:t> create LISREL software (~ 1970)</a:t>
            </a:r>
          </a:p>
          <a:p>
            <a:pPr marL="1370012" lvl="2" indent="-457200"/>
            <a:r>
              <a:rPr lang="en-US" dirty="0"/>
              <a:t>Gains popularity with advances in computing power</a:t>
            </a:r>
          </a:p>
          <a:p>
            <a:pPr marL="1370012" lvl="2" indent="-457200"/>
            <a:r>
              <a:rPr lang="en-US" dirty="0"/>
              <a:t>LISREL – Linear Structural Relations – sees competition from EQS and AMOS</a:t>
            </a:r>
          </a:p>
          <a:p>
            <a:pPr marL="1827212" lvl="3" indent="-457200"/>
            <a:r>
              <a:rPr lang="en-US" dirty="0"/>
              <a:t>AMOS replaces LISREL as an SPSS add-in (late 1990s)</a:t>
            </a:r>
          </a:p>
          <a:p>
            <a:pPr marL="1370012" lvl="2" indent="-457200"/>
            <a:r>
              <a:rPr lang="en-US" dirty="0"/>
              <a:t>AMOS’s graphics interface and availability with SPSS make it widely used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52775390-88F1-44B2-B441-84B7009E5F88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2017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 Implies Causality – “Causal Modeling”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9973E1EA-CBAC-9140-898B-167CBB5CD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790" y="2363341"/>
            <a:ext cx="4430210" cy="107721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82880" tIns="228600" rIns="182880" bIns="228600" anchor="ctr">
            <a:spAutoFit/>
          </a:bodyPr>
          <a:lstStyle>
            <a:lvl1pPr marL="290513" indent="-2905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20000"/>
              </a:spcBef>
              <a:buClr>
                <a:schemeClr val="hlink"/>
              </a:buClr>
              <a:buSzPct val="150000"/>
            </a:pPr>
            <a:r>
              <a:rPr lang="en-US" alt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Causal Inference – Hypothesizes a “cause-and-effect” relationship.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3AC08F2-0C46-EF4D-9524-C74E90F8B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088969"/>
            <a:ext cx="3886200" cy="249299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tIns="228600" bIns="228600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spcBef>
                <a:spcPct val="2000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Covariation (systematic variation)</a:t>
            </a: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Sequence (cause before effect)</a:t>
            </a: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Nonspurious Covariance </a:t>
            </a:r>
          </a:p>
          <a:p>
            <a:pPr marL="457200" indent="-457200">
              <a:spcBef>
                <a:spcPct val="20000"/>
              </a:spcBef>
              <a:buClr>
                <a:schemeClr val="hlink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Theoretical Support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0F2E345-C4DD-EE4B-BF71-454F005A4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1" y="4343401"/>
            <a:ext cx="2341563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WordArt 7">
            <a:extLst>
              <a:ext uri="{FF2B5EF4-FFF2-40B4-BE49-F238E27FC236}">
                <a16:creationId xmlns:a16="http://schemas.microsoft.com/office/drawing/2014/main" xmlns="" id="{D5F969F2-201C-7448-AB4B-7216B75478A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0" y="2438400"/>
            <a:ext cx="2362200" cy="4000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0066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4 Types of Evidence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xmlns="" id="{285AF292-4700-4719-9F12-8A0C373AAEF4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95451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23BA199-3A97-F144-BA80-4E4CF626DD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6"/>
          <a:stretch/>
        </p:blipFill>
        <p:spPr>
          <a:xfrm>
            <a:off x="1765300" y="1411644"/>
            <a:ext cx="9537700" cy="4498705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8" name="Line Callout 1 7">
            <a:extLst>
              <a:ext uri="{FF2B5EF4-FFF2-40B4-BE49-F238E27FC236}">
                <a16:creationId xmlns:a16="http://schemas.microsoft.com/office/drawing/2014/main" xmlns="" id="{08CFE306-5775-714B-8D58-36C5CAA3E7A8}"/>
              </a:ext>
            </a:extLst>
          </p:cNvPr>
          <p:cNvSpPr/>
          <p:nvPr/>
        </p:nvSpPr>
        <p:spPr>
          <a:xfrm>
            <a:off x="6829064" y="3537293"/>
            <a:ext cx="3831220" cy="1088021"/>
          </a:xfrm>
          <a:prstGeom prst="borderCallout1">
            <a:avLst>
              <a:gd name="adj1" fmla="val 18750"/>
              <a:gd name="adj2" fmla="val -8333"/>
              <a:gd name="adj3" fmla="val 172075"/>
              <a:gd name="adj4" fmla="val -69451"/>
            </a:avLst>
          </a:prstGeom>
          <a:ln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the extent that this relationship changes, the supervisor – job satisfaction relationship is spurious.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F7B05A84-4EE4-4F00-86CC-AFCF3CAA7E44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27944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A0A437-DAA6-3D4A-A832-115EF0E2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Structural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7E84AA9-6351-9649-9547-DE92EA264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574981"/>
            <a:ext cx="7594600" cy="27666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FD84B6-FCC2-AE40-81EA-03AA8BBBD6F7}"/>
              </a:ext>
            </a:extLst>
          </p:cNvPr>
          <p:cNvSpPr txBox="1"/>
          <p:nvPr/>
        </p:nvSpPr>
        <p:spPr>
          <a:xfrm>
            <a:off x="8064500" y="1346200"/>
            <a:ext cx="3886200" cy="31393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structural model showing only the latent constructs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 latent constructs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Arrows depict relationships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 relationships specified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 possible relationships NOT specified, meaning theory says they do not exist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missing arrows over-identify the model (more in Chapter 10).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57AA8AA7-857C-428D-8CCD-96BED94B7B48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391614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130E987-D60A-E24F-BF28-8BAA3BDE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SEM Estimation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1D0B778B-8BDC-1845-9FAA-72849529125F}"/>
              </a:ext>
            </a:extLst>
          </p:cNvPr>
          <p:cNvSpPr txBox="1">
            <a:spLocks noChangeArrowheads="1"/>
          </p:cNvSpPr>
          <p:nvPr/>
        </p:nvSpPr>
        <p:spPr>
          <a:xfrm>
            <a:off x="1035050" y="1084263"/>
            <a:ext cx="8902700" cy="2019014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228600" bIns="228600" anchor="ctr">
            <a:sp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b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ＭＳ Ｐゴシック" pitchFamily="-65" charset="-128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rgbClr val="000000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  <a:buSzPct val="150000"/>
            </a:pPr>
            <a:r>
              <a:rPr lang="en-US" altLang="en-US" sz="2400" kern="0" dirty="0"/>
              <a:t>SEM, as Analysis of Covariance, explains the observed covariance among a set of measured variables:</a:t>
            </a:r>
          </a:p>
          <a:p>
            <a:pPr lvl="1">
              <a:lnSpc>
                <a:spcPct val="90000"/>
              </a:lnSpc>
              <a:buClr>
                <a:schemeClr val="accent2"/>
              </a:buClr>
              <a:buSzPct val="150000"/>
            </a:pPr>
            <a:r>
              <a:rPr lang="en-US" altLang="en-US" sz="2000" kern="0" dirty="0"/>
              <a:t>It does so by estimating the observed covariance matrix with an estimated covariance matrix constructed based on the estimated relationships among variables.</a:t>
            </a:r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xmlns="" id="{29FD0BCF-0DDC-8E41-A938-0B1CF8E8C58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191000"/>
            <a:ext cx="3352800" cy="914400"/>
            <a:chOff x="1104" y="3072"/>
            <a:chExt cx="2112" cy="576"/>
          </a:xfrm>
        </p:grpSpPr>
        <p:sp>
          <p:nvSpPr>
            <p:cNvPr id="8" name="Line 4">
              <a:extLst>
                <a:ext uri="{FF2B5EF4-FFF2-40B4-BE49-F238E27FC236}">
                  <a16:creationId xmlns:a16="http://schemas.microsoft.com/office/drawing/2014/main" xmlns="" id="{C51FC116-BE64-F741-87CA-B2AEB5DEF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xmlns="" id="{4BF83544-E80E-7448-97C8-23F7C8326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072"/>
              <a:ext cx="7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Observed Covariance Matrix</a:t>
              </a: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xmlns="" id="{B699487C-B979-364B-9CCF-0F8BF082E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xmlns="" id="{589A2DD0-7C13-264D-B0B6-B3B7684AD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xmlns="" id="{273BEC69-8A8E-944A-8D3C-B9AF4EEAB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3072"/>
              <a:ext cx="768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Estimated Covariance Matrix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xmlns="" id="{D7A7CF23-AF8E-C24D-975C-9FDEA81D95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9">
            <a:extLst>
              <a:ext uri="{FF2B5EF4-FFF2-40B4-BE49-F238E27FC236}">
                <a16:creationId xmlns:a16="http://schemas.microsoft.com/office/drawing/2014/main" xmlns="" id="{9AF389A2-B9B9-F246-8518-8767315247D1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5334000"/>
            <a:ext cx="2362200" cy="533400"/>
            <a:chOff x="1488" y="3840"/>
            <a:chExt cx="1488" cy="336"/>
          </a:xfrm>
        </p:grpSpPr>
        <p:sp>
          <p:nvSpPr>
            <p:cNvPr id="15" name="Line 10">
              <a:extLst>
                <a:ext uri="{FF2B5EF4-FFF2-40B4-BE49-F238E27FC236}">
                  <a16:creationId xmlns:a16="http://schemas.microsoft.com/office/drawing/2014/main" xmlns="" id="{AA00181D-FF16-EC4A-88DB-FF21AB7EE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8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xmlns="" id="{0C7A6F85-134B-6D4A-A241-9A8BF81CB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88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chemeClr val="accent6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xmlns="" id="{FBBF844C-EFA7-1549-B30A-AF7A23592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8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xmlns="" id="{4BF1A880-6CC7-EE44-97DF-A5FE8C9E3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8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4">
              <a:extLst>
                <a:ext uri="{FF2B5EF4-FFF2-40B4-BE49-F238E27FC236}">
                  <a16:creationId xmlns:a16="http://schemas.microsoft.com/office/drawing/2014/main" xmlns="" id="{469C5961-8D75-0044-B616-88D6F4C11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88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rPr>
                <a:t>Σ</a:t>
              </a:r>
              <a:r>
                <a:rPr lang="en-US" altLang="en-US" baseline="-25000" dirty="0">
                  <a:solidFill>
                    <a:schemeClr val="accent1">
                      <a:lumMod val="50000"/>
                    </a:schemeClr>
                  </a:solidFill>
                </a:rPr>
                <a:t>k</a:t>
              </a:r>
              <a:endParaRPr lang="en-US" altLang="en-US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xmlns="" id="{C87FD8D1-DB8E-A64E-BCFE-BBC43CB12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84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 Box 16">
            <a:extLst>
              <a:ext uri="{FF2B5EF4-FFF2-40B4-BE49-F238E27FC236}">
                <a16:creationId xmlns:a16="http://schemas.microsoft.com/office/drawing/2014/main" xmlns="" id="{05E46F47-128D-9B46-9F35-F6D94D77E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59273"/>
            <a:ext cx="48641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tIns="137160" bIns="137160" anchor="ctr">
            <a:spAutoFit/>
          </a:bodyPr>
          <a:lstStyle>
            <a:lvl1pPr marL="2286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150000"/>
              <a:buFontTx/>
              <a:buChar char="•"/>
            </a:pPr>
            <a:r>
              <a:rPr lang="en-US" altLang="en-US" sz="2000" dirty="0">
                <a:solidFill>
                  <a:schemeClr val="accent6">
                    <a:lumMod val="50000"/>
                  </a:schemeClr>
                </a:solidFill>
              </a:rPr>
              <a:t>The closer these are, the better the fit, the more accurate the theory, and the better the explanation.  When they are equal, the fit is perfect.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A32CB3E-21D5-774A-9077-944847E2F784}"/>
              </a:ext>
            </a:extLst>
          </p:cNvPr>
          <p:cNvSpPr txBox="1"/>
          <p:nvPr/>
        </p:nvSpPr>
        <p:spPr>
          <a:xfrm>
            <a:off x="3670300" y="3077877"/>
            <a:ext cx="17272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Calculated based on user’s theory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8FB7417D-6D90-9143-B7C2-78A9B05B567B}"/>
              </a:ext>
            </a:extLst>
          </p:cNvPr>
          <p:cNvSpPr txBox="1"/>
          <p:nvPr/>
        </p:nvSpPr>
        <p:spPr>
          <a:xfrm>
            <a:off x="1727200" y="3139584"/>
            <a:ext cx="17272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Data collected externally</a:t>
            </a:r>
          </a:p>
        </p:txBody>
      </p:sp>
      <p:sp>
        <p:nvSpPr>
          <p:cNvPr id="24" name="Footer Placeholder 3">
            <a:extLst>
              <a:ext uri="{FF2B5EF4-FFF2-40B4-BE49-F238E27FC236}">
                <a16:creationId xmlns:a16="http://schemas.microsoft.com/office/drawing/2014/main" xmlns="" id="{601E84F7-0072-462E-B46D-5532F706FC96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41475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1DB24F-CBE0-0F46-83CF-6B29483A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Illustrating the SEM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92C3323-2D9B-0043-90A5-D3E6CE72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02" y="995478"/>
            <a:ext cx="9266165" cy="5384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1B1F3D0-C0A9-1C45-9C16-953B54224EFA}"/>
              </a:ext>
            </a:extLst>
          </p:cNvPr>
          <p:cNvSpPr txBox="1"/>
          <p:nvPr/>
        </p:nvSpPr>
        <p:spPr>
          <a:xfrm>
            <a:off x="298450" y="4787900"/>
            <a:ext cx="193675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Relatively small residuals signal good fit!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2992C88-C0EF-D142-BC5D-FB17854783D8}"/>
              </a:ext>
            </a:extLst>
          </p:cNvPr>
          <p:cNvSpPr/>
          <p:nvPr/>
        </p:nvSpPr>
        <p:spPr>
          <a:xfrm>
            <a:off x="3352800" y="995478"/>
            <a:ext cx="7099300" cy="312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n>
                  <a:solidFill>
                    <a:schemeClr val="accent3">
                      <a:lumMod val="50000"/>
                    </a:schemeClr>
                  </a:solidFill>
                </a:ln>
                <a:solidFill>
                  <a:schemeClr val="bg2"/>
                </a:solidFill>
              </a:rPr>
              <a:t>Observed, Estimated, and Residual Covariance Matrices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B59F98B1-21A5-4EF7-B57C-6FF3CE5AC1CF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98069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9D7697D8-4B22-7840-A23A-1CE527F0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Stages in Conducting SEM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81E4545-4FB2-F24A-922A-4B5AC7EBA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1" y="1076324"/>
            <a:ext cx="11368616" cy="5532631"/>
          </a:xfrm>
        </p:spPr>
        <p:txBody>
          <a:bodyPr>
            <a:normAutofit lnSpcReduction="10000"/>
          </a:bodyPr>
          <a:lstStyle/>
          <a:p>
            <a:pPr>
              <a:buClr>
                <a:schemeClr val="hlink"/>
              </a:buClr>
            </a:pPr>
            <a:r>
              <a:rPr lang="en-US" altLang="en-US" b="1" dirty="0"/>
              <a:t>Stage 1:  Defining Individual Constructs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define construct and assign measured variables to constructs</a:t>
            </a:r>
          </a:p>
          <a:p>
            <a:pPr>
              <a:buClr>
                <a:schemeClr val="hlink"/>
              </a:buClr>
            </a:pPr>
            <a:r>
              <a:rPr lang="en-US" altLang="en-US" b="1" dirty="0"/>
              <a:t>Stage 2:  Developing the Overall Measurement Model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restrict the </a:t>
            </a:r>
            <a:r>
              <a:rPr lang="en-US" altLang="en-US" dirty="0" err="1"/>
              <a:t>covariances</a:t>
            </a:r>
            <a:r>
              <a:rPr lang="en-US" altLang="en-US" dirty="0"/>
              <a:t> with the pattern of connections and non-connections</a:t>
            </a:r>
          </a:p>
          <a:p>
            <a:pPr marL="0" indent="0">
              <a:buClr>
                <a:schemeClr val="accent2">
                  <a:lumMod val="50000"/>
                </a:schemeClr>
              </a:buClr>
            </a:pPr>
            <a:r>
              <a:rPr lang="en-US" altLang="en-US" b="1" dirty="0"/>
              <a:t>Stage 3:  Designing a Study to Produce Empirical Results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study characteristics are adequate</a:t>
            </a:r>
          </a:p>
          <a:p>
            <a:pPr marL="0" indent="0">
              <a:buClr>
                <a:schemeClr val="accent2">
                  <a:lumMod val="50000"/>
                </a:schemeClr>
              </a:buClr>
            </a:pPr>
            <a:r>
              <a:rPr lang="en-US" altLang="en-US" b="1" dirty="0"/>
              <a:t>Stage 4:  Assessing the Measurement Model Validity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fit of proposed measurement restrictions to reality</a:t>
            </a:r>
          </a:p>
          <a:p>
            <a:pPr marL="0" indent="0">
              <a:buClr>
                <a:schemeClr val="accent2">
                  <a:lumMod val="50000"/>
                </a:schemeClr>
              </a:buClr>
            </a:pPr>
            <a:r>
              <a:rPr lang="en-US" altLang="en-US" b="1" dirty="0"/>
              <a:t>Stage 5:  Specifying the Structural Model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fit of proposed structural theory restrictions</a:t>
            </a:r>
          </a:p>
          <a:p>
            <a:pPr marL="0" indent="0">
              <a:buClr>
                <a:schemeClr val="accent2">
                  <a:lumMod val="50000"/>
                </a:schemeClr>
              </a:buClr>
            </a:pPr>
            <a:r>
              <a:rPr lang="en-US" altLang="en-US" b="1" dirty="0"/>
              <a:t>Stage 6:  Assessing Structural Model Validity</a:t>
            </a:r>
          </a:p>
          <a:p>
            <a:pPr marL="969962" lvl="1" indent="-457200">
              <a:buClr>
                <a:schemeClr val="accent2">
                  <a:lumMod val="50000"/>
                </a:schemeClr>
              </a:buClr>
            </a:pPr>
            <a:r>
              <a:rPr lang="en-US" altLang="en-US" dirty="0"/>
              <a:t>examine diagnostics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EE860A5A-AF87-41CB-A388-6C783F079CB9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57563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7CDB39-8F52-2D49-A492-C087AE4B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2: Visual Representation of a Measurement Model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023" y="1903532"/>
            <a:ext cx="5512147" cy="3283432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A162000A-1CA1-4B87-B7E3-5565F256B6F8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306667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3A6A17-73E3-4040-B9C3-630778C9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943CBB-95E5-BA4F-8745-518196A2D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076324"/>
            <a:ext cx="11064093" cy="5294495"/>
          </a:xfrm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r>
              <a:rPr lang="en-US" b="1" dirty="0"/>
              <a:t>Missing Data Options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Is the missing data percentage </a:t>
            </a:r>
            <a:r>
              <a:rPr lang="en-US" u="sng" dirty="0"/>
              <a:t>high and nonrandom </a:t>
            </a:r>
            <a:r>
              <a:rPr lang="en-US" dirty="0"/>
              <a:t>so as to cause problems in estimation or interpretation?</a:t>
            </a:r>
          </a:p>
          <a:p>
            <a:pPr marL="969962" lvl="1" indent="-457200"/>
            <a:r>
              <a:rPr lang="en-US" dirty="0"/>
              <a:t>If small and random, then any treatment is adequate.</a:t>
            </a:r>
          </a:p>
          <a:p>
            <a:pPr marL="969962" lvl="1" indent="-457200"/>
            <a:r>
              <a:rPr lang="en-US" dirty="0"/>
              <a:t>If  more than 10% and/or nonrandom, missing data must be remedied.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</a:t>
            </a:r>
            <a:r>
              <a:rPr lang="en-US" u="sng" dirty="0"/>
              <a:t>best approach</a:t>
            </a:r>
            <a:r>
              <a:rPr lang="en-US" dirty="0"/>
              <a:t>?</a:t>
            </a:r>
          </a:p>
          <a:p>
            <a:pPr marL="969962" lvl="1" indent="-457200"/>
            <a:r>
              <a:rPr lang="en-US" dirty="0"/>
              <a:t>See Exhibit 9.3 for summary.</a:t>
            </a:r>
          </a:p>
          <a:p>
            <a:pPr marL="1370012" lvl="2" indent="-457200"/>
            <a:r>
              <a:rPr lang="en-US" dirty="0"/>
              <a:t>Complete Case or List-wise Deletion</a:t>
            </a:r>
          </a:p>
          <a:p>
            <a:pPr marL="1370012" lvl="2" indent="-457200"/>
            <a:r>
              <a:rPr lang="en-US" dirty="0"/>
              <a:t>All Available or Pairwise Deletion</a:t>
            </a:r>
          </a:p>
          <a:p>
            <a:pPr marL="1370012" lvl="2" indent="-457200"/>
            <a:r>
              <a:rPr lang="en-US" dirty="0"/>
              <a:t>Model-Based (EM)</a:t>
            </a:r>
          </a:p>
          <a:p>
            <a:pPr marL="1370012" lvl="2" indent="-457200"/>
            <a:r>
              <a:rPr lang="en-US" dirty="0"/>
              <a:t>Modeled FIML</a:t>
            </a:r>
          </a:p>
          <a:p>
            <a:pPr marL="969962" lvl="1" indent="-457200"/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81F7FA61-83FD-484E-9FDA-A7F6E2889D46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352607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86B842-41F2-0C4E-A9FC-0CC57AFF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6A5337-5EB9-B745-8CD1-6B1C2163DBF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6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Sample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SEM is often thought to </a:t>
            </a:r>
            <a:r>
              <a:rPr lang="en-US" u="sng" dirty="0"/>
              <a:t>require a larger sample relative </a:t>
            </a:r>
            <a:r>
              <a:rPr lang="en-US" dirty="0"/>
              <a:t>to other multivariate approaches. </a:t>
            </a:r>
          </a:p>
          <a:p>
            <a:pPr marL="969962" lvl="1" indent="-457200"/>
            <a:r>
              <a:rPr lang="en-US" dirty="0"/>
              <a:t>Most importantly, the sample size required for any given statistic is a question secondary to the sample size required to generalize from a sample to a population. In almost all instances, the sample size requirement to infer to the population exceeds that for a specific statistic, including any SEM approach.</a:t>
            </a:r>
          </a:p>
          <a:p>
            <a:pPr marL="969962" lvl="1" indent="-457200"/>
            <a:r>
              <a:rPr lang="en-US" dirty="0"/>
              <a:t>Five considerations affecting the required sample size for SEM include the following: (1) multivariate normality of the data, (2) estimation technique, (3) model complexity, (4) the amount of missing data, and (5) the average error variance among the reflective indicators.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u="sng" dirty="0"/>
              <a:t>More observations than variables </a:t>
            </a:r>
            <a:r>
              <a:rPr lang="en-US" dirty="0"/>
              <a:t>required as bottom-line.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With good measurement characteristics, </a:t>
            </a:r>
            <a:r>
              <a:rPr lang="en-US" u="sng" dirty="0"/>
              <a:t>samples approaching 100 produce stable results</a:t>
            </a:r>
            <a:r>
              <a:rPr lang="en-US" dirty="0"/>
              <a:t>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F16D54A8-D350-47C3-B1CD-2E1135DD5CD6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49614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F0DF92-9B58-344E-A78D-4FDD4F36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4: Measurement Model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59B67A-8AFD-3742-AFA8-C0D7B3FA59E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6"/>
            </a:solidFill>
          </a:ln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Absolute fit indices</a:t>
            </a:r>
          </a:p>
          <a:p>
            <a:pPr marL="969962" lvl="1" indent="-457200"/>
            <a:r>
              <a:rPr lang="en-US" dirty="0"/>
              <a:t>Always report chi-square (𝟀</a:t>
            </a:r>
            <a:r>
              <a:rPr lang="en-US" baseline="30000" dirty="0"/>
              <a:t>2</a:t>
            </a:r>
            <a:r>
              <a:rPr lang="en-US" dirty="0"/>
              <a:t>) and degrees of freedom 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969962" lvl="1" indent="-457200"/>
            <a:r>
              <a:rPr lang="en-US" dirty="0"/>
              <a:t>Goodness of fit index (GFI) – illustrates goodness of fit index</a:t>
            </a:r>
          </a:p>
          <a:p>
            <a:pPr marL="969962" lvl="1" indent="-457200"/>
            <a:r>
              <a:rPr lang="en-US" dirty="0"/>
              <a:t>Root mean squared error of approximation (RMSEA) – illustrates badness of fit index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Incremental fit indices</a:t>
            </a:r>
          </a:p>
          <a:p>
            <a:pPr marL="969962" lvl="1" indent="-457200"/>
            <a:r>
              <a:rPr lang="en-US" dirty="0"/>
              <a:t>Relative fit</a:t>
            </a:r>
          </a:p>
          <a:p>
            <a:pPr marL="969962" lvl="1" indent="-457200"/>
            <a:r>
              <a:rPr lang="en-US" dirty="0"/>
              <a:t>Comparative Fit Index (CFI) – incremental, goodness of fit index, which shows improvement in fit over null model fit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Parsimony fit indices</a:t>
            </a:r>
          </a:p>
          <a:p>
            <a:pPr marL="969962" lvl="1" indent="-457200"/>
            <a:r>
              <a:rPr lang="en-US" dirty="0"/>
              <a:t>Parsimony Fit Index (PNFI) – assessing relative fit of models</a:t>
            </a:r>
          </a:p>
          <a:p>
            <a:pPr marL="457200" indent="-457200"/>
            <a:endParaRPr lang="en-US" dirty="0"/>
          </a:p>
          <a:p>
            <a:pPr marL="0" indent="0"/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2F2EF24E-6040-42D6-86DF-AC2FE1997DD0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189730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D744D0-129C-864D-88CF-CA3AEB0D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Guidelines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94AD727-7A1F-954F-9A2D-8D456BC53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9912" y="1076325"/>
            <a:ext cx="8565163" cy="461645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15F4CFBD-1D92-4B02-832F-0BBA515B96B0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244977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E6919C-8B11-7A44-9685-FEFB47E3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5: Structural Model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113FCF-088E-9642-9F18-06576A0A0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1" y="1076325"/>
            <a:ext cx="5130076" cy="4616450"/>
          </a:xfrm>
          <a:ln>
            <a:solidFill>
              <a:schemeClr val="accent6"/>
            </a:solidFill>
          </a:ln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Restrict the measurement model further by removing correlation relationships that should not theoretically exist</a:t>
            </a:r>
          </a:p>
          <a:p>
            <a:pPr marL="969962" lvl="1" indent="-457200"/>
            <a:r>
              <a:rPr lang="en-US" dirty="0"/>
              <a:t>Further constrain the measurement model</a:t>
            </a:r>
          </a:p>
          <a:p>
            <a:pPr marL="969962" lvl="1" indent="-457200"/>
            <a:r>
              <a:rPr lang="en-US" dirty="0"/>
              <a:t>To yield the structural model of relationships among latent constructs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932972-5AA1-1C4D-BC69-8D5B1B52C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842" y="1076325"/>
            <a:ext cx="4911269" cy="2383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E3841B4-9322-6043-B1F7-72F4BACB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802" y="3609810"/>
            <a:ext cx="3883348" cy="286681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95B2FDBF-6348-DD41-9E59-CF762A60407D}"/>
              </a:ext>
            </a:extLst>
          </p:cNvPr>
          <p:cNvCxnSpPr/>
          <p:nvPr/>
        </p:nvCxnSpPr>
        <p:spPr>
          <a:xfrm flipV="1">
            <a:off x="4560425" y="2442258"/>
            <a:ext cx="1296365" cy="810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C73A8D04-042A-DE4F-BFB4-668CD81905CC}"/>
              </a:ext>
            </a:extLst>
          </p:cNvPr>
          <p:cNvCxnSpPr>
            <a:cxnSpLocks/>
          </p:cNvCxnSpPr>
          <p:nvPr/>
        </p:nvCxnSpPr>
        <p:spPr>
          <a:xfrm>
            <a:off x="4560425" y="4097438"/>
            <a:ext cx="2303362" cy="4398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xmlns="" id="{47E1ABED-B273-4D44-827C-30946785B1E2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5755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1544D2-D64E-524E-AE3B-4AA32576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6: Assessing Validity Further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884814-AFD0-6C4B-8BC2-677D5ECD7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07" y="2248383"/>
            <a:ext cx="6655229" cy="3125285"/>
          </a:xfrm>
          <a:ln>
            <a:solidFill>
              <a:schemeClr val="accent6"/>
            </a:solidFill>
          </a:ln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test of relative fit becomes a very practical assessment of model quality.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comparison of the measurement model and theoretical model fits is a useful way of looking at overall model fit.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8A175E5-E34F-374C-B0D6-98F2F844F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458" y="1632433"/>
            <a:ext cx="3213100" cy="123190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CB19017-5CEA-6544-905A-5C1D7DEA0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08" y="3758744"/>
            <a:ext cx="4324350" cy="777979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xmlns="" id="{4365ADFA-9B9F-465B-BD69-055F4B2250B9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97320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D023D3-67F9-0843-BA78-345E61CC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Checkpoints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Provide a basic overview of “what is SEM?”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does SEM combines factor analysis and linear regression?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Why is SEM very appropriate for analyzing latent constructs?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are the conditions of causality?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the purpose </a:t>
            </a:r>
            <a:r>
              <a:rPr lang="en-US"/>
              <a:t>of reproducing </a:t>
            </a:r>
            <a:r>
              <a:rPr lang="en-US" dirty="0"/>
              <a:t>the covariance matrix by representing the user’s theory </a:t>
            </a:r>
            <a:r>
              <a:rPr lang="en-US"/>
              <a:t>with equations?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List the stages of a complete SEM analysis.</a:t>
            </a:r>
          </a:p>
          <a:p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DE320E77-C971-4A42-9BDC-3F69990C5990}"/>
              </a:ext>
            </a:extLst>
          </p:cNvPr>
          <p:cNvSpPr>
            <a:spLocks noGrp="1"/>
          </p:cNvSpPr>
          <p:nvPr/>
        </p:nvSpPr>
        <p:spPr>
          <a:xfrm>
            <a:off x="-360885" y="6591193"/>
            <a:ext cx="9618634" cy="266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use with Hair, Black, Babin and Anderson, Multivariate Data Analysis 8e © 2018 Cengage Learning EMEA</a:t>
            </a:r>
          </a:p>
        </p:txBody>
      </p:sp>
    </p:spTree>
    <p:extLst>
      <p:ext uri="{BB962C8B-B14F-4D97-AF65-F5344CB8AC3E}">
        <p14:creationId xmlns:p14="http://schemas.microsoft.com/office/powerpoint/2010/main" val="87778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KT7130_Spring_2017">
  <a:themeElements>
    <a:clrScheme name="IRM S08 Slide Template 8">
      <a:dk1>
        <a:srgbClr val="CC3300"/>
      </a:dk1>
      <a:lt1>
        <a:srgbClr val="FFFFFF"/>
      </a:lt1>
      <a:dk2>
        <a:srgbClr val="CC3300"/>
      </a:dk2>
      <a:lt2>
        <a:srgbClr val="808080"/>
      </a:lt2>
      <a:accent1>
        <a:srgbClr val="009900"/>
      </a:accent1>
      <a:accent2>
        <a:srgbClr val="3333CC"/>
      </a:accent2>
      <a:accent3>
        <a:srgbClr val="FFFFFF"/>
      </a:accent3>
      <a:accent4>
        <a:srgbClr val="AE2A00"/>
      </a:accent4>
      <a:accent5>
        <a:srgbClr val="AACAAA"/>
      </a:accent5>
      <a:accent6>
        <a:srgbClr val="2D2DB9"/>
      </a:accent6>
      <a:hlink>
        <a:srgbClr val="CCCCFF"/>
      </a:hlink>
      <a:folHlink>
        <a:srgbClr val="B2B2B2"/>
      </a:folHlink>
    </a:clrScheme>
    <a:fontScheme name="IRM S08 Slide 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IRM S08 Slide 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RM S08 Slide 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RM S08 Slide Template 8">
        <a:dk1>
          <a:srgbClr val="CC3300"/>
        </a:dk1>
        <a:lt1>
          <a:srgbClr val="FFFFFF"/>
        </a:lt1>
        <a:dk2>
          <a:srgbClr val="CC3300"/>
        </a:dk2>
        <a:lt2>
          <a:srgbClr val="808080"/>
        </a:lt2>
        <a:accent1>
          <a:srgbClr val="009900"/>
        </a:accent1>
        <a:accent2>
          <a:srgbClr val="3333CC"/>
        </a:accent2>
        <a:accent3>
          <a:srgbClr val="FFFFFF"/>
        </a:accent3>
        <a:accent4>
          <a:srgbClr val="AE2A00"/>
        </a:accent4>
        <a:accent5>
          <a:srgbClr val="AACA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KT7130_Spring_2017" id="{ACA0ED82-B5EC-4D77-B8AE-FF657181E276}" vid="{B4933BFD-CDF2-43FA-930D-580857B857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MKT7130_Spring_2017</Template>
  <TotalTime>0</TotalTime>
  <Words>1860</Words>
  <Application>Microsoft Office PowerPoint</Application>
  <PresentationFormat>寬螢幕</PresentationFormat>
  <Paragraphs>178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ＭＳ Ｐゴシック</vt:lpstr>
      <vt:lpstr>Arial</vt:lpstr>
      <vt:lpstr>Arial Narrow</vt:lpstr>
      <vt:lpstr>Arial Rounded MT Bold</vt:lpstr>
      <vt:lpstr>Calibri</vt:lpstr>
      <vt:lpstr>Impact</vt:lpstr>
      <vt:lpstr>Tahoma</vt:lpstr>
      <vt:lpstr>Times New Roman</vt:lpstr>
      <vt:lpstr>Verdana</vt:lpstr>
      <vt:lpstr>Wingdings</vt:lpstr>
      <vt:lpstr>MKT7130_Spring_2017</vt:lpstr>
      <vt:lpstr>Chapter 9  Structural Equation Modeling: An Introduction</vt:lpstr>
      <vt:lpstr>Chapter 9: Structural Equations Modeling (SEM)</vt:lpstr>
      <vt:lpstr>What is Structural Equation Modeling?</vt:lpstr>
      <vt:lpstr>Notes on the Structure in SEM</vt:lpstr>
      <vt:lpstr>Latent Constructs are Hypothetical, Unobservable, Variables</vt:lpstr>
      <vt:lpstr>Defining a Model</vt:lpstr>
      <vt:lpstr>Depicting Theoretical Relationships in SEM</vt:lpstr>
      <vt:lpstr>What do the Theoretical Models Look Like?</vt:lpstr>
      <vt:lpstr>SEM as the Dominant Multivariate Technique</vt:lpstr>
      <vt:lpstr>SEM Implies Causality – “Causal Modeling”</vt:lpstr>
      <vt:lpstr>PowerPoint 簡報</vt:lpstr>
      <vt:lpstr>Example Structural Model</vt:lpstr>
      <vt:lpstr>Basics of SEM Estimation</vt:lpstr>
      <vt:lpstr>Illustrating the SEM Process</vt:lpstr>
      <vt:lpstr>The Stages in Conducting SEM</vt:lpstr>
      <vt:lpstr>Stage 2: Visual Representation of a Measurement Model</vt:lpstr>
      <vt:lpstr>Stage 3</vt:lpstr>
      <vt:lpstr>Stage 3</vt:lpstr>
      <vt:lpstr>Stage 4: Measurement Model Validity</vt:lpstr>
      <vt:lpstr>Fit Guidelines</vt:lpstr>
      <vt:lpstr>Stage 5: Structural Model Fit</vt:lpstr>
      <vt:lpstr>Stage 6: Assessing Validity Further</vt:lpstr>
      <vt:lpstr>Learning Checkpoints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Equation Modeling: An Introduction</dc:title>
  <dc:creator/>
  <cp:lastModifiedBy/>
  <cp:revision>1</cp:revision>
  <dcterms:created xsi:type="dcterms:W3CDTF">2018-05-29T17:09:48Z</dcterms:created>
  <dcterms:modified xsi:type="dcterms:W3CDTF">2019-03-27T02:14:36Z</dcterms:modified>
</cp:coreProperties>
</file>