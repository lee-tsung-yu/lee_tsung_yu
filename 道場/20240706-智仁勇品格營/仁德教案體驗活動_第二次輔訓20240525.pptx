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EBA07-85A6-4AB1-8646-76DF78503C75}" type="datetimeFigureOut">
              <a:rPr lang="zh-TW" altLang="en-US" smtClean="0"/>
              <a:t>2024/5/24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06E23-C676-4961-A596-18A4EE668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89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1FB34-7AD3-017C-38D9-5C1BF58E3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F50F21-1389-739C-9426-C1E795533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B9541E-FD06-CF6D-0E12-3619BDE6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FC5103-D204-03A9-238F-CCFCD229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6925CD-D289-CDE0-AAE9-3836FE8F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38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E6DBC6-1B45-AB31-6627-94C0101C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100A05-AB43-A99B-871A-1F4675447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4D145B-953D-1ABF-E77B-111939D7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CB5960-C7DF-09E9-C578-1F18718FB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5D2957-2E53-652A-ED1D-300693C0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61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B7DF27-640F-B9A1-4BEB-5BE467BC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1956EB-16AD-1252-0230-36DB45944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107FAC-3F77-37E3-4908-275FCD43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F8D617-47E8-F3CA-8031-8462986A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0B424B-2CA5-07D7-9D9B-F475A825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0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1D780-7289-CBAF-08C4-D3C61D6C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6D62AD-6C92-21CE-8898-9CBE341C0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AC2C08-97D9-A1D8-3154-AFC0D636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D78FE5-3D05-FBA2-0552-D5473FCF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8C5214-E898-A065-303F-319A083C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D4557D-2611-9274-6690-6E96268A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76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29771-7276-26DE-AE30-AF4229849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C40BDC-A4B2-C583-9BB0-1AF517E98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9A01FF-4CBB-C0E6-833A-1F10EC4FF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FFE0A5-7F36-2707-612E-FA8BA7A10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1C3E0DB-33AB-3BBC-CA2D-0D6BA11AE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D4AADE-EF6E-FA2D-A205-642DB988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8A8A02-53E6-3646-B1EA-5D1D7492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C06146-28BD-BB7F-BB9B-6608A52C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7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7EE18-635D-939C-0CCF-E9C053D2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8796173-0A8F-C99A-B98F-8F6887D3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D8B540-0E40-CFCA-C556-4474A531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46A9F4-31F2-F950-25F1-90C8DDB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37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3BB5589-1BED-237D-CE51-B49396B1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EA3E7D7-D816-7966-3294-3E1A00A6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11F3D8-D665-DB89-5CD1-F064C300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07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2B622-D762-0F61-988D-760DFB21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024C90-BBD4-468C-1737-AAE6A2B28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13E63A-E803-7214-570A-869231FAA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A59062-5B76-2124-E20A-9E67713D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444049-BB10-9447-3601-F1D24DF7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FAE7F9-77D7-33F3-0373-F21C3611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1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0555-EDB8-85E5-5170-D452A5E3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8B6737-779F-3315-59B0-35C92B8CE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F70148-1C82-EC93-FEE5-6416E31E2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76508B-ED08-CF9C-010E-E27C4C00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55977C-F14E-7A9E-05B6-45ACB324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B6BC84-48CA-4A37-BB4C-1E0B40E8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106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F8E26-544E-763B-716C-75D6D60D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3028A55-1AF6-49C6-99A1-406374317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105290-3ECB-F847-8401-ED340AE8E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A0314C-51D8-471F-FE2C-59084992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6E0C16-8CB0-7B92-6628-27754281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3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9942384-6AD6-0EC7-0B4B-FB49FC9F2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9F3DDB-0F47-82DD-2C94-7C4EC132F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6D0CF9-B0A0-D070-4C1B-9959B1D2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6A92B-425A-55CA-C8E7-5A832E43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436A36-2623-5471-FD6E-2B3D4237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5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CB60F3-D590-1641-DD79-C5D01BFC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00A7D0-D4A6-2AD0-20AB-3B8B25A6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B17682-8129-8AAF-9FEB-BD959A2F2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14A3B-076A-B6FE-D21B-5D1098A62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TW" altLang="en-US"/>
              <a:t>第二次輔訓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38F280-273A-1191-ECFE-ABF6ED476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6289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8ABB1-A24F-4C58-AE24-72D1541B64E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1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B72C8-331B-31E6-0AD4-B7E8864C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2380"/>
            <a:ext cx="9144000" cy="973240"/>
          </a:xfrm>
        </p:spPr>
        <p:txBody>
          <a:bodyPr/>
          <a:lstStyle/>
          <a:p>
            <a:r>
              <a:rPr lang="zh-TW" altLang="en-US" dirty="0">
                <a:latin typeface="隨峰體" pitchFamily="2" charset="-120"/>
                <a:ea typeface="隨峰體" pitchFamily="2" charset="-120"/>
              </a:rPr>
              <a:t>仁德教案體驗活動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7DC103-63A8-C38D-65B3-277F1E80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9AB6B7-99F2-1D85-81F0-FC70917D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82EDE7-87CD-6AFE-C0EA-7E76B7F3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4591664" y="206478"/>
            <a:ext cx="3008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/>
              <a:t>道念學習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973394" y="1455174"/>
            <a:ext cx="100780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　　仁字以「二」「人」合成，代表人與人之間，可以透過發自內心真誠的慈憫與關懷之情，展現惻隱之心、同理心、敬愛之心，並能在日常生活中推己及人，給人散播溫暖拔苦予樂，為社會帶來一片祥和，同時也能藉此培養我們的慈悲心懷，提升品德修養。</a:t>
            </a:r>
            <a:endParaRPr lang="en-US" altLang="zh-TW" sz="3200" dirty="0"/>
          </a:p>
          <a:p>
            <a:r>
              <a:rPr lang="zh-TW" altLang="en-US" sz="3200" dirty="0"/>
              <a:t>　　子曰</a:t>
            </a:r>
            <a:r>
              <a:rPr lang="en-US" altLang="zh-TW" sz="3200" dirty="0"/>
              <a:t>:</a:t>
            </a:r>
            <a:r>
              <a:rPr lang="zh-TW" altLang="en-US" sz="3200" dirty="0"/>
              <a:t>「仁者不憂」，有仁德的人，內心有一種慈悲的力量，能善解、能包容，自然也就能得到別人的敬愛與尊重，正所謂</a:t>
            </a:r>
            <a:r>
              <a:rPr lang="en-US" altLang="zh-TW" sz="3200" dirty="0"/>
              <a:t>:</a:t>
            </a:r>
            <a:r>
              <a:rPr lang="zh-TW" altLang="en-US" sz="3200" dirty="0"/>
              <a:t>敬人者人恆敬之；愛人者人恆愛之。</a:t>
            </a:r>
          </a:p>
        </p:txBody>
      </p:sp>
    </p:spTree>
    <p:extLst>
      <p:ext uri="{BB962C8B-B14F-4D97-AF65-F5344CB8AC3E}">
        <p14:creationId xmlns:p14="http://schemas.microsoft.com/office/powerpoint/2010/main" val="48762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934928" y="180042"/>
            <a:ext cx="6322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挑戰一：同理長輩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8" y="1425677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TW" altLang="en-US" sz="2800" dirty="0"/>
              <a:t>每個小朋友雙手戴上手套。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2. </a:t>
            </a:r>
            <a:r>
              <a:rPr lang="zh-TW" altLang="en-US" sz="2800" dirty="0"/>
              <a:t>依序完成以下步驟：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用非慣用手寫字 </a:t>
            </a:r>
            <a:endParaRPr lang="en-US" altLang="zh-TW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撕雙面膠</a:t>
            </a:r>
            <a:endParaRPr lang="en-US" altLang="zh-TW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貼上小卡片</a:t>
            </a:r>
            <a:endParaRPr lang="en-US" altLang="zh-TW" sz="2800" dirty="0"/>
          </a:p>
          <a:p>
            <a:endParaRPr lang="zh-TW" altLang="en-US" sz="2800" dirty="0"/>
          </a:p>
          <a:p>
            <a:r>
              <a:rPr lang="en-US" altLang="zh-TW" sz="2800" dirty="0"/>
              <a:t>3.</a:t>
            </a:r>
            <a:r>
              <a:rPr lang="zh-TW" altLang="en-US" sz="2800" dirty="0"/>
              <a:t> 這個活動是讓學員能夠體驗長輩（例如阿公阿嬤）年老所導致的行動遲緩，透過此活動，理解長輩的不方便，回到家可以更尊敬、帶有同理心對待家中的長者。</a:t>
            </a:r>
          </a:p>
        </p:txBody>
      </p:sp>
    </p:spTree>
    <p:extLst>
      <p:ext uri="{BB962C8B-B14F-4D97-AF65-F5344CB8AC3E}">
        <p14:creationId xmlns:p14="http://schemas.microsoft.com/office/powerpoint/2010/main" val="63516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挑戰二：「我來幫你」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6" y="1613118"/>
            <a:ext cx="10078064" cy="2601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1. </a:t>
            </a:r>
            <a:r>
              <a:rPr lang="zh-TW" altLang="en-US" sz="2800" dirty="0"/>
              <a:t>兩兩一組，請一位先幫另一位穿衣服、襪子，被穿衣服的人不配合，手腳打直或放軟。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2. </a:t>
            </a:r>
            <a:r>
              <a:rPr lang="zh-TW" altLang="en-US" sz="2800" dirty="0"/>
              <a:t>兩兩再互脫衣服，這次被脫衣服、襪子的人願意配合脫衣。</a:t>
            </a:r>
          </a:p>
          <a:p>
            <a:pPr>
              <a:lnSpc>
                <a:spcPct val="150000"/>
              </a:lnSpc>
            </a:pPr>
            <a:r>
              <a:rPr lang="en-US" altLang="zh-TW" sz="2800" dirty="0"/>
              <a:t>3. </a:t>
            </a:r>
            <a:r>
              <a:rPr lang="zh-TW" altLang="en-US" sz="2800" dirty="0"/>
              <a:t>自己將衣服、襪子自己穿上。</a:t>
            </a:r>
          </a:p>
        </p:txBody>
      </p:sp>
    </p:spTree>
    <p:extLst>
      <p:ext uri="{BB962C8B-B14F-4D97-AF65-F5344CB8AC3E}">
        <p14:creationId xmlns:p14="http://schemas.microsoft.com/office/powerpoint/2010/main" val="328276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問題與討論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C12EE1-2D2C-7E96-EC1C-2984B8222851}"/>
              </a:ext>
            </a:extLst>
          </p:cNvPr>
          <p:cNvSpPr txBox="1"/>
          <p:nvPr/>
        </p:nvSpPr>
        <p:spPr>
          <a:xfrm>
            <a:off x="1371600" y="1607704"/>
            <a:ext cx="2453640" cy="148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/>
              <a:t>挑戰一</a:t>
            </a:r>
            <a:endParaRPr lang="en-US" altLang="zh-TW" sz="3200" dirty="0"/>
          </a:p>
          <a:p>
            <a:pPr algn="ctr">
              <a:lnSpc>
                <a:spcPct val="150000"/>
              </a:lnSpc>
            </a:pPr>
            <a:r>
              <a:rPr lang="en-US" altLang="zh-TW" sz="3200" dirty="0"/>
              <a:t>【</a:t>
            </a:r>
            <a:r>
              <a:rPr lang="zh-TW" altLang="en-US" sz="3200" dirty="0"/>
              <a:t>同理長輩</a:t>
            </a:r>
            <a:r>
              <a:rPr lang="en-US" altLang="zh-TW" sz="3200" dirty="0"/>
              <a:t>】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F014D29-116E-0341-047E-BAEF5446EA06}"/>
              </a:ext>
            </a:extLst>
          </p:cNvPr>
          <p:cNvSpPr txBox="1"/>
          <p:nvPr/>
        </p:nvSpPr>
        <p:spPr>
          <a:xfrm>
            <a:off x="1371600" y="4050289"/>
            <a:ext cx="2453640" cy="148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/>
              <a:t>挑戰二</a:t>
            </a:r>
            <a:endParaRPr lang="en-US" altLang="zh-TW" sz="3200" dirty="0"/>
          </a:p>
          <a:p>
            <a:pPr algn="ctr">
              <a:lnSpc>
                <a:spcPct val="150000"/>
              </a:lnSpc>
            </a:pPr>
            <a:r>
              <a:rPr lang="en-US" altLang="zh-TW" sz="3200" dirty="0"/>
              <a:t>【</a:t>
            </a:r>
            <a:r>
              <a:rPr lang="zh-TW" altLang="en-US" sz="3200" dirty="0"/>
              <a:t>我來幫你</a:t>
            </a:r>
            <a:r>
              <a:rPr lang="en-US" altLang="zh-TW" sz="3200" dirty="0"/>
              <a:t>】</a:t>
            </a:r>
            <a:endParaRPr lang="zh-TW" altLang="en-US" sz="3200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F49F1DE-0EDA-A118-DF94-FE568291E874}"/>
              </a:ext>
            </a:extLst>
          </p:cNvPr>
          <p:cNvCxnSpPr>
            <a:cxnSpLocks/>
          </p:cNvCxnSpPr>
          <p:nvPr/>
        </p:nvCxnSpPr>
        <p:spPr>
          <a:xfrm>
            <a:off x="4053840" y="1704972"/>
            <a:ext cx="0" cy="13849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4E6D8763-74DE-DFD0-1551-B6F6715B34A7}"/>
              </a:ext>
            </a:extLst>
          </p:cNvPr>
          <p:cNvCxnSpPr>
            <a:cxnSpLocks/>
          </p:cNvCxnSpPr>
          <p:nvPr/>
        </p:nvCxnSpPr>
        <p:spPr>
          <a:xfrm>
            <a:off x="4053840" y="3831005"/>
            <a:ext cx="0" cy="209354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5FD6B44-51D1-EC9C-C282-00B1FF795F3A}"/>
              </a:ext>
            </a:extLst>
          </p:cNvPr>
          <p:cNvSpPr txBox="1"/>
          <p:nvPr/>
        </p:nvSpPr>
        <p:spPr>
          <a:xfrm>
            <a:off x="4312921" y="1855571"/>
            <a:ext cx="72161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過程中，有遇到什麼樣的困難？（戴手套撕雙面膠、非慣用手寫字）</a:t>
            </a:r>
          </a:p>
          <a:p>
            <a:endParaRPr lang="zh-TW" altLang="en-US" sz="2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037009A-2F82-86B0-5CAF-4885BA50B09C}"/>
              </a:ext>
            </a:extLst>
          </p:cNvPr>
          <p:cNvSpPr txBox="1"/>
          <p:nvPr/>
        </p:nvSpPr>
        <p:spPr>
          <a:xfrm>
            <a:off x="4312921" y="3744573"/>
            <a:ext cx="77647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在日常生活中，你認為什麼事讓你覺得很困難，需要別人幫忙？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沒有人幫忙的感覺是什麼？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當你幫助需要幫助的人，你的心情又是如何？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800" dirty="0"/>
              <a:t>哪些善事是我們可以做得到？</a:t>
            </a:r>
          </a:p>
          <a:p>
            <a:pPr marL="514350" indent="-514350">
              <a:buFont typeface="+mj-lt"/>
              <a:buAutoNum type="arabicPeriod"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175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D41498-001B-AF7C-A0DA-2ECC0F9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2024/5/25</a:t>
            </a:r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63862E-B7DF-94B8-D18C-0AC7C34D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第二次輔訓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8D0EB-EE60-BA60-C4A2-FAEF875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8ABB1-A24F-4C58-AE24-72D1541B64E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4E1232-96D0-31CD-1C0B-29F732925F72}"/>
              </a:ext>
            </a:extLst>
          </p:cNvPr>
          <p:cNvSpPr txBox="1"/>
          <p:nvPr/>
        </p:nvSpPr>
        <p:spPr>
          <a:xfrm>
            <a:off x="2703869" y="245807"/>
            <a:ext cx="678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 dirty="0"/>
              <a:t>結語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9B1112-04C6-6184-9CBA-C7EE8499CD16}"/>
              </a:ext>
            </a:extLst>
          </p:cNvPr>
          <p:cNvSpPr txBox="1"/>
          <p:nvPr/>
        </p:nvSpPr>
        <p:spPr>
          <a:xfrm>
            <a:off x="1056966" y="1613118"/>
            <a:ext cx="10078064" cy="3247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/>
              <a:t>「仁」是「仁心」，發自內心，以己之力去幫助有需要的人。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800" dirty="0"/>
              <a:t>在生活中遇到需要幫助或互相合作的時候，我們就要有同理心，站在對方的立場去想，有愛心和耐心去互相包容，就如同剛剛的體驗課程一樣，每個仁都懷有一顆仁德之心，就會一片祥和。</a:t>
            </a:r>
          </a:p>
        </p:txBody>
      </p:sp>
    </p:spTree>
    <p:extLst>
      <p:ext uri="{BB962C8B-B14F-4D97-AF65-F5344CB8AC3E}">
        <p14:creationId xmlns:p14="http://schemas.microsoft.com/office/powerpoint/2010/main" val="114607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楷體+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510</Words>
  <Application>Microsoft Office PowerPoint</Application>
  <PresentationFormat>寬螢幕</PresentationFormat>
  <Paragraphs>48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隨峰體</vt:lpstr>
      <vt:lpstr>Aptos</vt:lpstr>
      <vt:lpstr>Arial</vt:lpstr>
      <vt:lpstr>Office 佈景主題</vt:lpstr>
      <vt:lpstr>仁德教案體驗活動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3</cp:revision>
  <dcterms:created xsi:type="dcterms:W3CDTF">2024-05-24T13:17:59Z</dcterms:created>
  <dcterms:modified xsi:type="dcterms:W3CDTF">2024-05-24T13:52:59Z</dcterms:modified>
</cp:coreProperties>
</file>