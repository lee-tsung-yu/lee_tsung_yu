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1910" y="-2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F5F76-805E-4900-A4A5-7B5B088C2E14}" type="datetimeFigureOut">
              <a:rPr lang="zh-TW" altLang="en-US" smtClean="0"/>
              <a:t>2023/12/9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1763-EAE7-4892-899C-224F1D67A2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3389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F5F76-805E-4900-A4A5-7B5B088C2E14}" type="datetimeFigureOut">
              <a:rPr lang="zh-TW" altLang="en-US" smtClean="0"/>
              <a:t>2023/12/9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1763-EAE7-4892-899C-224F1D67A2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529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F5F76-805E-4900-A4A5-7B5B088C2E14}" type="datetimeFigureOut">
              <a:rPr lang="zh-TW" altLang="en-US" smtClean="0"/>
              <a:t>2023/12/9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1763-EAE7-4892-899C-224F1D67A2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2344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F5F76-805E-4900-A4A5-7B5B088C2E14}" type="datetimeFigureOut">
              <a:rPr lang="zh-TW" altLang="en-US" smtClean="0"/>
              <a:t>2023/12/9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1763-EAE7-4892-899C-224F1D67A2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960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F5F76-805E-4900-A4A5-7B5B088C2E14}" type="datetimeFigureOut">
              <a:rPr lang="zh-TW" altLang="en-US" smtClean="0"/>
              <a:t>2023/12/9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1763-EAE7-4892-899C-224F1D67A2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2270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F5F76-805E-4900-A4A5-7B5B088C2E14}" type="datetimeFigureOut">
              <a:rPr lang="zh-TW" altLang="en-US" smtClean="0"/>
              <a:t>2023/12/9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1763-EAE7-4892-899C-224F1D67A2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023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F5F76-805E-4900-A4A5-7B5B088C2E14}" type="datetimeFigureOut">
              <a:rPr lang="zh-TW" altLang="en-US" smtClean="0"/>
              <a:t>2023/12/9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1763-EAE7-4892-899C-224F1D67A2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4034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F5F76-805E-4900-A4A5-7B5B088C2E14}" type="datetimeFigureOut">
              <a:rPr lang="zh-TW" altLang="en-US" smtClean="0"/>
              <a:t>2023/12/9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1763-EAE7-4892-899C-224F1D67A2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42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F5F76-805E-4900-A4A5-7B5B088C2E14}" type="datetimeFigureOut">
              <a:rPr lang="zh-TW" altLang="en-US" smtClean="0"/>
              <a:t>2023/12/9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1763-EAE7-4892-899C-224F1D67A2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493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F5F76-805E-4900-A4A5-7B5B088C2E14}" type="datetimeFigureOut">
              <a:rPr lang="zh-TW" altLang="en-US" smtClean="0"/>
              <a:t>2023/12/9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1763-EAE7-4892-899C-224F1D67A2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830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F5F76-805E-4900-A4A5-7B5B088C2E14}" type="datetimeFigureOut">
              <a:rPr lang="zh-TW" altLang="en-US" smtClean="0"/>
              <a:t>2023/12/9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1763-EAE7-4892-899C-224F1D67A2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1621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F5F76-805E-4900-A4A5-7B5B088C2E14}" type="datetimeFigureOut">
              <a:rPr lang="zh-TW" altLang="en-US" smtClean="0"/>
              <a:t>2023/12/9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B1763-EAE7-4892-899C-224F1D67A2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4862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6BDDBCD-66FE-EAAB-FA79-0A29DBFFED96}"/>
              </a:ext>
            </a:extLst>
          </p:cNvPr>
          <p:cNvSpPr txBox="1"/>
          <p:nvPr/>
        </p:nvSpPr>
        <p:spPr>
          <a:xfrm>
            <a:off x="188259" y="107576"/>
            <a:ext cx="6521823" cy="1009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zh-TW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前言：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今天所求的道～老母、師尊師母、老前人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，一日之師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忘師。</a:t>
            </a:r>
          </a:p>
          <a:p>
            <a:pPr>
              <a:lnSpc>
                <a:spcPct val="130000"/>
              </a:lnSpc>
            </a:pP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道～道之宗旨。道務推動，人才培育，承上承襲，啟下～熱誠，謙恭～道脈。修道基礎～紮根，参辦過程～徹底。</a:t>
            </a:r>
          </a:p>
          <a:p>
            <a:pPr>
              <a:lnSpc>
                <a:spcPct val="130000"/>
              </a:lnSpc>
            </a:pPr>
            <a:r>
              <a:rPr lang="zh-TW" altLang="zh-TW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（一）尊師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～荀子：貴師～國家興衰。</a:t>
            </a:r>
          </a:p>
          <a:p>
            <a:pPr>
              <a:lnSpc>
                <a:spcPct val="130000"/>
              </a:lnSpc>
            </a:pP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、今天修行～天道尊貴、道的目的、師是承續、傳播～所以相輔相成。</a:t>
            </a:r>
          </a:p>
          <a:p>
            <a:pPr>
              <a:lnSpc>
                <a:spcPct val="130000"/>
              </a:lnSpc>
            </a:pP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、道場中～點傳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天命有德、身為修道、謹記、落實、基礎</a:t>
            </a:r>
          </a:p>
          <a:p>
            <a:pPr>
              <a:lnSpc>
                <a:spcPct val="130000"/>
              </a:lnSpc>
            </a:pP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、師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人情，落實尊師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我執、身段、處事、心地。</a:t>
            </a:r>
          </a:p>
          <a:p>
            <a:pPr>
              <a:lnSpc>
                <a:spcPct val="130000"/>
              </a:lnSpc>
            </a:pPr>
            <a:r>
              <a:rPr lang="zh-TW" altLang="zh-TW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（二）承上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～對上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點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身擔。啟下～一般、提攜、道脈。老師慈訓～苦海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TW" altLang="zh-TW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尊師重道承上啟下對我們修辦道的重要性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TW" altLang="zh-TW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［一］：恭敬謹慎的態度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～敬畏天命、老前人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慧命可長可久</a:t>
            </a:r>
          </a:p>
          <a:p>
            <a:pPr>
              <a:lnSpc>
                <a:spcPct val="130000"/>
              </a:lnSpc>
            </a:pPr>
            <a:r>
              <a:rPr lang="zh-TW" altLang="zh-TW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［二］：實踐護持道場的心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～佛堂道場建立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1: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前人苦心；例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2: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官考～護持、引領，不受外風雨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TW" altLang="zh-TW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［三］：無為付出的真義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～道場環境、法會服務；前人早期官考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國大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慈悲喜捨、無為，模範、對象</a:t>
            </a:r>
          </a:p>
          <a:p>
            <a:pPr>
              <a:lnSpc>
                <a:spcPct val="130000"/>
              </a:lnSpc>
            </a:pP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尊師重道；承上啟下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怎麼做</a:t>
            </a:r>
          </a:p>
          <a:p>
            <a:pPr>
              <a:lnSpc>
                <a:spcPct val="130000"/>
              </a:lnSpc>
            </a:pPr>
            <a:r>
              <a:rPr lang="zh-TW" altLang="zh-TW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尊師部分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TW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1:</a:t>
            </a:r>
            <a:r>
              <a:rPr lang="zh-TW" altLang="zh-TW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心誠意懇不可欺瞞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：参辦眾生～道務、主動、前賢交辦；如法會壇務輔班</a:t>
            </a:r>
          </a:p>
          <a:p>
            <a:pPr>
              <a:lnSpc>
                <a:spcPct val="130000"/>
              </a:lnSpc>
            </a:pPr>
            <a:r>
              <a:rPr lang="en-US" altLang="zh-TW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2:</a:t>
            </a:r>
            <a:r>
              <a:rPr lang="zh-TW" altLang="zh-TW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言語謹慎，不可猖犯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：中庸：（大德者，必得其位）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交付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不可越權</a:t>
            </a:r>
          </a:p>
          <a:p>
            <a:pPr>
              <a:lnSpc>
                <a:spcPct val="130000"/>
              </a:lnSpc>
            </a:pP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例：辦道、吃素、求道是靈性</a:t>
            </a:r>
          </a:p>
          <a:p>
            <a:pPr>
              <a:lnSpc>
                <a:spcPct val="130000"/>
              </a:lnSpc>
            </a:pPr>
            <a:r>
              <a:rPr lang="en-US" altLang="zh-TW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3:</a:t>
            </a:r>
            <a:r>
              <a:rPr lang="zh-TW" altLang="zh-TW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禮貌周到，不可輕慢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：佛規禮節；香港法會；人人平等</a:t>
            </a:r>
          </a:p>
          <a:p>
            <a:pPr>
              <a:lnSpc>
                <a:spcPct val="130000"/>
              </a:lnSpc>
            </a:pP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這三點是做人應該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道德、涵養、胸襟、應退圓融</a:t>
            </a:r>
          </a:p>
          <a:p>
            <a:pPr>
              <a:lnSpc>
                <a:spcPct val="130000"/>
              </a:lnSpc>
            </a:pP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日常生活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敬老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三人行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擇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幫助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E954D133-9D8D-D29D-0967-043F31C5B952}"/>
              </a:ext>
            </a:extLst>
          </p:cNvPr>
          <p:cNvCxnSpPr>
            <a:cxnSpLocks/>
          </p:cNvCxnSpPr>
          <p:nvPr/>
        </p:nvCxnSpPr>
        <p:spPr>
          <a:xfrm>
            <a:off x="63500" y="1583265"/>
            <a:ext cx="673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3BDC03CB-D967-8B1D-3516-D3BE7DC8F631}"/>
              </a:ext>
            </a:extLst>
          </p:cNvPr>
          <p:cNvCxnSpPr>
            <a:cxnSpLocks/>
          </p:cNvCxnSpPr>
          <p:nvPr/>
        </p:nvCxnSpPr>
        <p:spPr>
          <a:xfrm>
            <a:off x="63500" y="3361265"/>
            <a:ext cx="673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E7C340A6-3040-3C63-37C5-72DFC5FCDC76}"/>
              </a:ext>
            </a:extLst>
          </p:cNvPr>
          <p:cNvCxnSpPr>
            <a:cxnSpLocks/>
          </p:cNvCxnSpPr>
          <p:nvPr/>
        </p:nvCxnSpPr>
        <p:spPr>
          <a:xfrm>
            <a:off x="63500" y="4097865"/>
            <a:ext cx="673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C970DBF3-7052-AE12-A682-E749CD8B8F60}"/>
              </a:ext>
            </a:extLst>
          </p:cNvPr>
          <p:cNvCxnSpPr>
            <a:cxnSpLocks/>
          </p:cNvCxnSpPr>
          <p:nvPr/>
        </p:nvCxnSpPr>
        <p:spPr>
          <a:xfrm>
            <a:off x="0" y="6239932"/>
            <a:ext cx="673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149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A61D55E-CEE9-D623-C1E7-6BD5B497B953}"/>
              </a:ext>
            </a:extLst>
          </p:cNvPr>
          <p:cNvSpPr txBox="1"/>
          <p:nvPr/>
        </p:nvSpPr>
        <p:spPr>
          <a:xfrm>
            <a:off x="0" y="94129"/>
            <a:ext cx="6858000" cy="9971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重道部分</a:t>
            </a:r>
            <a:endParaRPr lang="zh-TW" altLang="zh-TW" sz="16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1: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重聖輕凡不耽誤己身的職責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：末後時期；抉擇時，重聖這條愿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王陽明（知者行之始，行者知之成），行功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心境、體悟；凡走聖、穩健成熟。徐講師；李講師；學修辦道過程對道的信心；清楚聖凡都須擔負的責任；懂時間、將來收穫</a:t>
            </a:r>
          </a:p>
          <a:p>
            <a:pPr>
              <a:lnSpc>
                <a:spcPct val="130000"/>
              </a:lnSpc>
            </a:pP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2: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照愿實行不退縮，全力以赴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：求道十條大愿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代天在身勇於承擔、負責、前賢機會、學習成長，只要眾生有關，聽師調遣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任何圓滿完成、尤其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紀錄</a:t>
            </a:r>
          </a:p>
          <a:p>
            <a:pPr>
              <a:lnSpc>
                <a:spcPct val="130000"/>
              </a:lnSpc>
            </a:pP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3: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遵守佛規不鬆懈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：佛規處世基礎、違反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如果不遵守、恭敬態度、恭敬心行為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例子告訴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尊佛規禮基礎、任何事恭敬、便宜、一恭、嚴、誠信</a:t>
            </a:r>
          </a:p>
          <a:p>
            <a:pPr>
              <a:lnSpc>
                <a:spcPct val="130000"/>
              </a:lnSpc>
            </a:pP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4: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緊握金線，認理實修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：金線是從引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維繫自己</a:t>
            </a:r>
          </a:p>
          <a:p>
            <a:pPr>
              <a:lnSpc>
                <a:spcPct val="130000"/>
              </a:lnSpc>
            </a:pP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承上啟下是任重道遠的責任，承上有</a:t>
            </a:r>
          </a:p>
          <a:p>
            <a:pPr>
              <a:lnSpc>
                <a:spcPct val="130000"/>
              </a:lnSpc>
            </a:pP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感恩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：有幸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天恩、師恩</a:t>
            </a:r>
          </a:p>
          <a:p>
            <a:pPr>
              <a:lnSpc>
                <a:spcPct val="130000"/>
              </a:lnSpc>
            </a:pP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體貼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：成全、苦心；例張點傳師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日夜操勞、掛念道親後學、清靜學修環境、年事、犧牲、體貼、勇於、負責、道場大道親多方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endParaRPr lang="zh-TW" altLang="zh-TW" sz="16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分憂代勞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：例子：前人打電話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道場法會分工合作，分工細，分而不分，人人有事做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道親才能、發心参辦、成就、歷練、體悟尊貴</a:t>
            </a:r>
          </a:p>
          <a:p>
            <a:pPr>
              <a:lnSpc>
                <a:spcPct val="130000"/>
              </a:lnSpc>
            </a:pP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為下不亂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：點交付，不可自做主張、自己決定、任何有關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請示才行</a:t>
            </a:r>
          </a:p>
          <a:p>
            <a:pPr>
              <a:lnSpc>
                <a:spcPct val="130000"/>
              </a:lnSpc>
            </a:pP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啟下有：</a:t>
            </a: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施惠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照顧道親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：前人在世慈悲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每人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需要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盡心盡力～如台南生產、附近壇主、溫暖、暸解因道～善尊貴、感恩</a:t>
            </a:r>
          </a:p>
          <a:p>
            <a:pPr>
              <a:lnSpc>
                <a:spcPct val="130000"/>
              </a:lnSpc>
            </a:pP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引領眾生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⋯⋯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以身作則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、誠於中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以身教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活佛老師慈悲：（控制～口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別人；控制～脾氣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改造；控制～心；逃脫生死）我們修道、前賢</a:t>
            </a:r>
          </a:p>
          <a:p>
            <a:pPr>
              <a:lnSpc>
                <a:spcPct val="130000"/>
              </a:lnSpc>
            </a:pPr>
            <a:r>
              <a:rPr lang="en-US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居上不驕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：孝經說：（事親者，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）身為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不是命令</a:t>
            </a:r>
          </a:p>
          <a:p>
            <a:pPr>
              <a:lnSpc>
                <a:spcPct val="130000"/>
              </a:lnSpc>
            </a:pPr>
            <a:r>
              <a:rPr lang="zh-TW" altLang="zh-TW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結語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：木無根必枯，水源竭、業基敗、人本亡、道興衰、貴師而尊前、本立而道生，天道道場道務能夠宏大貫徹道之宗旨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天道弟子修道培德</a:t>
            </a:r>
          </a:p>
          <a:p>
            <a:pPr>
              <a:lnSpc>
                <a:spcPct val="130000"/>
              </a:lnSpc>
            </a:pP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老師慈悲：修道歸根的基本素養。尊做好、承不略、佛身嚴、態卑習、行德極、渡眾衍</a:t>
            </a:r>
            <a:r>
              <a:rPr lang="en-US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基礎、本份、展現，自己修辦最後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endParaRPr lang="zh-TW" altLang="zh-TW" sz="16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所以，無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MS Mincho" panose="02020609040205080304" pitchFamily="49" charset="-128"/>
              </a:rPr>
              <a:t>⋯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真正想幫助自己，改變自己命運，從自己慢慢我縮小、並且</a:t>
            </a:r>
          </a:p>
          <a:p>
            <a:pPr>
              <a:lnSpc>
                <a:spcPct val="130000"/>
              </a:lnSpc>
            </a:pPr>
            <a:r>
              <a:rPr lang="zh-TW" altLang="zh-TW" sz="1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今天後學就學講到這裡，如果後學有講錯、或是不圓滿的地方，請仙佛慈悲赦罪，謝謝講師前賢</a:t>
            </a:r>
          </a:p>
          <a:p>
            <a:endParaRPr lang="zh-TW" altLang="en-US" sz="1600" dirty="0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38881BAC-C85A-3787-5590-0F6816416E85}"/>
              </a:ext>
            </a:extLst>
          </p:cNvPr>
          <p:cNvCxnSpPr>
            <a:cxnSpLocks/>
          </p:cNvCxnSpPr>
          <p:nvPr/>
        </p:nvCxnSpPr>
        <p:spPr>
          <a:xfrm>
            <a:off x="80433" y="5867399"/>
            <a:ext cx="673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31C021C2-9A20-F8B3-EB93-9246A6848C5E}"/>
              </a:ext>
            </a:extLst>
          </p:cNvPr>
          <p:cNvCxnSpPr>
            <a:cxnSpLocks/>
          </p:cNvCxnSpPr>
          <p:nvPr/>
        </p:nvCxnSpPr>
        <p:spPr>
          <a:xfrm>
            <a:off x="46566" y="7450666"/>
            <a:ext cx="676486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D4471D52-7B67-C69D-1C7E-D9927AF6D9E0}"/>
              </a:ext>
            </a:extLst>
          </p:cNvPr>
          <p:cNvCxnSpPr>
            <a:cxnSpLocks/>
          </p:cNvCxnSpPr>
          <p:nvPr/>
        </p:nvCxnSpPr>
        <p:spPr>
          <a:xfrm>
            <a:off x="46566" y="3649133"/>
            <a:ext cx="6731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356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標楷體Times New Roman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961</Words>
  <Application>Microsoft Office PowerPoint</Application>
  <PresentationFormat>A4 紙張 (210x297 公釐)</PresentationFormat>
  <Paragraphs>36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李宗祐 LEE, TSUNG-YU</dc:creator>
  <cp:lastModifiedBy>李宗祐 LEE, TSUNG-YU</cp:lastModifiedBy>
  <cp:revision>1</cp:revision>
  <dcterms:created xsi:type="dcterms:W3CDTF">2023-12-09T05:18:22Z</dcterms:created>
  <dcterms:modified xsi:type="dcterms:W3CDTF">2023-12-09T05:23:16Z</dcterms:modified>
</cp:coreProperties>
</file>