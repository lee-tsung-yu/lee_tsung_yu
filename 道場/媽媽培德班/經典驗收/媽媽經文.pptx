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4"/>
  </p:notesMasterIdLst>
  <p:sldIdLst>
    <p:sldId id="258" r:id="rId2"/>
    <p:sldId id="257" r:id="rId3"/>
  </p:sldIdLst>
  <p:sldSz cx="6858000" cy="9906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1694" y="-10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465D9C-F69A-46FC-B906-43E80B432015}" type="datetimeFigureOut">
              <a:rPr lang="zh-TW" altLang="en-US" smtClean="0"/>
              <a:t>2022/9/12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770313" y="857250"/>
            <a:ext cx="16033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BDD10-6E35-4F64-9BC3-533CE1A0449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2976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BDD10-6E35-4F64-9BC3-533CE1A0449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44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BDD10-6E35-4F64-9BC3-533CE1A04496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4334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69B4-24EA-4E05-BDA3-675194F5DC80}" type="datetimeFigureOut">
              <a:rPr lang="zh-TW" altLang="en-US" smtClean="0"/>
              <a:t>2022/9/12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6706-B188-40F2-BD59-6F313BF015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5123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69B4-24EA-4E05-BDA3-675194F5DC80}" type="datetimeFigureOut">
              <a:rPr lang="zh-TW" altLang="en-US" smtClean="0"/>
              <a:t>2022/9/12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6706-B188-40F2-BD59-6F313BF015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5375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69B4-24EA-4E05-BDA3-675194F5DC80}" type="datetimeFigureOut">
              <a:rPr lang="zh-TW" altLang="en-US" smtClean="0"/>
              <a:t>2022/9/12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6706-B188-40F2-BD59-6F313BF015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7387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69B4-24EA-4E05-BDA3-675194F5DC80}" type="datetimeFigureOut">
              <a:rPr lang="zh-TW" altLang="en-US" smtClean="0"/>
              <a:t>2022/9/12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6706-B188-40F2-BD59-6F313BF015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0389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69B4-24EA-4E05-BDA3-675194F5DC80}" type="datetimeFigureOut">
              <a:rPr lang="zh-TW" altLang="en-US" smtClean="0"/>
              <a:t>2022/9/12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6706-B188-40F2-BD59-6F313BF015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1932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69B4-24EA-4E05-BDA3-675194F5DC80}" type="datetimeFigureOut">
              <a:rPr lang="zh-TW" altLang="en-US" smtClean="0"/>
              <a:t>2022/9/12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6706-B188-40F2-BD59-6F313BF015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8533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69B4-24EA-4E05-BDA3-675194F5DC80}" type="datetimeFigureOut">
              <a:rPr lang="zh-TW" altLang="en-US" smtClean="0"/>
              <a:t>2022/9/12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6706-B188-40F2-BD59-6F313BF015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5682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69B4-24EA-4E05-BDA3-675194F5DC80}" type="datetimeFigureOut">
              <a:rPr lang="zh-TW" altLang="en-US" smtClean="0"/>
              <a:t>2022/9/12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6706-B188-40F2-BD59-6F313BF015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8497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69B4-24EA-4E05-BDA3-675194F5DC80}" type="datetimeFigureOut">
              <a:rPr lang="zh-TW" altLang="en-US" smtClean="0"/>
              <a:t>2022/9/12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6706-B188-40F2-BD59-6F313BF015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2500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69B4-24EA-4E05-BDA3-675194F5DC80}" type="datetimeFigureOut">
              <a:rPr lang="zh-TW" altLang="en-US" smtClean="0"/>
              <a:t>2022/9/12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6706-B188-40F2-BD59-6F313BF015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3905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69B4-24EA-4E05-BDA3-675194F5DC80}" type="datetimeFigureOut">
              <a:rPr lang="zh-TW" altLang="en-US" smtClean="0"/>
              <a:t>2022/9/12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86706-B188-40F2-BD59-6F313BF015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1217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4D69B4-24EA-4E05-BDA3-675194F5DC80}" type="datetimeFigureOut">
              <a:rPr lang="zh-TW" altLang="en-US" smtClean="0"/>
              <a:t>2022/9/12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86706-B188-40F2-BD59-6F313BF015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2190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E9017C7-58F0-9C23-191F-E2B9D9BD4818}"/>
              </a:ext>
            </a:extLst>
          </p:cNvPr>
          <p:cNvSpPr txBox="1"/>
          <p:nvPr/>
        </p:nvSpPr>
        <p:spPr>
          <a:xfrm>
            <a:off x="0" y="0"/>
            <a:ext cx="6858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清淨經</a:t>
            </a:r>
            <a:endParaRPr lang="en-US" altLang="zh-TW" sz="1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	</a:t>
            </a:r>
            <a:r>
              <a:rPr lang="zh-TW" altLang="en-US" sz="1400" u="sng" dirty="0">
                <a:uFill>
                  <a:solidFill>
                    <a:srgbClr val="FF000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老君曰：大道無形，生育天地。大道無情，運行日月。大道無名，長養萬物。吾不知其名，強名曰道。夫道者，有清有濁。有動有靜。天清地濁。天動地靜。男清女濁。男動女靜。降本流末。而生萬物。</a:t>
            </a:r>
            <a:endParaRPr lang="en-US" altLang="zh-TW" sz="1400" u="sng" dirty="0">
              <a:uFill>
                <a:solidFill>
                  <a:srgbClr val="FF0000"/>
                </a:solidFill>
              </a:u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1400" u="sng" dirty="0">
                <a:uFill>
                  <a:solidFill>
                    <a:srgbClr val="FF000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	</a:t>
            </a:r>
            <a:r>
              <a:rPr lang="zh-TW" altLang="en-US" sz="1400" u="sng" dirty="0">
                <a:uFill>
                  <a:solidFill>
                    <a:srgbClr val="FF000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清者濁之源。動者靜之基。人能常清靜。天地悉皆歸。夫人神好清，而心擾之。人心好靜。而慾牽之。常能遣其慾，而心自靜。澄其心，而神自清。自然六慾不生，三毒消滅。所以不能者，為心未澄，慾未遣也。</a:t>
            </a:r>
            <a:endParaRPr lang="en-US" altLang="zh-TW" sz="1400" u="sng" dirty="0">
              <a:uFill>
                <a:solidFill>
                  <a:srgbClr val="FF0000"/>
                </a:solidFill>
              </a:u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1400" u="sng" dirty="0">
                <a:uFill>
                  <a:solidFill>
                    <a:srgbClr val="FF000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	</a:t>
            </a:r>
            <a:r>
              <a:rPr lang="zh-TW" altLang="en-US" sz="1400" u="sng" dirty="0">
                <a:uFill>
                  <a:solidFill>
                    <a:srgbClr val="FF000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能遣之者，內觀其心。心無其心，外觀其形，形無其形，遠觀其物，物無其物，三者既無，惟見於空。觀空亦空，空無所空，所空既無，無無亦無，無無既無，湛然常寂。寂無所寂，慾豈能生，慾既不生，即是真靜。真常應物，真常得性，常應常靜，常清靜矣。如此清靜，漸入真道，既入真道，名為得道。雖名得道，實無所得，為化眾生，名為得道。能悟之者，可傳聖道。</a:t>
            </a:r>
            <a:endParaRPr lang="en-US" altLang="zh-TW" sz="1400" u="sng" dirty="0">
              <a:uFill>
                <a:solidFill>
                  <a:srgbClr val="FF0000"/>
                </a:solidFill>
              </a:u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1400" u="sng" dirty="0">
                <a:uFill>
                  <a:solidFill>
                    <a:srgbClr val="FF000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	</a:t>
            </a:r>
            <a:r>
              <a:rPr lang="zh-TW" altLang="en-US" sz="1400" u="sng" dirty="0">
                <a:uFill>
                  <a:solidFill>
                    <a:srgbClr val="FF000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太上老君曰：上士無爭，下士好爭。上德不德，下德執德，執著之者，不明道德。眾生所以不得真道者，為有妄心。既有妄心，即驚其神，既驚其神，即著萬物，既著萬物，即生貪求，既生貪求，即是煩惱。煩惱妄想，憂苦身心，便遭濁辱。流浪生死。常沉苦海，永失真道。真常之道，悟者自得，得悟道者，常清靜矣。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853ECE6-3AF8-C0EA-E159-7B52BE0AA65B}"/>
              </a:ext>
            </a:extLst>
          </p:cNvPr>
          <p:cNvSpPr txBox="1"/>
          <p:nvPr/>
        </p:nvSpPr>
        <p:spPr>
          <a:xfrm>
            <a:off x="0" y="3675727"/>
            <a:ext cx="6858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十五代祖訓</a:t>
            </a:r>
            <a:endParaRPr lang="en-US" altLang="zh-TW" sz="1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600" u="sng" dirty="0">
                <a:uFill>
                  <a:solidFill>
                    <a:srgbClr val="00206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是是非非不必辯，長長短短何須談？千不怨來萬不怨，自怨才德兩薄寒。</a:t>
            </a:r>
          </a:p>
          <a:p>
            <a:r>
              <a:rPr lang="zh-TW" altLang="en-US" sz="1600" u="sng" dirty="0">
                <a:uFill>
                  <a:solidFill>
                    <a:srgbClr val="00206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投湯赴火了心願，萬魔不改素心田；任他虎狼千千萬，他人卻步我獨前。</a:t>
            </a:r>
          </a:p>
          <a:p>
            <a:r>
              <a:rPr lang="zh-TW" altLang="en-US" sz="1600" u="sng" dirty="0">
                <a:uFill>
                  <a:solidFill>
                    <a:srgbClr val="00206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武穆風波亭遇難，關帝東吳受香煙；半壁三分未了願，一點忠心造聖賢。</a:t>
            </a:r>
          </a:p>
          <a:p>
            <a:r>
              <a:rPr lang="zh-TW" altLang="en-US" sz="1600" u="sng" dirty="0">
                <a:uFill>
                  <a:solidFill>
                    <a:srgbClr val="00206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況咱替母把道辦，千真萬聖困塵凡。我等皆是蓬草士，寒門草舍掌道權。</a:t>
            </a:r>
          </a:p>
          <a:p>
            <a:r>
              <a:rPr lang="zh-TW" altLang="en-US" sz="1600" u="sng" dirty="0">
                <a:uFill>
                  <a:solidFill>
                    <a:srgbClr val="00206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天道幽深更玄遠，中下焉能看得穿？大人不見小人過，宰相肚內臥海船。</a:t>
            </a:r>
          </a:p>
          <a:p>
            <a:r>
              <a:rPr lang="zh-TW" altLang="en-US" sz="1600" u="sng" dirty="0">
                <a:uFill>
                  <a:solidFill>
                    <a:srgbClr val="00206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分金爐內走一遍，才知天外還有天。海內海外道為祖，天上天下道為先。</a:t>
            </a:r>
          </a:p>
          <a:p>
            <a:r>
              <a:rPr lang="zh-TW" altLang="en-US" sz="1600" u="sng" dirty="0">
                <a:uFill>
                  <a:solidFill>
                    <a:srgbClr val="00206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財要明來色要遠，千苦受盡有萬甜。果然真心持經懺，逢凶化吉保平安。</a:t>
            </a:r>
          </a:p>
          <a:p>
            <a:r>
              <a:rPr lang="zh-TW" altLang="en-US" sz="1600" u="sng" dirty="0">
                <a:uFill>
                  <a:solidFill>
                    <a:srgbClr val="00206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大道本是上天事，俺代天行天助咱。人叫人死天不肯，天叫人死有何難？</a:t>
            </a:r>
          </a:p>
          <a:p>
            <a:r>
              <a:rPr lang="zh-TW" altLang="en-US" sz="1600" u="sng" dirty="0">
                <a:uFill>
                  <a:solidFill>
                    <a:srgbClr val="00206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狂風有起還有息，起由天來息由天。大眾莫違菩提愿，整理心身再向前。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4CC90CE-E410-7419-D403-C66A2308CC03}"/>
              </a:ext>
            </a:extLst>
          </p:cNvPr>
          <p:cNvSpPr txBox="1"/>
          <p:nvPr/>
        </p:nvSpPr>
        <p:spPr>
          <a:xfrm>
            <a:off x="0" y="6378585"/>
            <a:ext cx="68580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中庸首經一章</a:t>
            </a:r>
            <a:endParaRPr lang="en-US" altLang="zh-TW" sz="1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400" u="sng" dirty="0">
                <a:uFill>
                  <a:solidFill>
                    <a:srgbClr val="FF000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天命之謂性，率性之謂道，修道之謂教。道者也，不可須臾離也；可離，非道也。是故，君子戒慎乎其所不睹，恐懼乎其所不聞。莫見乎隱，莫顯乎微，故君子慎其獨也。喜怒哀樂之未發，謂之中；發而皆中節，謂之和。中也者，天下之大本也；和也者，天下之達道也。致中和，天地位焉，萬物育焉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2B8BA3E-251E-8B2F-09F2-1D7DB4A01465}"/>
              </a:ext>
            </a:extLst>
          </p:cNvPr>
          <p:cNvSpPr txBox="1"/>
          <p:nvPr/>
        </p:nvSpPr>
        <p:spPr>
          <a:xfrm>
            <a:off x="0" y="7696450"/>
            <a:ext cx="6858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大學首章</a:t>
            </a:r>
            <a:endParaRPr lang="en-US" altLang="zh-TW" sz="1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	</a:t>
            </a:r>
            <a:r>
              <a:rPr lang="zh-TW" altLang="en-US" sz="1400" u="sng" dirty="0">
                <a:uFill>
                  <a:solidFill>
                    <a:srgbClr val="00206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大學之道，在明明德，在親民，在止於至善。知止而后有定，定而后能靜，靜而后能安，安而后能慮，慮而后能得。物有本末，事有終始，知所先後，則近道矣。</a:t>
            </a:r>
            <a:endParaRPr lang="en-US" altLang="zh-TW" sz="1400" u="sng" dirty="0">
              <a:uFill>
                <a:solidFill>
                  <a:srgbClr val="002060"/>
                </a:solidFill>
              </a:u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1400" u="sng" dirty="0">
                <a:uFill>
                  <a:solidFill>
                    <a:srgbClr val="00206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	</a:t>
            </a:r>
            <a:r>
              <a:rPr lang="zh-TW" altLang="en-US" sz="1400" u="sng" dirty="0">
                <a:uFill>
                  <a:solidFill>
                    <a:srgbClr val="00206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古之欲明明德於天下者，先治其國；欲治其國者，先齊其家；欲齊其家者，先修其身；欲修其身者，先正其心；欲正其心者，先誠其意；欲誠其意者，先致其知；致知在格物。物格而后知至，知至而后意誠，意誠而后心正，心正而后身修，身修而后家齊，家齊而后國治，國治而后天下平。</a:t>
            </a:r>
            <a:endParaRPr lang="en-US" altLang="zh-TW" sz="1400" u="sng" dirty="0">
              <a:uFill>
                <a:solidFill>
                  <a:srgbClr val="002060"/>
                </a:solidFill>
              </a:u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1400" u="sng" dirty="0">
                <a:uFill>
                  <a:solidFill>
                    <a:srgbClr val="00206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	</a:t>
            </a:r>
            <a:r>
              <a:rPr lang="zh-TW" altLang="en-US" sz="1400" u="sng" dirty="0">
                <a:uFill>
                  <a:solidFill>
                    <a:srgbClr val="00206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自天子以自於庶人，壹是皆以修身為本。其本亂而末治者否矣；其所厚者薄，而其所薄者厚，未之有也。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41113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E0F10C3-0425-4AE4-24B3-B2E206B51ABF}"/>
              </a:ext>
            </a:extLst>
          </p:cNvPr>
          <p:cNvSpPr txBox="1"/>
          <p:nvPr/>
        </p:nvSpPr>
        <p:spPr>
          <a:xfrm>
            <a:off x="0" y="0"/>
            <a:ext cx="6858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i="0" dirty="0">
                <a:solidFill>
                  <a:srgbClr val="050505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六祖無相頌 疑問品</a:t>
            </a:r>
            <a:endParaRPr lang="en-US" altLang="zh-TW" sz="1600" b="1" i="0" dirty="0">
              <a:solidFill>
                <a:srgbClr val="050505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600" b="1" u="sng" dirty="0">
                <a:solidFill>
                  <a:srgbClr val="050505"/>
                </a:solidFill>
                <a:uFill>
                  <a:solidFill>
                    <a:srgbClr val="FF000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師曰：善知識若欲修行，在家亦得，不由在寺，但依此修，常與吾同處無別，若不作此修，剃髮出家，於道何益，頌曰</a:t>
            </a:r>
            <a:endParaRPr lang="en-US" altLang="zh-TW" sz="1600" b="1" i="0" u="sng" dirty="0">
              <a:solidFill>
                <a:srgbClr val="050505"/>
              </a:solidFill>
              <a:effectLst/>
              <a:uFill>
                <a:solidFill>
                  <a:srgbClr val="FF0000"/>
                </a:solidFill>
              </a:u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600" b="0" i="0" u="sng" dirty="0">
                <a:solidFill>
                  <a:srgbClr val="050505"/>
                </a:solidFill>
                <a:effectLst/>
                <a:uFill>
                  <a:solidFill>
                    <a:srgbClr val="FF000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心平何勞持戒，行直何用修禪。恩則孝養父母，義則上下相憐。讓則尊卑和睦，忍則眾惡無喧。若能鑽木取火，淤泥定生紅蓮。苦口的是良藥，逆耳必是忠言。改過必生智慧，護短心內非賢。日用常行饒益，成道非由施錢。菩提只向心覓，何勞向外求玄。聽說依此修行，天堂只在目前。</a:t>
            </a:r>
            <a:endParaRPr lang="zh-TW" altLang="en-US" sz="1600" u="sng" dirty="0">
              <a:uFill>
                <a:solidFill>
                  <a:srgbClr val="FF0000"/>
                </a:solidFill>
              </a:u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14CE1F9-2A5C-3509-DD62-0B4208427FDC}"/>
              </a:ext>
            </a:extLst>
          </p:cNvPr>
          <p:cNvSpPr txBox="1"/>
          <p:nvPr/>
        </p:nvSpPr>
        <p:spPr>
          <a:xfrm>
            <a:off x="0" y="1754326"/>
            <a:ext cx="6858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六祖無相頌 懺悔品</a:t>
            </a:r>
            <a:endParaRPr lang="en-US" altLang="zh-TW" sz="1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600" b="1" u="sng" dirty="0">
                <a:uFill>
                  <a:solidFill>
                    <a:srgbClr val="00206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吾有一無相頌，若能頌持，言下令汝，積劫迷罪，一時消滅，頌曰</a:t>
            </a:r>
            <a:endParaRPr lang="en-US" altLang="zh-TW" sz="1600" b="1" u="sng" dirty="0">
              <a:uFill>
                <a:solidFill>
                  <a:srgbClr val="002060"/>
                </a:solidFill>
              </a:u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600" u="sng" dirty="0">
                <a:uFill>
                  <a:solidFill>
                    <a:srgbClr val="00206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迷人修福不修道，只言修福便是道。布施供養福無邊，心中三惡元來造；擬將修福欲滅罪，後世得福罪還在。但向心中除罪緣，各自性中真懺悔；忽悟大乘真懺悔，除邪行正即無罪。學道常於自性觀，即與諸佛同一類。吾祖唯傳此頓法，普願見性同一體；若欲當來覓法身，離諸法相心中洗。努力自見莫悠悠，後念忽絕一世休；若悟大乘得見性。虔恭合掌至心求。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437478F-AB80-3AB9-0D60-0AA2EFFA4B07}"/>
              </a:ext>
            </a:extLst>
          </p:cNvPr>
          <p:cNvSpPr txBox="1"/>
          <p:nvPr/>
        </p:nvSpPr>
        <p:spPr>
          <a:xfrm>
            <a:off x="0" y="3494008"/>
            <a:ext cx="6858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六祖無相頌 般若品</a:t>
            </a:r>
            <a:endParaRPr lang="en-US" altLang="zh-TW" sz="1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600" b="1" u="sng" dirty="0">
                <a:uFill>
                  <a:solidFill>
                    <a:srgbClr val="FF000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善知識，吾有一無相頌，各須頌取，在家出家，但依此修，若不自修，為記吾言，亦無有益，聽吾頌曰</a:t>
            </a:r>
            <a:endParaRPr lang="en-US" altLang="zh-TW" sz="1600" b="1" u="sng" dirty="0">
              <a:uFill>
                <a:solidFill>
                  <a:srgbClr val="FF0000"/>
                </a:solidFill>
              </a:u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TW" altLang="en-US" sz="1600" u="sng" dirty="0">
                <a:uFill>
                  <a:solidFill>
                    <a:srgbClr val="FF000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說通及心通，如日處虛空，唯傳見性法，出世破邪宗。</a:t>
            </a:r>
          </a:p>
          <a:p>
            <a:pPr algn="ctr"/>
            <a:r>
              <a:rPr lang="zh-TW" altLang="en-US" sz="1600" u="sng" dirty="0">
                <a:uFill>
                  <a:solidFill>
                    <a:srgbClr val="FF000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法即無頓漸，迷悟有遲疾，只此見性門，愚人不可悉。</a:t>
            </a:r>
          </a:p>
          <a:p>
            <a:pPr algn="ctr"/>
            <a:r>
              <a:rPr lang="zh-TW" altLang="en-US" sz="1600" u="sng" dirty="0">
                <a:uFill>
                  <a:solidFill>
                    <a:srgbClr val="FF000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說即雖萬般，合理還歸一，煩惱暗宅中，常須生慧日。</a:t>
            </a:r>
          </a:p>
          <a:p>
            <a:pPr algn="ctr"/>
            <a:r>
              <a:rPr lang="zh-TW" altLang="en-US" sz="1600" u="sng" dirty="0">
                <a:uFill>
                  <a:solidFill>
                    <a:srgbClr val="FF000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邪來煩惱至，正來煩惱除，邪正俱不用，清淨至無餘。</a:t>
            </a:r>
          </a:p>
          <a:p>
            <a:pPr algn="ctr"/>
            <a:r>
              <a:rPr lang="zh-TW" altLang="en-US" sz="1600" u="sng" dirty="0">
                <a:uFill>
                  <a:solidFill>
                    <a:srgbClr val="FF000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菩提本自性，起心即是妄，淨心在妄中，但正無三障。</a:t>
            </a:r>
            <a:endParaRPr lang="en-US" altLang="zh-TW" sz="1600" u="sng" dirty="0">
              <a:uFill>
                <a:solidFill>
                  <a:srgbClr val="FF0000"/>
                </a:solidFill>
              </a:u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TW" altLang="en-US" sz="1600" u="sng" dirty="0">
                <a:uFill>
                  <a:solidFill>
                    <a:srgbClr val="FF000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世人若修道，一切盡不妨，常自見己過，與道即相當。</a:t>
            </a:r>
          </a:p>
          <a:p>
            <a:pPr algn="ctr"/>
            <a:r>
              <a:rPr lang="zh-TW" altLang="en-US" sz="1600" u="sng" dirty="0">
                <a:uFill>
                  <a:solidFill>
                    <a:srgbClr val="FF000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色類自有道，各不相妨惱，離道別覓道，終身不見道。</a:t>
            </a:r>
          </a:p>
          <a:p>
            <a:pPr algn="ctr"/>
            <a:r>
              <a:rPr lang="zh-TW" altLang="en-US" sz="1600" u="sng" dirty="0">
                <a:uFill>
                  <a:solidFill>
                    <a:srgbClr val="FF000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波波度一生，到頭還自懊，欲得見真道，行正即是道。</a:t>
            </a:r>
          </a:p>
          <a:p>
            <a:pPr algn="ctr"/>
            <a:r>
              <a:rPr lang="zh-TW" altLang="en-US" sz="1600" u="sng" dirty="0">
                <a:uFill>
                  <a:solidFill>
                    <a:srgbClr val="FF000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自若無道心，闇行不見道，若真修道人，不見世間過。</a:t>
            </a:r>
          </a:p>
          <a:p>
            <a:pPr algn="ctr"/>
            <a:r>
              <a:rPr lang="zh-TW" altLang="en-US" sz="1600" u="sng" dirty="0">
                <a:uFill>
                  <a:solidFill>
                    <a:srgbClr val="FF000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若見他人非，自非卻是左，他非我不非，我非自有過。</a:t>
            </a:r>
          </a:p>
          <a:p>
            <a:pPr algn="ctr"/>
            <a:r>
              <a:rPr lang="zh-TW" altLang="en-US" sz="1600" u="sng" dirty="0">
                <a:uFill>
                  <a:solidFill>
                    <a:srgbClr val="FF000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但自卻非心，打除煩惱破，憎愛不關心，長伸兩腳臥。</a:t>
            </a:r>
          </a:p>
          <a:p>
            <a:pPr algn="ctr"/>
            <a:r>
              <a:rPr lang="zh-TW" altLang="en-US" sz="1600" u="sng" dirty="0">
                <a:uFill>
                  <a:solidFill>
                    <a:srgbClr val="FF000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欲擬化他人，自須有方便，勿令彼有疑，即是自性現。</a:t>
            </a:r>
          </a:p>
          <a:p>
            <a:pPr algn="ctr"/>
            <a:r>
              <a:rPr lang="zh-TW" altLang="en-US" sz="1600" u="sng" dirty="0">
                <a:uFill>
                  <a:solidFill>
                    <a:srgbClr val="FF000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佛法在世間，不離世間覺，離世覓菩提，恰如求兔角。</a:t>
            </a:r>
          </a:p>
          <a:p>
            <a:pPr algn="ctr"/>
            <a:r>
              <a:rPr lang="zh-TW" altLang="en-US" sz="1600" u="sng" dirty="0">
                <a:uFill>
                  <a:solidFill>
                    <a:srgbClr val="FF000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正見名出世，邪見名世間，邪正盡打卻，菩提性宛然。</a:t>
            </a:r>
          </a:p>
          <a:p>
            <a:pPr algn="ctr"/>
            <a:r>
              <a:rPr lang="zh-TW" altLang="en-US" sz="1600" u="sng" dirty="0">
                <a:uFill>
                  <a:solidFill>
                    <a:srgbClr val="FF000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此頌是頓教，亦名大法船，迷聞經累劫，悟則剎那間。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7388AE9-B827-D088-B8AE-2D30040DE250}"/>
              </a:ext>
            </a:extLst>
          </p:cNvPr>
          <p:cNvSpPr txBox="1"/>
          <p:nvPr/>
        </p:nvSpPr>
        <p:spPr>
          <a:xfrm>
            <a:off x="0" y="7967008"/>
            <a:ext cx="6858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5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老師慈訓</a:t>
            </a:r>
            <a:endParaRPr lang="en-US" altLang="zh-TW" sz="15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500" u="sng" dirty="0">
                <a:uFill>
                  <a:solidFill>
                    <a:srgbClr val="002060"/>
                  </a:solidFill>
                </a:uFill>
                <a:latin typeface="標楷體" panose="03000509000000000000" pitchFamily="65" charset="-120"/>
                <a:ea typeface="標楷體" panose="03000509000000000000" pitchFamily="65" charset="-120"/>
              </a:rPr>
              <a:t>我們修道修心　我們辦道盡心　我們不與人家比短論長　我們不與人家鬥勝爭強　我們委屈自己圓融十方　我們是苦海與西方極樂世界的一座橋樑 任人踐踏與毀謗　我們要低下頭　我們理直氣壯　我們屈伸自如　我們道念堅強　我們不白犧牲　我們不白來人世上　我們不白過時光　雖一人緊繫多少蒼生性命　看重自己 不需要徬徨 不需要受自己的礙障 樹立一條正確的方向　讓千萬人安安穩穩的直上 讓千萬人沾到慈輝之光 讓千萬人沐浴在天恩的浩蕩 讓千萬人了脫這苦海的汪洋 讓千萬人的九玄七祖一齊沾光</a:t>
            </a:r>
          </a:p>
        </p:txBody>
      </p:sp>
    </p:spTree>
    <p:extLst>
      <p:ext uri="{BB962C8B-B14F-4D97-AF65-F5344CB8AC3E}">
        <p14:creationId xmlns:p14="http://schemas.microsoft.com/office/powerpoint/2010/main" val="926454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</TotalTime>
  <Words>1852</Words>
  <Application>Microsoft Office PowerPoint</Application>
  <PresentationFormat>A4 紙張 (210x297 公釐)</PresentationFormat>
  <Paragraphs>48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7" baseType="lpstr">
      <vt:lpstr>標楷體</vt:lpstr>
      <vt:lpstr>Arial</vt:lpstr>
      <vt:lpstr>Calibri</vt:lpstr>
      <vt:lpstr>Calibri Light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宗祐 李</dc:creator>
  <cp:lastModifiedBy>宗祐 李</cp:lastModifiedBy>
  <cp:revision>9</cp:revision>
  <dcterms:created xsi:type="dcterms:W3CDTF">2022-08-25T07:08:55Z</dcterms:created>
  <dcterms:modified xsi:type="dcterms:W3CDTF">2022-09-12T14:31:44Z</dcterms:modified>
</cp:coreProperties>
</file>