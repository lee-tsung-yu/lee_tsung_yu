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6" r:id="rId5"/>
    <p:sldId id="287" r:id="rId6"/>
    <p:sldId id="288" r:id="rId7"/>
    <p:sldId id="277" r:id="rId8"/>
    <p:sldId id="289" r:id="rId9"/>
    <p:sldId id="292" r:id="rId10"/>
    <p:sldId id="293" r:id="rId11"/>
    <p:sldId id="294" r:id="rId12"/>
    <p:sldId id="278" r:id="rId13"/>
    <p:sldId id="295" r:id="rId14"/>
    <p:sldId id="279" r:id="rId15"/>
    <p:sldId id="298" r:id="rId16"/>
    <p:sldId id="280" r:id="rId17"/>
    <p:sldId id="299" r:id="rId18"/>
    <p:sldId id="305" r:id="rId19"/>
    <p:sldId id="306" r:id="rId20"/>
    <p:sldId id="307" r:id="rId21"/>
    <p:sldId id="281" r:id="rId22"/>
    <p:sldId id="300" r:id="rId23"/>
    <p:sldId id="308" r:id="rId24"/>
    <p:sldId id="282" r:id="rId25"/>
    <p:sldId id="310" r:id="rId26"/>
    <p:sldId id="311" r:id="rId27"/>
    <p:sldId id="313" r:id="rId28"/>
    <p:sldId id="312" r:id="rId29"/>
    <p:sldId id="301" r:id="rId30"/>
    <p:sldId id="283" r:id="rId31"/>
    <p:sldId id="302" r:id="rId32"/>
    <p:sldId id="314" r:id="rId33"/>
    <p:sldId id="315" r:id="rId34"/>
    <p:sldId id="316" r:id="rId35"/>
    <p:sldId id="317" r:id="rId36"/>
    <p:sldId id="284" r:id="rId37"/>
    <p:sldId id="303" r:id="rId38"/>
    <p:sldId id="285" r:id="rId39"/>
    <p:sldId id="322" r:id="rId40"/>
    <p:sldId id="321" r:id="rId41"/>
    <p:sldId id="318" r:id="rId42"/>
    <p:sldId id="319" r:id="rId43"/>
    <p:sldId id="320" r:id="rId44"/>
    <p:sldId id="324" r:id="rId45"/>
    <p:sldId id="323" r:id="rId4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1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74" y="-917"/>
      </p:cViewPr>
      <p:guideLst>
        <p:guide orient="horz" pos="2184"/>
        <p:guide pos="14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2.svg"/><Relationship Id="rId9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2.sv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9.png"/><Relationship Id="rId4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9.png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4.png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0.png"/><Relationship Id="rId9" Type="http://schemas.openxmlformats.org/officeDocument/2006/relationships/image" Target="../media/image1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83.png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2.svg"/><Relationship Id="rId7" Type="http://schemas.openxmlformats.org/officeDocument/2006/relationships/image" Target="../media/image8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62.png"/><Relationship Id="rId4" Type="http://schemas.openxmlformats.org/officeDocument/2006/relationships/image" Target="../media/image84.png"/><Relationship Id="rId9" Type="http://schemas.openxmlformats.org/officeDocument/2006/relationships/image" Target="../media/image80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57C3104D-1023-78C1-6127-3B1167DED4A3}"/>
              </a:ext>
            </a:extLst>
          </p:cNvPr>
          <p:cNvGrpSpPr/>
          <p:nvPr/>
        </p:nvGrpSpPr>
        <p:grpSpPr>
          <a:xfrm>
            <a:off x="1573580" y="6972300"/>
            <a:ext cx="4820534" cy="1395209"/>
            <a:chOff x="1573580" y="6972300"/>
            <a:chExt cx="4820534" cy="1395209"/>
          </a:xfrm>
        </p:grpSpPr>
        <p:sp>
          <p:nvSpPr>
            <p:cNvPr id="7" name="Freeform 7"/>
            <p:cNvSpPr/>
            <p:nvPr/>
          </p:nvSpPr>
          <p:spPr>
            <a:xfrm>
              <a:off x="1573580" y="6972300"/>
              <a:ext cx="4820534" cy="1395209"/>
            </a:xfrm>
            <a:custGeom>
              <a:avLst/>
              <a:gdLst/>
              <a:ahLst/>
              <a:cxnLst/>
              <a:rect l="l" t="t" r="r" b="b"/>
              <a:pathLst>
                <a:path w="8580503" h="1290848">
                  <a:moveTo>
                    <a:pt x="0" y="0"/>
                  </a:moveTo>
                  <a:lnTo>
                    <a:pt x="0" y="1290848"/>
                  </a:lnTo>
                  <a:lnTo>
                    <a:pt x="8580503" y="1290848"/>
                  </a:lnTo>
                  <a:lnTo>
                    <a:pt x="8580503" y="0"/>
                  </a:lnTo>
                  <a:lnTo>
                    <a:pt x="0" y="0"/>
                  </a:lnTo>
                  <a:close/>
                  <a:moveTo>
                    <a:pt x="8519543" y="1229888"/>
                  </a:moveTo>
                  <a:lnTo>
                    <a:pt x="59690" y="1229888"/>
                  </a:lnTo>
                  <a:lnTo>
                    <a:pt x="59690" y="59690"/>
                  </a:lnTo>
                  <a:lnTo>
                    <a:pt x="8519543" y="59690"/>
                  </a:lnTo>
                  <a:lnTo>
                    <a:pt x="8519543" y="1229888"/>
                  </a:lnTo>
                  <a:close/>
                </a:path>
              </a:pathLst>
            </a:custGeom>
            <a:solidFill>
              <a:srgbClr val="FF68D4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43042" y="7463469"/>
              <a:ext cx="4481609" cy="412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dirty="0" err="1">
                  <a:solidFill>
                    <a:srgbClr val="000000"/>
                  </a:solidFill>
                  <a:latin typeface="Songti SC" panose="02010600040101010101" pitchFamily="2" charset="-122"/>
                  <a:ea typeface="Songti SC" panose="02010600040101010101" pitchFamily="2" charset="-122"/>
                </a:rPr>
                <a:t>統計所</a:t>
              </a:r>
              <a:r>
                <a:rPr lang="en-US" sz="2499" dirty="0">
                  <a:solidFill>
                    <a:srgbClr val="000000"/>
                  </a:solidFill>
                  <a:latin typeface="Songti SC" panose="02010600040101010101" pitchFamily="2" charset="-122"/>
                  <a:ea typeface="Songti SC" panose="02010600040101010101" pitchFamily="2" charset="-122"/>
                </a:rPr>
                <a:t>	黃</a:t>
              </a:r>
              <a:r>
                <a:rPr lang="zh-TW" altLang="en-US" sz="2499" dirty="0">
                  <a:solidFill>
                    <a:srgbClr val="000000"/>
                  </a:solidFill>
                  <a:latin typeface="Songti SC" panose="02010600040101010101" pitchFamily="2" charset="-122"/>
                  <a:ea typeface="Songti SC" panose="02010600040101010101" pitchFamily="2" charset="-122"/>
                </a:rPr>
                <a:t>皓謙</a:t>
              </a:r>
              <a:endParaRPr lang="en-US" sz="2499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11542992" y="-8517227"/>
            <a:ext cx="11432615" cy="11411829"/>
          </a:xfrm>
          <a:custGeom>
            <a:avLst/>
            <a:gdLst/>
            <a:ahLst/>
            <a:cxnLst/>
            <a:rect l="l" t="t" r="r" b="b"/>
            <a:pathLst>
              <a:path w="11432615" h="11411829">
                <a:moveTo>
                  <a:pt x="0" y="0"/>
                </a:moveTo>
                <a:lnTo>
                  <a:pt x="11432616" y="0"/>
                </a:lnTo>
                <a:lnTo>
                  <a:pt x="11432616" y="11411829"/>
                </a:lnTo>
                <a:lnTo>
                  <a:pt x="0" y="114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573579" y="3638550"/>
            <a:ext cx="6066085" cy="3031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999"/>
              </a:lnSpc>
            </a:pPr>
            <a:r>
              <a:rPr lang="en-US" sz="9999" dirty="0">
                <a:solidFill>
                  <a:srgbClr val="000000"/>
                </a:solidFill>
                <a:ea typeface="思源宋体 Bold"/>
              </a:rPr>
              <a:t>Time </a:t>
            </a:r>
            <a:r>
              <a:rPr lang="en-US" altLang="zh-TW" sz="9999" dirty="0">
                <a:solidFill>
                  <a:srgbClr val="000000"/>
                </a:solidFill>
                <a:ea typeface="思源宋体 Bold"/>
              </a:rPr>
              <a:t>S</a:t>
            </a:r>
            <a:r>
              <a:rPr lang="en-US" sz="9999" dirty="0">
                <a:solidFill>
                  <a:srgbClr val="000000"/>
                </a:solidFill>
                <a:ea typeface="思源宋体 Bold"/>
              </a:rPr>
              <a:t>eries</a:t>
            </a:r>
            <a:r>
              <a:rPr lang="zh-TW" altLang="en-US" sz="9999" dirty="0">
                <a:solidFill>
                  <a:srgbClr val="000000"/>
                </a:solidFill>
                <a:ea typeface="思源宋体 Bold"/>
              </a:rPr>
              <a:t> </a:t>
            </a:r>
            <a:r>
              <a:rPr lang="en-US" altLang="zh-TW" sz="9999" dirty="0">
                <a:solidFill>
                  <a:srgbClr val="000000"/>
                </a:solidFill>
                <a:ea typeface="思源宋体 Bold"/>
              </a:rPr>
              <a:t>Analysis</a:t>
            </a:r>
            <a:endParaRPr lang="en-US" sz="9999" dirty="0">
              <a:solidFill>
                <a:srgbClr val="000000"/>
              </a:solidFill>
              <a:ea typeface="思源宋体 Bold"/>
            </a:endParaRPr>
          </a:p>
        </p:txBody>
      </p:sp>
      <p:pic>
        <p:nvPicPr>
          <p:cNvPr id="1026" name="Picture 2" descr="Reliability of data – all about this data quality metric | DS Stream">
            <a:extLst>
              <a:ext uri="{FF2B5EF4-FFF2-40B4-BE49-F238E27FC236}">
                <a16:creationId xmlns:a16="http://schemas.microsoft.com/office/drawing/2014/main" id="{85BA6171-17DC-63CD-4104-9B8B364A8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133" y="3009900"/>
            <a:ext cx="8323262" cy="554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99895" y="-9092389"/>
            <a:ext cx="11432615" cy="11411829"/>
          </a:xfrm>
          <a:custGeom>
            <a:avLst/>
            <a:gdLst/>
            <a:ahLst/>
            <a:cxnLst/>
            <a:rect l="l" t="t" r="r" b="b"/>
            <a:pathLst>
              <a:path w="11432615" h="11411829">
                <a:moveTo>
                  <a:pt x="0" y="0"/>
                </a:moveTo>
                <a:lnTo>
                  <a:pt x="11432615" y="0"/>
                </a:lnTo>
                <a:lnTo>
                  <a:pt x="11432615" y="11411829"/>
                </a:lnTo>
                <a:lnTo>
                  <a:pt x="0" y="1141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324316" y="7022304"/>
            <a:ext cx="11841808" cy="11820277"/>
          </a:xfrm>
          <a:custGeom>
            <a:avLst/>
            <a:gdLst/>
            <a:ahLst/>
            <a:cxnLst/>
            <a:rect l="l" t="t" r="r" b="b"/>
            <a:pathLst>
              <a:path w="11841808" h="11820277">
                <a:moveTo>
                  <a:pt x="0" y="0"/>
                </a:moveTo>
                <a:lnTo>
                  <a:pt x="11841807" y="0"/>
                </a:lnTo>
                <a:lnTo>
                  <a:pt x="11841807" y="11820278"/>
                </a:lnTo>
                <a:lnTo>
                  <a:pt x="0" y="11820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FA27375-43C8-238B-4ACC-AC8A3E632765}"/>
              </a:ext>
            </a:extLst>
          </p:cNvPr>
          <p:cNvSpPr txBox="1"/>
          <p:nvPr/>
        </p:nvSpPr>
        <p:spPr>
          <a:xfrm>
            <a:off x="896705" y="1620996"/>
            <a:ext cx="4953000" cy="324653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data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ARMA(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p,q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model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flowchart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for stationary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F52603F-53D9-60F9-68F5-4BBA6B1B0F9A}"/>
              </a:ext>
            </a:extLst>
          </p:cNvPr>
          <p:cNvSpPr txBox="1"/>
          <p:nvPr/>
        </p:nvSpPr>
        <p:spPr>
          <a:xfrm>
            <a:off x="6554810" y="1620996"/>
            <a:ext cx="4017382" cy="3892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specification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estimation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auto.arima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FE22E10C-C105-4C71-137D-B11E4A299606}"/>
              </a:ext>
            </a:extLst>
          </p:cNvPr>
          <p:cNvSpPr/>
          <p:nvPr/>
        </p:nvSpPr>
        <p:spPr>
          <a:xfrm>
            <a:off x="896705" y="649574"/>
            <a:ext cx="1000528" cy="971422"/>
          </a:xfrm>
          <a:custGeom>
            <a:avLst/>
            <a:gdLst/>
            <a:ahLst/>
            <a:cxnLst/>
            <a:rect l="l" t="t" r="r" b="b"/>
            <a:pathLst>
              <a:path w="1000528" h="971422">
                <a:moveTo>
                  <a:pt x="0" y="0"/>
                </a:moveTo>
                <a:lnTo>
                  <a:pt x="1000528" y="0"/>
                </a:lnTo>
                <a:lnTo>
                  <a:pt x="1000528" y="971422"/>
                </a:lnTo>
                <a:lnTo>
                  <a:pt x="0" y="971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851129" y="1898424"/>
            <a:ext cx="8585742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1. Time series data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926955" y="888781"/>
            <a:ext cx="6207198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6000" dirty="0">
                <a:solidFill>
                  <a:srgbClr val="000000"/>
                </a:solidFill>
                <a:ea typeface="思源宋体 Bold"/>
              </a:rPr>
              <a:t>Cross-section data</a:t>
            </a:r>
          </a:p>
        </p:txBody>
      </p:sp>
      <p:sp>
        <p:nvSpPr>
          <p:cNvPr id="7" name="Freeform 7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-4248710" y="7677344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290306" y="2484628"/>
            <a:ext cx="7480495" cy="1949986"/>
            <a:chOff x="0" y="-50503"/>
            <a:chExt cx="9973994" cy="259998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50503"/>
              <a:ext cx="9973994" cy="2599980"/>
              <a:chOff x="0" y="-28575"/>
              <a:chExt cx="5643393" cy="14710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643393" cy="1442522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848865" y="646089"/>
              <a:ext cx="8276265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zh-TW" altLang="en-US" sz="3200" dirty="0">
                  <a:solidFill>
                    <a:srgbClr val="FF0000"/>
                  </a:solidFill>
                  <a:ea typeface="圓體 Bold"/>
                </a:rPr>
                <a:t>不同</a:t>
              </a:r>
              <a:r>
                <a:rPr lang="en-US" altLang="zh-TW" sz="3200" dirty="0">
                  <a:solidFill>
                    <a:srgbClr val="FF0000"/>
                  </a:solidFill>
                  <a:ea typeface="圓體 Bold"/>
                </a:rPr>
                <a:t>Sample</a:t>
              </a:r>
              <a:r>
                <a:rPr lang="zh-TW" altLang="en-US" sz="3200" dirty="0">
                  <a:solidFill>
                    <a:srgbClr val="000000"/>
                  </a:solidFill>
                  <a:ea typeface="圓體 Bold"/>
                </a:rPr>
                <a:t>的</a:t>
              </a:r>
              <a:r>
                <a:rPr lang="en-US" altLang="zh-TW" sz="3200" dirty="0">
                  <a:solidFill>
                    <a:srgbClr val="000000"/>
                  </a:solidFill>
                  <a:ea typeface="圓體 Bold"/>
                </a:rPr>
                <a:t>data</a:t>
              </a:r>
              <a:endParaRPr lang="en-US" sz="3200" dirty="0">
                <a:solidFill>
                  <a:srgbClr val="000000"/>
                </a:solidFill>
                <a:ea typeface="圓體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30590" y="2522505"/>
            <a:ext cx="7480495" cy="1955493"/>
            <a:chOff x="0" y="-57846"/>
            <a:chExt cx="9973994" cy="2607323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-57846"/>
              <a:ext cx="9973994" cy="2607323"/>
              <a:chOff x="0" y="-32730"/>
              <a:chExt cx="5643393" cy="147525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-32730"/>
                <a:ext cx="5643393" cy="1442522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48865" y="646088"/>
              <a:ext cx="8276265" cy="547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9"/>
                </a:lnSpc>
              </a:pPr>
              <a:r>
                <a:rPr lang="zh-TW" altLang="en-US" sz="3200" dirty="0">
                  <a:solidFill>
                    <a:srgbClr val="FF0000"/>
                  </a:solidFill>
                  <a:ea typeface="圓體 Bold"/>
                </a:rPr>
                <a:t>同個</a:t>
              </a:r>
              <a:r>
                <a:rPr lang="en-US" altLang="zh-TW" sz="3200" dirty="0">
                  <a:solidFill>
                    <a:srgbClr val="FF0000"/>
                  </a:solidFill>
                  <a:ea typeface="圓體 Bold"/>
                </a:rPr>
                <a:t>sample</a:t>
              </a:r>
              <a:r>
                <a:rPr lang="zh-TW" altLang="en-US" sz="3200" dirty="0">
                  <a:solidFill>
                    <a:srgbClr val="000000"/>
                  </a:solidFill>
                  <a:ea typeface="圓體 Bold"/>
                </a:rPr>
                <a:t>在不同時間的</a:t>
              </a:r>
              <a:r>
                <a:rPr lang="en-US" altLang="zh-TW" sz="3200" dirty="0">
                  <a:solidFill>
                    <a:srgbClr val="000000"/>
                  </a:solidFill>
                  <a:ea typeface="圓體 Bold"/>
                </a:rPr>
                <a:t>data</a:t>
              </a:r>
              <a:endParaRPr lang="en-US" sz="3200" dirty="0">
                <a:solidFill>
                  <a:srgbClr val="000000"/>
                </a:solidFill>
                <a:ea typeface="圓體 Bold"/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1754217A-D8BF-BDC1-5DFD-DFA58449243A}"/>
              </a:ext>
            </a:extLst>
          </p:cNvPr>
          <p:cNvSpPr txBox="1"/>
          <p:nvPr/>
        </p:nvSpPr>
        <p:spPr>
          <a:xfrm>
            <a:off x="9967239" y="888781"/>
            <a:ext cx="6207198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6000" dirty="0">
                <a:ea typeface="思源宋体 Bold"/>
              </a:rPr>
              <a:t>Times series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9237AE1-96E3-9DA9-21A3-0BF910B90575}"/>
                  </a:ext>
                </a:extLst>
              </p:cNvPr>
              <p:cNvSpPr txBox="1"/>
              <p:nvPr/>
            </p:nvSpPr>
            <p:spPr>
              <a:xfrm>
                <a:off x="2254652" y="5092475"/>
                <a:ext cx="5551802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200" dirty="0"/>
                  <a:t> for fixed t</a:t>
                </a:r>
              </a:p>
              <a:p>
                <a:pPr algn="ctr"/>
                <a:r>
                  <a:rPr lang="en-US" altLang="zh-TW" sz="3200" dirty="0"/>
                  <a:t>=&gt;</a:t>
                </a:r>
                <a:r>
                  <a:rPr lang="en-US" altLang="zh-TW" sz="32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200" dirty="0"/>
                  <a:t> is a random variable</a:t>
                </a: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39237AE1-96E3-9DA9-21A3-0BF910B90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652" y="5092475"/>
                <a:ext cx="5551802" cy="984885"/>
              </a:xfrm>
              <a:prstGeom prst="rect">
                <a:avLst/>
              </a:prstGeom>
              <a:blipFill>
                <a:blip r:embed="rId4"/>
                <a:stretch>
                  <a:fillRect t="-11728" b="-246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6E1AB9A-D4B1-BA3F-D30C-73346A8C170E}"/>
                  </a:ext>
                </a:extLst>
              </p:cNvPr>
              <p:cNvSpPr txBox="1"/>
              <p:nvPr/>
            </p:nvSpPr>
            <p:spPr>
              <a:xfrm>
                <a:off x="9892840" y="5147781"/>
                <a:ext cx="6355993" cy="9848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200" dirty="0"/>
                  <a:t> for fixed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US" altLang="zh-TW" sz="3200" dirty="0"/>
              </a:p>
              <a:p>
                <a:pPr algn="ctr"/>
                <a:r>
                  <a:rPr lang="en-US" altLang="zh-TW" sz="3200" dirty="0"/>
                  <a:t>=&gt;</a:t>
                </a:r>
                <a:r>
                  <a:rPr lang="en-US" altLang="zh-TW" sz="32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200" dirty="0"/>
                  <a:t> is a realization of time series</a:t>
                </a: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6E1AB9A-D4B1-BA3F-D30C-73346A8C1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2840" y="5147781"/>
                <a:ext cx="6355993" cy="984885"/>
              </a:xfrm>
              <a:prstGeom prst="rect">
                <a:avLst/>
              </a:prstGeom>
              <a:blipFill>
                <a:blip r:embed="rId5"/>
                <a:stretch>
                  <a:fillRect l="-2687" t="-11728" r="-2495" b="-246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7D0890FE-E877-7307-B999-29BBA9FBDB37}"/>
                  </a:ext>
                </a:extLst>
              </p:cNvPr>
              <p:cNvSpPr txBox="1"/>
              <p:nvPr/>
            </p:nvSpPr>
            <p:spPr>
              <a:xfrm>
                <a:off x="8673179" y="7980213"/>
                <a:ext cx="8795312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t = 0,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TW" sz="3200" dirty="0"/>
                  <a:t>1,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TW" sz="3200" dirty="0"/>
                  <a:t>2,…} is called a stochastic process</a:t>
                </a: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7D0890FE-E877-7307-B999-29BBA9FB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179" y="7980213"/>
                <a:ext cx="8795312" cy="492443"/>
              </a:xfrm>
              <a:prstGeom prst="rect">
                <a:avLst/>
              </a:prstGeom>
              <a:blipFill>
                <a:blip r:embed="rId6"/>
                <a:stretch>
                  <a:fillRect t="-23457" b="-50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7C56DED2-521D-409F-5296-50CF4A9C8061}"/>
              </a:ext>
            </a:extLst>
          </p:cNvPr>
          <p:cNvSpPr/>
          <p:nvPr/>
        </p:nvSpPr>
        <p:spPr>
          <a:xfrm>
            <a:off x="12871732" y="6502711"/>
            <a:ext cx="398206" cy="81116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953E51B9-53CB-2B3A-17EF-F87F8E94CDB2}"/>
              </a:ext>
            </a:extLst>
          </p:cNvPr>
          <p:cNvSpPr/>
          <p:nvPr/>
        </p:nvSpPr>
        <p:spPr>
          <a:xfrm>
            <a:off x="8610865" y="1250997"/>
            <a:ext cx="879662" cy="879662"/>
          </a:xfrm>
          <a:custGeom>
            <a:avLst/>
            <a:gdLst/>
            <a:ahLst/>
            <a:cxnLst/>
            <a:rect l="l" t="t" r="r" b="b"/>
            <a:pathLst>
              <a:path w="879662" h="879662">
                <a:moveTo>
                  <a:pt x="0" y="0"/>
                </a:moveTo>
                <a:lnTo>
                  <a:pt x="879662" y="0"/>
                </a:lnTo>
                <a:lnTo>
                  <a:pt x="879662" y="879662"/>
                </a:lnTo>
                <a:lnTo>
                  <a:pt x="0" y="8796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08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81A87C6-B724-80F8-7275-206936273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879" y="774117"/>
            <a:ext cx="5390758" cy="909690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5A54947-F82F-8C99-A0EB-9E562A7ED669}"/>
              </a:ext>
            </a:extLst>
          </p:cNvPr>
          <p:cNvSpPr/>
          <p:nvPr/>
        </p:nvSpPr>
        <p:spPr>
          <a:xfrm>
            <a:off x="8013110" y="596346"/>
            <a:ext cx="6447630" cy="10635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89954D-7ABC-E879-3AA8-931484837C78}"/>
              </a:ext>
            </a:extLst>
          </p:cNvPr>
          <p:cNvSpPr/>
          <p:nvPr/>
        </p:nvSpPr>
        <p:spPr>
          <a:xfrm>
            <a:off x="8443096" y="573476"/>
            <a:ext cx="3168620" cy="9297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1EB0F3BF-D81A-CD53-94C5-15FB08E13CA7}"/>
              </a:ext>
            </a:extLst>
          </p:cNvPr>
          <p:cNvSpPr/>
          <p:nvPr/>
        </p:nvSpPr>
        <p:spPr>
          <a:xfrm rot="10800000">
            <a:off x="6131451" y="4854063"/>
            <a:ext cx="1135626" cy="578874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3D9A1EFE-4967-D44F-CEAC-AA002BC556A7}"/>
              </a:ext>
            </a:extLst>
          </p:cNvPr>
          <p:cNvSpPr/>
          <p:nvPr/>
        </p:nvSpPr>
        <p:spPr>
          <a:xfrm rot="10800000">
            <a:off x="6131451" y="838706"/>
            <a:ext cx="1135626" cy="57887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0731DEC-B70A-D313-AFC0-4BF0CFE29D26}"/>
              </a:ext>
            </a:extLst>
          </p:cNvPr>
          <p:cNvSpPr txBox="1"/>
          <p:nvPr/>
        </p:nvSpPr>
        <p:spPr>
          <a:xfrm>
            <a:off x="1663714" y="838705"/>
            <a:ext cx="3237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Cross-section data</a:t>
            </a:r>
            <a:endParaRPr lang="zh-TW" altLang="en-US" sz="3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73953A-A064-DF15-0C2F-ABA8740B2560}"/>
              </a:ext>
            </a:extLst>
          </p:cNvPr>
          <p:cNvSpPr txBox="1"/>
          <p:nvPr/>
        </p:nvSpPr>
        <p:spPr>
          <a:xfrm>
            <a:off x="1831131" y="4854063"/>
            <a:ext cx="2902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Time series data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4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408954" y="787292"/>
            <a:ext cx="5314503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6000" dirty="0">
                <a:solidFill>
                  <a:srgbClr val="000000"/>
                </a:solidFill>
                <a:ea typeface="思源宋体 Bold"/>
              </a:rPr>
              <a:t>Mean function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-4248710" y="7677344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25957" y="2154288"/>
            <a:ext cx="7480495" cy="1949986"/>
            <a:chOff x="0" y="-50503"/>
            <a:chExt cx="9973994" cy="259998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-50503"/>
              <a:ext cx="9973994" cy="2599980"/>
              <a:chOff x="0" y="-28575"/>
              <a:chExt cx="5643393" cy="14710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643393" cy="1442522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848864" y="997311"/>
                  <a:ext cx="8276265" cy="55485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3249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3200" dirty="0">
                      <a:solidFill>
                        <a:srgbClr val="000000"/>
                      </a:solidFill>
                      <a:ea typeface="圓體 Bold"/>
                    </a:rPr>
                    <a:t>= E[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3200" dirty="0">
                      <a:solidFill>
                        <a:srgbClr val="000000"/>
                      </a:solidFill>
                      <a:ea typeface="圓體 Bold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17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864" y="997311"/>
                  <a:ext cx="8276265" cy="554853"/>
                </a:xfrm>
                <a:prstGeom prst="rect">
                  <a:avLst/>
                </a:prstGeom>
                <a:blipFill>
                  <a:blip r:embed="rId4"/>
                  <a:stretch>
                    <a:fillRect t="-46377" b="-579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8"/>
          <p:cNvGrpSpPr/>
          <p:nvPr/>
        </p:nvGrpSpPr>
        <p:grpSpPr>
          <a:xfrm>
            <a:off x="8073341" y="2192165"/>
            <a:ext cx="7480495" cy="2025626"/>
            <a:chOff x="0" y="-151356"/>
            <a:chExt cx="9973994" cy="2700833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-151356"/>
              <a:ext cx="9973994" cy="2700833"/>
              <a:chOff x="0" y="-85639"/>
              <a:chExt cx="5643393" cy="15281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-85639"/>
                <a:ext cx="5643393" cy="1442522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3"/>
                <p:cNvSpPr txBox="1"/>
                <p:nvPr/>
              </p:nvSpPr>
              <p:spPr>
                <a:xfrm>
                  <a:off x="224856" y="849802"/>
                  <a:ext cx="9749138" cy="547158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3249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altLang="zh-TW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32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zh-TW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TW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sz="3200" dirty="0">
                    <a:solidFill>
                      <a:srgbClr val="000000"/>
                    </a:solidFill>
                    <a:ea typeface="圓體 Bold"/>
                  </a:endParaRPr>
                </a:p>
              </p:txBody>
            </p:sp>
          </mc:Choice>
          <mc:Fallback xmlns="">
            <p:sp>
              <p:nvSpPr>
                <p:cNvPr id="23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56" y="849802"/>
                  <a:ext cx="9749138" cy="547158"/>
                </a:xfrm>
                <a:prstGeom prst="rect">
                  <a:avLst/>
                </a:prstGeom>
                <a:blipFill>
                  <a:blip r:embed="rId5"/>
                  <a:stretch>
                    <a:fillRect l="-1251" t="-19403" r="-751" b="-4328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1754217A-D8BF-BDC1-5DFD-DFA58449243A}"/>
              </a:ext>
            </a:extLst>
          </p:cNvPr>
          <p:cNvSpPr txBox="1"/>
          <p:nvPr/>
        </p:nvSpPr>
        <p:spPr>
          <a:xfrm>
            <a:off x="7888596" y="895302"/>
            <a:ext cx="7849983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6000" dirty="0">
                <a:ea typeface="思源宋体 Bold"/>
              </a:rPr>
              <a:t>Autocovariance function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23B6E78-8936-A886-1F36-BE000ED726C1}"/>
              </a:ext>
            </a:extLst>
          </p:cNvPr>
          <p:cNvSpPr txBox="1"/>
          <p:nvPr/>
        </p:nvSpPr>
        <p:spPr>
          <a:xfrm>
            <a:off x="2837977" y="4563973"/>
            <a:ext cx="10101238" cy="124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6000" dirty="0">
                <a:ea typeface="思源宋体 Bold"/>
              </a:rPr>
              <a:t>Autocorrelation function (ACF)</a:t>
            </a:r>
          </a:p>
        </p:txBody>
      </p:sp>
      <p:grpSp>
        <p:nvGrpSpPr>
          <p:cNvPr id="16" name="Group 18">
            <a:extLst>
              <a:ext uri="{FF2B5EF4-FFF2-40B4-BE49-F238E27FC236}">
                <a16:creationId xmlns:a16="http://schemas.microsoft.com/office/drawing/2014/main" id="{FDFDA9E3-6B88-8C15-1220-645B71DB5D3A}"/>
              </a:ext>
            </a:extLst>
          </p:cNvPr>
          <p:cNvGrpSpPr/>
          <p:nvPr/>
        </p:nvGrpSpPr>
        <p:grpSpPr>
          <a:xfrm>
            <a:off x="4148348" y="6265550"/>
            <a:ext cx="7480495" cy="2025626"/>
            <a:chOff x="0" y="-151356"/>
            <a:chExt cx="9973994" cy="2700833"/>
          </a:xfrm>
        </p:grpSpPr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04CBC135-50E7-8657-24FA-1FED4D775857}"/>
                </a:ext>
              </a:extLst>
            </p:cNvPr>
            <p:cNvGrpSpPr/>
            <p:nvPr/>
          </p:nvGrpSpPr>
          <p:grpSpPr>
            <a:xfrm>
              <a:off x="0" y="-151356"/>
              <a:ext cx="9973994" cy="2700833"/>
              <a:chOff x="0" y="-85639"/>
              <a:chExt cx="5643393" cy="1528161"/>
            </a:xfrm>
          </p:grpSpPr>
          <p:sp>
            <p:nvSpPr>
              <p:cNvPr id="28" name="Freeform 20">
                <a:extLst>
                  <a:ext uri="{FF2B5EF4-FFF2-40B4-BE49-F238E27FC236}">
                    <a16:creationId xmlns:a16="http://schemas.microsoft.com/office/drawing/2014/main" id="{4E0F05D2-D087-09F7-E1A3-7D5C6BE79E25}"/>
                  </a:ext>
                </a:extLst>
              </p:cNvPr>
              <p:cNvSpPr/>
              <p:nvPr/>
            </p:nvSpPr>
            <p:spPr>
              <a:xfrm>
                <a:off x="0" y="-85639"/>
                <a:ext cx="5643393" cy="1442522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31" name="TextBox 21">
                <a:extLst>
                  <a:ext uri="{FF2B5EF4-FFF2-40B4-BE49-F238E27FC236}">
                    <a16:creationId xmlns:a16="http://schemas.microsoft.com/office/drawing/2014/main" id="{3B41DD86-948A-3F1C-19B9-0AE738FB580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3">
                  <a:extLst>
                    <a:ext uri="{FF2B5EF4-FFF2-40B4-BE49-F238E27FC236}">
                      <a16:creationId xmlns:a16="http://schemas.microsoft.com/office/drawing/2014/main" id="{29148F25-D19D-3CF4-123B-279039DDF389}"/>
                    </a:ext>
                  </a:extLst>
                </p:cNvPr>
                <p:cNvSpPr txBox="1"/>
                <p:nvPr/>
              </p:nvSpPr>
              <p:spPr>
                <a:xfrm>
                  <a:off x="112427" y="1118103"/>
                  <a:ext cx="9749138" cy="547158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3249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</m:t>
                        </m:r>
                        <m:d>
                          <m:dPr>
                            <m:ctrlP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𝐶𝑜𝑣</m:t>
                            </m:r>
                            <m:d>
                              <m:dPr>
                                <m:ctrlP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r>
                                  <a:rPr lang="en-US" altLang="zh-TW" sz="3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TW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sz="3200" dirty="0">
                    <a:solidFill>
                      <a:srgbClr val="000000"/>
                    </a:solidFill>
                    <a:ea typeface="圓體 Bold"/>
                  </a:endParaRPr>
                </a:p>
              </p:txBody>
            </p:sp>
          </mc:Choice>
          <mc:Fallback xmlns="">
            <p:sp>
              <p:nvSpPr>
                <p:cNvPr id="27" name="TextBox 23">
                  <a:extLst>
                    <a:ext uri="{FF2B5EF4-FFF2-40B4-BE49-F238E27FC236}">
                      <a16:creationId xmlns:a16="http://schemas.microsoft.com/office/drawing/2014/main" id="{29148F25-D19D-3CF4-123B-279039DDF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27" y="1118103"/>
                  <a:ext cx="9749138" cy="547158"/>
                </a:xfrm>
                <a:prstGeom prst="rect">
                  <a:avLst/>
                </a:prstGeom>
                <a:blipFill>
                  <a:blip r:embed="rId6"/>
                  <a:stretch>
                    <a:fillRect t="-134328" b="-835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Freeform 9">
            <a:extLst>
              <a:ext uri="{FF2B5EF4-FFF2-40B4-BE49-F238E27FC236}">
                <a16:creationId xmlns:a16="http://schemas.microsoft.com/office/drawing/2014/main" id="{F20F31E3-F145-2240-B762-EBEE9D832CF3}"/>
              </a:ext>
            </a:extLst>
          </p:cNvPr>
          <p:cNvSpPr/>
          <p:nvPr/>
        </p:nvSpPr>
        <p:spPr>
          <a:xfrm>
            <a:off x="13196243" y="4952195"/>
            <a:ext cx="1173556" cy="853656"/>
          </a:xfrm>
          <a:custGeom>
            <a:avLst/>
            <a:gdLst/>
            <a:ahLst/>
            <a:cxnLst/>
            <a:rect l="l" t="t" r="r" b="b"/>
            <a:pathLst>
              <a:path w="1173556" h="853656">
                <a:moveTo>
                  <a:pt x="0" y="0"/>
                </a:moveTo>
                <a:lnTo>
                  <a:pt x="1173556" y="0"/>
                </a:lnTo>
                <a:lnTo>
                  <a:pt x="1173556" y="853656"/>
                </a:lnTo>
                <a:lnTo>
                  <a:pt x="0" y="853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02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6164280" y="1898424"/>
            <a:ext cx="5959439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2. Stationary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52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1C4850F-BA46-4125-68EA-F1F137D43DD8}"/>
              </a:ext>
            </a:extLst>
          </p:cNvPr>
          <p:cNvSpPr txBox="1"/>
          <p:nvPr/>
        </p:nvSpPr>
        <p:spPr>
          <a:xfrm>
            <a:off x="321611" y="425750"/>
            <a:ext cx="11700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To make some statistical inference, we need “</a:t>
            </a:r>
            <a:r>
              <a:rPr lang="en-US" altLang="zh-TW" sz="3200" dirty="0">
                <a:solidFill>
                  <a:srgbClr val="FF0000"/>
                </a:solidFill>
              </a:rPr>
              <a:t>stationary</a:t>
            </a:r>
            <a:r>
              <a:rPr lang="en-US" altLang="zh-TW" sz="3200" dirty="0"/>
              <a:t>” assumption.</a:t>
            </a:r>
            <a:endParaRPr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D0166F6-41F8-8508-0BCE-A8437EE57EA5}"/>
              </a:ext>
            </a:extLst>
          </p:cNvPr>
          <p:cNvSpPr txBox="1"/>
          <p:nvPr/>
        </p:nvSpPr>
        <p:spPr>
          <a:xfrm>
            <a:off x="321611" y="3100141"/>
            <a:ext cx="1893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Stationary</a:t>
            </a:r>
            <a:endParaRPr lang="zh-TW" altLang="en-US" sz="3200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D08611E-F048-C5D4-CF0F-FA1A982D9D0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214693" y="2521974"/>
            <a:ext cx="985707" cy="870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3F60FA95-8CA3-141E-B942-7E08749792EB}"/>
              </a:ext>
            </a:extLst>
          </p:cNvPr>
          <p:cNvSpPr txBox="1"/>
          <p:nvPr/>
        </p:nvSpPr>
        <p:spPr>
          <a:xfrm>
            <a:off x="3200400" y="2229587"/>
            <a:ext cx="3108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Strictly stationary</a:t>
            </a:r>
            <a:endParaRPr lang="zh-TW" altLang="en-US" sz="3200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AF32C85-162E-4F21-9B6B-D86AEF4E3848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214693" y="3410982"/>
            <a:ext cx="9857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2CD6C8E-0BF8-DEF7-183C-868A19B06F86}"/>
              </a:ext>
            </a:extLst>
          </p:cNvPr>
          <p:cNvSpPr txBox="1"/>
          <p:nvPr/>
        </p:nvSpPr>
        <p:spPr>
          <a:xfrm>
            <a:off x="3200400" y="3118594"/>
            <a:ext cx="3657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n-</a:t>
            </a:r>
            <a:r>
              <a:rPr lang="en-US" altLang="zh-TW" sz="3200" dirty="0" err="1"/>
              <a:t>th</a:t>
            </a:r>
            <a:r>
              <a:rPr lang="en-US" altLang="zh-TW" sz="3200" dirty="0"/>
              <a:t> order stationary</a:t>
            </a:r>
            <a:endParaRPr lang="zh-TW" altLang="en-US" sz="3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9C5D79-8635-02E0-1868-17E4DE633D13}"/>
              </a:ext>
            </a:extLst>
          </p:cNvPr>
          <p:cNvSpPr txBox="1"/>
          <p:nvPr/>
        </p:nvSpPr>
        <p:spPr>
          <a:xfrm>
            <a:off x="3200400" y="4007601"/>
            <a:ext cx="7056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Weakly stationary (2-nd order stationary)</a:t>
            </a:r>
            <a:endParaRPr lang="zh-TW" altLang="en-US" sz="3200" dirty="0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D3AE42B-1012-647B-5AD3-20897AE48F21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2214693" y="3392529"/>
            <a:ext cx="985707" cy="9074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1C23906-A068-7359-D526-72BEE6902942}"/>
              </a:ext>
            </a:extLst>
          </p:cNvPr>
          <p:cNvSpPr/>
          <p:nvPr/>
        </p:nvSpPr>
        <p:spPr>
          <a:xfrm>
            <a:off x="3200400" y="3919690"/>
            <a:ext cx="6916994" cy="718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10F8945B-F2FC-192C-2AA4-01B84F419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15" y="5979635"/>
            <a:ext cx="12883271" cy="1659312"/>
          </a:xfrm>
          <a:prstGeom prst="rect">
            <a:avLst/>
          </a:prstGeom>
        </p:spPr>
      </p:pic>
      <p:sp>
        <p:nvSpPr>
          <p:cNvPr id="23" name="箭號: 向下 22">
            <a:extLst>
              <a:ext uri="{FF2B5EF4-FFF2-40B4-BE49-F238E27FC236}">
                <a16:creationId xmlns:a16="http://schemas.microsoft.com/office/drawing/2014/main" id="{49DBB365-B4D2-6683-9664-FCB1BE6B7482}"/>
              </a:ext>
            </a:extLst>
          </p:cNvPr>
          <p:cNvSpPr/>
          <p:nvPr/>
        </p:nvSpPr>
        <p:spPr>
          <a:xfrm rot="16200000">
            <a:off x="5147717" y="8683490"/>
            <a:ext cx="355997" cy="593284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E5D39DE5-1E46-ECE1-8C6C-1E2C2CECF0AD}"/>
              </a:ext>
            </a:extLst>
          </p:cNvPr>
          <p:cNvSpPr/>
          <p:nvPr/>
        </p:nvSpPr>
        <p:spPr>
          <a:xfrm rot="10800000">
            <a:off x="6636522" y="4854725"/>
            <a:ext cx="442451" cy="90746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F228D61-1DAD-90E6-8811-84C987D65E16}"/>
                  </a:ext>
                </a:extLst>
              </p:cNvPr>
              <p:cNvSpPr txBox="1"/>
              <p:nvPr/>
            </p:nvSpPr>
            <p:spPr>
              <a:xfrm>
                <a:off x="10844789" y="2821640"/>
                <a:ext cx="7441396" cy="2945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TW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TW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groupChr>
                                    <m:groupChrPr>
                                      <m:chr m:val="→"/>
                                      <m:vertJc m:val="bot"/>
                                      <m:ctrlPr>
                                        <a:rPr lang="en-US" altLang="zh-TW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m:rPr>
                                          <m:brk m:alnAt="2"/>
                                        </m:r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groupCh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3200" i="1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  <m:e>
                              <m:f>
                                <m:fPr>
                                  <m:ctrlPr>
                                    <a:rPr lang="en-US" altLang="zh-TW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altLang="zh-TW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sz="3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sz="3200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groupChr>
                                    <m:groupChrPr>
                                      <m:chr m:val="→"/>
                                      <m:vertJc m:val="bot"/>
                                      <m:ctrl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m:rPr>
                                          <m:brk m:alnAt="2"/>
                                        </m:rPr>
                                        <a:rPr lang="en-US" altLang="zh-TW" sz="3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groupChr>
                                  <m:sSub>
                                    <m:sSubPr>
                                      <m:ctrlPr>
                                        <a:rPr lang="en-US" altLang="zh-TW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zh-TW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TW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3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TW" sz="3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3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TW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3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zh-TW" sz="32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F228D61-1DAD-90E6-8811-84C987D65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4789" y="2821640"/>
                <a:ext cx="7441396" cy="2945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AB1A7694-352F-6991-3116-798A7B4DDA05}"/>
              </a:ext>
            </a:extLst>
          </p:cNvPr>
          <p:cNvSpPr txBox="1"/>
          <p:nvPr/>
        </p:nvSpPr>
        <p:spPr>
          <a:xfrm>
            <a:off x="3091715" y="8687746"/>
            <a:ext cx="1893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Stationary</a:t>
            </a:r>
            <a:endParaRPr lang="zh-TW" altLang="en-US" sz="3200" dirty="0"/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5BC02DB5-8AC5-C794-7BE5-470549F71E80}"/>
              </a:ext>
            </a:extLst>
          </p:cNvPr>
          <p:cNvSpPr/>
          <p:nvPr/>
        </p:nvSpPr>
        <p:spPr>
          <a:xfrm rot="16200000">
            <a:off x="10522549" y="4150204"/>
            <a:ext cx="355997" cy="593284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72A4C90-1A62-CF7F-759A-97447FFFBD53}"/>
              </a:ext>
            </a:extLst>
          </p:cNvPr>
          <p:cNvSpPr txBox="1"/>
          <p:nvPr/>
        </p:nvSpPr>
        <p:spPr>
          <a:xfrm>
            <a:off x="5666634" y="8195302"/>
            <a:ext cx="61707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TW" sz="3200" dirty="0"/>
              <a:t>Stability in parameter estimation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Reliability in prediction</a:t>
            </a:r>
          </a:p>
          <a:p>
            <a:pPr marL="514350" indent="-514350">
              <a:buAutoNum type="arabicPeriod"/>
            </a:pPr>
            <a:r>
              <a:rPr lang="en-US" altLang="zh-TW" sz="3200" dirty="0"/>
              <a:t>Interpretability of the model</a:t>
            </a:r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830E4CF4-B0AA-6D89-81BF-C78496A3A3B5}"/>
              </a:ext>
            </a:extLst>
          </p:cNvPr>
          <p:cNvSpPr/>
          <p:nvPr/>
        </p:nvSpPr>
        <p:spPr>
          <a:xfrm>
            <a:off x="12021930" y="8543729"/>
            <a:ext cx="1000528" cy="865912"/>
          </a:xfrm>
          <a:custGeom>
            <a:avLst/>
            <a:gdLst/>
            <a:ahLst/>
            <a:cxnLst/>
            <a:rect l="l" t="t" r="r" b="b"/>
            <a:pathLst>
              <a:path w="1000528" h="865912">
                <a:moveTo>
                  <a:pt x="0" y="0"/>
                </a:moveTo>
                <a:lnTo>
                  <a:pt x="1000528" y="0"/>
                </a:lnTo>
                <a:lnTo>
                  <a:pt x="1000528" y="865912"/>
                </a:lnTo>
                <a:lnTo>
                  <a:pt x="0" y="8659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15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C4FF14B-7A1F-01DB-936C-ACB69CB359D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3551787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The sequence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} is a </a:t>
                </a:r>
                <a:r>
                  <a:rPr lang="en-US" altLang="zh-TW" sz="3200" dirty="0">
                    <a:solidFill>
                      <a:srgbClr val="FF0000"/>
                    </a:solidFill>
                  </a:rPr>
                  <a:t>weak white noise process</a:t>
                </a:r>
                <a:r>
                  <a:rPr lang="en-US" altLang="zh-TW" sz="3200" dirty="0"/>
                  <a:t> with mean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TW" sz="3200" dirty="0"/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200" dirty="0"/>
                  <a:t>,</a:t>
                </a:r>
                <a:r>
                  <a:rPr lang="zh-TW" altLang="en-US" sz="3200" dirty="0"/>
                  <a:t> </a:t>
                </a:r>
                <a:r>
                  <a:rPr lang="en-US" altLang="zh-TW" sz="3200" dirty="0"/>
                  <a:t>if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TW" sz="3200" dirty="0"/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] </a:t>
                </a:r>
                <a:r>
                  <a:rPr lang="zh-TW" altLang="en-US" sz="3200" dirty="0"/>
                  <a:t> </a:t>
                </a:r>
                <a:r>
                  <a:rPr lang="en-US" altLang="zh-TW" sz="3200" dirty="0"/>
                  <a:t>=</a:t>
                </a:r>
                <a:r>
                  <a:rPr lang="zh-TW" altLang="en-US" sz="3200" dirty="0"/>
                  <a:t> </a:t>
                </a:r>
                <a14:m>
                  <m:oMath xmlns:m="http://schemas.openxmlformats.org/officeDocument/2006/math">
                    <m:r>
                      <a:rPr lang="zh-TW" altLang="en-US" sz="3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for all t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altLang="zh-TW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)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for all t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TW" sz="3200" i="1" dirty="0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altLang="zh-TW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3200" dirty="0"/>
                  <a:t>)</a:t>
                </a:r>
                <a:r>
                  <a:rPr lang="zh-TW" altLang="en-US" sz="3200" dirty="0"/>
                  <a:t> </a:t>
                </a:r>
                <a:r>
                  <a:rPr lang="en-US" altLang="zh-TW" sz="3200" dirty="0"/>
                  <a:t>=</a:t>
                </a:r>
                <a:r>
                  <a:rPr lang="zh-TW" altLang="en-US" sz="3200" dirty="0"/>
                  <a:t> </a:t>
                </a:r>
                <a:r>
                  <a:rPr lang="en-US" altLang="zh-TW" sz="3200" dirty="0"/>
                  <a:t>0</a:t>
                </a:r>
                <a:r>
                  <a:rPr lang="zh-TW" altLang="en-US" sz="3200" dirty="0"/>
                  <a:t> </a:t>
                </a:r>
                <a:r>
                  <a:rPr lang="en-US" altLang="zh-TW" sz="3200" dirty="0"/>
                  <a:t>for all t</a:t>
                </a:r>
                <a14:m>
                  <m:oMath xmlns:m="http://schemas.openxmlformats.org/officeDocument/2006/math">
                    <m:r>
                      <a:rPr lang="en-US" altLang="zh-TW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TW" sz="3200" dirty="0"/>
                  <a:t>s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C4FF14B-7A1F-01DB-936C-ACB69CB35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3551787" cy="2062103"/>
              </a:xfrm>
              <a:prstGeom prst="rect">
                <a:avLst/>
              </a:prstGeom>
              <a:blipFill>
                <a:blip r:embed="rId4"/>
                <a:stretch>
                  <a:fillRect l="-1125" t="-3550" r="-135" b="-91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4FFA4FC-1264-32FF-DDAD-60D9E71F6084}"/>
                  </a:ext>
                </a:extLst>
              </p:cNvPr>
              <p:cNvSpPr txBox="1"/>
              <p:nvPr/>
            </p:nvSpPr>
            <p:spPr>
              <a:xfrm>
                <a:off x="0" y="3091836"/>
                <a:ext cx="16656355" cy="36483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Example(Random walk):</a:t>
                </a:r>
              </a:p>
              <a:p>
                <a:r>
                  <a:rPr lang="en-US" altLang="zh-TW" sz="3200" dirty="0"/>
                  <a:t>The sequence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}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(0,</m:t>
                        </m:r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sPre>
                  </m:oMath>
                </a14:m>
                <a:r>
                  <a:rPr lang="en-US" altLang="zh-TW" sz="3200" dirty="0"/>
                  <a:t>. The observed time series,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</a:rPr>
                      <m:t> |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t = 0, 1, 2,…} is constructed as follows: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3200" dirty="0"/>
              </a:p>
              <a:p>
                <a:r>
                  <a:rPr lang="en-US" altLang="zh-TW" sz="3200" dirty="0"/>
                  <a:t>…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TW" sz="3200" dirty="0"/>
              </a:p>
              <a:p>
                <a:r>
                  <a:rPr lang="en-US" altLang="zh-TW" sz="3200" dirty="0"/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4FFA4FC-1264-32FF-DDAD-60D9E71F6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91836"/>
                <a:ext cx="16656355" cy="3648371"/>
              </a:xfrm>
              <a:prstGeom prst="rect">
                <a:avLst/>
              </a:prstGeom>
              <a:blipFill>
                <a:blip r:embed="rId5"/>
                <a:stretch>
                  <a:fillRect l="-915" t="-2170" b="-4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914E6949-EE93-5C34-058C-49C207D9762D}"/>
              </a:ext>
            </a:extLst>
          </p:cNvPr>
          <p:cNvSpPr txBox="1"/>
          <p:nvPr/>
        </p:nvSpPr>
        <p:spPr>
          <a:xfrm>
            <a:off x="5312898" y="9702225"/>
            <a:ext cx="6226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Q: Is the figure look like stationary?</a:t>
            </a:r>
            <a:endParaRPr lang="zh-TW" altLang="en-US" sz="3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712786C-6B4F-DEE8-CA7D-EA456C106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898" y="4550207"/>
            <a:ext cx="12975101" cy="5152018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C6A263F9-75BB-93BB-72B0-6BDC7DF0F150}"/>
              </a:ext>
            </a:extLst>
          </p:cNvPr>
          <p:cNvSpPr/>
          <p:nvPr/>
        </p:nvSpPr>
        <p:spPr>
          <a:xfrm>
            <a:off x="4474339" y="9115447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9" y="0"/>
                </a:lnTo>
                <a:lnTo>
                  <a:pt x="838559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109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86A8D94-0238-4A05-7D5F-78AE389E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5" y="5822189"/>
            <a:ext cx="12883271" cy="1659312"/>
          </a:xfrm>
          <a:prstGeom prst="rect">
            <a:avLst/>
          </a:prstGeom>
        </p:spPr>
      </p:pic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4FFA4FC-1264-32FF-DDAD-60D9E71F6084}"/>
                  </a:ext>
                </a:extLst>
              </p:cNvPr>
              <p:cNvSpPr txBox="1"/>
              <p:nvPr/>
            </p:nvSpPr>
            <p:spPr>
              <a:xfrm>
                <a:off x="-1" y="-87918"/>
                <a:ext cx="16656355" cy="37672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/>
                  <a:t>Example(Random walk):</a:t>
                </a:r>
              </a:p>
              <a:p>
                <a:r>
                  <a:rPr lang="en-US" altLang="zh-TW" sz="3200" dirty="0"/>
                  <a:t>The sequence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}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(0,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sPre>
                  </m:oMath>
                </a14:m>
                <a:r>
                  <a:rPr lang="en-US" altLang="zh-TW" sz="3200" dirty="0"/>
                  <a:t>. The observed time series,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</a:rPr>
                      <m:t> |</m:t>
                    </m:r>
                  </m:oMath>
                </a14:m>
                <a:r>
                  <a:rPr lang="zh-TW" altLang="en-US" sz="3200" dirty="0"/>
                  <a:t> </a:t>
                </a:r>
                <a:r>
                  <a:rPr lang="en-US" altLang="zh-TW" sz="3200" dirty="0"/>
                  <a:t>t = 0, 1, 2,…} is constructed as follows: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TW" sz="3200" dirty="0"/>
              </a:p>
              <a:p>
                <a:endParaRPr lang="en-US" altLang="zh-TW" sz="3200" dirty="0"/>
              </a:p>
              <a:p>
                <a:pPr marL="457200" indent="-45720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3200" b="0" dirty="0"/>
              </a:p>
              <a:p>
                <a:pPr lvl="4"/>
                <a:r>
                  <a:rPr lang="en-US" altLang="zh-TW" sz="3200" dirty="0"/>
                  <a:t>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3200" b="0" dirty="0"/>
              </a:p>
              <a:p>
                <a:pPr lvl="4"/>
                <a:r>
                  <a:rPr lang="en-US" altLang="zh-TW" sz="3200" dirty="0"/>
                  <a:t>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𝑡</m:t>
                    </m:r>
                    <m:sSubSup>
                      <m:sSubSup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3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TW" altLang="en-US" sz="32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  <m:sup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TW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4FFA4FC-1264-32FF-DDAD-60D9E71F6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-87918"/>
                <a:ext cx="16656355" cy="3767250"/>
              </a:xfrm>
              <a:prstGeom prst="rect">
                <a:avLst/>
              </a:prstGeom>
              <a:blipFill>
                <a:blip r:embed="rId5"/>
                <a:stretch>
                  <a:fillRect l="-915" t="-21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914E6949-EE93-5C34-058C-49C207D9762D}"/>
              </a:ext>
            </a:extLst>
          </p:cNvPr>
          <p:cNvSpPr txBox="1"/>
          <p:nvPr/>
        </p:nvSpPr>
        <p:spPr>
          <a:xfrm>
            <a:off x="-1" y="3679332"/>
            <a:ext cx="60665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Q: Is the figure look like stationary?</a:t>
            </a:r>
          </a:p>
          <a:p>
            <a:r>
              <a:rPr lang="en-US" altLang="zh-TW" sz="3200" dirty="0"/>
              <a:t>A: Non-stationary!!!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694A24-1F81-B701-9A15-798C6F056535}"/>
              </a:ext>
            </a:extLst>
          </p:cNvPr>
          <p:cNvSpPr/>
          <p:nvPr/>
        </p:nvSpPr>
        <p:spPr>
          <a:xfrm>
            <a:off x="-1" y="6431421"/>
            <a:ext cx="10456606" cy="4791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6B7E37E-8606-0AF2-2385-AB1ED1044D0A}"/>
              </a:ext>
            </a:extLst>
          </p:cNvPr>
          <p:cNvSpPr/>
          <p:nvPr/>
        </p:nvSpPr>
        <p:spPr>
          <a:xfrm>
            <a:off x="14071468" y="6098968"/>
            <a:ext cx="1173556" cy="1173556"/>
          </a:xfrm>
          <a:custGeom>
            <a:avLst/>
            <a:gdLst/>
            <a:ahLst/>
            <a:cxnLst/>
            <a:rect l="l" t="t" r="r" b="b"/>
            <a:pathLst>
              <a:path w="1173556" h="1173556">
                <a:moveTo>
                  <a:pt x="0" y="0"/>
                </a:moveTo>
                <a:lnTo>
                  <a:pt x="1173555" y="0"/>
                </a:lnTo>
                <a:lnTo>
                  <a:pt x="1173555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0B44CD-EF10-5543-63CD-E02C17AEB5EC}"/>
              </a:ext>
            </a:extLst>
          </p:cNvPr>
          <p:cNvSpPr/>
          <p:nvPr/>
        </p:nvSpPr>
        <p:spPr>
          <a:xfrm>
            <a:off x="2241120" y="3015138"/>
            <a:ext cx="1003525" cy="4791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Freeform 19">
            <a:extLst>
              <a:ext uri="{FF2B5EF4-FFF2-40B4-BE49-F238E27FC236}">
                <a16:creationId xmlns:a16="http://schemas.microsoft.com/office/drawing/2014/main" id="{4691FCCD-1CFD-939F-1F28-39768EDF7F8D}"/>
              </a:ext>
            </a:extLst>
          </p:cNvPr>
          <p:cNvSpPr/>
          <p:nvPr/>
        </p:nvSpPr>
        <p:spPr>
          <a:xfrm>
            <a:off x="6566440" y="3645617"/>
            <a:ext cx="911556" cy="1144648"/>
          </a:xfrm>
          <a:custGeom>
            <a:avLst/>
            <a:gdLst/>
            <a:ahLst/>
            <a:cxnLst/>
            <a:rect l="l" t="t" r="r" b="b"/>
            <a:pathLst>
              <a:path w="911556" h="1144648">
                <a:moveTo>
                  <a:pt x="0" y="0"/>
                </a:moveTo>
                <a:lnTo>
                  <a:pt x="911556" y="0"/>
                </a:lnTo>
                <a:lnTo>
                  <a:pt x="911556" y="1144648"/>
                </a:lnTo>
                <a:lnTo>
                  <a:pt x="0" y="1144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545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7C99E94-651D-FAE4-63FD-8CA14CCD11AC}"/>
                  </a:ext>
                </a:extLst>
              </p:cNvPr>
              <p:cNvSpPr txBox="1"/>
              <p:nvPr/>
            </p:nvSpPr>
            <p:spPr>
              <a:xfrm>
                <a:off x="2353668" y="2477315"/>
                <a:ext cx="1358066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200" dirty="0"/>
                  <a:t>In general, a general linear process,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dirty="0"/>
                  <a:t>} can be represented as a weighted linear combination of </a:t>
                </a:r>
                <a:r>
                  <a:rPr lang="en-US" altLang="zh-TW" sz="3200" dirty="0">
                    <a:solidFill>
                      <a:srgbClr val="FF0000"/>
                    </a:solidFill>
                  </a:rPr>
                  <a:t>present</a:t>
                </a:r>
                <a:r>
                  <a:rPr lang="en-US" altLang="zh-TW" sz="3200" dirty="0"/>
                  <a:t> and </a:t>
                </a:r>
                <a:r>
                  <a:rPr lang="en-US" altLang="zh-TW" sz="3200" dirty="0">
                    <a:solidFill>
                      <a:srgbClr val="FF0000"/>
                    </a:solidFill>
                  </a:rPr>
                  <a:t>past</a:t>
                </a:r>
                <a:r>
                  <a:rPr lang="en-US" altLang="zh-TW" sz="3200" dirty="0"/>
                  <a:t> white noise terms as follows: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b="1" i="1" smtClean="0"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b="1" i="1" smtClean="0"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7C99E94-651D-FAE4-63FD-8CA14CCD1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668" y="2477315"/>
                <a:ext cx="13580664" cy="1569660"/>
              </a:xfrm>
              <a:prstGeom prst="rect">
                <a:avLst/>
              </a:prstGeom>
              <a:blipFill>
                <a:blip r:embed="rId4"/>
                <a:stretch>
                  <a:fillRect l="-1122" t="-4651" r="-4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FCF520-52E1-3351-F8B1-5B3410DF4906}"/>
                  </a:ext>
                </a:extLst>
              </p:cNvPr>
              <p:cNvSpPr txBox="1"/>
              <p:nvPr/>
            </p:nvSpPr>
            <p:spPr>
              <a:xfrm>
                <a:off x="5022263" y="5568656"/>
                <a:ext cx="8243474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zh-TW" altLang="en-US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3200" b="1" i="1" smtClean="0">
                                  <a:latin typeface="Cambria Math" panose="02040503050406030204" pitchFamily="18" charset="0"/>
                                </a:rPr>
                                <m:t>𝝋</m:t>
                              </m:r>
                            </m:e>
                            <m:sub>
                              <m: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TW" sz="3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altLang="zh-TW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&lt;∞</m:t>
                          </m:r>
                        </m:e>
                      </m:nary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sz="3200" dirty="0"/>
                        <m:t>}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is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said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to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be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stationary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6FCF520-52E1-3351-F8B1-5B3410DF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263" y="5568656"/>
                <a:ext cx="8243474" cy="13427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9">
            <a:extLst>
              <a:ext uri="{FF2B5EF4-FFF2-40B4-BE49-F238E27FC236}">
                <a16:creationId xmlns:a16="http://schemas.microsoft.com/office/drawing/2014/main" id="{400DDB3B-6DB8-74B6-13C1-F5206ABEF10B}"/>
              </a:ext>
            </a:extLst>
          </p:cNvPr>
          <p:cNvSpPr/>
          <p:nvPr/>
        </p:nvSpPr>
        <p:spPr>
          <a:xfrm>
            <a:off x="13765291" y="5813198"/>
            <a:ext cx="1173556" cy="853656"/>
          </a:xfrm>
          <a:custGeom>
            <a:avLst/>
            <a:gdLst/>
            <a:ahLst/>
            <a:cxnLst/>
            <a:rect l="l" t="t" r="r" b="b"/>
            <a:pathLst>
              <a:path w="1173556" h="853656">
                <a:moveTo>
                  <a:pt x="0" y="0"/>
                </a:moveTo>
                <a:lnTo>
                  <a:pt x="1173556" y="0"/>
                </a:lnTo>
                <a:lnTo>
                  <a:pt x="1173556" y="853656"/>
                </a:lnTo>
                <a:lnTo>
                  <a:pt x="0" y="853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025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382097" y="1898424"/>
            <a:ext cx="9523805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3. ARMA(</a:t>
            </a:r>
            <a:r>
              <a:rPr lang="en-US" sz="8800" dirty="0" err="1">
                <a:solidFill>
                  <a:srgbClr val="000000"/>
                </a:solidFill>
                <a:ea typeface="思源宋体 Bold"/>
              </a:rPr>
              <a:t>p,q</a:t>
            </a:r>
            <a:r>
              <a:rPr lang="en-US" sz="8800" dirty="0">
                <a:solidFill>
                  <a:srgbClr val="000000"/>
                </a:solidFill>
                <a:ea typeface="思源宋体 Bold"/>
              </a:rPr>
              <a:t>) model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01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D0166F6-41F8-8508-0BCE-A8437EE57EA5}"/>
              </a:ext>
            </a:extLst>
          </p:cNvPr>
          <p:cNvSpPr txBox="1"/>
          <p:nvPr/>
        </p:nvSpPr>
        <p:spPr>
          <a:xfrm>
            <a:off x="10134599" y="3694274"/>
            <a:ext cx="2018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ARMA(</a:t>
            </a:r>
            <a:r>
              <a:rPr lang="en-US" altLang="zh-TW" sz="3200" dirty="0" err="1"/>
              <a:t>p,q</a:t>
            </a:r>
            <a:r>
              <a:rPr lang="en-US" altLang="zh-TW" sz="3200" dirty="0"/>
              <a:t>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F60FA95-8CA3-141E-B942-7E08749792EB}"/>
              </a:ext>
            </a:extLst>
          </p:cNvPr>
          <p:cNvSpPr txBox="1"/>
          <p:nvPr/>
        </p:nvSpPr>
        <p:spPr>
          <a:xfrm>
            <a:off x="0" y="2037997"/>
            <a:ext cx="6969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MA(q): Moving average model with lag q</a:t>
            </a:r>
            <a:endParaRPr lang="zh-TW" altLang="en-US" sz="3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E9C5D79-8635-02E0-1868-17E4DE633D13}"/>
              </a:ext>
            </a:extLst>
          </p:cNvPr>
          <p:cNvSpPr txBox="1"/>
          <p:nvPr/>
        </p:nvSpPr>
        <p:spPr>
          <a:xfrm>
            <a:off x="0" y="5543535"/>
            <a:ext cx="6670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AR(p): Autoregressive model with lag p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2289C12-24D3-249B-8311-553753C15C5D}"/>
                  </a:ext>
                </a:extLst>
              </p:cNvPr>
              <p:cNvSpPr txBox="1"/>
              <p:nvPr/>
            </p:nvSpPr>
            <p:spPr>
              <a:xfrm>
                <a:off x="0" y="2871189"/>
                <a:ext cx="7664470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zero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mean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2289C12-24D3-249B-8311-553753C15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71189"/>
                <a:ext cx="7664470" cy="530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5803451-FF85-53A3-745B-F35D9AC731A9}"/>
                  </a:ext>
                </a:extLst>
              </p:cNvPr>
              <p:cNvSpPr txBox="1"/>
              <p:nvPr/>
            </p:nvSpPr>
            <p:spPr>
              <a:xfrm>
                <a:off x="0" y="3667820"/>
                <a:ext cx="7849649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mean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32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5803451-FF85-53A3-745B-F35D9AC73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67820"/>
                <a:ext cx="7849649" cy="5304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AFF331E-DCA7-0FDC-3ED0-731489A17F1A}"/>
                  </a:ext>
                </a:extLst>
              </p:cNvPr>
              <p:cNvSpPr txBox="1"/>
              <p:nvPr/>
            </p:nvSpPr>
            <p:spPr>
              <a:xfrm>
                <a:off x="0" y="6128310"/>
                <a:ext cx="7717113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zero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mean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AFF331E-DCA7-0FDC-3ED0-731489A17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28310"/>
                <a:ext cx="7717113" cy="5304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3949B1D-F9ED-C4EC-A385-784230B60B32}"/>
                  </a:ext>
                </a:extLst>
              </p:cNvPr>
              <p:cNvSpPr txBox="1"/>
              <p:nvPr/>
            </p:nvSpPr>
            <p:spPr>
              <a:xfrm>
                <a:off x="0" y="6951099"/>
                <a:ext cx="9915728" cy="5304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mean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3949B1D-F9ED-C4EC-A385-784230B60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951099"/>
                <a:ext cx="9915728" cy="5304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FC7AD8BF-2552-1E29-9E95-EBDF3CF3CFD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6969793" y="2330385"/>
            <a:ext cx="3164806" cy="16562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CF744C02-6021-A474-5F94-B79A956F5E46}"/>
              </a:ext>
            </a:extLst>
          </p:cNvPr>
          <p:cNvCxnSpPr>
            <a:cxnSpLocks/>
            <a:stCxn id="15" idx="3"/>
            <a:endCxn id="3" idx="1"/>
          </p:cNvCxnSpPr>
          <p:nvPr/>
        </p:nvCxnSpPr>
        <p:spPr>
          <a:xfrm flipV="1">
            <a:off x="6670801" y="3986662"/>
            <a:ext cx="3463798" cy="1849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F1ACFF9-A609-6CBE-493B-AD7FB3A5F5CF}"/>
                  </a:ext>
                </a:extLst>
              </p:cNvPr>
              <p:cNvSpPr txBox="1"/>
              <p:nvPr/>
            </p:nvSpPr>
            <p:spPr>
              <a:xfrm>
                <a:off x="10134599" y="4495218"/>
                <a:ext cx="8153401" cy="10608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TW" sz="3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zero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mean</m:t>
                      </m:r>
                      <m:r>
                        <a:rPr lang="en-US" altLang="zh-TW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F1ACFF9-A609-6CBE-493B-AD7FB3A5F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599" y="4495218"/>
                <a:ext cx="8153401" cy="10608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1A64AEB-9E4E-7590-FF09-6F28958DFD88}"/>
                  </a:ext>
                </a:extLst>
              </p:cNvPr>
              <p:cNvSpPr txBox="1"/>
              <p:nvPr/>
            </p:nvSpPr>
            <p:spPr>
              <a:xfrm>
                <a:off x="10134600" y="5988359"/>
                <a:ext cx="8153400" cy="10608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32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</m:oMath>
                  </m:oMathPara>
                </a14:m>
                <a:endParaRPr lang="en-US" altLang="zh-TW" sz="3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3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mean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TW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A1A64AEB-9E4E-7590-FF09-6F28958DF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4600" y="5988359"/>
                <a:ext cx="8153400" cy="106080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2905D187-5555-24B8-F4FC-9DBCDC74E5F5}"/>
                  </a:ext>
                </a:extLst>
              </p:cNvPr>
              <p:cNvSpPr txBox="1"/>
              <p:nvPr/>
            </p:nvSpPr>
            <p:spPr>
              <a:xfrm>
                <a:off x="4308734" y="8596677"/>
                <a:ext cx="9670532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2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3200" b="0" dirty="0">
                    <a:latin typeface="Cambria Math" panose="02040503050406030204" pitchFamily="18" charset="0"/>
                  </a:rPr>
                  <a:t> ~ </a:t>
                </a:r>
                <a:r>
                  <a:rPr lang="en-US" altLang="zh-TW" sz="3200" dirty="0"/>
                  <a:t>ARMA(</a:t>
                </a:r>
                <a:r>
                  <a:rPr lang="en-US" altLang="zh-TW" sz="3200" dirty="0" err="1"/>
                  <a:t>p,q</a:t>
                </a:r>
                <a:r>
                  <a:rPr lang="en-US" altLang="zh-TW" sz="3200" dirty="0"/>
                  <a:t>)</a:t>
                </a:r>
              </a:p>
              <a:p>
                <a:endParaRPr lang="en-US" altLang="zh-TW" sz="32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sz="3200" dirty="0"/>
                        <m:t>}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is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zh-TW" sz="3200" b="0" i="0" dirty="0" smtClean="0"/>
                        <m:t>stationary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2905D187-5555-24B8-F4FC-9DBCDC74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734" y="8596677"/>
                <a:ext cx="9670532" cy="1477328"/>
              </a:xfrm>
              <a:prstGeom prst="rect">
                <a:avLst/>
              </a:prstGeom>
              <a:blipFill>
                <a:blip r:embed="rId10"/>
                <a:stretch>
                  <a:fillRect t="-9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 25">
            <a:extLst>
              <a:ext uri="{FF2B5EF4-FFF2-40B4-BE49-F238E27FC236}">
                <a16:creationId xmlns:a16="http://schemas.microsoft.com/office/drawing/2014/main" id="{0AA47852-85CE-031B-BCA4-8177117FCF8F}"/>
              </a:ext>
            </a:extLst>
          </p:cNvPr>
          <p:cNvSpPr/>
          <p:nvPr/>
        </p:nvSpPr>
        <p:spPr>
          <a:xfrm>
            <a:off x="10134599" y="2377786"/>
            <a:ext cx="940496" cy="1000528"/>
          </a:xfrm>
          <a:custGeom>
            <a:avLst/>
            <a:gdLst/>
            <a:ahLst/>
            <a:cxnLst/>
            <a:rect l="l" t="t" r="r" b="b"/>
            <a:pathLst>
              <a:path w="940496" h="1000528">
                <a:moveTo>
                  <a:pt x="0" y="0"/>
                </a:moveTo>
                <a:lnTo>
                  <a:pt x="940496" y="0"/>
                </a:lnTo>
                <a:lnTo>
                  <a:pt x="940496" y="1000528"/>
                </a:lnTo>
                <a:lnTo>
                  <a:pt x="0" y="10005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8723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313358" y="1898424"/>
            <a:ext cx="9661284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4. Analysis flowchart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40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2051" name="群組 2050">
            <a:extLst>
              <a:ext uri="{FF2B5EF4-FFF2-40B4-BE49-F238E27FC236}">
                <a16:creationId xmlns:a16="http://schemas.microsoft.com/office/drawing/2014/main" id="{B2D4B2A5-072C-88DE-E714-D66D673ACCAD}"/>
              </a:ext>
            </a:extLst>
          </p:cNvPr>
          <p:cNvGrpSpPr/>
          <p:nvPr/>
        </p:nvGrpSpPr>
        <p:grpSpPr>
          <a:xfrm>
            <a:off x="6890253" y="1335106"/>
            <a:ext cx="2420596" cy="8877319"/>
            <a:chOff x="7606849" y="1397165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7606849" y="1397165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7606849" y="2389081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7606849" y="4048750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7606849" y="5708419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7606849" y="7368088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7606849" y="9027757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224" y="1976139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8792224" y="352970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8797140" y="5189376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224" y="6849045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8792224" y="8508714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2" name="Freeform 12">
            <a:extLst>
              <a:ext uri="{FF2B5EF4-FFF2-40B4-BE49-F238E27FC236}">
                <a16:creationId xmlns:a16="http://schemas.microsoft.com/office/drawing/2014/main" id="{4F34C6EA-E6D8-29BB-F558-13B02A49CD48}"/>
              </a:ext>
            </a:extLst>
          </p:cNvPr>
          <p:cNvSpPr/>
          <p:nvPr/>
        </p:nvSpPr>
        <p:spPr>
          <a:xfrm>
            <a:off x="9625595" y="8958373"/>
            <a:ext cx="1173556" cy="1147951"/>
          </a:xfrm>
          <a:custGeom>
            <a:avLst/>
            <a:gdLst/>
            <a:ahLst/>
            <a:cxnLst/>
            <a:rect l="l" t="t" r="r" b="b"/>
            <a:pathLst>
              <a:path w="1173556" h="1147951">
                <a:moveTo>
                  <a:pt x="0" y="0"/>
                </a:moveTo>
                <a:lnTo>
                  <a:pt x="1173556" y="0"/>
                </a:lnTo>
                <a:lnTo>
                  <a:pt x="1173556" y="1147950"/>
                </a:lnTo>
                <a:lnTo>
                  <a:pt x="0" y="1147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53" name="Freeform 21">
            <a:extLst>
              <a:ext uri="{FF2B5EF4-FFF2-40B4-BE49-F238E27FC236}">
                <a16:creationId xmlns:a16="http://schemas.microsoft.com/office/drawing/2014/main" id="{544071A9-FF78-DFF6-004F-6684ECEA5449}"/>
              </a:ext>
            </a:extLst>
          </p:cNvPr>
          <p:cNvSpPr/>
          <p:nvPr/>
        </p:nvSpPr>
        <p:spPr>
          <a:xfrm>
            <a:off x="9625595" y="2451940"/>
            <a:ext cx="1000528" cy="996890"/>
          </a:xfrm>
          <a:custGeom>
            <a:avLst/>
            <a:gdLst/>
            <a:ahLst/>
            <a:cxnLst/>
            <a:rect l="l" t="t" r="r" b="b"/>
            <a:pathLst>
              <a:path w="1000528" h="996890">
                <a:moveTo>
                  <a:pt x="0" y="0"/>
                </a:moveTo>
                <a:lnTo>
                  <a:pt x="1000528" y="0"/>
                </a:lnTo>
                <a:lnTo>
                  <a:pt x="1000528" y="996890"/>
                </a:lnTo>
                <a:lnTo>
                  <a:pt x="0" y="996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54" name="Freeform 21">
            <a:extLst>
              <a:ext uri="{FF2B5EF4-FFF2-40B4-BE49-F238E27FC236}">
                <a16:creationId xmlns:a16="http://schemas.microsoft.com/office/drawing/2014/main" id="{EAA71044-1541-895A-32E6-3121224071E6}"/>
              </a:ext>
            </a:extLst>
          </p:cNvPr>
          <p:cNvSpPr/>
          <p:nvPr/>
        </p:nvSpPr>
        <p:spPr>
          <a:xfrm>
            <a:off x="9625595" y="4111609"/>
            <a:ext cx="1000528" cy="996890"/>
          </a:xfrm>
          <a:custGeom>
            <a:avLst/>
            <a:gdLst/>
            <a:ahLst/>
            <a:cxnLst/>
            <a:rect l="l" t="t" r="r" b="b"/>
            <a:pathLst>
              <a:path w="1000528" h="996890">
                <a:moveTo>
                  <a:pt x="0" y="0"/>
                </a:moveTo>
                <a:lnTo>
                  <a:pt x="1000528" y="0"/>
                </a:lnTo>
                <a:lnTo>
                  <a:pt x="1000528" y="996890"/>
                </a:lnTo>
                <a:lnTo>
                  <a:pt x="0" y="996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55" name="Freeform 21">
            <a:extLst>
              <a:ext uri="{FF2B5EF4-FFF2-40B4-BE49-F238E27FC236}">
                <a16:creationId xmlns:a16="http://schemas.microsoft.com/office/drawing/2014/main" id="{13B3F5F8-290D-5874-9959-3A84EBB0A7E3}"/>
              </a:ext>
            </a:extLst>
          </p:cNvPr>
          <p:cNvSpPr/>
          <p:nvPr/>
        </p:nvSpPr>
        <p:spPr>
          <a:xfrm>
            <a:off x="9625595" y="5808006"/>
            <a:ext cx="1000528" cy="996890"/>
          </a:xfrm>
          <a:custGeom>
            <a:avLst/>
            <a:gdLst/>
            <a:ahLst/>
            <a:cxnLst/>
            <a:rect l="l" t="t" r="r" b="b"/>
            <a:pathLst>
              <a:path w="1000528" h="996890">
                <a:moveTo>
                  <a:pt x="0" y="0"/>
                </a:moveTo>
                <a:lnTo>
                  <a:pt x="1000528" y="0"/>
                </a:lnTo>
                <a:lnTo>
                  <a:pt x="1000528" y="996890"/>
                </a:lnTo>
                <a:lnTo>
                  <a:pt x="0" y="996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dirty="0"/>
          </a:p>
        </p:txBody>
      </p:sp>
      <p:sp>
        <p:nvSpPr>
          <p:cNvPr id="2056" name="Freeform 21">
            <a:extLst>
              <a:ext uri="{FF2B5EF4-FFF2-40B4-BE49-F238E27FC236}">
                <a16:creationId xmlns:a16="http://schemas.microsoft.com/office/drawing/2014/main" id="{2D6A53AD-8786-E04D-DEE2-FBF62443021E}"/>
              </a:ext>
            </a:extLst>
          </p:cNvPr>
          <p:cNvSpPr/>
          <p:nvPr/>
        </p:nvSpPr>
        <p:spPr>
          <a:xfrm>
            <a:off x="9625595" y="7430947"/>
            <a:ext cx="1000528" cy="996890"/>
          </a:xfrm>
          <a:custGeom>
            <a:avLst/>
            <a:gdLst/>
            <a:ahLst/>
            <a:cxnLst/>
            <a:rect l="l" t="t" r="r" b="b"/>
            <a:pathLst>
              <a:path w="1000528" h="996890">
                <a:moveTo>
                  <a:pt x="0" y="0"/>
                </a:moveTo>
                <a:lnTo>
                  <a:pt x="1000528" y="0"/>
                </a:lnTo>
                <a:lnTo>
                  <a:pt x="1000528" y="996890"/>
                </a:lnTo>
                <a:lnTo>
                  <a:pt x="0" y="996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826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382097" y="1898424"/>
            <a:ext cx="9523805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5. Test for stationary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11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6" name="AutoShape 55">
            <a:extLst>
              <a:ext uri="{FF2B5EF4-FFF2-40B4-BE49-F238E27FC236}">
                <a16:creationId xmlns:a16="http://schemas.microsoft.com/office/drawing/2014/main" id="{2A4F8AF4-6D89-CE33-9CD3-A883AB922C1E}"/>
              </a:ext>
            </a:extLst>
          </p:cNvPr>
          <p:cNvSpPr/>
          <p:nvPr/>
        </p:nvSpPr>
        <p:spPr>
          <a:xfrm flipV="1">
            <a:off x="3241002" y="2903721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grpSp>
        <p:nvGrpSpPr>
          <p:cNvPr id="2065" name="Group 18">
            <a:extLst>
              <a:ext uri="{FF2B5EF4-FFF2-40B4-BE49-F238E27FC236}">
                <a16:creationId xmlns:a16="http://schemas.microsoft.com/office/drawing/2014/main" id="{45FB1AEC-A0AA-69F4-CDCB-7FB70BFD0BEB}"/>
              </a:ext>
            </a:extLst>
          </p:cNvPr>
          <p:cNvGrpSpPr/>
          <p:nvPr/>
        </p:nvGrpSpPr>
        <p:grpSpPr>
          <a:xfrm>
            <a:off x="4371104" y="4563391"/>
            <a:ext cx="8445244" cy="2126009"/>
            <a:chOff x="-1099014" y="-1619613"/>
            <a:chExt cx="11306778" cy="4169090"/>
          </a:xfrm>
        </p:grpSpPr>
        <p:grpSp>
          <p:nvGrpSpPr>
            <p:cNvPr id="2066" name="Group 19">
              <a:extLst>
                <a:ext uri="{FF2B5EF4-FFF2-40B4-BE49-F238E27FC236}">
                  <a16:creationId xmlns:a16="http://schemas.microsoft.com/office/drawing/2014/main" id="{982FCC94-A019-F9FF-4CCA-B73BCAADF60B}"/>
                </a:ext>
              </a:extLst>
            </p:cNvPr>
            <p:cNvGrpSpPr/>
            <p:nvPr/>
          </p:nvGrpSpPr>
          <p:grpSpPr>
            <a:xfrm>
              <a:off x="-1099014" y="-1619613"/>
              <a:ext cx="11306778" cy="4169090"/>
              <a:chOff x="-621834" y="-916395"/>
              <a:chExt cx="6397497" cy="2358917"/>
            </a:xfrm>
          </p:grpSpPr>
          <p:sp>
            <p:nvSpPr>
              <p:cNvPr id="2068" name="Freeform 20">
                <a:extLst>
                  <a:ext uri="{FF2B5EF4-FFF2-40B4-BE49-F238E27FC236}">
                    <a16:creationId xmlns:a16="http://schemas.microsoft.com/office/drawing/2014/main" id="{BD4B3331-6807-CE08-8063-B1F597BE7ECE}"/>
                  </a:ext>
                </a:extLst>
              </p:cNvPr>
              <p:cNvSpPr/>
              <p:nvPr/>
            </p:nvSpPr>
            <p:spPr>
              <a:xfrm>
                <a:off x="-621834" y="-916395"/>
                <a:ext cx="6397497" cy="2358916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sz="2800" dirty="0"/>
              </a:p>
            </p:txBody>
          </p:sp>
          <p:sp>
            <p:nvSpPr>
              <p:cNvPr id="2069" name="TextBox 21">
                <a:extLst>
                  <a:ext uri="{FF2B5EF4-FFF2-40B4-BE49-F238E27FC236}">
                    <a16:creationId xmlns:a16="http://schemas.microsoft.com/office/drawing/2014/main" id="{7659344A-EFEE-D138-E061-C16C01AE3FD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7" name="TextBox 23">
                  <a:extLst>
                    <a:ext uri="{FF2B5EF4-FFF2-40B4-BE49-F238E27FC236}">
                      <a16:creationId xmlns:a16="http://schemas.microsoft.com/office/drawing/2014/main" id="{4702DFE2-6B96-D310-470B-9CB1D6B0514D}"/>
                    </a:ext>
                  </a:extLst>
                </p:cNvPr>
                <p:cNvSpPr txBox="1"/>
                <p:nvPr/>
              </p:nvSpPr>
              <p:spPr>
                <a:xfrm>
                  <a:off x="-830048" y="-1044036"/>
                  <a:ext cx="10804041" cy="3218922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3249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altLang="zh-TW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zh-TW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TW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altLang="zh-TW" sz="2800" dirty="0">
                    <a:solidFill>
                      <a:srgbClr val="000000"/>
                    </a:solidFill>
                    <a:ea typeface="圓體 Bold"/>
                  </a:endParaRPr>
                </a:p>
                <a:p>
                  <a:pPr algn="ctr">
                    <a:lnSpc>
                      <a:spcPts val="3249"/>
                    </a:lnSpc>
                  </a:pPr>
                  <a:endParaRPr lang="en-US" altLang="zh-TW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ts val="3249"/>
                    </a:lnSpc>
                  </a:pPr>
                  <a:endParaRPr lang="en-US" altLang="zh-TW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ts val="3249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</m:t>
                        </m:r>
                        <m:d>
                          <m:dPr>
                            <m:ctrlP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𝐶𝑜𝑣</m:t>
                            </m:r>
                            <m:d>
                              <m:d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TW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altLang="zh-TW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TW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rgbClr val="000000"/>
                    </a:solidFill>
                    <a:ea typeface="圓體 Bold"/>
                  </a:endParaRPr>
                </a:p>
              </p:txBody>
            </p:sp>
          </mc:Choice>
          <mc:Fallback xmlns="">
            <p:sp>
              <p:nvSpPr>
                <p:cNvPr id="2067" name="TextBox 23">
                  <a:extLst>
                    <a:ext uri="{FF2B5EF4-FFF2-40B4-BE49-F238E27FC236}">
                      <a16:creationId xmlns:a16="http://schemas.microsoft.com/office/drawing/2014/main" id="{4702DFE2-6B96-D310-470B-9CB1D6B051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30048" y="-1044036"/>
                  <a:ext cx="10804041" cy="3218922"/>
                </a:xfrm>
                <a:prstGeom prst="rect">
                  <a:avLst/>
                </a:prstGeom>
                <a:blipFill>
                  <a:blip r:embed="rId4"/>
                  <a:stretch>
                    <a:fillRect b="-1598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70" name="文字方塊 2069">
            <a:extLst>
              <a:ext uri="{FF2B5EF4-FFF2-40B4-BE49-F238E27FC236}">
                <a16:creationId xmlns:a16="http://schemas.microsoft.com/office/drawing/2014/main" id="{36272B39-5296-CC0A-6AEE-602F72384C08}"/>
              </a:ext>
            </a:extLst>
          </p:cNvPr>
          <p:cNvSpPr txBox="1"/>
          <p:nvPr/>
        </p:nvSpPr>
        <p:spPr>
          <a:xfrm>
            <a:off x="4263309" y="3902898"/>
            <a:ext cx="2789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Theoretical ACF</a:t>
            </a:r>
            <a:endParaRPr lang="zh-TW" altLang="en-US" sz="3200" dirty="0"/>
          </a:p>
        </p:txBody>
      </p:sp>
      <p:grpSp>
        <p:nvGrpSpPr>
          <p:cNvPr id="2072" name="Group 19">
            <a:extLst>
              <a:ext uri="{FF2B5EF4-FFF2-40B4-BE49-F238E27FC236}">
                <a16:creationId xmlns:a16="http://schemas.microsoft.com/office/drawing/2014/main" id="{F01994EC-567F-10BA-3D9D-032A46F35B3B}"/>
              </a:ext>
            </a:extLst>
          </p:cNvPr>
          <p:cNvGrpSpPr/>
          <p:nvPr/>
        </p:nvGrpSpPr>
        <p:grpSpPr>
          <a:xfrm>
            <a:off x="4371104" y="7549959"/>
            <a:ext cx="8445244" cy="2578178"/>
            <a:chOff x="-621834" y="-916395"/>
            <a:chExt cx="6397497" cy="2358917"/>
          </a:xfrm>
        </p:grpSpPr>
        <p:sp>
          <p:nvSpPr>
            <p:cNvPr id="2074" name="Freeform 20">
              <a:extLst>
                <a:ext uri="{FF2B5EF4-FFF2-40B4-BE49-F238E27FC236}">
                  <a16:creationId xmlns:a16="http://schemas.microsoft.com/office/drawing/2014/main" id="{CB1637C9-5CF2-2401-3D13-4006807AD202}"/>
                </a:ext>
              </a:extLst>
            </p:cNvPr>
            <p:cNvSpPr/>
            <p:nvPr/>
          </p:nvSpPr>
          <p:spPr>
            <a:xfrm>
              <a:off x="-621834" y="-916395"/>
              <a:ext cx="6397497" cy="2358916"/>
            </a:xfrm>
            <a:custGeom>
              <a:avLst/>
              <a:gdLst/>
              <a:ahLst/>
              <a:cxnLst/>
              <a:rect l="l" t="t" r="r" b="b"/>
              <a:pathLst>
                <a:path w="5643393" h="1442522">
                  <a:moveTo>
                    <a:pt x="0" y="0"/>
                  </a:moveTo>
                  <a:lnTo>
                    <a:pt x="5643393" y="0"/>
                  </a:lnTo>
                  <a:lnTo>
                    <a:pt x="5643393" y="1442522"/>
                  </a:lnTo>
                  <a:lnTo>
                    <a:pt x="0" y="144252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 sz="2800" dirty="0"/>
            </a:p>
          </p:txBody>
        </p:sp>
        <p:sp>
          <p:nvSpPr>
            <p:cNvPr id="2075" name="TextBox 21">
              <a:extLst>
                <a:ext uri="{FF2B5EF4-FFF2-40B4-BE49-F238E27FC236}">
                  <a16:creationId xmlns:a16="http://schemas.microsoft.com/office/drawing/2014/main" id="{A2C1E260-7DA5-CC97-0CDE-FF5E40D2A051}"/>
                </a:ext>
              </a:extLst>
            </p:cNvPr>
            <p:cNvSpPr txBox="1"/>
            <p:nvPr/>
          </p:nvSpPr>
          <p:spPr>
            <a:xfrm>
              <a:off x="0" y="-28575"/>
              <a:ext cx="5643393" cy="147109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2520"/>
                </a:lnSpc>
              </a:pPr>
              <a:endParaRPr sz="2800"/>
            </a:p>
          </p:txBody>
        </p:sp>
      </p:grpSp>
      <p:sp>
        <p:nvSpPr>
          <p:cNvPr id="2076" name="文字方塊 2075">
            <a:extLst>
              <a:ext uri="{FF2B5EF4-FFF2-40B4-BE49-F238E27FC236}">
                <a16:creationId xmlns:a16="http://schemas.microsoft.com/office/drawing/2014/main" id="{878B1DF4-50E1-B653-5457-CE30DD684426}"/>
              </a:ext>
            </a:extLst>
          </p:cNvPr>
          <p:cNvSpPr txBox="1"/>
          <p:nvPr/>
        </p:nvSpPr>
        <p:spPr>
          <a:xfrm>
            <a:off x="4263309" y="6889466"/>
            <a:ext cx="2150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Sample ACF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7" name="TextBox 23">
                <a:extLst>
                  <a:ext uri="{FF2B5EF4-FFF2-40B4-BE49-F238E27FC236}">
                    <a16:creationId xmlns:a16="http://schemas.microsoft.com/office/drawing/2014/main" id="{F89CBF33-831A-DEE3-6214-E8667AD52E65}"/>
                  </a:ext>
                </a:extLst>
              </p:cNvPr>
              <p:cNvSpPr txBox="1"/>
              <p:nvPr/>
            </p:nvSpPr>
            <p:spPr>
              <a:xfrm>
                <a:off x="4572000" y="7792225"/>
                <a:ext cx="8069740" cy="20518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249"/>
                  </a:lnSpc>
                </a:pPr>
                <a:endParaRPr lang="en-US" altLang="zh-TW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ts val="324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TW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TW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altLang="zh-TW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800" dirty="0">
                  <a:solidFill>
                    <a:srgbClr val="000000"/>
                  </a:solidFill>
                  <a:ea typeface="圓體 Bold"/>
                </a:endParaRPr>
              </a:p>
              <a:p>
                <a:pPr algn="ctr">
                  <a:lnSpc>
                    <a:spcPts val="3249"/>
                  </a:lnSpc>
                </a:pPr>
                <a:endParaRPr lang="en-US" altLang="zh-TW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ts val="3249"/>
                  </a:lnSpc>
                </a:pPr>
                <a:endParaRPr lang="en-US" altLang="zh-TW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ts val="3249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TW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ea typeface="圓體 Bold"/>
                </a:endParaRPr>
              </a:p>
            </p:txBody>
          </p:sp>
        </mc:Choice>
        <mc:Fallback xmlns="">
          <p:sp>
            <p:nvSpPr>
              <p:cNvPr id="2077" name="TextBox 23">
                <a:extLst>
                  <a:ext uri="{FF2B5EF4-FFF2-40B4-BE49-F238E27FC236}">
                    <a16:creationId xmlns:a16="http://schemas.microsoft.com/office/drawing/2014/main" id="{F89CBF33-831A-DEE3-6214-E8667AD52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7792225"/>
                <a:ext cx="8069740" cy="2051844"/>
              </a:xfrm>
              <a:prstGeom prst="rect">
                <a:avLst/>
              </a:prstGeom>
              <a:blipFill>
                <a:blip r:embed="rId5"/>
                <a:stretch>
                  <a:fillRect t="-76261" b="-545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80" name="Group 5">
            <a:extLst>
              <a:ext uri="{FF2B5EF4-FFF2-40B4-BE49-F238E27FC236}">
                <a16:creationId xmlns:a16="http://schemas.microsoft.com/office/drawing/2014/main" id="{F3534E75-C82C-C7FA-38F3-EBADD6843997}"/>
              </a:ext>
            </a:extLst>
          </p:cNvPr>
          <p:cNvGrpSpPr/>
          <p:nvPr/>
        </p:nvGrpSpPr>
        <p:grpSpPr>
          <a:xfrm>
            <a:off x="4304820" y="1558133"/>
            <a:ext cx="6508180" cy="1841858"/>
            <a:chOff x="0" y="-57150"/>
            <a:chExt cx="812800" cy="403269"/>
          </a:xfrm>
        </p:grpSpPr>
        <p:sp>
          <p:nvSpPr>
            <p:cNvPr id="2081" name="Freeform 6">
              <a:extLst>
                <a:ext uri="{FF2B5EF4-FFF2-40B4-BE49-F238E27FC236}">
                  <a16:creationId xmlns:a16="http://schemas.microsoft.com/office/drawing/2014/main" id="{DBC4D26B-486A-E3C8-314E-412CC5B077FC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82" name="TextBox 7">
              <a:extLst>
                <a:ext uri="{FF2B5EF4-FFF2-40B4-BE49-F238E27FC236}">
                  <a16:creationId xmlns:a16="http://schemas.microsoft.com/office/drawing/2014/main" id="{6F4A90A6-1A5B-A887-A305-F70F58D75EB4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ADF-test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: Data is non-stationary)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KPSS-test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: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Data is stationary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</a:t>
              </a:r>
            </a:p>
          </p:txBody>
        </p:sp>
      </p:grpSp>
      <p:sp>
        <p:nvSpPr>
          <p:cNvPr id="2083" name="文字方塊 2082">
            <a:extLst>
              <a:ext uri="{FF2B5EF4-FFF2-40B4-BE49-F238E27FC236}">
                <a16:creationId xmlns:a16="http://schemas.microsoft.com/office/drawing/2014/main" id="{8C715BE5-5F78-DEED-51E7-5E89854555A4}"/>
              </a:ext>
            </a:extLst>
          </p:cNvPr>
          <p:cNvSpPr txBox="1"/>
          <p:nvPr/>
        </p:nvSpPr>
        <p:spPr>
          <a:xfrm>
            <a:off x="10854510" y="1593866"/>
            <a:ext cx="23156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 </a:t>
            </a:r>
          </a:p>
          <a:p>
            <a:r>
              <a:rPr lang="en-US" altLang="zh-TW" sz="2800" dirty="0" err="1"/>
              <a:t>adf.test</a:t>
            </a:r>
            <a:r>
              <a:rPr lang="en-US" altLang="zh-TW" sz="2800" dirty="0"/>
              <a:t>(data)</a:t>
            </a:r>
          </a:p>
          <a:p>
            <a:r>
              <a:rPr lang="en-US" altLang="zh-TW" sz="2800" dirty="0" err="1"/>
              <a:t>kpss.test</a:t>
            </a:r>
            <a:r>
              <a:rPr lang="en-US" altLang="zh-TW" sz="2800" dirty="0"/>
              <a:t>(data)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64796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6" name="AutoShape 55">
            <a:extLst>
              <a:ext uri="{FF2B5EF4-FFF2-40B4-BE49-F238E27FC236}">
                <a16:creationId xmlns:a16="http://schemas.microsoft.com/office/drawing/2014/main" id="{2A4F8AF4-6D89-CE33-9CD3-A883AB922C1E}"/>
              </a:ext>
            </a:extLst>
          </p:cNvPr>
          <p:cNvSpPr/>
          <p:nvPr/>
        </p:nvSpPr>
        <p:spPr>
          <a:xfrm flipV="1">
            <a:off x="3241002" y="2903721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6E278BF-469A-0B9E-DD65-3464CB5DC769}"/>
              </a:ext>
            </a:extLst>
          </p:cNvPr>
          <p:cNvSpPr txBox="1"/>
          <p:nvPr/>
        </p:nvSpPr>
        <p:spPr>
          <a:xfrm>
            <a:off x="4263309" y="3902898"/>
            <a:ext cx="169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ACF plot:</a:t>
            </a:r>
            <a:endParaRPr lang="zh-TW" altLang="en-US" sz="3200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402C442-73F2-7C96-3D53-E75C0C5CC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309" y="6085890"/>
            <a:ext cx="6919866" cy="4188594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7EC39368-77B1-CC87-5F8F-AD9FB656B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4395" y="6073373"/>
            <a:ext cx="6792273" cy="4201111"/>
          </a:xfrm>
          <a:prstGeom prst="rect">
            <a:avLst/>
          </a:prstGeom>
        </p:spPr>
      </p:pic>
      <p:sp>
        <p:nvSpPr>
          <p:cNvPr id="2048" name="文字方塊 2047">
            <a:extLst>
              <a:ext uri="{FF2B5EF4-FFF2-40B4-BE49-F238E27FC236}">
                <a16:creationId xmlns:a16="http://schemas.microsoft.com/office/drawing/2014/main" id="{EE702F7B-ACE8-D304-8FE5-CA13CB5EA23F}"/>
              </a:ext>
            </a:extLst>
          </p:cNvPr>
          <p:cNvSpPr txBox="1"/>
          <p:nvPr/>
        </p:nvSpPr>
        <p:spPr>
          <a:xfrm>
            <a:off x="6382265" y="5143500"/>
            <a:ext cx="2681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Non-stationary</a:t>
            </a:r>
            <a:endParaRPr lang="zh-TW" altLang="en-US" sz="3200" dirty="0"/>
          </a:p>
        </p:txBody>
      </p:sp>
      <p:sp>
        <p:nvSpPr>
          <p:cNvPr id="2050" name="文字方塊 2049">
            <a:extLst>
              <a:ext uri="{FF2B5EF4-FFF2-40B4-BE49-F238E27FC236}">
                <a16:creationId xmlns:a16="http://schemas.microsoft.com/office/drawing/2014/main" id="{87982A25-6CB8-D461-A18A-355E38AE9C25}"/>
              </a:ext>
            </a:extLst>
          </p:cNvPr>
          <p:cNvSpPr txBox="1"/>
          <p:nvPr/>
        </p:nvSpPr>
        <p:spPr>
          <a:xfrm>
            <a:off x="13803990" y="5188991"/>
            <a:ext cx="1893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Stationary</a:t>
            </a:r>
            <a:endParaRPr lang="zh-TW" altLang="en-US" sz="3200" dirty="0"/>
          </a:p>
        </p:txBody>
      </p:sp>
      <p:grpSp>
        <p:nvGrpSpPr>
          <p:cNvPr id="2051" name="Group 5">
            <a:extLst>
              <a:ext uri="{FF2B5EF4-FFF2-40B4-BE49-F238E27FC236}">
                <a16:creationId xmlns:a16="http://schemas.microsoft.com/office/drawing/2014/main" id="{4A6E2B6A-1268-8A8E-A7F7-005B988D47D3}"/>
              </a:ext>
            </a:extLst>
          </p:cNvPr>
          <p:cNvGrpSpPr/>
          <p:nvPr/>
        </p:nvGrpSpPr>
        <p:grpSpPr>
          <a:xfrm>
            <a:off x="4304820" y="1558133"/>
            <a:ext cx="6508180" cy="1841858"/>
            <a:chOff x="0" y="-57150"/>
            <a:chExt cx="812800" cy="403269"/>
          </a:xfrm>
        </p:grpSpPr>
        <p:sp>
          <p:nvSpPr>
            <p:cNvPr id="2052" name="Freeform 6">
              <a:extLst>
                <a:ext uri="{FF2B5EF4-FFF2-40B4-BE49-F238E27FC236}">
                  <a16:creationId xmlns:a16="http://schemas.microsoft.com/office/drawing/2014/main" id="{CF894D3D-3933-6250-387C-2392CE388D65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53" name="TextBox 7">
              <a:extLst>
                <a:ext uri="{FF2B5EF4-FFF2-40B4-BE49-F238E27FC236}">
                  <a16:creationId xmlns:a16="http://schemas.microsoft.com/office/drawing/2014/main" id="{8A193DBE-43E3-C24E-BAE2-A3548A08E097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ADF-test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: Data is non-stationary)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KPSS-test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: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Data is stationary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682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6" name="AutoShape 55">
            <a:extLst>
              <a:ext uri="{FF2B5EF4-FFF2-40B4-BE49-F238E27FC236}">
                <a16:creationId xmlns:a16="http://schemas.microsoft.com/office/drawing/2014/main" id="{2A4F8AF4-6D89-CE33-9CD3-A883AB922C1E}"/>
              </a:ext>
            </a:extLst>
          </p:cNvPr>
          <p:cNvSpPr/>
          <p:nvPr/>
        </p:nvSpPr>
        <p:spPr>
          <a:xfrm flipV="1">
            <a:off x="3241002" y="2903721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cxnSp>
        <p:nvCxnSpPr>
          <p:cNvPr id="2052" name="直線單箭頭接點 2051">
            <a:extLst>
              <a:ext uri="{FF2B5EF4-FFF2-40B4-BE49-F238E27FC236}">
                <a16:creationId xmlns:a16="http://schemas.microsoft.com/office/drawing/2014/main" id="{DF3D1543-DC5B-C5B7-3E91-13418607F370}"/>
              </a:ext>
            </a:extLst>
          </p:cNvPr>
          <p:cNvCxnSpPr>
            <a:cxnSpLocks/>
          </p:cNvCxnSpPr>
          <p:nvPr/>
        </p:nvCxnSpPr>
        <p:spPr>
          <a:xfrm>
            <a:off x="5515117" y="3489461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3" name="Freeform 6">
            <a:extLst>
              <a:ext uri="{FF2B5EF4-FFF2-40B4-BE49-F238E27FC236}">
                <a16:creationId xmlns:a16="http://schemas.microsoft.com/office/drawing/2014/main" id="{3E56B2A3-3B17-FDCC-95FE-F984116B6985}"/>
              </a:ext>
            </a:extLst>
          </p:cNvPr>
          <p:cNvSpPr/>
          <p:nvPr/>
        </p:nvSpPr>
        <p:spPr>
          <a:xfrm>
            <a:off x="4304819" y="4236279"/>
            <a:ext cx="2420596" cy="578974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Stationary</a:t>
            </a:r>
            <a:endParaRPr lang="zh-TW" altLang="en-US" sz="2800" dirty="0"/>
          </a:p>
        </p:txBody>
      </p:sp>
      <p:cxnSp>
        <p:nvCxnSpPr>
          <p:cNvPr id="2054" name="直線單箭頭接點 2053">
            <a:extLst>
              <a:ext uri="{FF2B5EF4-FFF2-40B4-BE49-F238E27FC236}">
                <a16:creationId xmlns:a16="http://schemas.microsoft.com/office/drawing/2014/main" id="{B3AC7D58-5A93-C37C-F3EB-614D2375EA3A}"/>
              </a:ext>
            </a:extLst>
          </p:cNvPr>
          <p:cNvCxnSpPr>
            <a:cxnSpLocks/>
          </p:cNvCxnSpPr>
          <p:nvPr/>
        </p:nvCxnSpPr>
        <p:spPr>
          <a:xfrm>
            <a:off x="8999530" y="3489461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5" name="Freeform 6">
            <a:extLst>
              <a:ext uri="{FF2B5EF4-FFF2-40B4-BE49-F238E27FC236}">
                <a16:creationId xmlns:a16="http://schemas.microsoft.com/office/drawing/2014/main" id="{C3E1FEAB-D4B1-9A6B-2E40-CF30C4573E53}"/>
              </a:ext>
            </a:extLst>
          </p:cNvPr>
          <p:cNvSpPr/>
          <p:nvPr/>
        </p:nvSpPr>
        <p:spPr>
          <a:xfrm>
            <a:off x="7789232" y="4236279"/>
            <a:ext cx="2420596" cy="578974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Non-stationary</a:t>
            </a:r>
            <a:endParaRPr lang="zh-TW" altLang="en-US" sz="2800" dirty="0"/>
          </a:p>
        </p:txBody>
      </p:sp>
      <p:sp>
        <p:nvSpPr>
          <p:cNvPr id="2060" name="AutoShape 55">
            <a:extLst>
              <a:ext uri="{FF2B5EF4-FFF2-40B4-BE49-F238E27FC236}">
                <a16:creationId xmlns:a16="http://schemas.microsoft.com/office/drawing/2014/main" id="{086C60BD-125D-B64B-EED2-458BDD0FED03}"/>
              </a:ext>
            </a:extLst>
          </p:cNvPr>
          <p:cNvSpPr/>
          <p:nvPr/>
        </p:nvSpPr>
        <p:spPr>
          <a:xfrm flipH="1">
            <a:off x="3282509" y="4513234"/>
            <a:ext cx="980801" cy="1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cxnSp>
        <p:nvCxnSpPr>
          <p:cNvPr id="2061" name="直線單箭頭接點 2060">
            <a:extLst>
              <a:ext uri="{FF2B5EF4-FFF2-40B4-BE49-F238E27FC236}">
                <a16:creationId xmlns:a16="http://schemas.microsoft.com/office/drawing/2014/main" id="{664829B3-8556-FA8E-B1E2-BE9E0D61E4E8}"/>
              </a:ext>
            </a:extLst>
          </p:cNvPr>
          <p:cNvCxnSpPr>
            <a:cxnSpLocks/>
          </p:cNvCxnSpPr>
          <p:nvPr/>
        </p:nvCxnSpPr>
        <p:spPr>
          <a:xfrm>
            <a:off x="8999530" y="4881383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2" name="Group 5">
            <a:extLst>
              <a:ext uri="{FF2B5EF4-FFF2-40B4-BE49-F238E27FC236}">
                <a16:creationId xmlns:a16="http://schemas.microsoft.com/office/drawing/2014/main" id="{E1E646B5-AE21-303E-50BC-474D14C8AECA}"/>
              </a:ext>
            </a:extLst>
          </p:cNvPr>
          <p:cNvGrpSpPr/>
          <p:nvPr/>
        </p:nvGrpSpPr>
        <p:grpSpPr>
          <a:xfrm>
            <a:off x="7789233" y="5628201"/>
            <a:ext cx="4510922" cy="1074497"/>
            <a:chOff x="0" y="-57150"/>
            <a:chExt cx="812800" cy="403269"/>
          </a:xfrm>
        </p:grpSpPr>
        <p:sp>
          <p:nvSpPr>
            <p:cNvPr id="2063" name="Freeform 6">
              <a:extLst>
                <a:ext uri="{FF2B5EF4-FFF2-40B4-BE49-F238E27FC236}">
                  <a16:creationId xmlns:a16="http://schemas.microsoft.com/office/drawing/2014/main" id="{3529A490-6B50-A6C4-3753-878792DD8539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4" name="TextBox 7">
              <a:extLst>
                <a:ext uri="{FF2B5EF4-FFF2-40B4-BE49-F238E27FC236}">
                  <a16:creationId xmlns:a16="http://schemas.microsoft.com/office/drawing/2014/main" id="{7A796142-DE5F-6686-9930-15A002B97E19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Box-Cox transformation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Difference</a:t>
              </a:r>
            </a:p>
          </p:txBody>
        </p:sp>
      </p:grpSp>
      <p:pic>
        <p:nvPicPr>
          <p:cNvPr id="2069" name="圖片 2068">
            <a:extLst>
              <a:ext uri="{FF2B5EF4-FFF2-40B4-BE49-F238E27FC236}">
                <a16:creationId xmlns:a16="http://schemas.microsoft.com/office/drawing/2014/main" id="{1D871DBC-DD1E-B2FA-C7DE-09BB76404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801" y="7510374"/>
            <a:ext cx="4498174" cy="1350627"/>
          </a:xfrm>
          <a:prstGeom prst="rect">
            <a:avLst/>
          </a:prstGeom>
        </p:spPr>
      </p:pic>
      <p:sp>
        <p:nvSpPr>
          <p:cNvPr id="2070" name="文字方塊 2069">
            <a:extLst>
              <a:ext uri="{FF2B5EF4-FFF2-40B4-BE49-F238E27FC236}">
                <a16:creationId xmlns:a16="http://schemas.microsoft.com/office/drawing/2014/main" id="{42A9AA2D-942B-BA6D-8100-F7CD97E0E25A}"/>
              </a:ext>
            </a:extLst>
          </p:cNvPr>
          <p:cNvSpPr txBox="1"/>
          <p:nvPr/>
        </p:nvSpPr>
        <p:spPr>
          <a:xfrm>
            <a:off x="4263310" y="6887010"/>
            <a:ext cx="4638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1. Box-Cox transformation:</a:t>
            </a:r>
            <a:endParaRPr lang="zh-TW" altLang="en-US" sz="3200" dirty="0"/>
          </a:p>
        </p:txBody>
      </p:sp>
      <p:sp>
        <p:nvSpPr>
          <p:cNvPr id="2075" name="文字方塊 2074">
            <a:extLst>
              <a:ext uri="{FF2B5EF4-FFF2-40B4-BE49-F238E27FC236}">
                <a16:creationId xmlns:a16="http://schemas.microsoft.com/office/drawing/2014/main" id="{6AA4AD4C-42FD-D754-4A88-3DE563A90D32}"/>
              </a:ext>
            </a:extLst>
          </p:cNvPr>
          <p:cNvSpPr txBox="1"/>
          <p:nvPr/>
        </p:nvSpPr>
        <p:spPr>
          <a:xfrm>
            <a:off x="9426682" y="6887010"/>
            <a:ext cx="2422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2. Difference: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6" name="文字方塊 2075">
                <a:extLst>
                  <a:ext uri="{FF2B5EF4-FFF2-40B4-BE49-F238E27FC236}">
                    <a16:creationId xmlns:a16="http://schemas.microsoft.com/office/drawing/2014/main" id="{2B1A5CE7-D2C5-E301-B135-F984EFE876B4}"/>
                  </a:ext>
                </a:extLst>
              </p:cNvPr>
              <p:cNvSpPr txBox="1"/>
              <p:nvPr/>
            </p:nvSpPr>
            <p:spPr>
              <a:xfrm>
                <a:off x="9426682" y="8116146"/>
                <a:ext cx="287341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076" name="文字方塊 2075">
                <a:extLst>
                  <a:ext uri="{FF2B5EF4-FFF2-40B4-BE49-F238E27FC236}">
                    <a16:creationId xmlns:a16="http://schemas.microsoft.com/office/drawing/2014/main" id="{2B1A5CE7-D2C5-E301-B135-F984EFE87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682" y="8116146"/>
                <a:ext cx="287341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7" name="文字方塊 2076">
            <a:extLst>
              <a:ext uri="{FF2B5EF4-FFF2-40B4-BE49-F238E27FC236}">
                <a16:creationId xmlns:a16="http://schemas.microsoft.com/office/drawing/2014/main" id="{19927703-5C70-7782-19E9-3338D710458F}"/>
              </a:ext>
            </a:extLst>
          </p:cNvPr>
          <p:cNvSpPr txBox="1"/>
          <p:nvPr/>
        </p:nvSpPr>
        <p:spPr>
          <a:xfrm>
            <a:off x="4221801" y="8899590"/>
            <a:ext cx="3657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 BoxCox.ar(data)</a:t>
            </a:r>
            <a:endParaRPr lang="zh-TW" altLang="en-US" sz="2800" dirty="0"/>
          </a:p>
        </p:txBody>
      </p:sp>
      <p:sp>
        <p:nvSpPr>
          <p:cNvPr id="2078" name="文字方塊 2077">
            <a:extLst>
              <a:ext uri="{FF2B5EF4-FFF2-40B4-BE49-F238E27FC236}">
                <a16:creationId xmlns:a16="http://schemas.microsoft.com/office/drawing/2014/main" id="{C494187B-E145-A7CF-5C33-DB97FFF2E7C1}"/>
              </a:ext>
            </a:extLst>
          </p:cNvPr>
          <p:cNvSpPr txBox="1"/>
          <p:nvPr/>
        </p:nvSpPr>
        <p:spPr>
          <a:xfrm>
            <a:off x="9426682" y="8899590"/>
            <a:ext cx="2693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 diff(data)</a:t>
            </a:r>
            <a:endParaRPr lang="zh-TW" altLang="en-US" sz="2800" dirty="0"/>
          </a:p>
        </p:txBody>
      </p:sp>
      <p:sp>
        <p:nvSpPr>
          <p:cNvPr id="2079" name="Freeform 13">
            <a:extLst>
              <a:ext uri="{FF2B5EF4-FFF2-40B4-BE49-F238E27FC236}">
                <a16:creationId xmlns:a16="http://schemas.microsoft.com/office/drawing/2014/main" id="{186FB78B-CACF-134C-8B99-90D303EF31E1}"/>
              </a:ext>
            </a:extLst>
          </p:cNvPr>
          <p:cNvSpPr/>
          <p:nvPr/>
        </p:nvSpPr>
        <p:spPr>
          <a:xfrm>
            <a:off x="10972042" y="3938988"/>
            <a:ext cx="1173556" cy="1173556"/>
          </a:xfrm>
          <a:custGeom>
            <a:avLst/>
            <a:gdLst/>
            <a:ahLst/>
            <a:cxnLst/>
            <a:rect l="l" t="t" r="r" b="b"/>
            <a:pathLst>
              <a:path w="1173556" h="1173556">
                <a:moveTo>
                  <a:pt x="0" y="0"/>
                </a:moveTo>
                <a:lnTo>
                  <a:pt x="1173555" y="0"/>
                </a:lnTo>
                <a:lnTo>
                  <a:pt x="1173555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080" name="Group 5">
            <a:extLst>
              <a:ext uri="{FF2B5EF4-FFF2-40B4-BE49-F238E27FC236}">
                <a16:creationId xmlns:a16="http://schemas.microsoft.com/office/drawing/2014/main" id="{C535C8C5-CA03-8667-C3AA-D3F66730194D}"/>
              </a:ext>
            </a:extLst>
          </p:cNvPr>
          <p:cNvGrpSpPr/>
          <p:nvPr/>
        </p:nvGrpSpPr>
        <p:grpSpPr>
          <a:xfrm>
            <a:off x="4304820" y="1558133"/>
            <a:ext cx="6508180" cy="1841858"/>
            <a:chOff x="0" y="-57150"/>
            <a:chExt cx="812800" cy="403269"/>
          </a:xfrm>
        </p:grpSpPr>
        <p:sp>
          <p:nvSpPr>
            <p:cNvPr id="2081" name="Freeform 6">
              <a:extLst>
                <a:ext uri="{FF2B5EF4-FFF2-40B4-BE49-F238E27FC236}">
                  <a16:creationId xmlns:a16="http://schemas.microsoft.com/office/drawing/2014/main" id="{FAE1FD87-F7F8-17D6-02B4-07D59A37D7BD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82" name="TextBox 7">
              <a:extLst>
                <a:ext uri="{FF2B5EF4-FFF2-40B4-BE49-F238E27FC236}">
                  <a16:creationId xmlns:a16="http://schemas.microsoft.com/office/drawing/2014/main" id="{6F5A5EF5-8C91-F30E-157F-B377F8130105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ADF-test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: Data is non-stationary)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KPSS-test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: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Data is stationary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</a:t>
              </a:r>
            </a:p>
          </p:txBody>
        </p:sp>
      </p:grpSp>
      <p:cxnSp>
        <p:nvCxnSpPr>
          <p:cNvPr id="2083" name="直線單箭頭接點 2082">
            <a:extLst>
              <a:ext uri="{FF2B5EF4-FFF2-40B4-BE49-F238E27FC236}">
                <a16:creationId xmlns:a16="http://schemas.microsoft.com/office/drawing/2014/main" id="{2395DE6D-3758-D9A0-4970-48EE1CAED662}"/>
              </a:ext>
            </a:extLst>
          </p:cNvPr>
          <p:cNvCxnSpPr>
            <a:cxnSpLocks/>
          </p:cNvCxnSpPr>
          <p:nvPr/>
        </p:nvCxnSpPr>
        <p:spPr>
          <a:xfrm flipV="1">
            <a:off x="10503392" y="3399991"/>
            <a:ext cx="0" cy="223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86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6" name="AutoShape 55">
            <a:extLst>
              <a:ext uri="{FF2B5EF4-FFF2-40B4-BE49-F238E27FC236}">
                <a16:creationId xmlns:a16="http://schemas.microsoft.com/office/drawing/2014/main" id="{2A4F8AF4-6D89-CE33-9CD3-A883AB922C1E}"/>
              </a:ext>
            </a:extLst>
          </p:cNvPr>
          <p:cNvSpPr/>
          <p:nvPr/>
        </p:nvSpPr>
        <p:spPr>
          <a:xfrm flipV="1">
            <a:off x="3241002" y="2903721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cxnSp>
        <p:nvCxnSpPr>
          <p:cNvPr id="2052" name="直線單箭頭接點 2051">
            <a:extLst>
              <a:ext uri="{FF2B5EF4-FFF2-40B4-BE49-F238E27FC236}">
                <a16:creationId xmlns:a16="http://schemas.microsoft.com/office/drawing/2014/main" id="{DF3D1543-DC5B-C5B7-3E91-13418607F370}"/>
              </a:ext>
            </a:extLst>
          </p:cNvPr>
          <p:cNvCxnSpPr>
            <a:cxnSpLocks/>
          </p:cNvCxnSpPr>
          <p:nvPr/>
        </p:nvCxnSpPr>
        <p:spPr>
          <a:xfrm>
            <a:off x="5515117" y="3489461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3" name="Freeform 6">
            <a:extLst>
              <a:ext uri="{FF2B5EF4-FFF2-40B4-BE49-F238E27FC236}">
                <a16:creationId xmlns:a16="http://schemas.microsoft.com/office/drawing/2014/main" id="{3E56B2A3-3B17-FDCC-95FE-F984116B6985}"/>
              </a:ext>
            </a:extLst>
          </p:cNvPr>
          <p:cNvSpPr/>
          <p:nvPr/>
        </p:nvSpPr>
        <p:spPr>
          <a:xfrm>
            <a:off x="4304819" y="4236279"/>
            <a:ext cx="2420596" cy="578974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Stationary</a:t>
            </a:r>
            <a:endParaRPr lang="zh-TW" altLang="en-US" sz="2800" dirty="0"/>
          </a:p>
        </p:txBody>
      </p:sp>
      <p:cxnSp>
        <p:nvCxnSpPr>
          <p:cNvPr id="2054" name="直線單箭頭接點 2053">
            <a:extLst>
              <a:ext uri="{FF2B5EF4-FFF2-40B4-BE49-F238E27FC236}">
                <a16:creationId xmlns:a16="http://schemas.microsoft.com/office/drawing/2014/main" id="{B3AC7D58-5A93-C37C-F3EB-614D2375EA3A}"/>
              </a:ext>
            </a:extLst>
          </p:cNvPr>
          <p:cNvCxnSpPr>
            <a:cxnSpLocks/>
          </p:cNvCxnSpPr>
          <p:nvPr/>
        </p:nvCxnSpPr>
        <p:spPr>
          <a:xfrm>
            <a:off x="8999530" y="3489461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5" name="Freeform 6">
            <a:extLst>
              <a:ext uri="{FF2B5EF4-FFF2-40B4-BE49-F238E27FC236}">
                <a16:creationId xmlns:a16="http://schemas.microsoft.com/office/drawing/2014/main" id="{C3E1FEAB-D4B1-9A6B-2E40-CF30C4573E53}"/>
              </a:ext>
            </a:extLst>
          </p:cNvPr>
          <p:cNvSpPr/>
          <p:nvPr/>
        </p:nvSpPr>
        <p:spPr>
          <a:xfrm>
            <a:off x="7789232" y="4236279"/>
            <a:ext cx="2420596" cy="578974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Non-stationary</a:t>
            </a:r>
            <a:endParaRPr lang="zh-TW" altLang="en-US" sz="2800" dirty="0"/>
          </a:p>
        </p:txBody>
      </p:sp>
      <p:sp>
        <p:nvSpPr>
          <p:cNvPr id="2060" name="AutoShape 55">
            <a:extLst>
              <a:ext uri="{FF2B5EF4-FFF2-40B4-BE49-F238E27FC236}">
                <a16:creationId xmlns:a16="http://schemas.microsoft.com/office/drawing/2014/main" id="{086C60BD-125D-B64B-EED2-458BDD0FED03}"/>
              </a:ext>
            </a:extLst>
          </p:cNvPr>
          <p:cNvSpPr/>
          <p:nvPr/>
        </p:nvSpPr>
        <p:spPr>
          <a:xfrm flipH="1">
            <a:off x="3282509" y="4513234"/>
            <a:ext cx="980801" cy="1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cxnSp>
        <p:nvCxnSpPr>
          <p:cNvPr id="2061" name="直線單箭頭接點 2060">
            <a:extLst>
              <a:ext uri="{FF2B5EF4-FFF2-40B4-BE49-F238E27FC236}">
                <a16:creationId xmlns:a16="http://schemas.microsoft.com/office/drawing/2014/main" id="{664829B3-8556-FA8E-B1E2-BE9E0D61E4E8}"/>
              </a:ext>
            </a:extLst>
          </p:cNvPr>
          <p:cNvCxnSpPr>
            <a:cxnSpLocks/>
          </p:cNvCxnSpPr>
          <p:nvPr/>
        </p:nvCxnSpPr>
        <p:spPr>
          <a:xfrm>
            <a:off x="8999530" y="4881383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2" name="Group 5">
            <a:extLst>
              <a:ext uri="{FF2B5EF4-FFF2-40B4-BE49-F238E27FC236}">
                <a16:creationId xmlns:a16="http://schemas.microsoft.com/office/drawing/2014/main" id="{E1E646B5-AE21-303E-50BC-474D14C8AECA}"/>
              </a:ext>
            </a:extLst>
          </p:cNvPr>
          <p:cNvGrpSpPr/>
          <p:nvPr/>
        </p:nvGrpSpPr>
        <p:grpSpPr>
          <a:xfrm>
            <a:off x="7789233" y="5628201"/>
            <a:ext cx="4510922" cy="1074497"/>
            <a:chOff x="0" y="-57150"/>
            <a:chExt cx="812800" cy="403269"/>
          </a:xfrm>
        </p:grpSpPr>
        <p:sp>
          <p:nvSpPr>
            <p:cNvPr id="2063" name="Freeform 6">
              <a:extLst>
                <a:ext uri="{FF2B5EF4-FFF2-40B4-BE49-F238E27FC236}">
                  <a16:creationId xmlns:a16="http://schemas.microsoft.com/office/drawing/2014/main" id="{3529A490-6B50-A6C4-3753-878792DD8539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4" name="TextBox 7">
              <a:extLst>
                <a:ext uri="{FF2B5EF4-FFF2-40B4-BE49-F238E27FC236}">
                  <a16:creationId xmlns:a16="http://schemas.microsoft.com/office/drawing/2014/main" id="{7A796142-DE5F-6686-9930-15A002B97E19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Box-Cox transformation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Difference</a:t>
              </a:r>
            </a:p>
          </p:txBody>
        </p:sp>
      </p:grpSp>
      <p:cxnSp>
        <p:nvCxnSpPr>
          <p:cNvPr id="2065" name="直線單箭頭接點 2064">
            <a:extLst>
              <a:ext uri="{FF2B5EF4-FFF2-40B4-BE49-F238E27FC236}">
                <a16:creationId xmlns:a16="http://schemas.microsoft.com/office/drawing/2014/main" id="{ECE00650-5936-A81D-4C60-60155C82A418}"/>
              </a:ext>
            </a:extLst>
          </p:cNvPr>
          <p:cNvCxnSpPr>
            <a:cxnSpLocks/>
          </p:cNvCxnSpPr>
          <p:nvPr/>
        </p:nvCxnSpPr>
        <p:spPr>
          <a:xfrm flipV="1">
            <a:off x="10503392" y="3399991"/>
            <a:ext cx="0" cy="223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C0A8AD0-4AD2-DD18-474F-48EFB5AFB486}"/>
              </a:ext>
            </a:extLst>
          </p:cNvPr>
          <p:cNvSpPr txBox="1"/>
          <p:nvPr/>
        </p:nvSpPr>
        <p:spPr>
          <a:xfrm>
            <a:off x="4304819" y="6117923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A59E1EB6-D86F-72BF-D0C5-E0FDFEFFD3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191"/>
          <a:stretch/>
        </p:blipFill>
        <p:spPr>
          <a:xfrm>
            <a:off x="4246892" y="6808799"/>
            <a:ext cx="6537294" cy="3465683"/>
          </a:xfrm>
          <a:prstGeom prst="rect">
            <a:avLst/>
          </a:prstGeom>
        </p:spPr>
      </p:pic>
      <p:pic>
        <p:nvPicPr>
          <p:cNvPr id="2058" name="圖片 2057">
            <a:extLst>
              <a:ext uri="{FF2B5EF4-FFF2-40B4-BE49-F238E27FC236}">
                <a16:creationId xmlns:a16="http://schemas.microsoft.com/office/drawing/2014/main" id="{8C029FB0-222B-6D47-D2E7-AAAEBBD3C8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2677"/>
          <a:stretch/>
        </p:blipFill>
        <p:spPr>
          <a:xfrm>
            <a:off x="11383795" y="6808799"/>
            <a:ext cx="3152297" cy="3478201"/>
          </a:xfrm>
          <a:prstGeom prst="rect">
            <a:avLst/>
          </a:prstGeom>
        </p:spPr>
      </p:pic>
      <p:pic>
        <p:nvPicPr>
          <p:cNvPr id="2059" name="圖片 2058">
            <a:extLst>
              <a:ext uri="{FF2B5EF4-FFF2-40B4-BE49-F238E27FC236}">
                <a16:creationId xmlns:a16="http://schemas.microsoft.com/office/drawing/2014/main" id="{64B6C974-8DEA-2489-CFDC-EB7AFFD1ED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677"/>
          <a:stretch/>
        </p:blipFill>
        <p:spPr>
          <a:xfrm>
            <a:off x="15135702" y="6808799"/>
            <a:ext cx="3152298" cy="3478201"/>
          </a:xfrm>
          <a:prstGeom prst="rect">
            <a:avLst/>
          </a:prstGeom>
        </p:spPr>
      </p:pic>
      <p:cxnSp>
        <p:nvCxnSpPr>
          <p:cNvPr id="2067" name="直線單箭頭接點 2066">
            <a:extLst>
              <a:ext uri="{FF2B5EF4-FFF2-40B4-BE49-F238E27FC236}">
                <a16:creationId xmlns:a16="http://schemas.microsoft.com/office/drawing/2014/main" id="{584671B9-CA8C-0A1E-45D0-2520965E1241}"/>
              </a:ext>
            </a:extLst>
          </p:cNvPr>
          <p:cNvCxnSpPr>
            <a:cxnSpLocks/>
            <a:stCxn id="30" idx="3"/>
            <a:endCxn id="2058" idx="1"/>
          </p:cNvCxnSpPr>
          <p:nvPr/>
        </p:nvCxnSpPr>
        <p:spPr>
          <a:xfrm>
            <a:off x="10784186" y="8541641"/>
            <a:ext cx="599609" cy="6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3" name="直線單箭頭接點 2072">
            <a:extLst>
              <a:ext uri="{FF2B5EF4-FFF2-40B4-BE49-F238E27FC236}">
                <a16:creationId xmlns:a16="http://schemas.microsoft.com/office/drawing/2014/main" id="{FD39F0FD-A42F-30A5-E1B4-A09C54090050}"/>
              </a:ext>
            </a:extLst>
          </p:cNvPr>
          <p:cNvCxnSpPr>
            <a:cxnSpLocks/>
          </p:cNvCxnSpPr>
          <p:nvPr/>
        </p:nvCxnSpPr>
        <p:spPr>
          <a:xfrm>
            <a:off x="14536092" y="8541640"/>
            <a:ext cx="599609" cy="6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76" name="Group 5">
            <a:extLst>
              <a:ext uri="{FF2B5EF4-FFF2-40B4-BE49-F238E27FC236}">
                <a16:creationId xmlns:a16="http://schemas.microsoft.com/office/drawing/2014/main" id="{5DFC97D7-6E0F-6E36-334D-3C49C9BEFB57}"/>
              </a:ext>
            </a:extLst>
          </p:cNvPr>
          <p:cNvGrpSpPr/>
          <p:nvPr/>
        </p:nvGrpSpPr>
        <p:grpSpPr>
          <a:xfrm>
            <a:off x="4304820" y="1558133"/>
            <a:ext cx="6508180" cy="1841858"/>
            <a:chOff x="0" y="-57150"/>
            <a:chExt cx="812800" cy="403269"/>
          </a:xfrm>
        </p:grpSpPr>
        <p:sp>
          <p:nvSpPr>
            <p:cNvPr id="2077" name="Freeform 6">
              <a:extLst>
                <a:ext uri="{FF2B5EF4-FFF2-40B4-BE49-F238E27FC236}">
                  <a16:creationId xmlns:a16="http://schemas.microsoft.com/office/drawing/2014/main" id="{0F3FF614-909E-E3A5-C9D3-08365B0260DA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78" name="TextBox 7">
              <a:extLst>
                <a:ext uri="{FF2B5EF4-FFF2-40B4-BE49-F238E27FC236}">
                  <a16:creationId xmlns:a16="http://schemas.microsoft.com/office/drawing/2014/main" id="{7BA43D3F-6F6E-B7B5-6C45-ECAB9B48FAA3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ADF-test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: Data is non-stationary)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KPSS-test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: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Data is stationary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</a:t>
              </a:r>
            </a:p>
          </p:txBody>
        </p:sp>
      </p:grpSp>
      <p:sp>
        <p:nvSpPr>
          <p:cNvPr id="2079" name="Freeform 13">
            <a:extLst>
              <a:ext uri="{FF2B5EF4-FFF2-40B4-BE49-F238E27FC236}">
                <a16:creationId xmlns:a16="http://schemas.microsoft.com/office/drawing/2014/main" id="{BDD6E839-0160-0BF5-2791-649E7668F516}"/>
              </a:ext>
            </a:extLst>
          </p:cNvPr>
          <p:cNvSpPr/>
          <p:nvPr/>
        </p:nvSpPr>
        <p:spPr>
          <a:xfrm>
            <a:off x="10972042" y="3938988"/>
            <a:ext cx="1173556" cy="1173556"/>
          </a:xfrm>
          <a:custGeom>
            <a:avLst/>
            <a:gdLst/>
            <a:ahLst/>
            <a:cxnLst/>
            <a:rect l="l" t="t" r="r" b="b"/>
            <a:pathLst>
              <a:path w="1173556" h="1173556">
                <a:moveTo>
                  <a:pt x="0" y="0"/>
                </a:moveTo>
                <a:lnTo>
                  <a:pt x="1173555" y="0"/>
                </a:lnTo>
                <a:lnTo>
                  <a:pt x="1173555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586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011015" y="1898424"/>
            <a:ext cx="10265969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6. Model specification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39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AutoShape 55">
            <a:extLst>
              <a:ext uri="{FF2B5EF4-FFF2-40B4-BE49-F238E27FC236}">
                <a16:creationId xmlns:a16="http://schemas.microsoft.com/office/drawing/2014/main" id="{CB5F577C-CB91-24BB-4DE0-FF548381F8FB}"/>
              </a:ext>
            </a:extLst>
          </p:cNvPr>
          <p:cNvSpPr/>
          <p:nvPr/>
        </p:nvSpPr>
        <p:spPr>
          <a:xfrm flipV="1">
            <a:off x="3241002" y="4508493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D7C4DBEB-7E79-C275-B6EE-F4CBFAD2EEFC}"/>
              </a:ext>
            </a:extLst>
          </p:cNvPr>
          <p:cNvGrpSpPr/>
          <p:nvPr/>
        </p:nvGrpSpPr>
        <p:grpSpPr>
          <a:xfrm>
            <a:off x="4304820" y="3162905"/>
            <a:ext cx="2671168" cy="1841858"/>
            <a:chOff x="0" y="-57150"/>
            <a:chExt cx="812800" cy="403269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787FE761-9796-C321-6D35-2E416B216C0B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6BDEEE96-B837-3334-D009-942AD9C2A7C1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PACF plot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EACF  plot</a:t>
              </a:r>
            </a:p>
          </p:txBody>
        </p:sp>
      </p:grpSp>
      <p:grpSp>
        <p:nvGrpSpPr>
          <p:cNvPr id="2048" name="Group 18">
            <a:extLst>
              <a:ext uri="{FF2B5EF4-FFF2-40B4-BE49-F238E27FC236}">
                <a16:creationId xmlns:a16="http://schemas.microsoft.com/office/drawing/2014/main" id="{2B69856D-496D-6E81-504C-407DEB710221}"/>
              </a:ext>
            </a:extLst>
          </p:cNvPr>
          <p:cNvGrpSpPr/>
          <p:nvPr/>
        </p:nvGrpSpPr>
        <p:grpSpPr>
          <a:xfrm>
            <a:off x="4304820" y="1060107"/>
            <a:ext cx="6335121" cy="1805990"/>
            <a:chOff x="-1099014" y="-913188"/>
            <a:chExt cx="11306778" cy="5202132"/>
          </a:xfrm>
        </p:grpSpPr>
        <p:grpSp>
          <p:nvGrpSpPr>
            <p:cNvPr id="2050" name="Group 19">
              <a:extLst>
                <a:ext uri="{FF2B5EF4-FFF2-40B4-BE49-F238E27FC236}">
                  <a16:creationId xmlns:a16="http://schemas.microsoft.com/office/drawing/2014/main" id="{B884A4C1-7ABE-4CFA-7110-4E940D6E85C8}"/>
                </a:ext>
              </a:extLst>
            </p:cNvPr>
            <p:cNvGrpSpPr/>
            <p:nvPr/>
          </p:nvGrpSpPr>
          <p:grpSpPr>
            <a:xfrm>
              <a:off x="-1099014" y="-491712"/>
              <a:ext cx="11306778" cy="4780656"/>
              <a:chOff x="-621834" y="-278216"/>
              <a:chExt cx="6397497" cy="2704948"/>
            </a:xfrm>
          </p:grpSpPr>
          <p:sp>
            <p:nvSpPr>
              <p:cNvPr id="2052" name="Freeform 20">
                <a:extLst>
                  <a:ext uri="{FF2B5EF4-FFF2-40B4-BE49-F238E27FC236}">
                    <a16:creationId xmlns:a16="http://schemas.microsoft.com/office/drawing/2014/main" id="{3A0DE92F-9A16-F4B2-2B85-498F5D643B8C}"/>
                  </a:ext>
                </a:extLst>
              </p:cNvPr>
              <p:cNvSpPr/>
              <p:nvPr/>
            </p:nvSpPr>
            <p:spPr>
              <a:xfrm>
                <a:off x="-621834" y="-278216"/>
                <a:ext cx="6397497" cy="2704948"/>
              </a:xfrm>
              <a:custGeom>
                <a:avLst/>
                <a:gdLst/>
                <a:ahLst/>
                <a:cxnLst/>
                <a:rect l="l" t="t" r="r" b="b"/>
                <a:pathLst>
                  <a:path w="5643393" h="1442522">
                    <a:moveTo>
                      <a:pt x="0" y="0"/>
                    </a:moveTo>
                    <a:lnTo>
                      <a:pt x="5643393" y="0"/>
                    </a:lnTo>
                    <a:lnTo>
                      <a:pt x="5643393" y="1442522"/>
                    </a:lnTo>
                    <a:lnTo>
                      <a:pt x="0" y="14425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sz="2800" dirty="0"/>
              </a:p>
            </p:txBody>
          </p:sp>
          <p:sp>
            <p:nvSpPr>
              <p:cNvPr id="2053" name="TextBox 21">
                <a:extLst>
                  <a:ext uri="{FF2B5EF4-FFF2-40B4-BE49-F238E27FC236}">
                    <a16:creationId xmlns:a16="http://schemas.microsoft.com/office/drawing/2014/main" id="{0F1FBAB3-C8E8-9DD2-36D8-A0D6D8D641B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5643393" cy="1471097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>
                  <a:lnSpc>
                    <a:spcPts val="2520"/>
                  </a:lnSpc>
                </a:pPr>
                <a:endParaRPr sz="2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1" name="TextBox 23">
                  <a:extLst>
                    <a:ext uri="{FF2B5EF4-FFF2-40B4-BE49-F238E27FC236}">
                      <a16:creationId xmlns:a16="http://schemas.microsoft.com/office/drawing/2014/main" id="{F45EAE4E-0593-EACB-3C91-A1805CB9429F}"/>
                    </a:ext>
                  </a:extLst>
                </p:cNvPr>
                <p:cNvSpPr txBox="1"/>
                <p:nvPr/>
              </p:nvSpPr>
              <p:spPr>
                <a:xfrm>
                  <a:off x="-847645" y="-913188"/>
                  <a:ext cx="10804041" cy="4896509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3249"/>
                    </a:lnSpc>
                  </a:pPr>
                  <a:endParaRPr lang="en-US" altLang="zh-TW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ts val="3249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</m:t>
                        </m:r>
                        <m:d>
                          <m:dPr>
                            <m:ctrlP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000000"/>
                    </a:solidFill>
                    <a:ea typeface="圓體 Bold"/>
                  </a:endParaRPr>
                </a:p>
                <a:p>
                  <a:pPr algn="ctr">
                    <a:lnSpc>
                      <a:spcPts val="3249"/>
                    </a:lnSpc>
                  </a:pPr>
                  <a:endParaRPr lang="en-US" sz="2800" dirty="0">
                    <a:solidFill>
                      <a:srgbClr val="000000"/>
                    </a:solidFill>
                    <a:ea typeface="圓體 Bold"/>
                  </a:endParaRPr>
                </a:p>
                <a:p>
                  <a:pPr algn="ctr">
                    <a:lnSpc>
                      <a:spcPts val="3249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𝑃𝐴𝐶𝐹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TW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</m:t>
                        </m:r>
                        <m:d>
                          <m:dPr>
                            <m:ctrlPr>
                              <a:rPr lang="en-US" altLang="zh-TW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TW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|</m:t>
                            </m:r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TW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000000"/>
                    </a:solidFill>
                    <a:ea typeface="圓體 Bold"/>
                  </a:endParaRPr>
                </a:p>
              </p:txBody>
            </p:sp>
          </mc:Choice>
          <mc:Fallback xmlns="">
            <p:sp>
              <p:nvSpPr>
                <p:cNvPr id="2051" name="TextBox 23">
                  <a:extLst>
                    <a:ext uri="{FF2B5EF4-FFF2-40B4-BE49-F238E27FC236}">
                      <a16:creationId xmlns:a16="http://schemas.microsoft.com/office/drawing/2014/main" id="{F45EAE4E-0593-EACB-3C91-A1805CB942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47645" y="-913188"/>
                  <a:ext cx="10804041" cy="48965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56" name="圖片 2055">
            <a:extLst>
              <a:ext uri="{FF2B5EF4-FFF2-40B4-BE49-F238E27FC236}">
                <a16:creationId xmlns:a16="http://schemas.microsoft.com/office/drawing/2014/main" id="{1A5C74A3-5319-9841-B4D9-75144DD00D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79"/>
          <a:stretch/>
        </p:blipFill>
        <p:spPr>
          <a:xfrm>
            <a:off x="4266245" y="5143500"/>
            <a:ext cx="6986774" cy="5130981"/>
          </a:xfrm>
          <a:prstGeom prst="rect">
            <a:avLst/>
          </a:prstGeom>
        </p:spPr>
      </p:pic>
      <p:pic>
        <p:nvPicPr>
          <p:cNvPr id="2058" name="圖片 2057">
            <a:extLst>
              <a:ext uri="{FF2B5EF4-FFF2-40B4-BE49-F238E27FC236}">
                <a16:creationId xmlns:a16="http://schemas.microsoft.com/office/drawing/2014/main" id="{C79729B6-A693-2EB1-3829-977B132A3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1226" y="5181454"/>
            <a:ext cx="6986774" cy="5093027"/>
          </a:xfrm>
          <a:prstGeom prst="rect">
            <a:avLst/>
          </a:prstGeom>
        </p:spPr>
      </p:pic>
      <p:graphicFrame>
        <p:nvGraphicFramePr>
          <p:cNvPr id="2059" name="表格 2058">
            <a:extLst>
              <a:ext uri="{FF2B5EF4-FFF2-40B4-BE49-F238E27FC236}">
                <a16:creationId xmlns:a16="http://schemas.microsoft.com/office/drawing/2014/main" id="{6CE24276-707B-418D-A36D-526313B40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05835"/>
              </p:ext>
            </p:extLst>
          </p:nvPr>
        </p:nvGraphicFramePr>
        <p:xfrm>
          <a:off x="9144000" y="3162904"/>
          <a:ext cx="4344822" cy="18418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48274">
                  <a:extLst>
                    <a:ext uri="{9D8B030D-6E8A-4147-A177-3AD203B41FA5}">
                      <a16:colId xmlns:a16="http://schemas.microsoft.com/office/drawing/2014/main" val="1088490012"/>
                    </a:ext>
                  </a:extLst>
                </a:gridCol>
                <a:gridCol w="1448274">
                  <a:extLst>
                    <a:ext uri="{9D8B030D-6E8A-4147-A177-3AD203B41FA5}">
                      <a16:colId xmlns:a16="http://schemas.microsoft.com/office/drawing/2014/main" val="2790827923"/>
                    </a:ext>
                  </a:extLst>
                </a:gridCol>
                <a:gridCol w="1448274">
                  <a:extLst>
                    <a:ext uri="{9D8B030D-6E8A-4147-A177-3AD203B41FA5}">
                      <a16:colId xmlns:a16="http://schemas.microsoft.com/office/drawing/2014/main" val="1097923056"/>
                    </a:ext>
                  </a:extLst>
                </a:gridCol>
              </a:tblGrid>
              <a:tr h="613953">
                <a:tc>
                  <a:txBody>
                    <a:bodyPr/>
                    <a:lstStyle/>
                    <a:p>
                      <a:pPr algn="ctr"/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MA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AR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85269"/>
                  </a:ext>
                </a:extLst>
              </a:tr>
              <a:tr h="613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ACF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Cut-off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Decline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79557"/>
                  </a:ext>
                </a:extLst>
              </a:tr>
              <a:tr h="613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PACF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Decline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Cut-off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03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807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AutoShape 55">
            <a:extLst>
              <a:ext uri="{FF2B5EF4-FFF2-40B4-BE49-F238E27FC236}">
                <a16:creationId xmlns:a16="http://schemas.microsoft.com/office/drawing/2014/main" id="{CB5F577C-CB91-24BB-4DE0-FF548381F8FB}"/>
              </a:ext>
            </a:extLst>
          </p:cNvPr>
          <p:cNvSpPr/>
          <p:nvPr/>
        </p:nvSpPr>
        <p:spPr>
          <a:xfrm flipV="1">
            <a:off x="3241002" y="4508493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D7C4DBEB-7E79-C275-B6EE-F4CBFAD2EEFC}"/>
              </a:ext>
            </a:extLst>
          </p:cNvPr>
          <p:cNvGrpSpPr/>
          <p:nvPr/>
        </p:nvGrpSpPr>
        <p:grpSpPr>
          <a:xfrm>
            <a:off x="4304820" y="3162905"/>
            <a:ext cx="6343516" cy="1841858"/>
            <a:chOff x="0" y="-57150"/>
            <a:chExt cx="812800" cy="403269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787FE761-9796-C321-6D35-2E416B216C0B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6BDEEE96-B837-3334-D009-942AD9C2A7C1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plot: Cut-off at lag q =&gt; MA(q)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PACF plot: Cut-off at lag p =&gt; AR(p)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EACF  plot: ARMA(</a:t>
              </a:r>
              <a:r>
                <a:rPr lang="en-US" sz="2799" dirty="0" err="1">
                  <a:solidFill>
                    <a:srgbClr val="000000"/>
                  </a:solidFill>
                  <a:ea typeface="圓體"/>
                </a:rPr>
                <a:t>p,q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</p:txBody>
        </p:sp>
      </p:grpSp>
      <p:sp>
        <p:nvSpPr>
          <p:cNvPr id="2055" name="文字方塊 2054">
            <a:extLst>
              <a:ext uri="{FF2B5EF4-FFF2-40B4-BE49-F238E27FC236}">
                <a16:creationId xmlns:a16="http://schemas.microsoft.com/office/drawing/2014/main" id="{60532271-3F2F-2CCA-A4F8-D1E2B84FF726}"/>
              </a:ext>
            </a:extLst>
          </p:cNvPr>
          <p:cNvSpPr txBox="1"/>
          <p:nvPr/>
        </p:nvSpPr>
        <p:spPr>
          <a:xfrm>
            <a:off x="4304820" y="5043029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pic>
        <p:nvPicPr>
          <p:cNvPr id="2059" name="圖片 2058">
            <a:extLst>
              <a:ext uri="{FF2B5EF4-FFF2-40B4-BE49-F238E27FC236}">
                <a16:creationId xmlns:a16="http://schemas.microsoft.com/office/drawing/2014/main" id="{91640D02-85E6-AB04-A4B7-C44E3AE2E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309" y="5623206"/>
            <a:ext cx="7454227" cy="4651275"/>
          </a:xfrm>
          <a:prstGeom prst="rect">
            <a:avLst/>
          </a:prstGeom>
        </p:spPr>
      </p:pic>
      <p:pic>
        <p:nvPicPr>
          <p:cNvPr id="2061" name="圖片 2060">
            <a:extLst>
              <a:ext uri="{FF2B5EF4-FFF2-40B4-BE49-F238E27FC236}">
                <a16:creationId xmlns:a16="http://schemas.microsoft.com/office/drawing/2014/main" id="{1096F92A-205D-5CBE-CDED-CC4B271EF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4635" y="5562072"/>
            <a:ext cx="6463365" cy="4724928"/>
          </a:xfrm>
          <a:prstGeom prst="rect">
            <a:avLst/>
          </a:prstGeom>
        </p:spPr>
      </p:pic>
      <p:graphicFrame>
        <p:nvGraphicFramePr>
          <p:cNvPr id="2062" name="表格 2061">
            <a:extLst>
              <a:ext uri="{FF2B5EF4-FFF2-40B4-BE49-F238E27FC236}">
                <a16:creationId xmlns:a16="http://schemas.microsoft.com/office/drawing/2014/main" id="{CAC9C8EE-CCD8-0BBE-36A2-11FCD7D68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173097"/>
              </p:ext>
            </p:extLst>
          </p:nvPr>
        </p:nvGraphicFramePr>
        <p:xfrm>
          <a:off x="4304820" y="1082279"/>
          <a:ext cx="4344822" cy="184185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48274">
                  <a:extLst>
                    <a:ext uri="{9D8B030D-6E8A-4147-A177-3AD203B41FA5}">
                      <a16:colId xmlns:a16="http://schemas.microsoft.com/office/drawing/2014/main" val="1088490012"/>
                    </a:ext>
                  </a:extLst>
                </a:gridCol>
                <a:gridCol w="1448274">
                  <a:extLst>
                    <a:ext uri="{9D8B030D-6E8A-4147-A177-3AD203B41FA5}">
                      <a16:colId xmlns:a16="http://schemas.microsoft.com/office/drawing/2014/main" val="2790827923"/>
                    </a:ext>
                  </a:extLst>
                </a:gridCol>
                <a:gridCol w="1448274">
                  <a:extLst>
                    <a:ext uri="{9D8B030D-6E8A-4147-A177-3AD203B41FA5}">
                      <a16:colId xmlns:a16="http://schemas.microsoft.com/office/drawing/2014/main" val="1097923056"/>
                    </a:ext>
                  </a:extLst>
                </a:gridCol>
              </a:tblGrid>
              <a:tr h="613953">
                <a:tc>
                  <a:txBody>
                    <a:bodyPr/>
                    <a:lstStyle/>
                    <a:p>
                      <a:pPr algn="ctr"/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MA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AR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85269"/>
                  </a:ext>
                </a:extLst>
              </a:tr>
              <a:tr h="613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ACF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Cut-off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Decline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79557"/>
                  </a:ext>
                </a:extLst>
              </a:tr>
              <a:tr h="6139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PACF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Decline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Cut-off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03899"/>
                  </a:ext>
                </a:extLst>
              </a:tr>
            </a:tbl>
          </a:graphicData>
        </a:graphic>
      </p:graphicFrame>
      <p:cxnSp>
        <p:nvCxnSpPr>
          <p:cNvPr id="2064" name="直線接點 2063">
            <a:extLst>
              <a:ext uri="{FF2B5EF4-FFF2-40B4-BE49-F238E27FC236}">
                <a16:creationId xmlns:a16="http://schemas.microsoft.com/office/drawing/2014/main" id="{2EFA0C4E-19DE-D632-B557-89011CD43BC8}"/>
              </a:ext>
            </a:extLst>
          </p:cNvPr>
          <p:cNvCxnSpPr>
            <a:cxnSpLocks/>
          </p:cNvCxnSpPr>
          <p:nvPr/>
        </p:nvCxnSpPr>
        <p:spPr>
          <a:xfrm>
            <a:off x="12388645" y="6808799"/>
            <a:ext cx="24187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65" name="直線接點 2064">
            <a:extLst>
              <a:ext uri="{FF2B5EF4-FFF2-40B4-BE49-F238E27FC236}">
                <a16:creationId xmlns:a16="http://schemas.microsoft.com/office/drawing/2014/main" id="{E404F42E-DF09-0DE2-D214-6E57D5D5D479}"/>
              </a:ext>
            </a:extLst>
          </p:cNvPr>
          <p:cNvCxnSpPr>
            <a:cxnSpLocks/>
          </p:cNvCxnSpPr>
          <p:nvPr/>
        </p:nvCxnSpPr>
        <p:spPr>
          <a:xfrm>
            <a:off x="12388645" y="6831768"/>
            <a:ext cx="2286000" cy="25924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70" name="Freeform 9">
            <a:extLst>
              <a:ext uri="{FF2B5EF4-FFF2-40B4-BE49-F238E27FC236}">
                <a16:creationId xmlns:a16="http://schemas.microsoft.com/office/drawing/2014/main" id="{FCE2F9AB-0806-4AD5-D213-EC7FF155F82D}"/>
              </a:ext>
            </a:extLst>
          </p:cNvPr>
          <p:cNvSpPr/>
          <p:nvPr/>
        </p:nvSpPr>
        <p:spPr>
          <a:xfrm>
            <a:off x="10025665" y="1573200"/>
            <a:ext cx="1173556" cy="853656"/>
          </a:xfrm>
          <a:custGeom>
            <a:avLst/>
            <a:gdLst/>
            <a:ahLst/>
            <a:cxnLst/>
            <a:rect l="l" t="t" r="r" b="b"/>
            <a:pathLst>
              <a:path w="1173556" h="853656">
                <a:moveTo>
                  <a:pt x="0" y="0"/>
                </a:moveTo>
                <a:lnTo>
                  <a:pt x="1173556" y="0"/>
                </a:lnTo>
                <a:lnTo>
                  <a:pt x="1173556" y="853656"/>
                </a:lnTo>
                <a:lnTo>
                  <a:pt x="0" y="853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25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3605708" y="1898424"/>
            <a:ext cx="11076584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7. Parameter estimation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462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4EFCB28C-BABB-32D2-2B9A-DAD8E1D48D76}"/>
              </a:ext>
            </a:extLst>
          </p:cNvPr>
          <p:cNvGrpSpPr/>
          <p:nvPr/>
        </p:nvGrpSpPr>
        <p:grpSpPr>
          <a:xfrm>
            <a:off x="5492975" y="3791391"/>
            <a:ext cx="6629985" cy="1246728"/>
            <a:chOff x="0" y="-57150"/>
            <a:chExt cx="870293" cy="290893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6C19DDD-048C-B6C6-E1BB-8DE9BD061574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8AF5A2A1-BDE6-EC33-2A8A-07EA8128C78C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FF0000"/>
                  </a:solidFill>
                  <a:ea typeface="圓體"/>
                </a:rPr>
                <a:t>Maximum Likelihood Estimation(MLE)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Least Square Estimation(LSE)</a:t>
              </a:r>
            </a:p>
          </p:txBody>
        </p:sp>
      </p:grpSp>
      <p:cxnSp>
        <p:nvCxnSpPr>
          <p:cNvPr id="2077" name="接點: 肘形 2076">
            <a:extLst>
              <a:ext uri="{FF2B5EF4-FFF2-40B4-BE49-F238E27FC236}">
                <a16:creationId xmlns:a16="http://schemas.microsoft.com/office/drawing/2014/main" id="{668CD4AE-7819-AC8B-6C98-CBB5687641DA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3241002" y="4376341"/>
            <a:ext cx="2251973" cy="18090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0" name="直線單箭頭接點 2079">
            <a:extLst>
              <a:ext uri="{FF2B5EF4-FFF2-40B4-BE49-F238E27FC236}">
                <a16:creationId xmlns:a16="http://schemas.microsoft.com/office/drawing/2014/main" id="{98ED3F05-71DE-FD26-D419-3D78B251925C}"/>
              </a:ext>
            </a:extLst>
          </p:cNvPr>
          <p:cNvCxnSpPr>
            <a:cxnSpLocks/>
          </p:cNvCxnSpPr>
          <p:nvPr/>
        </p:nvCxnSpPr>
        <p:spPr>
          <a:xfrm>
            <a:off x="8807967" y="5093077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81" name="Group 5">
            <a:extLst>
              <a:ext uri="{FF2B5EF4-FFF2-40B4-BE49-F238E27FC236}">
                <a16:creationId xmlns:a16="http://schemas.microsoft.com/office/drawing/2014/main" id="{33CA874A-3416-B1A9-91DF-4CAD441D1A9E}"/>
              </a:ext>
            </a:extLst>
          </p:cNvPr>
          <p:cNvGrpSpPr/>
          <p:nvPr/>
        </p:nvGrpSpPr>
        <p:grpSpPr>
          <a:xfrm>
            <a:off x="5987848" y="5773766"/>
            <a:ext cx="5574885" cy="928932"/>
            <a:chOff x="0" y="-57150"/>
            <a:chExt cx="870293" cy="290893"/>
          </a:xfrm>
        </p:grpSpPr>
        <p:sp>
          <p:nvSpPr>
            <p:cNvPr id="2082" name="Freeform 6">
              <a:extLst>
                <a:ext uri="{FF2B5EF4-FFF2-40B4-BE49-F238E27FC236}">
                  <a16:creationId xmlns:a16="http://schemas.microsoft.com/office/drawing/2014/main" id="{2D464757-5330-54F4-7D69-DE7C5EFE9CA7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83" name="TextBox 7">
              <a:extLst>
                <a:ext uri="{FF2B5EF4-FFF2-40B4-BE49-F238E27FC236}">
                  <a16:creationId xmlns:a16="http://schemas.microsoft.com/office/drawing/2014/main" id="{7AA26086-4756-56F2-EF19-AAF9DCFEDCF1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ea typeface="圓體"/>
                </a:rPr>
                <a:t>Check significance of parameters</a:t>
              </a:r>
            </a:p>
          </p:txBody>
        </p:sp>
      </p:grpSp>
      <p:cxnSp>
        <p:nvCxnSpPr>
          <p:cNvPr id="2084" name="直線單箭頭接點 2083">
            <a:extLst>
              <a:ext uri="{FF2B5EF4-FFF2-40B4-BE49-F238E27FC236}">
                <a16:creationId xmlns:a16="http://schemas.microsoft.com/office/drawing/2014/main" id="{3597863D-2F5C-85E6-AC4E-5831885957CE}"/>
              </a:ext>
            </a:extLst>
          </p:cNvPr>
          <p:cNvCxnSpPr>
            <a:cxnSpLocks/>
          </p:cNvCxnSpPr>
          <p:nvPr/>
        </p:nvCxnSpPr>
        <p:spPr>
          <a:xfrm>
            <a:off x="6994948" y="6702698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8" name="Freeform 6">
            <a:extLst>
              <a:ext uri="{FF2B5EF4-FFF2-40B4-BE49-F238E27FC236}">
                <a16:creationId xmlns:a16="http://schemas.microsoft.com/office/drawing/2014/main" id="{F8826E76-CC55-92E6-5961-F1D4F1DC28B0}"/>
              </a:ext>
            </a:extLst>
          </p:cNvPr>
          <p:cNvSpPr/>
          <p:nvPr/>
        </p:nvSpPr>
        <p:spPr>
          <a:xfrm>
            <a:off x="5490613" y="7381100"/>
            <a:ext cx="3024380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All of parameters are significance</a:t>
            </a:r>
            <a:endParaRPr lang="zh-TW" altLang="en-US" sz="2800" dirty="0"/>
          </a:p>
        </p:txBody>
      </p:sp>
      <p:cxnSp>
        <p:nvCxnSpPr>
          <p:cNvPr id="2089" name="直線單箭頭接點 2088">
            <a:extLst>
              <a:ext uri="{FF2B5EF4-FFF2-40B4-BE49-F238E27FC236}">
                <a16:creationId xmlns:a16="http://schemas.microsoft.com/office/drawing/2014/main" id="{FCA90A86-F1A6-C0AF-BE80-362ADACBBA8B}"/>
              </a:ext>
            </a:extLst>
          </p:cNvPr>
          <p:cNvCxnSpPr>
            <a:cxnSpLocks/>
          </p:cNvCxnSpPr>
          <p:nvPr/>
        </p:nvCxnSpPr>
        <p:spPr>
          <a:xfrm>
            <a:off x="10493264" y="6702698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0" name="Freeform 6">
            <a:extLst>
              <a:ext uri="{FF2B5EF4-FFF2-40B4-BE49-F238E27FC236}">
                <a16:creationId xmlns:a16="http://schemas.microsoft.com/office/drawing/2014/main" id="{238F27E4-E781-E3F8-B217-AAF0E74EC52D}"/>
              </a:ext>
            </a:extLst>
          </p:cNvPr>
          <p:cNvSpPr/>
          <p:nvPr/>
        </p:nvSpPr>
        <p:spPr>
          <a:xfrm>
            <a:off x="8863569" y="7381099"/>
            <a:ext cx="3259391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Some parameters are non-significance</a:t>
            </a:r>
            <a:endParaRPr lang="zh-TW" altLang="en-US" sz="2800" dirty="0"/>
          </a:p>
        </p:txBody>
      </p:sp>
      <p:sp>
        <p:nvSpPr>
          <p:cNvPr id="2091" name="AutoShape 55">
            <a:extLst>
              <a:ext uri="{FF2B5EF4-FFF2-40B4-BE49-F238E27FC236}">
                <a16:creationId xmlns:a16="http://schemas.microsoft.com/office/drawing/2014/main" id="{F68686B4-BD97-F01B-673F-D6B5C0227B34}"/>
              </a:ext>
            </a:extLst>
          </p:cNvPr>
          <p:cNvSpPr/>
          <p:nvPr/>
        </p:nvSpPr>
        <p:spPr>
          <a:xfrm flipV="1">
            <a:off x="12122960" y="7915371"/>
            <a:ext cx="1022308" cy="0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092" name="Freeform 6">
            <a:extLst>
              <a:ext uri="{FF2B5EF4-FFF2-40B4-BE49-F238E27FC236}">
                <a16:creationId xmlns:a16="http://schemas.microsoft.com/office/drawing/2014/main" id="{223646E6-7517-2764-01BA-435C7401D2DA}"/>
              </a:ext>
            </a:extLst>
          </p:cNvPr>
          <p:cNvSpPr/>
          <p:nvPr/>
        </p:nvSpPr>
        <p:spPr>
          <a:xfrm>
            <a:off x="13145268" y="7381099"/>
            <a:ext cx="3741635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Remove the most non-significance parameter</a:t>
            </a:r>
            <a:endParaRPr lang="zh-TW" altLang="en-US" sz="2800" dirty="0"/>
          </a:p>
        </p:txBody>
      </p:sp>
      <p:sp>
        <p:nvSpPr>
          <p:cNvPr id="2093" name="Freeform 6">
            <a:extLst>
              <a:ext uri="{FF2B5EF4-FFF2-40B4-BE49-F238E27FC236}">
                <a16:creationId xmlns:a16="http://schemas.microsoft.com/office/drawing/2014/main" id="{8E064F39-51EC-FB11-C3FA-7BBC28252A34}"/>
              </a:ext>
            </a:extLst>
          </p:cNvPr>
          <p:cNvSpPr/>
          <p:nvPr/>
        </p:nvSpPr>
        <p:spPr>
          <a:xfrm>
            <a:off x="13646713" y="5869264"/>
            <a:ext cx="2738744" cy="680690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Refit the model</a:t>
            </a:r>
          </a:p>
        </p:txBody>
      </p:sp>
      <p:cxnSp>
        <p:nvCxnSpPr>
          <p:cNvPr id="2095" name="直線單箭頭接點 2094">
            <a:extLst>
              <a:ext uri="{FF2B5EF4-FFF2-40B4-BE49-F238E27FC236}">
                <a16:creationId xmlns:a16="http://schemas.microsoft.com/office/drawing/2014/main" id="{225F0E76-C37B-0254-FB35-0FCA97E17268}"/>
              </a:ext>
            </a:extLst>
          </p:cNvPr>
          <p:cNvCxnSpPr>
            <a:cxnSpLocks/>
          </p:cNvCxnSpPr>
          <p:nvPr/>
        </p:nvCxnSpPr>
        <p:spPr>
          <a:xfrm flipV="1">
            <a:off x="15046998" y="6645453"/>
            <a:ext cx="0" cy="73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9" name="直線單箭頭接點 2098">
            <a:extLst>
              <a:ext uri="{FF2B5EF4-FFF2-40B4-BE49-F238E27FC236}">
                <a16:creationId xmlns:a16="http://schemas.microsoft.com/office/drawing/2014/main" id="{6408E069-165C-DDDF-CEBA-B978EC23B73E}"/>
              </a:ext>
            </a:extLst>
          </p:cNvPr>
          <p:cNvCxnSpPr>
            <a:cxnSpLocks/>
            <a:endCxn id="2083" idx="3"/>
          </p:cNvCxnSpPr>
          <p:nvPr/>
        </p:nvCxnSpPr>
        <p:spPr>
          <a:xfrm flipH="1">
            <a:off x="11562733" y="6209609"/>
            <a:ext cx="20839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2" name="直線單箭頭接點 2101">
            <a:extLst>
              <a:ext uri="{FF2B5EF4-FFF2-40B4-BE49-F238E27FC236}">
                <a16:creationId xmlns:a16="http://schemas.microsoft.com/office/drawing/2014/main" id="{448DF07D-DB22-F080-AD90-7B42E33644C6}"/>
              </a:ext>
            </a:extLst>
          </p:cNvPr>
          <p:cNvCxnSpPr>
            <a:cxnSpLocks/>
            <a:endCxn id="20" idx="3"/>
          </p:cNvCxnSpPr>
          <p:nvPr/>
        </p:nvCxnSpPr>
        <p:spPr>
          <a:xfrm flipH="1" flipV="1">
            <a:off x="3241002" y="7845105"/>
            <a:ext cx="2249611" cy="2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07" name="圖片 2106">
            <a:extLst>
              <a:ext uri="{FF2B5EF4-FFF2-40B4-BE49-F238E27FC236}">
                <a16:creationId xmlns:a16="http://schemas.microsoft.com/office/drawing/2014/main" id="{5D15BC37-1485-55C3-7FA6-C606382CF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551" y="1250818"/>
            <a:ext cx="6274382" cy="2542000"/>
          </a:xfrm>
          <a:prstGeom prst="rect">
            <a:avLst/>
          </a:prstGeom>
        </p:spPr>
      </p:pic>
      <p:sp>
        <p:nvSpPr>
          <p:cNvPr id="2104" name="文字方塊 2103">
            <a:extLst>
              <a:ext uri="{FF2B5EF4-FFF2-40B4-BE49-F238E27FC236}">
                <a16:creationId xmlns:a16="http://schemas.microsoft.com/office/drawing/2014/main" id="{6D236ACF-80F3-4397-44EC-D79C33B1C350}"/>
              </a:ext>
            </a:extLst>
          </p:cNvPr>
          <p:cNvSpPr txBox="1"/>
          <p:nvPr/>
        </p:nvSpPr>
        <p:spPr>
          <a:xfrm>
            <a:off x="3410441" y="1924309"/>
            <a:ext cx="42356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</a:t>
            </a:r>
          </a:p>
          <a:p>
            <a:r>
              <a:rPr lang="en-US" altLang="zh-TW" sz="2800" dirty="0" err="1"/>
              <a:t>arima</a:t>
            </a:r>
            <a:r>
              <a:rPr lang="en-US" altLang="zh-TW" sz="2800" dirty="0"/>
              <a:t>(data, order=c(</a:t>
            </a:r>
            <a:r>
              <a:rPr lang="en-US" altLang="zh-TW" sz="2800" dirty="0" err="1"/>
              <a:t>p,d,q</a:t>
            </a:r>
            <a:r>
              <a:rPr lang="en-US" altLang="zh-TW" sz="2800" dirty="0"/>
              <a:t>)) </a:t>
            </a:r>
            <a:endParaRPr lang="zh-TW" altLang="en-US" sz="28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3C22D14-8DD5-EE1C-B6C2-7C010507C39C}"/>
              </a:ext>
            </a:extLst>
          </p:cNvPr>
          <p:cNvSpPr txBox="1"/>
          <p:nvPr/>
        </p:nvSpPr>
        <p:spPr>
          <a:xfrm>
            <a:off x="3410441" y="1251719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033328B5-46CE-FF42-78A9-42983B763707}"/>
              </a:ext>
            </a:extLst>
          </p:cNvPr>
          <p:cNvSpPr/>
          <p:nvPr/>
        </p:nvSpPr>
        <p:spPr>
          <a:xfrm>
            <a:off x="10064186" y="8554876"/>
            <a:ext cx="1173556" cy="1173556"/>
          </a:xfrm>
          <a:custGeom>
            <a:avLst/>
            <a:gdLst/>
            <a:ahLst/>
            <a:cxnLst/>
            <a:rect l="l" t="t" r="r" b="b"/>
            <a:pathLst>
              <a:path w="1173556" h="1173556">
                <a:moveTo>
                  <a:pt x="0" y="0"/>
                </a:moveTo>
                <a:lnTo>
                  <a:pt x="1173555" y="0"/>
                </a:lnTo>
                <a:lnTo>
                  <a:pt x="1173555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" name="文字方塊 2047">
                <a:extLst>
                  <a:ext uri="{FF2B5EF4-FFF2-40B4-BE49-F238E27FC236}">
                    <a16:creationId xmlns:a16="http://schemas.microsoft.com/office/drawing/2014/main" id="{C5C22619-EF5C-3CEC-8E40-4CECE72BA3C1}"/>
                  </a:ext>
                </a:extLst>
              </p:cNvPr>
              <p:cNvSpPr txBox="1"/>
              <p:nvPr/>
            </p:nvSpPr>
            <p:spPr>
              <a:xfrm>
                <a:off x="13130939" y="3906729"/>
                <a:ext cx="1243994" cy="1060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altLang="zh-TW" sz="32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altLang="zh-TW" sz="3200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48" name="文字方塊 2047">
                <a:extLst>
                  <a:ext uri="{FF2B5EF4-FFF2-40B4-BE49-F238E27FC236}">
                    <a16:creationId xmlns:a16="http://schemas.microsoft.com/office/drawing/2014/main" id="{C5C22619-EF5C-3CEC-8E40-4CECE72BA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0939" y="3906729"/>
                <a:ext cx="1243994" cy="10608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713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07" name="圖片 2106">
            <a:extLst>
              <a:ext uri="{FF2B5EF4-FFF2-40B4-BE49-F238E27FC236}">
                <a16:creationId xmlns:a16="http://schemas.microsoft.com/office/drawing/2014/main" id="{5D15BC37-1485-55C3-7FA6-C606382CF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551" y="1250818"/>
            <a:ext cx="6274382" cy="2542000"/>
          </a:xfrm>
          <a:prstGeom prst="rect">
            <a:avLst/>
          </a:prstGeom>
        </p:spPr>
      </p:pic>
      <p:sp>
        <p:nvSpPr>
          <p:cNvPr id="2104" name="文字方塊 2103">
            <a:extLst>
              <a:ext uri="{FF2B5EF4-FFF2-40B4-BE49-F238E27FC236}">
                <a16:creationId xmlns:a16="http://schemas.microsoft.com/office/drawing/2014/main" id="{6D236ACF-80F3-4397-44EC-D79C33B1C350}"/>
              </a:ext>
            </a:extLst>
          </p:cNvPr>
          <p:cNvSpPr txBox="1"/>
          <p:nvPr/>
        </p:nvSpPr>
        <p:spPr>
          <a:xfrm>
            <a:off x="3410441" y="1924309"/>
            <a:ext cx="42356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</a:t>
            </a:r>
          </a:p>
          <a:p>
            <a:r>
              <a:rPr lang="en-US" altLang="zh-TW" sz="2800" dirty="0" err="1"/>
              <a:t>arima</a:t>
            </a:r>
            <a:r>
              <a:rPr lang="en-US" altLang="zh-TW" sz="2800" dirty="0"/>
              <a:t>(data, order=c(</a:t>
            </a:r>
            <a:r>
              <a:rPr lang="en-US" altLang="zh-TW" sz="2800" dirty="0" err="1"/>
              <a:t>p,d,q</a:t>
            </a:r>
            <a:r>
              <a:rPr lang="en-US" altLang="zh-TW" sz="2800" dirty="0"/>
              <a:t>)) </a:t>
            </a:r>
            <a:endParaRPr lang="zh-TW" altLang="en-US" sz="28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3C22D14-8DD5-EE1C-B6C2-7C010507C39C}"/>
              </a:ext>
            </a:extLst>
          </p:cNvPr>
          <p:cNvSpPr txBox="1"/>
          <p:nvPr/>
        </p:nvSpPr>
        <p:spPr>
          <a:xfrm>
            <a:off x="3410441" y="1251719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sp>
        <p:nvSpPr>
          <p:cNvPr id="2048" name="文字方塊 2047">
            <a:extLst>
              <a:ext uri="{FF2B5EF4-FFF2-40B4-BE49-F238E27FC236}">
                <a16:creationId xmlns:a16="http://schemas.microsoft.com/office/drawing/2014/main" id="{4AC3BBCB-FDAB-C56F-3195-8EECB6786C95}"/>
              </a:ext>
            </a:extLst>
          </p:cNvPr>
          <p:cNvSpPr txBox="1"/>
          <p:nvPr/>
        </p:nvSpPr>
        <p:spPr>
          <a:xfrm>
            <a:off x="3295476" y="6750654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51" name="接點: 弧形 2050">
            <a:extLst>
              <a:ext uri="{FF2B5EF4-FFF2-40B4-BE49-F238E27FC236}">
                <a16:creationId xmlns:a16="http://schemas.microsoft.com/office/drawing/2014/main" id="{7D9396AA-5CB7-5FDF-1B1C-B356392607EF}"/>
              </a:ext>
            </a:extLst>
          </p:cNvPr>
          <p:cNvCxnSpPr>
            <a:cxnSpLocks/>
            <a:stCxn id="17" idx="3"/>
            <a:endCxn id="20" idx="3"/>
          </p:cNvCxnSpPr>
          <p:nvPr/>
        </p:nvCxnSpPr>
        <p:spPr>
          <a:xfrm>
            <a:off x="3241002" y="6185436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5" name="圖片 2054">
            <a:extLst>
              <a:ext uri="{FF2B5EF4-FFF2-40B4-BE49-F238E27FC236}">
                <a16:creationId xmlns:a16="http://schemas.microsoft.com/office/drawing/2014/main" id="{AAA57EFB-AF64-E1C3-66F8-568E7D8F6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365" y="3768544"/>
            <a:ext cx="7590130" cy="2982109"/>
          </a:xfrm>
          <a:prstGeom prst="rect">
            <a:avLst/>
          </a:prstGeom>
        </p:spPr>
      </p:pic>
      <p:sp>
        <p:nvSpPr>
          <p:cNvPr id="2056" name="矩形 2055">
            <a:extLst>
              <a:ext uri="{FF2B5EF4-FFF2-40B4-BE49-F238E27FC236}">
                <a16:creationId xmlns:a16="http://schemas.microsoft.com/office/drawing/2014/main" id="{E2885E28-D74A-BF63-5E42-28721DA15BB0}"/>
              </a:ext>
            </a:extLst>
          </p:cNvPr>
          <p:cNvSpPr/>
          <p:nvPr/>
        </p:nvSpPr>
        <p:spPr>
          <a:xfrm>
            <a:off x="5528264" y="5288837"/>
            <a:ext cx="1178281" cy="924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8" name="圖片 2057">
            <a:extLst>
              <a:ext uri="{FF2B5EF4-FFF2-40B4-BE49-F238E27FC236}">
                <a16:creationId xmlns:a16="http://schemas.microsoft.com/office/drawing/2014/main" id="{72A8C697-DD7F-42AB-6805-33B89AFF31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976" y="6808799"/>
            <a:ext cx="7690772" cy="2982108"/>
          </a:xfrm>
          <a:prstGeom prst="rect">
            <a:avLst/>
          </a:prstGeom>
        </p:spPr>
      </p:pic>
      <p:pic>
        <p:nvPicPr>
          <p:cNvPr id="2059" name="圖片 2058">
            <a:extLst>
              <a:ext uri="{FF2B5EF4-FFF2-40B4-BE49-F238E27FC236}">
                <a16:creationId xmlns:a16="http://schemas.microsoft.com/office/drawing/2014/main" id="{4F915773-7368-EE8F-BB1D-EE269D621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4635" y="5562072"/>
            <a:ext cx="6463365" cy="4724928"/>
          </a:xfrm>
          <a:prstGeom prst="rect">
            <a:avLst/>
          </a:prstGeom>
        </p:spPr>
      </p:pic>
      <p:cxnSp>
        <p:nvCxnSpPr>
          <p:cNvPr id="2060" name="直線接點 2059">
            <a:extLst>
              <a:ext uri="{FF2B5EF4-FFF2-40B4-BE49-F238E27FC236}">
                <a16:creationId xmlns:a16="http://schemas.microsoft.com/office/drawing/2014/main" id="{A89E3EB2-6E67-0BF9-F4E4-845C47DD3ABF}"/>
              </a:ext>
            </a:extLst>
          </p:cNvPr>
          <p:cNvCxnSpPr>
            <a:cxnSpLocks/>
          </p:cNvCxnSpPr>
          <p:nvPr/>
        </p:nvCxnSpPr>
        <p:spPr>
          <a:xfrm>
            <a:off x="12388645" y="6808799"/>
            <a:ext cx="24187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61" name="直線接點 2060">
            <a:extLst>
              <a:ext uri="{FF2B5EF4-FFF2-40B4-BE49-F238E27FC236}">
                <a16:creationId xmlns:a16="http://schemas.microsoft.com/office/drawing/2014/main" id="{19944372-A56E-3639-9B5D-E258913B10B8}"/>
              </a:ext>
            </a:extLst>
          </p:cNvPr>
          <p:cNvCxnSpPr>
            <a:cxnSpLocks/>
          </p:cNvCxnSpPr>
          <p:nvPr/>
        </p:nvCxnSpPr>
        <p:spPr>
          <a:xfrm>
            <a:off x="12388645" y="6831768"/>
            <a:ext cx="2286000" cy="25924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57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圖片 2053">
            <a:extLst>
              <a:ext uri="{FF2B5EF4-FFF2-40B4-BE49-F238E27FC236}">
                <a16:creationId xmlns:a16="http://schemas.microsoft.com/office/drawing/2014/main" id="{5DDBFD6D-4FC7-F362-17E9-DEEC7ECE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70" y="3733650"/>
            <a:ext cx="7593765" cy="6288386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07" name="圖片 2106">
            <a:extLst>
              <a:ext uri="{FF2B5EF4-FFF2-40B4-BE49-F238E27FC236}">
                <a16:creationId xmlns:a16="http://schemas.microsoft.com/office/drawing/2014/main" id="{5D15BC37-1485-55C3-7FA6-C606382CF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551" y="1250818"/>
            <a:ext cx="6274382" cy="2542000"/>
          </a:xfrm>
          <a:prstGeom prst="rect">
            <a:avLst/>
          </a:prstGeom>
        </p:spPr>
      </p:pic>
      <p:sp>
        <p:nvSpPr>
          <p:cNvPr id="2104" name="文字方塊 2103">
            <a:extLst>
              <a:ext uri="{FF2B5EF4-FFF2-40B4-BE49-F238E27FC236}">
                <a16:creationId xmlns:a16="http://schemas.microsoft.com/office/drawing/2014/main" id="{6D236ACF-80F3-4397-44EC-D79C33B1C350}"/>
              </a:ext>
            </a:extLst>
          </p:cNvPr>
          <p:cNvSpPr txBox="1"/>
          <p:nvPr/>
        </p:nvSpPr>
        <p:spPr>
          <a:xfrm>
            <a:off x="3410441" y="1924309"/>
            <a:ext cx="42356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</a:t>
            </a:r>
          </a:p>
          <a:p>
            <a:r>
              <a:rPr lang="en-US" altLang="zh-TW" sz="2800" dirty="0" err="1"/>
              <a:t>arima</a:t>
            </a:r>
            <a:r>
              <a:rPr lang="en-US" altLang="zh-TW" sz="2800" dirty="0"/>
              <a:t>(data, order=c(</a:t>
            </a:r>
            <a:r>
              <a:rPr lang="en-US" altLang="zh-TW" sz="2800" dirty="0" err="1"/>
              <a:t>p,d,q</a:t>
            </a:r>
            <a:r>
              <a:rPr lang="en-US" altLang="zh-TW" sz="2800" dirty="0"/>
              <a:t>)) </a:t>
            </a:r>
            <a:endParaRPr lang="zh-TW" altLang="en-US" sz="28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3C22D14-8DD5-EE1C-B6C2-7C010507C39C}"/>
              </a:ext>
            </a:extLst>
          </p:cNvPr>
          <p:cNvSpPr txBox="1"/>
          <p:nvPr/>
        </p:nvSpPr>
        <p:spPr>
          <a:xfrm>
            <a:off x="3410441" y="1251719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sp>
        <p:nvSpPr>
          <p:cNvPr id="2048" name="文字方塊 2047">
            <a:extLst>
              <a:ext uri="{FF2B5EF4-FFF2-40B4-BE49-F238E27FC236}">
                <a16:creationId xmlns:a16="http://schemas.microsoft.com/office/drawing/2014/main" id="{4AC3BBCB-FDAB-C56F-3195-8EECB6786C95}"/>
              </a:ext>
            </a:extLst>
          </p:cNvPr>
          <p:cNvSpPr txBox="1"/>
          <p:nvPr/>
        </p:nvSpPr>
        <p:spPr>
          <a:xfrm>
            <a:off x="3295476" y="6750654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51" name="接點: 弧形 2050">
            <a:extLst>
              <a:ext uri="{FF2B5EF4-FFF2-40B4-BE49-F238E27FC236}">
                <a16:creationId xmlns:a16="http://schemas.microsoft.com/office/drawing/2014/main" id="{7D9396AA-5CB7-5FDF-1B1C-B356392607EF}"/>
              </a:ext>
            </a:extLst>
          </p:cNvPr>
          <p:cNvCxnSpPr>
            <a:cxnSpLocks/>
            <a:stCxn id="17" idx="3"/>
            <a:endCxn id="20" idx="3"/>
          </p:cNvCxnSpPr>
          <p:nvPr/>
        </p:nvCxnSpPr>
        <p:spPr>
          <a:xfrm>
            <a:off x="3241002" y="6185436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6" name="矩形 2055">
            <a:extLst>
              <a:ext uri="{FF2B5EF4-FFF2-40B4-BE49-F238E27FC236}">
                <a16:creationId xmlns:a16="http://schemas.microsoft.com/office/drawing/2014/main" id="{E2885E28-D74A-BF63-5E42-28721DA15BB0}"/>
              </a:ext>
            </a:extLst>
          </p:cNvPr>
          <p:cNvSpPr/>
          <p:nvPr/>
        </p:nvSpPr>
        <p:spPr>
          <a:xfrm>
            <a:off x="4917199" y="5389446"/>
            <a:ext cx="900077" cy="923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7804606-A28C-6D02-05B6-FB7AD2B16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4635" y="5562072"/>
            <a:ext cx="6463365" cy="4724928"/>
          </a:xfrm>
          <a:prstGeom prst="rect">
            <a:avLst/>
          </a:prstGeom>
        </p:spPr>
      </p:pic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93A7317-7725-7355-D19C-836E3E563C91}"/>
              </a:ext>
            </a:extLst>
          </p:cNvPr>
          <p:cNvCxnSpPr>
            <a:cxnSpLocks/>
          </p:cNvCxnSpPr>
          <p:nvPr/>
        </p:nvCxnSpPr>
        <p:spPr>
          <a:xfrm>
            <a:off x="12388645" y="6808799"/>
            <a:ext cx="24187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8D134CB7-BFEA-95E7-E1BC-2805DCBD37D2}"/>
              </a:ext>
            </a:extLst>
          </p:cNvPr>
          <p:cNvCxnSpPr>
            <a:cxnSpLocks/>
          </p:cNvCxnSpPr>
          <p:nvPr/>
        </p:nvCxnSpPr>
        <p:spPr>
          <a:xfrm>
            <a:off x="12388645" y="6831768"/>
            <a:ext cx="2286000" cy="25924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55" name="矩形 2054">
            <a:extLst>
              <a:ext uri="{FF2B5EF4-FFF2-40B4-BE49-F238E27FC236}">
                <a16:creationId xmlns:a16="http://schemas.microsoft.com/office/drawing/2014/main" id="{BA5D7734-8F88-7DCA-5725-D36CCB4D4D2C}"/>
              </a:ext>
            </a:extLst>
          </p:cNvPr>
          <p:cNvSpPr/>
          <p:nvPr/>
        </p:nvSpPr>
        <p:spPr>
          <a:xfrm>
            <a:off x="5572607" y="8500726"/>
            <a:ext cx="900077" cy="923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45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圖片 2052">
            <a:extLst>
              <a:ext uri="{FF2B5EF4-FFF2-40B4-BE49-F238E27FC236}">
                <a16:creationId xmlns:a16="http://schemas.microsoft.com/office/drawing/2014/main" id="{007941CA-9D72-9251-7E8B-DE3AEE11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910" y="3723703"/>
            <a:ext cx="7612388" cy="6298333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107" name="圖片 2106">
            <a:extLst>
              <a:ext uri="{FF2B5EF4-FFF2-40B4-BE49-F238E27FC236}">
                <a16:creationId xmlns:a16="http://schemas.microsoft.com/office/drawing/2014/main" id="{5D15BC37-1485-55C3-7FA6-C606382CF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551" y="1250818"/>
            <a:ext cx="6274382" cy="2542000"/>
          </a:xfrm>
          <a:prstGeom prst="rect">
            <a:avLst/>
          </a:prstGeom>
        </p:spPr>
      </p:pic>
      <p:sp>
        <p:nvSpPr>
          <p:cNvPr id="2104" name="文字方塊 2103">
            <a:extLst>
              <a:ext uri="{FF2B5EF4-FFF2-40B4-BE49-F238E27FC236}">
                <a16:creationId xmlns:a16="http://schemas.microsoft.com/office/drawing/2014/main" id="{6D236ACF-80F3-4397-44EC-D79C33B1C350}"/>
              </a:ext>
            </a:extLst>
          </p:cNvPr>
          <p:cNvSpPr txBox="1"/>
          <p:nvPr/>
        </p:nvSpPr>
        <p:spPr>
          <a:xfrm>
            <a:off x="3410441" y="1924309"/>
            <a:ext cx="42356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R code:</a:t>
            </a:r>
          </a:p>
          <a:p>
            <a:r>
              <a:rPr lang="en-US" altLang="zh-TW" sz="2800" dirty="0" err="1"/>
              <a:t>arima</a:t>
            </a:r>
            <a:r>
              <a:rPr lang="en-US" altLang="zh-TW" sz="2800" dirty="0"/>
              <a:t>(data, order=c(</a:t>
            </a:r>
            <a:r>
              <a:rPr lang="en-US" altLang="zh-TW" sz="2800" dirty="0" err="1"/>
              <a:t>p,d,q</a:t>
            </a:r>
            <a:r>
              <a:rPr lang="en-US" altLang="zh-TW" sz="2800" dirty="0"/>
              <a:t>)) </a:t>
            </a:r>
            <a:endParaRPr lang="zh-TW" altLang="en-US" sz="28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3C22D14-8DD5-EE1C-B6C2-7C010507C39C}"/>
              </a:ext>
            </a:extLst>
          </p:cNvPr>
          <p:cNvSpPr txBox="1"/>
          <p:nvPr/>
        </p:nvSpPr>
        <p:spPr>
          <a:xfrm>
            <a:off x="3410441" y="1251719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sp>
        <p:nvSpPr>
          <p:cNvPr id="2048" name="文字方塊 2047">
            <a:extLst>
              <a:ext uri="{FF2B5EF4-FFF2-40B4-BE49-F238E27FC236}">
                <a16:creationId xmlns:a16="http://schemas.microsoft.com/office/drawing/2014/main" id="{4AC3BBCB-FDAB-C56F-3195-8EECB6786C95}"/>
              </a:ext>
            </a:extLst>
          </p:cNvPr>
          <p:cNvSpPr txBox="1"/>
          <p:nvPr/>
        </p:nvSpPr>
        <p:spPr>
          <a:xfrm>
            <a:off x="3295476" y="6750654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51" name="接點: 弧形 2050">
            <a:extLst>
              <a:ext uri="{FF2B5EF4-FFF2-40B4-BE49-F238E27FC236}">
                <a16:creationId xmlns:a16="http://schemas.microsoft.com/office/drawing/2014/main" id="{7D9396AA-5CB7-5FDF-1B1C-B356392607EF}"/>
              </a:ext>
            </a:extLst>
          </p:cNvPr>
          <p:cNvCxnSpPr>
            <a:cxnSpLocks/>
            <a:stCxn id="17" idx="3"/>
            <a:endCxn id="20" idx="3"/>
          </p:cNvCxnSpPr>
          <p:nvPr/>
        </p:nvCxnSpPr>
        <p:spPr>
          <a:xfrm>
            <a:off x="3241002" y="6185436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6" name="矩形 2055">
            <a:extLst>
              <a:ext uri="{FF2B5EF4-FFF2-40B4-BE49-F238E27FC236}">
                <a16:creationId xmlns:a16="http://schemas.microsoft.com/office/drawing/2014/main" id="{E2885E28-D74A-BF63-5E42-28721DA15BB0}"/>
              </a:ext>
            </a:extLst>
          </p:cNvPr>
          <p:cNvSpPr/>
          <p:nvPr/>
        </p:nvSpPr>
        <p:spPr>
          <a:xfrm>
            <a:off x="5612608" y="5330241"/>
            <a:ext cx="900077" cy="923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07804606-A28C-6D02-05B6-FB7AD2B16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4635" y="5562072"/>
            <a:ext cx="6463365" cy="4724928"/>
          </a:xfrm>
          <a:prstGeom prst="rect">
            <a:avLst/>
          </a:prstGeom>
        </p:spPr>
      </p:pic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5DE188D-119D-CC17-D3E0-1AE2CE3A7775}"/>
              </a:ext>
            </a:extLst>
          </p:cNvPr>
          <p:cNvCxnSpPr>
            <a:cxnSpLocks/>
          </p:cNvCxnSpPr>
          <p:nvPr/>
        </p:nvCxnSpPr>
        <p:spPr>
          <a:xfrm>
            <a:off x="12760998" y="7594574"/>
            <a:ext cx="2418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0" name="直線接點 2049">
            <a:extLst>
              <a:ext uri="{FF2B5EF4-FFF2-40B4-BE49-F238E27FC236}">
                <a16:creationId xmlns:a16="http://schemas.microsoft.com/office/drawing/2014/main" id="{B51FF5E8-0E14-1945-DFB1-BADEF42CD02E}"/>
              </a:ext>
            </a:extLst>
          </p:cNvPr>
          <p:cNvCxnSpPr>
            <a:cxnSpLocks/>
          </p:cNvCxnSpPr>
          <p:nvPr/>
        </p:nvCxnSpPr>
        <p:spPr>
          <a:xfrm>
            <a:off x="12760998" y="7617543"/>
            <a:ext cx="2286000" cy="2592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548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4EFCB28C-BABB-32D2-2B9A-DAD8E1D48D76}"/>
              </a:ext>
            </a:extLst>
          </p:cNvPr>
          <p:cNvGrpSpPr/>
          <p:nvPr/>
        </p:nvGrpSpPr>
        <p:grpSpPr>
          <a:xfrm>
            <a:off x="5492975" y="3791391"/>
            <a:ext cx="6629985" cy="1246728"/>
            <a:chOff x="0" y="-57150"/>
            <a:chExt cx="870293" cy="290893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6C19DDD-048C-B6C6-E1BB-8DE9BD061574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8AF5A2A1-BDE6-EC33-2A8A-07EA8128C78C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FF0000"/>
                  </a:solidFill>
                  <a:ea typeface="圓體"/>
                </a:rPr>
                <a:t>Maximum Likelihood Estimation(MLE)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Least Square Estimation(LSE)</a:t>
              </a:r>
            </a:p>
          </p:txBody>
        </p:sp>
      </p:grpSp>
      <p:cxnSp>
        <p:nvCxnSpPr>
          <p:cNvPr id="2077" name="接點: 肘形 2076">
            <a:extLst>
              <a:ext uri="{FF2B5EF4-FFF2-40B4-BE49-F238E27FC236}">
                <a16:creationId xmlns:a16="http://schemas.microsoft.com/office/drawing/2014/main" id="{668CD4AE-7819-AC8B-6C98-CBB5687641DA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3241002" y="4376341"/>
            <a:ext cx="2251973" cy="18090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0" name="直線單箭頭接點 2079">
            <a:extLst>
              <a:ext uri="{FF2B5EF4-FFF2-40B4-BE49-F238E27FC236}">
                <a16:creationId xmlns:a16="http://schemas.microsoft.com/office/drawing/2014/main" id="{98ED3F05-71DE-FD26-D419-3D78B251925C}"/>
              </a:ext>
            </a:extLst>
          </p:cNvPr>
          <p:cNvCxnSpPr>
            <a:cxnSpLocks/>
          </p:cNvCxnSpPr>
          <p:nvPr/>
        </p:nvCxnSpPr>
        <p:spPr>
          <a:xfrm>
            <a:off x="8251738" y="5143500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81" name="Group 5">
            <a:extLst>
              <a:ext uri="{FF2B5EF4-FFF2-40B4-BE49-F238E27FC236}">
                <a16:creationId xmlns:a16="http://schemas.microsoft.com/office/drawing/2014/main" id="{33CA874A-3416-B1A9-91DF-4CAD441D1A9E}"/>
              </a:ext>
            </a:extLst>
          </p:cNvPr>
          <p:cNvGrpSpPr/>
          <p:nvPr/>
        </p:nvGrpSpPr>
        <p:grpSpPr>
          <a:xfrm>
            <a:off x="5490613" y="5858941"/>
            <a:ext cx="5574885" cy="928932"/>
            <a:chOff x="0" y="-57150"/>
            <a:chExt cx="870293" cy="290893"/>
          </a:xfrm>
        </p:grpSpPr>
        <p:sp>
          <p:nvSpPr>
            <p:cNvPr id="2082" name="Freeform 6">
              <a:extLst>
                <a:ext uri="{FF2B5EF4-FFF2-40B4-BE49-F238E27FC236}">
                  <a16:creationId xmlns:a16="http://schemas.microsoft.com/office/drawing/2014/main" id="{2D464757-5330-54F4-7D69-DE7C5EFE9CA7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83" name="TextBox 7">
              <a:extLst>
                <a:ext uri="{FF2B5EF4-FFF2-40B4-BE49-F238E27FC236}">
                  <a16:creationId xmlns:a16="http://schemas.microsoft.com/office/drawing/2014/main" id="{7AA26086-4756-56F2-EF19-AAF9DCFEDCF1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ea typeface="圓體"/>
                </a:rPr>
                <a:t>Check significance of parameters</a:t>
              </a:r>
            </a:p>
          </p:txBody>
        </p:sp>
      </p:grpSp>
      <p:cxnSp>
        <p:nvCxnSpPr>
          <p:cNvPr id="2084" name="直線單箭頭接點 2083">
            <a:extLst>
              <a:ext uri="{FF2B5EF4-FFF2-40B4-BE49-F238E27FC236}">
                <a16:creationId xmlns:a16="http://schemas.microsoft.com/office/drawing/2014/main" id="{3597863D-2F5C-85E6-AC4E-5831885957CE}"/>
              </a:ext>
            </a:extLst>
          </p:cNvPr>
          <p:cNvCxnSpPr>
            <a:cxnSpLocks/>
          </p:cNvCxnSpPr>
          <p:nvPr/>
        </p:nvCxnSpPr>
        <p:spPr>
          <a:xfrm flipH="1">
            <a:off x="6994948" y="6787873"/>
            <a:ext cx="7855" cy="595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8" name="Freeform 6">
            <a:extLst>
              <a:ext uri="{FF2B5EF4-FFF2-40B4-BE49-F238E27FC236}">
                <a16:creationId xmlns:a16="http://schemas.microsoft.com/office/drawing/2014/main" id="{F8826E76-CC55-92E6-5961-F1D4F1DC28B0}"/>
              </a:ext>
            </a:extLst>
          </p:cNvPr>
          <p:cNvSpPr/>
          <p:nvPr/>
        </p:nvSpPr>
        <p:spPr>
          <a:xfrm>
            <a:off x="5490613" y="7381100"/>
            <a:ext cx="3024380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All of parameters are significance</a:t>
            </a:r>
            <a:endParaRPr lang="zh-TW" altLang="en-US" sz="2800" dirty="0"/>
          </a:p>
        </p:txBody>
      </p:sp>
      <p:cxnSp>
        <p:nvCxnSpPr>
          <p:cNvPr id="2102" name="直線單箭頭接點 2101">
            <a:extLst>
              <a:ext uri="{FF2B5EF4-FFF2-40B4-BE49-F238E27FC236}">
                <a16:creationId xmlns:a16="http://schemas.microsoft.com/office/drawing/2014/main" id="{448DF07D-DB22-F080-AD90-7B42E33644C6}"/>
              </a:ext>
            </a:extLst>
          </p:cNvPr>
          <p:cNvCxnSpPr>
            <a:cxnSpLocks/>
            <a:endCxn id="20" idx="3"/>
          </p:cNvCxnSpPr>
          <p:nvPr/>
        </p:nvCxnSpPr>
        <p:spPr>
          <a:xfrm flipH="1" flipV="1">
            <a:off x="3241002" y="7845105"/>
            <a:ext cx="2249611" cy="2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07" name="圖片 2106">
            <a:extLst>
              <a:ext uri="{FF2B5EF4-FFF2-40B4-BE49-F238E27FC236}">
                <a16:creationId xmlns:a16="http://schemas.microsoft.com/office/drawing/2014/main" id="{5D15BC37-1485-55C3-7FA6-C606382CF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551" y="1250818"/>
            <a:ext cx="6274382" cy="2542000"/>
          </a:xfrm>
          <a:prstGeom prst="rect">
            <a:avLst/>
          </a:prstGeom>
        </p:spPr>
      </p:pic>
      <p:sp>
        <p:nvSpPr>
          <p:cNvPr id="2108" name="文字方塊 2107">
            <a:extLst>
              <a:ext uri="{FF2B5EF4-FFF2-40B4-BE49-F238E27FC236}">
                <a16:creationId xmlns:a16="http://schemas.microsoft.com/office/drawing/2014/main" id="{E7FABA11-57F2-A441-239A-499ABCA06F5A}"/>
              </a:ext>
            </a:extLst>
          </p:cNvPr>
          <p:cNvSpPr txBox="1"/>
          <p:nvPr/>
        </p:nvSpPr>
        <p:spPr>
          <a:xfrm>
            <a:off x="3410441" y="1251719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pic>
        <p:nvPicPr>
          <p:cNvPr id="2109" name="圖片 2108">
            <a:extLst>
              <a:ext uri="{FF2B5EF4-FFF2-40B4-BE49-F238E27FC236}">
                <a16:creationId xmlns:a16="http://schemas.microsoft.com/office/drawing/2014/main" id="{85884868-EBAA-D0E6-51AD-0100744ACE0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2248" b="-1"/>
          <a:stretch/>
        </p:blipFill>
        <p:spPr>
          <a:xfrm>
            <a:off x="11065498" y="7858418"/>
            <a:ext cx="7222502" cy="2377831"/>
          </a:xfrm>
          <a:prstGeom prst="rect">
            <a:avLst/>
          </a:prstGeom>
        </p:spPr>
      </p:pic>
      <p:pic>
        <p:nvPicPr>
          <p:cNvPr id="2110" name="圖片 2109">
            <a:extLst>
              <a:ext uri="{FF2B5EF4-FFF2-40B4-BE49-F238E27FC236}">
                <a16:creationId xmlns:a16="http://schemas.microsoft.com/office/drawing/2014/main" id="{DBE4C1C5-F1C1-9E5D-66A4-639B1DEAFC8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5793"/>
          <a:stretch/>
        </p:blipFill>
        <p:spPr>
          <a:xfrm>
            <a:off x="11065498" y="5211041"/>
            <a:ext cx="7222502" cy="221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4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527209" y="1898424"/>
            <a:ext cx="9233581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8. Model diagnostic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6295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279A382F-03F7-74F8-7040-67655FF998BD}"/>
              </a:ext>
            </a:extLst>
          </p:cNvPr>
          <p:cNvGrpSpPr/>
          <p:nvPr/>
        </p:nvGrpSpPr>
        <p:grpSpPr>
          <a:xfrm>
            <a:off x="5271749" y="1155220"/>
            <a:ext cx="6629985" cy="1246728"/>
            <a:chOff x="0" y="-57150"/>
            <a:chExt cx="870293" cy="290893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B237336D-7267-BB6A-E2EF-5B307C252145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7">
                  <a:extLst>
                    <a:ext uri="{FF2B5EF4-FFF2-40B4-BE49-F238E27FC236}">
                      <a16:creationId xmlns:a16="http://schemas.microsoft.com/office/drawing/2014/main" id="{04C55358-D6C7-1DE6-4C4D-47A412AD6EA2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FF0000"/>
                      </a:solidFill>
                      <a:ea typeface="圓體"/>
                    </a:rPr>
                    <a:t>Residual</a:t>
                  </a: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 Diagnosis:</a:t>
                  </a:r>
                </a:p>
                <a:p>
                  <a:pPr>
                    <a:lnSpc>
                      <a:spcPts val="3919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799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799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2799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TW" sz="2799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~ </m:t>
                        </m:r>
                        <m:r>
                          <a:rPr lang="en-US" altLang="zh-TW" sz="2799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sz="2799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799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sSubSup>
                              <m:sSubSupPr>
                                <m:ctrlPr>
                                  <a:rPr lang="en-US" altLang="zh-TW" sz="2799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2799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TW" altLang="en-US" sz="2799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sub>
                              <m:sup>
                                <m:r>
                                  <a:rPr lang="en-US" altLang="zh-TW" sz="2799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en-US" altLang="zh-TW" sz="2799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799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zh-TW" sz="2799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799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799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TW" sz="2799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799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zh-TW" sz="2799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799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TW" sz="2799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799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799" dirty="0">
                    <a:solidFill>
                      <a:srgbClr val="00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8" name="TextBox 7">
                  <a:extLst>
                    <a:ext uri="{FF2B5EF4-FFF2-40B4-BE49-F238E27FC236}">
                      <a16:creationId xmlns:a16="http://schemas.microsoft.com/office/drawing/2014/main" id="{04C55358-D6C7-1DE6-4C4D-47A412AD6E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59" name="文字方塊 2058">
            <a:extLst>
              <a:ext uri="{FF2B5EF4-FFF2-40B4-BE49-F238E27FC236}">
                <a16:creationId xmlns:a16="http://schemas.microsoft.com/office/drawing/2014/main" id="{E6319EC6-D556-0BEC-AFA1-1DFA86AD7E3E}"/>
              </a:ext>
            </a:extLst>
          </p:cNvPr>
          <p:cNvSpPr txBox="1"/>
          <p:nvPr/>
        </p:nvSpPr>
        <p:spPr>
          <a:xfrm>
            <a:off x="3282776" y="8365497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60" name="接點: 弧形 2059">
            <a:extLst>
              <a:ext uri="{FF2B5EF4-FFF2-40B4-BE49-F238E27FC236}">
                <a16:creationId xmlns:a16="http://schemas.microsoft.com/office/drawing/2014/main" id="{546B0D64-7814-75DF-79C5-A9043BA9500C}"/>
              </a:ext>
            </a:extLst>
          </p:cNvPr>
          <p:cNvCxnSpPr>
            <a:cxnSpLocks/>
          </p:cNvCxnSpPr>
          <p:nvPr/>
        </p:nvCxnSpPr>
        <p:spPr>
          <a:xfrm>
            <a:off x="3228302" y="7800279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1" name="Group 5">
            <a:extLst>
              <a:ext uri="{FF2B5EF4-FFF2-40B4-BE49-F238E27FC236}">
                <a16:creationId xmlns:a16="http://schemas.microsoft.com/office/drawing/2014/main" id="{3A61E7E1-0543-7595-9A4F-084B4FB33AFB}"/>
              </a:ext>
            </a:extLst>
          </p:cNvPr>
          <p:cNvGrpSpPr/>
          <p:nvPr/>
        </p:nvGrpSpPr>
        <p:grpSpPr>
          <a:xfrm>
            <a:off x="5271750" y="2759997"/>
            <a:ext cx="6629984" cy="2421458"/>
            <a:chOff x="0" y="-57150"/>
            <a:chExt cx="870293" cy="290893"/>
          </a:xfrm>
        </p:grpSpPr>
        <p:sp>
          <p:nvSpPr>
            <p:cNvPr id="2062" name="Freeform 6">
              <a:extLst>
                <a:ext uri="{FF2B5EF4-FFF2-40B4-BE49-F238E27FC236}">
                  <a16:creationId xmlns:a16="http://schemas.microsoft.com/office/drawing/2014/main" id="{963AE729-7583-CBA1-99EE-0878ABF339B0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3" name="TextBox 7">
              <a:extLst>
                <a:ext uri="{FF2B5EF4-FFF2-40B4-BE49-F238E27FC236}">
                  <a16:creationId xmlns:a16="http://schemas.microsoft.com/office/drawing/2014/main" id="{74F1B504-1296-8746-5884-9DC7D8790A0D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3919"/>
                </a:lnSpc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1. Time series plot + histogram + QQ-plot</a:t>
              </a:r>
            </a:p>
            <a:p>
              <a:pPr>
                <a:lnSpc>
                  <a:spcPts val="3919"/>
                </a:lnSpc>
              </a:pP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檢查是否滿足</a:t>
              </a:r>
              <a:endParaRPr lang="en-US" altLang="zh-TW" sz="2799" dirty="0">
                <a:solidFill>
                  <a:srgbClr val="000000"/>
                </a:solidFill>
                <a:ea typeface="圓體"/>
              </a:endParaRP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Symmetric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Mean = 0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Outliers</a:t>
              </a:r>
            </a:p>
          </p:txBody>
        </p:sp>
      </p:grpSp>
      <p:grpSp>
        <p:nvGrpSpPr>
          <p:cNvPr id="2064" name="Group 5">
            <a:extLst>
              <a:ext uri="{FF2B5EF4-FFF2-40B4-BE49-F238E27FC236}">
                <a16:creationId xmlns:a16="http://schemas.microsoft.com/office/drawing/2014/main" id="{F821379C-6F56-755D-5DE6-ED726C8083C3}"/>
              </a:ext>
            </a:extLst>
          </p:cNvPr>
          <p:cNvGrpSpPr/>
          <p:nvPr/>
        </p:nvGrpSpPr>
        <p:grpSpPr>
          <a:xfrm>
            <a:off x="5271749" y="6115704"/>
            <a:ext cx="6629984" cy="1993103"/>
            <a:chOff x="0" y="-57150"/>
            <a:chExt cx="870293" cy="290893"/>
          </a:xfrm>
        </p:grpSpPr>
        <p:sp>
          <p:nvSpPr>
            <p:cNvPr id="2065" name="Freeform 6">
              <a:extLst>
                <a:ext uri="{FF2B5EF4-FFF2-40B4-BE49-F238E27FC236}">
                  <a16:creationId xmlns:a16="http://schemas.microsoft.com/office/drawing/2014/main" id="{30819DEC-B8B3-AEDF-1655-FA6BE3E6A676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6" name="TextBox 7">
                  <a:extLst>
                    <a:ext uri="{FF2B5EF4-FFF2-40B4-BE49-F238E27FC236}">
                      <a16:creationId xmlns:a16="http://schemas.microsoft.com/office/drawing/2014/main" id="{26CA4195-E686-56FA-6AB1-90AEEE024A50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2. T test + </a:t>
                  </a:r>
                  <a:r>
                    <a:rPr lang="en-US" sz="2799" dirty="0">
                      <a:solidFill>
                        <a:srgbClr val="FF0000"/>
                      </a:solidFill>
                      <a:ea typeface="圓體"/>
                    </a:rPr>
                    <a:t>Shapiro-Wilk test</a:t>
                  </a:r>
                </a:p>
                <a:p>
                  <a:pPr>
                    <a:lnSpc>
                      <a:spcPts val="3919"/>
                    </a:lnSpc>
                  </a:pP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檢定</a:t>
                  </a:r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  <a:p>
                  <a:pPr marL="514350" indent="-514350">
                    <a:lnSpc>
                      <a:spcPts val="3919"/>
                    </a:lnSpc>
                    <a:buAutoNum type="arabicParenBoth"/>
                  </a:pP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Mean = 0</a:t>
                  </a:r>
                </a:p>
                <a:p>
                  <a:pPr marL="514350" indent="-514350">
                    <a:lnSpc>
                      <a:spcPts val="3919"/>
                    </a:lnSpc>
                    <a:buAutoNum type="arabicParenBoth"/>
                  </a:pPr>
                  <a:r>
                    <a:rPr lang="en-US" altLang="zh-TW" sz="2799" dirty="0">
                      <a:solidFill>
                        <a:srgbClr val="FF0000"/>
                      </a:solidFill>
                      <a:ea typeface="圓體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799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799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799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799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799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sz="2799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799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sSubSup>
                            <m:sSubSupPr>
                              <m:ctrlPr>
                                <a:rPr lang="en-US" altLang="zh-TW" sz="2799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799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TW" altLang="en-US" sz="2799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  <m:sup>
                              <m:r>
                                <a:rPr lang="en-US" altLang="zh-TW" sz="2799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a14:m>
                  <a:endParaRPr lang="en-US" altLang="zh-TW" sz="2799" dirty="0">
                    <a:solidFill>
                      <a:srgbClr val="FF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066" name="TextBox 7">
                  <a:extLst>
                    <a:ext uri="{FF2B5EF4-FFF2-40B4-BE49-F238E27FC236}">
                      <a16:creationId xmlns:a16="http://schemas.microsoft.com/office/drawing/2014/main" id="{26CA4195-E686-56FA-6AB1-90AEEE024A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5"/>
                  <a:stretch>
                    <a:fillRect t="-5537" b="-143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68" name="Group 5">
            <a:extLst>
              <a:ext uri="{FF2B5EF4-FFF2-40B4-BE49-F238E27FC236}">
                <a16:creationId xmlns:a16="http://schemas.microsoft.com/office/drawing/2014/main" id="{DB73D552-17D2-FC60-2CE3-A342BC2746A7}"/>
              </a:ext>
            </a:extLst>
          </p:cNvPr>
          <p:cNvGrpSpPr/>
          <p:nvPr/>
        </p:nvGrpSpPr>
        <p:grpSpPr>
          <a:xfrm>
            <a:off x="5282380" y="9043056"/>
            <a:ext cx="6629984" cy="1084038"/>
            <a:chOff x="0" y="-57150"/>
            <a:chExt cx="870293" cy="290893"/>
          </a:xfrm>
        </p:grpSpPr>
        <p:sp>
          <p:nvSpPr>
            <p:cNvPr id="2069" name="Freeform 6">
              <a:extLst>
                <a:ext uri="{FF2B5EF4-FFF2-40B4-BE49-F238E27FC236}">
                  <a16:creationId xmlns:a16="http://schemas.microsoft.com/office/drawing/2014/main" id="{7BD1C359-D8D4-1912-2825-5241A35D3D27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0" name="TextBox 7">
                  <a:extLst>
                    <a:ext uri="{FF2B5EF4-FFF2-40B4-BE49-F238E27FC236}">
                      <a16:creationId xmlns:a16="http://schemas.microsoft.com/office/drawing/2014/main" id="{171F24E3-1C46-F632-4E21-FE6BB2CF441C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3. ACF plot</a:t>
                  </a: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+</a:t>
                  </a: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:r>
                    <a:rPr lang="en-US" altLang="zh-TW" sz="2799" dirty="0" err="1">
                      <a:solidFill>
                        <a:srgbClr val="000000"/>
                      </a:solidFill>
                      <a:ea typeface="圓體"/>
                    </a:rPr>
                    <a:t>Ljung</a:t>
                  </a: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-Box test</a:t>
                  </a:r>
                  <a:endParaRPr lang="en-US" sz="2799" dirty="0">
                    <a:solidFill>
                      <a:srgbClr val="000000"/>
                    </a:solidFill>
                    <a:ea typeface="圓體"/>
                  </a:endParaRPr>
                </a:p>
                <a:p>
                  <a:pPr>
                    <a:lnSpc>
                      <a:spcPts val="3919"/>
                    </a:lnSpc>
                  </a:pP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檢定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是否還存在自相關</a:t>
                  </a:r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070" name="TextBox 7">
                  <a:extLst>
                    <a:ext uri="{FF2B5EF4-FFF2-40B4-BE49-F238E27FC236}">
                      <a16:creationId xmlns:a16="http://schemas.microsoft.com/office/drawing/2014/main" id="{171F24E3-1C46-F632-4E21-FE6BB2CF4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6"/>
                  <a:stretch>
                    <a:fillRect t="-3593" b="-179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74" name="直線單箭頭接點 2073">
            <a:extLst>
              <a:ext uri="{FF2B5EF4-FFF2-40B4-BE49-F238E27FC236}">
                <a16:creationId xmlns:a16="http://schemas.microsoft.com/office/drawing/2014/main" id="{01E3FD3D-37C0-3CC4-98C3-D4B845DCE67B}"/>
              </a:ext>
            </a:extLst>
          </p:cNvPr>
          <p:cNvCxnSpPr>
            <a:cxnSpLocks/>
            <a:endCxn id="2066" idx="0"/>
          </p:cNvCxnSpPr>
          <p:nvPr/>
        </p:nvCxnSpPr>
        <p:spPr>
          <a:xfrm>
            <a:off x="8586741" y="5181454"/>
            <a:ext cx="0" cy="934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6" name="直線單箭頭接點 2075">
            <a:extLst>
              <a:ext uri="{FF2B5EF4-FFF2-40B4-BE49-F238E27FC236}">
                <a16:creationId xmlns:a16="http://schemas.microsoft.com/office/drawing/2014/main" id="{4A4743F1-1D76-30E1-0801-FA07933D5F4A}"/>
              </a:ext>
            </a:extLst>
          </p:cNvPr>
          <p:cNvCxnSpPr>
            <a:cxnSpLocks/>
          </p:cNvCxnSpPr>
          <p:nvPr/>
        </p:nvCxnSpPr>
        <p:spPr>
          <a:xfrm>
            <a:off x="8580088" y="8108806"/>
            <a:ext cx="0" cy="934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8" name="文字方塊 2077">
                <a:extLst>
                  <a:ext uri="{FF2B5EF4-FFF2-40B4-BE49-F238E27FC236}">
                    <a16:creationId xmlns:a16="http://schemas.microsoft.com/office/drawing/2014/main" id="{5046CEC2-130D-40BE-7A42-2249F1EE227A}"/>
                  </a:ext>
                </a:extLst>
              </p:cNvPr>
              <p:cNvSpPr txBox="1"/>
              <p:nvPr/>
            </p:nvSpPr>
            <p:spPr>
              <a:xfrm>
                <a:off x="13139714" y="8950272"/>
                <a:ext cx="514828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 dirty="0"/>
                  <a:t>註</a:t>
                </a:r>
                <a:r>
                  <a:rPr lang="en-US" altLang="zh-TW" sz="2800" dirty="0"/>
                  <a:t>:</a:t>
                </a:r>
              </a:p>
              <a:p>
                <a:r>
                  <a:rPr lang="zh-TW" altLang="en-US" sz="2800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TW" altLang="en-US" sz="2800" i="1">
                        <a:latin typeface="Cambria Math" panose="02040503050406030204" pitchFamily="18" charset="0"/>
                      </a:rPr>
                      <m:t>服從</m:t>
                    </m:r>
                  </m:oMath>
                </a14:m>
                <a:r>
                  <a:rPr lang="zh-TW" altLang="en-US" sz="2800" dirty="0"/>
                  <a:t>其他分布，則</a:t>
                </a:r>
                <a:r>
                  <a:rPr lang="en-US" altLang="zh-TW" sz="2800" dirty="0"/>
                  <a:t>Shapiro-Wilk test</a:t>
                </a:r>
                <a:r>
                  <a:rPr lang="zh-TW" altLang="en-US" sz="2800" dirty="0"/>
                  <a:t>更改成</a:t>
                </a:r>
                <a:r>
                  <a:rPr lang="en-US" altLang="zh-TW" sz="2800" dirty="0"/>
                  <a:t>K-S test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2078" name="文字方塊 2077">
                <a:extLst>
                  <a:ext uri="{FF2B5EF4-FFF2-40B4-BE49-F238E27FC236}">
                    <a16:creationId xmlns:a16="http://schemas.microsoft.com/office/drawing/2014/main" id="{5046CEC2-130D-40BE-7A42-2249F1EE2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9714" y="8950272"/>
                <a:ext cx="5148286" cy="1384995"/>
              </a:xfrm>
              <a:prstGeom prst="rect">
                <a:avLst/>
              </a:prstGeom>
              <a:blipFill>
                <a:blip r:embed="rId7"/>
                <a:stretch>
                  <a:fillRect l="-2367" t="-4846" b="-11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9" name="Freeform 9">
            <a:extLst>
              <a:ext uri="{FF2B5EF4-FFF2-40B4-BE49-F238E27FC236}">
                <a16:creationId xmlns:a16="http://schemas.microsoft.com/office/drawing/2014/main" id="{4D1805BD-4F31-FA99-79C9-9AFD7C5E8094}"/>
              </a:ext>
            </a:extLst>
          </p:cNvPr>
          <p:cNvSpPr/>
          <p:nvPr/>
        </p:nvSpPr>
        <p:spPr>
          <a:xfrm>
            <a:off x="12551556" y="1351756"/>
            <a:ext cx="1173556" cy="853656"/>
          </a:xfrm>
          <a:custGeom>
            <a:avLst/>
            <a:gdLst/>
            <a:ahLst/>
            <a:cxnLst/>
            <a:rect l="l" t="t" r="r" b="b"/>
            <a:pathLst>
              <a:path w="1173556" h="853656">
                <a:moveTo>
                  <a:pt x="0" y="0"/>
                </a:moveTo>
                <a:lnTo>
                  <a:pt x="1173556" y="0"/>
                </a:lnTo>
                <a:lnTo>
                  <a:pt x="1173556" y="853656"/>
                </a:lnTo>
                <a:lnTo>
                  <a:pt x="0" y="853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702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61" name="Group 5">
            <a:extLst>
              <a:ext uri="{FF2B5EF4-FFF2-40B4-BE49-F238E27FC236}">
                <a16:creationId xmlns:a16="http://schemas.microsoft.com/office/drawing/2014/main" id="{3A61E7E1-0543-7595-9A4F-084B4FB33AFB}"/>
              </a:ext>
            </a:extLst>
          </p:cNvPr>
          <p:cNvGrpSpPr/>
          <p:nvPr/>
        </p:nvGrpSpPr>
        <p:grpSpPr>
          <a:xfrm>
            <a:off x="4785559" y="6671890"/>
            <a:ext cx="6629984" cy="2421458"/>
            <a:chOff x="0" y="-57150"/>
            <a:chExt cx="870293" cy="290893"/>
          </a:xfrm>
        </p:grpSpPr>
        <p:sp>
          <p:nvSpPr>
            <p:cNvPr id="2062" name="Freeform 6">
              <a:extLst>
                <a:ext uri="{FF2B5EF4-FFF2-40B4-BE49-F238E27FC236}">
                  <a16:creationId xmlns:a16="http://schemas.microsoft.com/office/drawing/2014/main" id="{963AE729-7583-CBA1-99EE-0878ABF339B0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3" name="TextBox 7">
              <a:extLst>
                <a:ext uri="{FF2B5EF4-FFF2-40B4-BE49-F238E27FC236}">
                  <a16:creationId xmlns:a16="http://schemas.microsoft.com/office/drawing/2014/main" id="{74F1B504-1296-8746-5884-9DC7D8790A0D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3919"/>
                </a:lnSpc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1. Time series plot + histogram + QQ-plot</a:t>
              </a:r>
            </a:p>
            <a:p>
              <a:pPr>
                <a:lnSpc>
                  <a:spcPts val="3919"/>
                </a:lnSpc>
              </a:pP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檢查是否滿足</a:t>
              </a:r>
              <a:endParaRPr lang="en-US" altLang="zh-TW" sz="2799" dirty="0">
                <a:solidFill>
                  <a:srgbClr val="000000"/>
                </a:solidFill>
                <a:ea typeface="圓體"/>
              </a:endParaRP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Symmetric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Mean = 0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Outliers</a:t>
              </a:r>
            </a:p>
          </p:txBody>
        </p:sp>
      </p:grpSp>
      <p:sp>
        <p:nvSpPr>
          <p:cNvPr id="2048" name="AutoShape 55">
            <a:extLst>
              <a:ext uri="{FF2B5EF4-FFF2-40B4-BE49-F238E27FC236}">
                <a16:creationId xmlns:a16="http://schemas.microsoft.com/office/drawing/2014/main" id="{30D04625-C220-3FB2-F121-35F20987AE15}"/>
              </a:ext>
            </a:extLst>
          </p:cNvPr>
          <p:cNvSpPr/>
          <p:nvPr/>
        </p:nvSpPr>
        <p:spPr>
          <a:xfrm flipV="1">
            <a:off x="3241002" y="7882618"/>
            <a:ext cx="1544556" cy="1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049" name="Freeform 6">
            <a:extLst>
              <a:ext uri="{FF2B5EF4-FFF2-40B4-BE49-F238E27FC236}">
                <a16:creationId xmlns:a16="http://schemas.microsoft.com/office/drawing/2014/main" id="{52601833-1BB0-7733-4EBC-3FD97AE60F29}"/>
              </a:ext>
            </a:extLst>
          </p:cNvPr>
          <p:cNvSpPr/>
          <p:nvPr/>
        </p:nvSpPr>
        <p:spPr>
          <a:xfrm>
            <a:off x="6731179" y="4213194"/>
            <a:ext cx="2738744" cy="680690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Refit the model</a:t>
            </a:r>
          </a:p>
        </p:txBody>
      </p:sp>
      <p:sp>
        <p:nvSpPr>
          <p:cNvPr id="2050" name="Freeform 6">
            <a:extLst>
              <a:ext uri="{FF2B5EF4-FFF2-40B4-BE49-F238E27FC236}">
                <a16:creationId xmlns:a16="http://schemas.microsoft.com/office/drawing/2014/main" id="{A34E9BF9-CAE8-7FAF-A568-5BA339C22079}"/>
              </a:ext>
            </a:extLst>
          </p:cNvPr>
          <p:cNvSpPr/>
          <p:nvPr/>
        </p:nvSpPr>
        <p:spPr>
          <a:xfrm>
            <a:off x="6731179" y="5442542"/>
            <a:ext cx="2738744" cy="680690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Outliers</a:t>
            </a:r>
          </a:p>
        </p:txBody>
      </p:sp>
      <p:cxnSp>
        <p:nvCxnSpPr>
          <p:cNvPr id="2052" name="直線單箭頭接點 2051">
            <a:extLst>
              <a:ext uri="{FF2B5EF4-FFF2-40B4-BE49-F238E27FC236}">
                <a16:creationId xmlns:a16="http://schemas.microsoft.com/office/drawing/2014/main" id="{DCE03520-1354-75AB-2BC6-B4111050FA48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3241002" y="4525767"/>
            <a:ext cx="3490177" cy="21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5" name="直線單箭頭接點 2054">
            <a:extLst>
              <a:ext uri="{FF2B5EF4-FFF2-40B4-BE49-F238E27FC236}">
                <a16:creationId xmlns:a16="http://schemas.microsoft.com/office/drawing/2014/main" id="{553CDA2E-C5EB-0A97-99CE-CFBC115213F5}"/>
              </a:ext>
            </a:extLst>
          </p:cNvPr>
          <p:cNvCxnSpPr>
            <a:cxnSpLocks/>
            <a:stCxn id="2063" idx="0"/>
          </p:cNvCxnSpPr>
          <p:nvPr/>
        </p:nvCxnSpPr>
        <p:spPr>
          <a:xfrm flipV="1">
            <a:off x="8100551" y="6123232"/>
            <a:ext cx="0" cy="54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8" name="直線單箭頭接點 2057">
            <a:extLst>
              <a:ext uri="{FF2B5EF4-FFF2-40B4-BE49-F238E27FC236}">
                <a16:creationId xmlns:a16="http://schemas.microsoft.com/office/drawing/2014/main" id="{58C19F5A-2CCE-87F0-F64E-73765265437E}"/>
              </a:ext>
            </a:extLst>
          </p:cNvPr>
          <p:cNvCxnSpPr>
            <a:cxnSpLocks/>
          </p:cNvCxnSpPr>
          <p:nvPr/>
        </p:nvCxnSpPr>
        <p:spPr>
          <a:xfrm flipV="1">
            <a:off x="8100551" y="4907125"/>
            <a:ext cx="0" cy="54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7" name="Group 5">
            <a:extLst>
              <a:ext uri="{FF2B5EF4-FFF2-40B4-BE49-F238E27FC236}">
                <a16:creationId xmlns:a16="http://schemas.microsoft.com/office/drawing/2014/main" id="{98F3DB3D-2892-7C34-DD74-D8A90E59813B}"/>
              </a:ext>
            </a:extLst>
          </p:cNvPr>
          <p:cNvGrpSpPr/>
          <p:nvPr/>
        </p:nvGrpSpPr>
        <p:grpSpPr>
          <a:xfrm>
            <a:off x="11658016" y="6917189"/>
            <a:ext cx="6629984" cy="1993103"/>
            <a:chOff x="0" y="-57150"/>
            <a:chExt cx="870293" cy="290893"/>
          </a:xfrm>
        </p:grpSpPr>
        <p:sp>
          <p:nvSpPr>
            <p:cNvPr id="2071" name="Freeform 6">
              <a:extLst>
                <a:ext uri="{FF2B5EF4-FFF2-40B4-BE49-F238E27FC236}">
                  <a16:creationId xmlns:a16="http://schemas.microsoft.com/office/drawing/2014/main" id="{027997D1-AFE7-488F-2205-2D32DDD1825C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2" name="TextBox 7">
                  <a:extLst>
                    <a:ext uri="{FF2B5EF4-FFF2-40B4-BE49-F238E27FC236}">
                      <a16:creationId xmlns:a16="http://schemas.microsoft.com/office/drawing/2014/main" id="{4E82B39D-CA4C-7FE5-DE1C-F380C59AE168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2. T test + Shapiro-Wilk test</a:t>
                  </a:r>
                </a:p>
                <a:p>
                  <a:pPr>
                    <a:lnSpc>
                      <a:spcPts val="3919"/>
                    </a:lnSpc>
                  </a:pP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檢定</a:t>
                  </a:r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  <a:p>
                  <a:pPr marL="514350" indent="-514350">
                    <a:lnSpc>
                      <a:spcPts val="3919"/>
                    </a:lnSpc>
                    <a:buAutoNum type="arabicParenBoth"/>
                  </a:pP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Mean = 0</a:t>
                  </a:r>
                </a:p>
                <a:p>
                  <a:pPr marL="514350" indent="-514350">
                    <a:lnSpc>
                      <a:spcPts val="3919"/>
                    </a:lnSpc>
                    <a:buAutoNum type="arabicParenBoth"/>
                  </a:pP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799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799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sSubSup>
                            <m:sSubSupPr>
                              <m:ctrlPr>
                                <a:rPr lang="en-US" altLang="zh-TW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TW" altLang="en-US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  <m:sup>
                              <m:r>
                                <a:rPr lang="en-US" altLang="zh-TW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a14:m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072" name="TextBox 7">
                  <a:extLst>
                    <a:ext uri="{FF2B5EF4-FFF2-40B4-BE49-F238E27FC236}">
                      <a16:creationId xmlns:a16="http://schemas.microsoft.com/office/drawing/2014/main" id="{4E82B39D-CA4C-7FE5-DE1C-F380C59AE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4"/>
                  <a:stretch>
                    <a:fillRect t="-5863" b="-140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73" name="AutoShape 55">
            <a:extLst>
              <a:ext uri="{FF2B5EF4-FFF2-40B4-BE49-F238E27FC236}">
                <a16:creationId xmlns:a16="http://schemas.microsoft.com/office/drawing/2014/main" id="{4595B7F8-998B-27D6-8C14-CECA0A99EE66}"/>
              </a:ext>
            </a:extLst>
          </p:cNvPr>
          <p:cNvSpPr/>
          <p:nvPr/>
        </p:nvSpPr>
        <p:spPr>
          <a:xfrm flipV="1">
            <a:off x="9469923" y="5802606"/>
            <a:ext cx="1544556" cy="1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075" name="Freeform 6">
            <a:extLst>
              <a:ext uri="{FF2B5EF4-FFF2-40B4-BE49-F238E27FC236}">
                <a16:creationId xmlns:a16="http://schemas.microsoft.com/office/drawing/2014/main" id="{74687486-A2E8-BC85-80C8-56537C8B61B8}"/>
              </a:ext>
            </a:extLst>
          </p:cNvPr>
          <p:cNvSpPr/>
          <p:nvPr/>
        </p:nvSpPr>
        <p:spPr>
          <a:xfrm>
            <a:off x="11014479" y="5433421"/>
            <a:ext cx="2738744" cy="680690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Ignore outliers</a:t>
            </a:r>
          </a:p>
        </p:txBody>
      </p:sp>
      <p:cxnSp>
        <p:nvCxnSpPr>
          <p:cNvPr id="2077" name="直線單箭頭接點 2076">
            <a:extLst>
              <a:ext uri="{FF2B5EF4-FFF2-40B4-BE49-F238E27FC236}">
                <a16:creationId xmlns:a16="http://schemas.microsoft.com/office/drawing/2014/main" id="{265F7559-5127-CBDC-449A-4FCADBE489FE}"/>
              </a:ext>
            </a:extLst>
          </p:cNvPr>
          <p:cNvCxnSpPr>
            <a:cxnSpLocks/>
          </p:cNvCxnSpPr>
          <p:nvPr/>
        </p:nvCxnSpPr>
        <p:spPr>
          <a:xfrm>
            <a:off x="12383851" y="6128110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80" name="Group 5">
            <a:extLst>
              <a:ext uri="{FF2B5EF4-FFF2-40B4-BE49-F238E27FC236}">
                <a16:creationId xmlns:a16="http://schemas.microsoft.com/office/drawing/2014/main" id="{BAFEA585-F512-263E-A868-D3A2EDAD951F}"/>
              </a:ext>
            </a:extLst>
          </p:cNvPr>
          <p:cNvGrpSpPr/>
          <p:nvPr/>
        </p:nvGrpSpPr>
        <p:grpSpPr>
          <a:xfrm>
            <a:off x="11658016" y="8937998"/>
            <a:ext cx="6629984" cy="1084038"/>
            <a:chOff x="0" y="-57150"/>
            <a:chExt cx="870293" cy="290893"/>
          </a:xfrm>
        </p:grpSpPr>
        <p:sp>
          <p:nvSpPr>
            <p:cNvPr id="2081" name="Freeform 6">
              <a:extLst>
                <a:ext uri="{FF2B5EF4-FFF2-40B4-BE49-F238E27FC236}">
                  <a16:creationId xmlns:a16="http://schemas.microsoft.com/office/drawing/2014/main" id="{F97DE6E9-C43A-B132-7CF7-E24ADAA8E16F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2" name="TextBox 7">
                  <a:extLst>
                    <a:ext uri="{FF2B5EF4-FFF2-40B4-BE49-F238E27FC236}">
                      <a16:creationId xmlns:a16="http://schemas.microsoft.com/office/drawing/2014/main" id="{F938CD4F-3127-5DCD-82C8-61DB22A7E6C9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3. ACF plot</a:t>
                  </a: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+</a:t>
                  </a: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:r>
                    <a:rPr lang="en-US" altLang="zh-TW" sz="2799" dirty="0" err="1">
                      <a:solidFill>
                        <a:srgbClr val="000000"/>
                      </a:solidFill>
                      <a:ea typeface="圓體"/>
                    </a:rPr>
                    <a:t>Ljung</a:t>
                  </a: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-Box test</a:t>
                  </a:r>
                  <a:endParaRPr lang="en-US" sz="2799" dirty="0">
                    <a:solidFill>
                      <a:srgbClr val="000000"/>
                    </a:solidFill>
                    <a:ea typeface="圓體"/>
                  </a:endParaRPr>
                </a:p>
                <a:p>
                  <a:pPr>
                    <a:lnSpc>
                      <a:spcPts val="3919"/>
                    </a:lnSpc>
                  </a:pP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檢定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是否還存在自相關</a:t>
                  </a:r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082" name="TextBox 7">
                  <a:extLst>
                    <a:ext uri="{FF2B5EF4-FFF2-40B4-BE49-F238E27FC236}">
                      <a16:creationId xmlns:a16="http://schemas.microsoft.com/office/drawing/2014/main" id="{F938CD4F-3127-5DCD-82C8-61DB22A7E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5"/>
                  <a:stretch>
                    <a:fillRect t="-3593" b="-1796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83" name="直線單箭頭接點 2082">
            <a:extLst>
              <a:ext uri="{FF2B5EF4-FFF2-40B4-BE49-F238E27FC236}">
                <a16:creationId xmlns:a16="http://schemas.microsoft.com/office/drawing/2014/main" id="{A295BA33-79F5-00A2-B28B-690C49E8D3E3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3241002" y="9492786"/>
            <a:ext cx="8367401" cy="11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5" name="Freeform 13">
            <a:extLst>
              <a:ext uri="{FF2B5EF4-FFF2-40B4-BE49-F238E27FC236}">
                <a16:creationId xmlns:a16="http://schemas.microsoft.com/office/drawing/2014/main" id="{459339B0-39B2-C3B7-ED9C-C3E6D58F994B}"/>
              </a:ext>
            </a:extLst>
          </p:cNvPr>
          <p:cNvSpPr/>
          <p:nvPr/>
        </p:nvSpPr>
        <p:spPr>
          <a:xfrm>
            <a:off x="5361807" y="5196109"/>
            <a:ext cx="1173556" cy="1173556"/>
          </a:xfrm>
          <a:custGeom>
            <a:avLst/>
            <a:gdLst/>
            <a:ahLst/>
            <a:cxnLst/>
            <a:rect l="l" t="t" r="r" b="b"/>
            <a:pathLst>
              <a:path w="1173556" h="1173556">
                <a:moveTo>
                  <a:pt x="0" y="0"/>
                </a:moveTo>
                <a:lnTo>
                  <a:pt x="1173555" y="0"/>
                </a:lnTo>
                <a:lnTo>
                  <a:pt x="1173555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76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9" name="文字方塊 2058">
            <a:extLst>
              <a:ext uri="{FF2B5EF4-FFF2-40B4-BE49-F238E27FC236}">
                <a16:creationId xmlns:a16="http://schemas.microsoft.com/office/drawing/2014/main" id="{E6319EC6-D556-0BEC-AFA1-1DFA86AD7E3E}"/>
              </a:ext>
            </a:extLst>
          </p:cNvPr>
          <p:cNvSpPr txBox="1"/>
          <p:nvPr/>
        </p:nvSpPr>
        <p:spPr>
          <a:xfrm>
            <a:off x="3282776" y="8365497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60" name="接點: 弧形 2059">
            <a:extLst>
              <a:ext uri="{FF2B5EF4-FFF2-40B4-BE49-F238E27FC236}">
                <a16:creationId xmlns:a16="http://schemas.microsoft.com/office/drawing/2014/main" id="{546B0D64-7814-75DF-79C5-A9043BA9500C}"/>
              </a:ext>
            </a:extLst>
          </p:cNvPr>
          <p:cNvCxnSpPr>
            <a:cxnSpLocks/>
          </p:cNvCxnSpPr>
          <p:nvPr/>
        </p:nvCxnSpPr>
        <p:spPr>
          <a:xfrm>
            <a:off x="3228302" y="7800279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1" name="Group 5">
            <a:extLst>
              <a:ext uri="{FF2B5EF4-FFF2-40B4-BE49-F238E27FC236}">
                <a16:creationId xmlns:a16="http://schemas.microsoft.com/office/drawing/2014/main" id="{3A61E7E1-0543-7595-9A4F-084B4FB33AFB}"/>
              </a:ext>
            </a:extLst>
          </p:cNvPr>
          <p:cNvGrpSpPr/>
          <p:nvPr/>
        </p:nvGrpSpPr>
        <p:grpSpPr>
          <a:xfrm>
            <a:off x="5492976" y="1250818"/>
            <a:ext cx="6629984" cy="2421458"/>
            <a:chOff x="0" y="-57150"/>
            <a:chExt cx="870293" cy="290893"/>
          </a:xfrm>
        </p:grpSpPr>
        <p:sp>
          <p:nvSpPr>
            <p:cNvPr id="2062" name="Freeform 6">
              <a:extLst>
                <a:ext uri="{FF2B5EF4-FFF2-40B4-BE49-F238E27FC236}">
                  <a16:creationId xmlns:a16="http://schemas.microsoft.com/office/drawing/2014/main" id="{963AE729-7583-CBA1-99EE-0878ABF339B0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3" name="TextBox 7">
              <a:extLst>
                <a:ext uri="{FF2B5EF4-FFF2-40B4-BE49-F238E27FC236}">
                  <a16:creationId xmlns:a16="http://schemas.microsoft.com/office/drawing/2014/main" id="{74F1B504-1296-8746-5884-9DC7D8790A0D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3919"/>
                </a:lnSpc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1. Time series plot + histogram + QQ-plot</a:t>
              </a:r>
            </a:p>
            <a:p>
              <a:pPr>
                <a:lnSpc>
                  <a:spcPts val="3919"/>
                </a:lnSpc>
              </a:pP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檢查是否滿足</a:t>
              </a:r>
              <a:endParaRPr lang="en-US" altLang="zh-TW" sz="2799" dirty="0">
                <a:solidFill>
                  <a:srgbClr val="000000"/>
                </a:solidFill>
                <a:ea typeface="圓體"/>
              </a:endParaRP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Symmetric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Mean = 0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Outliers</a:t>
              </a:r>
            </a:p>
          </p:txBody>
        </p: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22B269F-7EE7-7F4F-1954-7AC274089821}"/>
              </a:ext>
            </a:extLst>
          </p:cNvPr>
          <p:cNvSpPr txBox="1"/>
          <p:nvPr/>
        </p:nvSpPr>
        <p:spPr>
          <a:xfrm>
            <a:off x="3282776" y="3727877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pic>
        <p:nvPicPr>
          <p:cNvPr id="2048" name="圖片 2047">
            <a:extLst>
              <a:ext uri="{FF2B5EF4-FFF2-40B4-BE49-F238E27FC236}">
                <a16:creationId xmlns:a16="http://schemas.microsoft.com/office/drawing/2014/main" id="{30304008-89E2-E4C1-6103-23640BCC7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63" y="4312652"/>
            <a:ext cx="9575458" cy="5961832"/>
          </a:xfrm>
          <a:prstGeom prst="rect">
            <a:avLst/>
          </a:prstGeom>
        </p:spPr>
      </p:pic>
      <p:pic>
        <p:nvPicPr>
          <p:cNvPr id="2050" name="圖片 2049">
            <a:extLst>
              <a:ext uri="{FF2B5EF4-FFF2-40B4-BE49-F238E27FC236}">
                <a16:creationId xmlns:a16="http://schemas.microsoft.com/office/drawing/2014/main" id="{AB9F3C6F-7F79-16B4-D789-D534C3B86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1095" y="9305040"/>
            <a:ext cx="4536905" cy="98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84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9" name="文字方塊 2058">
            <a:extLst>
              <a:ext uri="{FF2B5EF4-FFF2-40B4-BE49-F238E27FC236}">
                <a16:creationId xmlns:a16="http://schemas.microsoft.com/office/drawing/2014/main" id="{E6319EC6-D556-0BEC-AFA1-1DFA86AD7E3E}"/>
              </a:ext>
            </a:extLst>
          </p:cNvPr>
          <p:cNvSpPr txBox="1"/>
          <p:nvPr/>
        </p:nvSpPr>
        <p:spPr>
          <a:xfrm>
            <a:off x="3282776" y="8365497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60" name="接點: 弧形 2059">
            <a:extLst>
              <a:ext uri="{FF2B5EF4-FFF2-40B4-BE49-F238E27FC236}">
                <a16:creationId xmlns:a16="http://schemas.microsoft.com/office/drawing/2014/main" id="{546B0D64-7814-75DF-79C5-A9043BA9500C}"/>
              </a:ext>
            </a:extLst>
          </p:cNvPr>
          <p:cNvCxnSpPr>
            <a:cxnSpLocks/>
          </p:cNvCxnSpPr>
          <p:nvPr/>
        </p:nvCxnSpPr>
        <p:spPr>
          <a:xfrm>
            <a:off x="3228302" y="7800279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22B269F-7EE7-7F4F-1954-7AC274089821}"/>
              </a:ext>
            </a:extLst>
          </p:cNvPr>
          <p:cNvSpPr txBox="1"/>
          <p:nvPr/>
        </p:nvSpPr>
        <p:spPr>
          <a:xfrm>
            <a:off x="3282776" y="3727877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grpSp>
        <p:nvGrpSpPr>
          <p:cNvPr id="24" name="Group 5">
            <a:extLst>
              <a:ext uri="{FF2B5EF4-FFF2-40B4-BE49-F238E27FC236}">
                <a16:creationId xmlns:a16="http://schemas.microsoft.com/office/drawing/2014/main" id="{4FBEBDCF-F5E0-75E2-291B-03D7789D3478}"/>
              </a:ext>
            </a:extLst>
          </p:cNvPr>
          <p:cNvGrpSpPr/>
          <p:nvPr/>
        </p:nvGrpSpPr>
        <p:grpSpPr>
          <a:xfrm>
            <a:off x="5492976" y="1730601"/>
            <a:ext cx="6629984" cy="1993103"/>
            <a:chOff x="0" y="-57150"/>
            <a:chExt cx="870293" cy="290893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4DF5DAB4-D5A2-FFD7-986E-63530426409A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7">
                  <a:extLst>
                    <a:ext uri="{FF2B5EF4-FFF2-40B4-BE49-F238E27FC236}">
                      <a16:creationId xmlns:a16="http://schemas.microsoft.com/office/drawing/2014/main" id="{A151EEB0-3C16-182A-0952-224F830D1DD0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2. T test + Shapiro-Wilk test</a:t>
                  </a:r>
                </a:p>
                <a:p>
                  <a:pPr>
                    <a:lnSpc>
                      <a:spcPts val="3919"/>
                    </a:lnSpc>
                  </a:pP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檢定</a:t>
                  </a:r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  <a:p>
                  <a:pPr marL="514350" indent="-514350">
                    <a:lnSpc>
                      <a:spcPts val="3919"/>
                    </a:lnSpc>
                    <a:buAutoNum type="arabicParenBoth"/>
                  </a:pP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Mean = 0</a:t>
                  </a:r>
                </a:p>
                <a:p>
                  <a:pPr marL="514350" indent="-514350">
                    <a:lnSpc>
                      <a:spcPts val="3919"/>
                    </a:lnSpc>
                    <a:buAutoNum type="arabicParenBoth"/>
                  </a:pP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sz="2799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altLang="zh-TW" sz="2799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sSubSup>
                            <m:sSubSupPr>
                              <m:ctrlPr>
                                <a:rPr lang="en-US" altLang="zh-TW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TW" altLang="en-US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  <m:sup>
                              <m:r>
                                <a:rPr lang="en-US" altLang="zh-TW" sz="2799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a14:m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8" name="TextBox 7">
                  <a:extLst>
                    <a:ext uri="{FF2B5EF4-FFF2-40B4-BE49-F238E27FC236}">
                      <a16:creationId xmlns:a16="http://schemas.microsoft.com/office/drawing/2014/main" id="{A151EEB0-3C16-182A-0952-224F830D1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4"/>
                  <a:stretch>
                    <a:fillRect t="-5863" b="-140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53" name="圖片 2052">
            <a:extLst>
              <a:ext uri="{FF2B5EF4-FFF2-40B4-BE49-F238E27FC236}">
                <a16:creationId xmlns:a16="http://schemas.microsoft.com/office/drawing/2014/main" id="{B8797B7E-F46B-DD94-2692-BB37E865B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96" y="4312652"/>
            <a:ext cx="8042262" cy="5961832"/>
          </a:xfrm>
          <a:prstGeom prst="rect">
            <a:avLst/>
          </a:prstGeom>
        </p:spPr>
      </p:pic>
      <p:sp>
        <p:nvSpPr>
          <p:cNvPr id="2054" name="矩形 2053">
            <a:extLst>
              <a:ext uri="{FF2B5EF4-FFF2-40B4-BE49-F238E27FC236}">
                <a16:creationId xmlns:a16="http://schemas.microsoft.com/office/drawing/2014/main" id="{94480922-FEA8-B5DA-3222-DC30129FB523}"/>
              </a:ext>
            </a:extLst>
          </p:cNvPr>
          <p:cNvSpPr/>
          <p:nvPr/>
        </p:nvSpPr>
        <p:spPr>
          <a:xfrm>
            <a:off x="7773487" y="9752878"/>
            <a:ext cx="1531279" cy="538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115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圖片 2054">
            <a:extLst>
              <a:ext uri="{FF2B5EF4-FFF2-40B4-BE49-F238E27FC236}">
                <a16:creationId xmlns:a16="http://schemas.microsoft.com/office/drawing/2014/main" id="{5CAE1D77-89FD-4A3E-286C-4479E004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089" y="4438528"/>
            <a:ext cx="7913098" cy="5835956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9" name="文字方塊 2058">
            <a:extLst>
              <a:ext uri="{FF2B5EF4-FFF2-40B4-BE49-F238E27FC236}">
                <a16:creationId xmlns:a16="http://schemas.microsoft.com/office/drawing/2014/main" id="{E6319EC6-D556-0BEC-AFA1-1DFA86AD7E3E}"/>
              </a:ext>
            </a:extLst>
          </p:cNvPr>
          <p:cNvSpPr txBox="1"/>
          <p:nvPr/>
        </p:nvSpPr>
        <p:spPr>
          <a:xfrm>
            <a:off x="3282776" y="8365497"/>
            <a:ext cx="375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?</a:t>
            </a:r>
            <a:endParaRPr lang="zh-TW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060" name="接點: 弧形 2059">
            <a:extLst>
              <a:ext uri="{FF2B5EF4-FFF2-40B4-BE49-F238E27FC236}">
                <a16:creationId xmlns:a16="http://schemas.microsoft.com/office/drawing/2014/main" id="{546B0D64-7814-75DF-79C5-A9043BA9500C}"/>
              </a:ext>
            </a:extLst>
          </p:cNvPr>
          <p:cNvCxnSpPr>
            <a:cxnSpLocks/>
          </p:cNvCxnSpPr>
          <p:nvPr/>
        </p:nvCxnSpPr>
        <p:spPr>
          <a:xfrm>
            <a:off x="3228302" y="7800279"/>
            <a:ext cx="12700" cy="1659669"/>
          </a:xfrm>
          <a:prstGeom prst="curvedConnector3">
            <a:avLst>
              <a:gd name="adj1" fmla="val 50516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22B269F-7EE7-7F4F-1954-7AC274089821}"/>
              </a:ext>
            </a:extLst>
          </p:cNvPr>
          <p:cNvSpPr txBox="1"/>
          <p:nvPr/>
        </p:nvSpPr>
        <p:spPr>
          <a:xfrm>
            <a:off x="3282776" y="3727877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sp>
        <p:nvSpPr>
          <p:cNvPr id="2054" name="矩形 2053">
            <a:extLst>
              <a:ext uri="{FF2B5EF4-FFF2-40B4-BE49-F238E27FC236}">
                <a16:creationId xmlns:a16="http://schemas.microsoft.com/office/drawing/2014/main" id="{94480922-FEA8-B5DA-3222-DC30129FB523}"/>
              </a:ext>
            </a:extLst>
          </p:cNvPr>
          <p:cNvSpPr/>
          <p:nvPr/>
        </p:nvSpPr>
        <p:spPr>
          <a:xfrm>
            <a:off x="9144000" y="8365594"/>
            <a:ext cx="513799" cy="538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049" name="Group 5">
            <a:extLst>
              <a:ext uri="{FF2B5EF4-FFF2-40B4-BE49-F238E27FC236}">
                <a16:creationId xmlns:a16="http://schemas.microsoft.com/office/drawing/2014/main" id="{64E74EDD-F362-C9EE-EE33-E43E8EEACFB8}"/>
              </a:ext>
            </a:extLst>
          </p:cNvPr>
          <p:cNvGrpSpPr/>
          <p:nvPr/>
        </p:nvGrpSpPr>
        <p:grpSpPr>
          <a:xfrm>
            <a:off x="5492976" y="2557927"/>
            <a:ext cx="6629984" cy="1084038"/>
            <a:chOff x="0" y="-57150"/>
            <a:chExt cx="870293" cy="290893"/>
          </a:xfrm>
        </p:grpSpPr>
        <p:sp>
          <p:nvSpPr>
            <p:cNvPr id="2050" name="Freeform 6">
              <a:extLst>
                <a:ext uri="{FF2B5EF4-FFF2-40B4-BE49-F238E27FC236}">
                  <a16:creationId xmlns:a16="http://schemas.microsoft.com/office/drawing/2014/main" id="{0855F4C3-E1D2-3399-5913-49296F4B856C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1" name="TextBox 7">
                  <a:extLst>
                    <a:ext uri="{FF2B5EF4-FFF2-40B4-BE49-F238E27FC236}">
                      <a16:creationId xmlns:a16="http://schemas.microsoft.com/office/drawing/2014/main" id="{48843F67-2C3C-BD96-5627-E99B96F9664B}"/>
                    </a:ext>
                  </a:extLst>
                </p:cNvPr>
                <p:cNvSpPr txBox="1"/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</p:spPr>
              <p:txBody>
                <a:bodyPr lIns="254000" tIns="254000" rIns="254000" bIns="254000" rtlCol="0" anchor="ctr"/>
                <a:lstStyle/>
                <a:p>
                  <a:pPr>
                    <a:lnSpc>
                      <a:spcPts val="3919"/>
                    </a:lnSpc>
                  </a:pPr>
                  <a:r>
                    <a:rPr lang="en-US" sz="2799" dirty="0">
                      <a:solidFill>
                        <a:srgbClr val="000000"/>
                      </a:solidFill>
                      <a:ea typeface="圓體"/>
                    </a:rPr>
                    <a:t>3. ACF plot</a:t>
                  </a: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+</a:t>
                  </a: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 </a:t>
                  </a:r>
                  <a:r>
                    <a:rPr lang="en-US" altLang="zh-TW" sz="2799" dirty="0" err="1">
                      <a:solidFill>
                        <a:srgbClr val="000000"/>
                      </a:solidFill>
                      <a:ea typeface="圓體"/>
                    </a:rPr>
                    <a:t>Ljung</a:t>
                  </a:r>
                  <a:r>
                    <a:rPr lang="en-US" altLang="zh-TW" sz="2799" dirty="0">
                      <a:solidFill>
                        <a:srgbClr val="000000"/>
                      </a:solidFill>
                      <a:ea typeface="圓體"/>
                    </a:rPr>
                    <a:t>-Box test</a:t>
                  </a:r>
                  <a:endParaRPr lang="en-US" sz="2799" dirty="0">
                    <a:solidFill>
                      <a:srgbClr val="000000"/>
                    </a:solidFill>
                    <a:ea typeface="圓體"/>
                  </a:endParaRPr>
                </a:p>
                <a:p>
                  <a:pPr>
                    <a:lnSpc>
                      <a:spcPts val="3919"/>
                    </a:lnSpc>
                  </a:pPr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檢定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799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sz="2799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zh-TW" altLang="en-US" sz="2799" dirty="0">
                      <a:solidFill>
                        <a:srgbClr val="000000"/>
                      </a:solidFill>
                      <a:ea typeface="圓體"/>
                    </a:rPr>
                    <a:t>是否還存在自相關</a:t>
                  </a:r>
                  <a:endParaRPr lang="en-US" altLang="zh-TW" sz="2799" dirty="0">
                    <a:solidFill>
                      <a:srgbClr val="000000"/>
                    </a:solidFill>
                    <a:ea typeface="圓體"/>
                  </a:endParaRPr>
                </a:p>
              </p:txBody>
            </p:sp>
          </mc:Choice>
          <mc:Fallback xmlns="">
            <p:sp>
              <p:nvSpPr>
                <p:cNvPr id="2051" name="TextBox 7">
                  <a:extLst>
                    <a:ext uri="{FF2B5EF4-FFF2-40B4-BE49-F238E27FC236}">
                      <a16:creationId xmlns:a16="http://schemas.microsoft.com/office/drawing/2014/main" id="{48843F67-2C3C-BD96-5627-E99B96F96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57150"/>
                  <a:ext cx="870293" cy="272967"/>
                </a:xfrm>
                <a:prstGeom prst="rect">
                  <a:avLst/>
                </a:prstGeom>
                <a:blipFill>
                  <a:blip r:embed="rId5"/>
                  <a:stretch>
                    <a:fillRect t="-4217" b="-180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56" name="矩形 2055">
            <a:extLst>
              <a:ext uri="{FF2B5EF4-FFF2-40B4-BE49-F238E27FC236}">
                <a16:creationId xmlns:a16="http://schemas.microsoft.com/office/drawing/2014/main" id="{51DCF114-3BFC-AC03-CB50-27E3440DDEF9}"/>
              </a:ext>
            </a:extLst>
          </p:cNvPr>
          <p:cNvSpPr/>
          <p:nvPr/>
        </p:nvSpPr>
        <p:spPr>
          <a:xfrm>
            <a:off x="10539808" y="5271141"/>
            <a:ext cx="513799" cy="5383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8" name="圖片 2057">
            <a:extLst>
              <a:ext uri="{FF2B5EF4-FFF2-40B4-BE49-F238E27FC236}">
                <a16:creationId xmlns:a16="http://schemas.microsoft.com/office/drawing/2014/main" id="{916C3070-AAA1-4FEF-0796-B419DB2F4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2961" y="5043029"/>
            <a:ext cx="6161868" cy="360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30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556706" y="1898424"/>
            <a:ext cx="917458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9. Model selection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403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E256FE3-1DC9-A7E0-08F1-136D42B3AF23}"/>
              </a:ext>
            </a:extLst>
          </p:cNvPr>
          <p:cNvGrpSpPr/>
          <p:nvPr/>
        </p:nvGrpSpPr>
        <p:grpSpPr>
          <a:xfrm>
            <a:off x="820406" y="1250818"/>
            <a:ext cx="2420596" cy="8877319"/>
            <a:chOff x="820406" y="1250818"/>
            <a:chExt cx="2420596" cy="8877319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820406" y="1250818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820406" y="2242734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Test for </a:t>
                </a:r>
              </a:p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stationary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820406" y="3902403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 specification</a:t>
                </a:r>
              </a:p>
            </p:txBody>
          </p:sp>
        </p:grpSp>
        <p:grpSp>
          <p:nvGrpSpPr>
            <p:cNvPr id="15" name="Group 5">
              <a:extLst>
                <a:ext uri="{FF2B5EF4-FFF2-40B4-BE49-F238E27FC236}">
                  <a16:creationId xmlns:a16="http://schemas.microsoft.com/office/drawing/2014/main" id="{03C8F664-9B79-1A68-514E-0FE4042A5C61}"/>
                </a:ext>
              </a:extLst>
            </p:cNvPr>
            <p:cNvGrpSpPr/>
            <p:nvPr/>
          </p:nvGrpSpPr>
          <p:grpSpPr>
            <a:xfrm>
              <a:off x="820406" y="5562072"/>
              <a:ext cx="2420596" cy="1246727"/>
              <a:chOff x="0" y="-57150"/>
              <a:chExt cx="812800" cy="440781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C7388FC9-15A7-F634-F6D1-13341714071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773F1C63-6636-84BD-F6A0-327D3E0AA64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Parameter estimation</a:t>
                </a:r>
                <a:endParaRPr lang="zh-TW" altLang="en-US" sz="2800" dirty="0"/>
              </a:p>
            </p:txBody>
          </p:sp>
        </p:grpSp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75C9DD2-9ED6-56DB-AACF-E8D9310C6C91}"/>
                </a:ext>
              </a:extLst>
            </p:cNvPr>
            <p:cNvGrpSpPr/>
            <p:nvPr/>
          </p:nvGrpSpPr>
          <p:grpSpPr>
            <a:xfrm>
              <a:off x="820406" y="7221741"/>
              <a:ext cx="2420596" cy="1246727"/>
              <a:chOff x="0" y="-57150"/>
              <a:chExt cx="812800" cy="440781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71763A07-34A2-9E4F-CE2E-60CCCB43200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0F29E958-367E-3FE9-8C85-EA0FB2B94E9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diagnostic</a:t>
                </a:r>
                <a:endParaRPr lang="zh-TW" altLang="en-US" sz="2800" dirty="0"/>
              </a:p>
            </p:txBody>
          </p:sp>
        </p:grpSp>
        <p:grpSp>
          <p:nvGrpSpPr>
            <p:cNvPr id="21" name="Group 5">
              <a:extLst>
                <a:ext uri="{FF2B5EF4-FFF2-40B4-BE49-F238E27FC236}">
                  <a16:creationId xmlns:a16="http://schemas.microsoft.com/office/drawing/2014/main" id="{6DBF038E-6CAE-49FA-5D8C-2394C1D91C72}"/>
                </a:ext>
              </a:extLst>
            </p:cNvPr>
            <p:cNvGrpSpPr/>
            <p:nvPr/>
          </p:nvGrpSpPr>
          <p:grpSpPr>
            <a:xfrm>
              <a:off x="820406" y="8881410"/>
              <a:ext cx="2420596" cy="1246727"/>
              <a:chOff x="0" y="-57150"/>
              <a:chExt cx="812800" cy="440781"/>
            </a:xfrm>
          </p:grpSpPr>
          <p:sp>
            <p:nvSpPr>
              <p:cNvPr id="22" name="Freeform 6">
                <a:extLst>
                  <a:ext uri="{FF2B5EF4-FFF2-40B4-BE49-F238E27FC236}">
                    <a16:creationId xmlns:a16="http://schemas.microsoft.com/office/drawing/2014/main" id="{D25A76D6-BB6A-C577-C39B-022ACEDF183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chemeClr val="accent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4B9B05F9-30BC-C3C7-C17C-E2DE06CC1BE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/>
                <a:r>
                  <a:rPr lang="en-US" altLang="zh-TW" sz="2800" dirty="0"/>
                  <a:t>Model selection</a:t>
                </a:r>
                <a:endParaRPr lang="zh-TW" altLang="en-US" sz="2800" dirty="0"/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1829792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3383360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BC067590-9DFF-FEB3-F384-B91D342E8AAA}"/>
                </a:ext>
              </a:extLst>
            </p:cNvPr>
            <p:cNvCxnSpPr>
              <a:cxnSpLocks/>
            </p:cNvCxnSpPr>
            <p:nvPr/>
          </p:nvCxnSpPr>
          <p:spPr>
            <a:xfrm>
              <a:off x="2010697" y="5043029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83C860B6-661B-FFBB-0636-DE15DC70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670269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9" name="直線單箭頭接點 2048">
              <a:extLst>
                <a:ext uri="{FF2B5EF4-FFF2-40B4-BE49-F238E27FC236}">
                  <a16:creationId xmlns:a16="http://schemas.microsoft.com/office/drawing/2014/main" id="{28D156BC-A8A5-D30F-24F9-A65844419915}"/>
                </a:ext>
              </a:extLst>
            </p:cNvPr>
            <p:cNvCxnSpPr>
              <a:cxnSpLocks/>
            </p:cNvCxnSpPr>
            <p:nvPr/>
          </p:nvCxnSpPr>
          <p:spPr>
            <a:xfrm>
              <a:off x="2005781" y="8362367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170D4EF4-3CA5-FCC6-2908-59BCADA8EF70}"/>
              </a:ext>
            </a:extLst>
          </p:cNvPr>
          <p:cNvGrpSpPr/>
          <p:nvPr/>
        </p:nvGrpSpPr>
        <p:grpSpPr>
          <a:xfrm>
            <a:off x="5492976" y="1155220"/>
            <a:ext cx="4580171" cy="1912445"/>
            <a:chOff x="0" y="-57150"/>
            <a:chExt cx="870293" cy="290893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697A3E-396D-659E-BE9A-0DE94129B95C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2AC501B8-E067-E3EB-A146-A88C187919EA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3919"/>
                </a:lnSpc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Criteria of model selection: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通過的檢定個數</a:t>
              </a:r>
              <a:endParaRPr lang="en-US" altLang="zh-TW" sz="2799" dirty="0">
                <a:solidFill>
                  <a:srgbClr val="000000"/>
                </a:solidFill>
                <a:ea typeface="圓體"/>
              </a:endParaRP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AIC and BIC</a:t>
              </a:r>
              <a:endParaRPr lang="en-US" sz="2799" dirty="0">
                <a:solidFill>
                  <a:srgbClr val="000000"/>
                </a:solidFill>
                <a:ea typeface="圓體"/>
              </a:endParaRPr>
            </a:p>
          </p:txBody>
        </p:sp>
      </p:grpSp>
      <p:graphicFrame>
        <p:nvGraphicFramePr>
          <p:cNvPr id="2050" name="表格 2049">
            <a:extLst>
              <a:ext uri="{FF2B5EF4-FFF2-40B4-BE49-F238E27FC236}">
                <a16:creationId xmlns:a16="http://schemas.microsoft.com/office/drawing/2014/main" id="{BD08D4C3-7D85-5351-C941-F1987D368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04482"/>
              </p:ext>
            </p:extLst>
          </p:nvPr>
        </p:nvGraphicFramePr>
        <p:xfrm>
          <a:off x="4426377" y="6498673"/>
          <a:ext cx="11487132" cy="31749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87850">
                  <a:extLst>
                    <a:ext uri="{9D8B030D-6E8A-4147-A177-3AD203B41FA5}">
                      <a16:colId xmlns:a16="http://schemas.microsoft.com/office/drawing/2014/main" val="1088490012"/>
                    </a:ext>
                  </a:extLst>
                </a:gridCol>
                <a:gridCol w="1423799">
                  <a:extLst>
                    <a:ext uri="{9D8B030D-6E8A-4147-A177-3AD203B41FA5}">
                      <a16:colId xmlns:a16="http://schemas.microsoft.com/office/drawing/2014/main" val="2790827923"/>
                    </a:ext>
                  </a:extLst>
                </a:gridCol>
                <a:gridCol w="2799343">
                  <a:extLst>
                    <a:ext uri="{9D8B030D-6E8A-4147-A177-3AD203B41FA5}">
                      <a16:colId xmlns:a16="http://schemas.microsoft.com/office/drawing/2014/main" val="1097923056"/>
                    </a:ext>
                  </a:extLst>
                </a:gridCol>
                <a:gridCol w="2688070">
                  <a:extLst>
                    <a:ext uri="{9D8B030D-6E8A-4147-A177-3AD203B41FA5}">
                      <a16:colId xmlns:a16="http://schemas.microsoft.com/office/drawing/2014/main" val="1546804157"/>
                    </a:ext>
                  </a:extLst>
                </a:gridCol>
                <a:gridCol w="2688070">
                  <a:extLst>
                    <a:ext uri="{9D8B030D-6E8A-4147-A177-3AD203B41FA5}">
                      <a16:colId xmlns:a16="http://schemas.microsoft.com/office/drawing/2014/main" val="4208946404"/>
                    </a:ext>
                  </a:extLst>
                </a:gridCol>
              </a:tblGrid>
              <a:tr h="897999">
                <a:tc>
                  <a:txBody>
                    <a:bodyPr/>
                    <a:lstStyle/>
                    <a:p>
                      <a:pPr algn="ctr"/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T test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Shapiro-Wilk test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err="1">
                          <a:solidFill>
                            <a:schemeClr val="tx1"/>
                          </a:solidFill>
                        </a:rPr>
                        <a:t>Ljung</a:t>
                      </a:r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-Box test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>
                          <a:solidFill>
                            <a:schemeClr val="tx1"/>
                          </a:solidFill>
                        </a:rPr>
                        <a:t>AIC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85269"/>
                  </a:ext>
                </a:extLst>
              </a:tr>
              <a:tr h="967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MA(1)</a:t>
                      </a:r>
                    </a:p>
                    <a:p>
                      <a:pPr algn="ctr"/>
                      <a:endParaRPr lang="en-US" altLang="zh-TW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通過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不通過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通過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solidFill>
                            <a:srgbClr val="FF0000"/>
                          </a:solidFill>
                        </a:rPr>
                        <a:t>-518.58</a:t>
                      </a:r>
                      <a:endParaRPr lang="zh-TW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79557"/>
                  </a:ext>
                </a:extLst>
              </a:tr>
              <a:tr h="104130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ARMA(1,2)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通過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不通過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dirty="0"/>
                        <a:t>通過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/>
                        <a:t>-517.75</a:t>
                      </a:r>
                      <a:endParaRPr lang="zh-TW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203899"/>
                  </a:ext>
                </a:extLst>
              </a:tr>
            </a:tbl>
          </a:graphicData>
        </a:graphic>
      </p:graphicFrame>
      <p:sp>
        <p:nvSpPr>
          <p:cNvPr id="2053" name="文字方塊 2052">
            <a:extLst>
              <a:ext uri="{FF2B5EF4-FFF2-40B4-BE49-F238E27FC236}">
                <a16:creationId xmlns:a16="http://schemas.microsoft.com/office/drawing/2014/main" id="{8DFB927D-29D8-FCEC-69CF-0245F0A32CB2}"/>
              </a:ext>
            </a:extLst>
          </p:cNvPr>
          <p:cNvSpPr txBox="1"/>
          <p:nvPr/>
        </p:nvSpPr>
        <p:spPr>
          <a:xfrm>
            <a:off x="3282776" y="3727877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sp>
        <p:nvSpPr>
          <p:cNvPr id="2055" name="Freeform 9">
            <a:extLst>
              <a:ext uri="{FF2B5EF4-FFF2-40B4-BE49-F238E27FC236}">
                <a16:creationId xmlns:a16="http://schemas.microsoft.com/office/drawing/2014/main" id="{3601DBE9-AEFF-9813-9697-D06422028AC4}"/>
              </a:ext>
            </a:extLst>
          </p:cNvPr>
          <p:cNvSpPr/>
          <p:nvPr/>
        </p:nvSpPr>
        <p:spPr>
          <a:xfrm>
            <a:off x="10650965" y="1684614"/>
            <a:ext cx="1173556" cy="853656"/>
          </a:xfrm>
          <a:custGeom>
            <a:avLst/>
            <a:gdLst/>
            <a:ahLst/>
            <a:cxnLst/>
            <a:rect l="l" t="t" r="r" b="b"/>
            <a:pathLst>
              <a:path w="1173556" h="853656">
                <a:moveTo>
                  <a:pt x="0" y="0"/>
                </a:moveTo>
                <a:lnTo>
                  <a:pt x="1173556" y="0"/>
                </a:lnTo>
                <a:lnTo>
                  <a:pt x="1173556" y="853656"/>
                </a:lnTo>
                <a:lnTo>
                  <a:pt x="0" y="853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58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583835" y="1898424"/>
            <a:ext cx="712033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10. Conclusion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24">
            <a:extLst>
              <a:ext uri="{FF2B5EF4-FFF2-40B4-BE49-F238E27FC236}">
                <a16:creationId xmlns:a16="http://schemas.microsoft.com/office/drawing/2014/main" id="{7F9F31BA-0D40-DB49-8920-068C9676645F}"/>
              </a:ext>
            </a:extLst>
          </p:cNvPr>
          <p:cNvSpPr/>
          <p:nvPr/>
        </p:nvSpPr>
        <p:spPr>
          <a:xfrm>
            <a:off x="12704165" y="2075268"/>
            <a:ext cx="674902" cy="1000528"/>
          </a:xfrm>
          <a:custGeom>
            <a:avLst/>
            <a:gdLst/>
            <a:ahLst/>
            <a:cxnLst/>
            <a:rect l="l" t="t" r="r" b="b"/>
            <a:pathLst>
              <a:path w="674902" h="1000528">
                <a:moveTo>
                  <a:pt x="0" y="0"/>
                </a:moveTo>
                <a:lnTo>
                  <a:pt x="674902" y="0"/>
                </a:lnTo>
                <a:lnTo>
                  <a:pt x="674902" y="1000528"/>
                </a:lnTo>
                <a:lnTo>
                  <a:pt x="0" y="1000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465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81005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ARMA model analysis flowchart</a:t>
            </a:r>
            <a:endParaRPr lang="zh-TW" altLang="en-US" sz="4800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09CC1101-4088-E39C-1DA2-00A72887F998}"/>
              </a:ext>
            </a:extLst>
          </p:cNvPr>
          <p:cNvGrpSpPr/>
          <p:nvPr/>
        </p:nvGrpSpPr>
        <p:grpSpPr>
          <a:xfrm>
            <a:off x="820406" y="1250818"/>
            <a:ext cx="2420596" cy="578974"/>
            <a:chOff x="0" y="0"/>
            <a:chExt cx="812800" cy="346119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9555D09-C05F-B564-0AE4-460449EC15FE}"/>
                </a:ext>
              </a:extLst>
            </p:cNvPr>
            <p:cNvSpPr/>
            <p:nvPr/>
          </p:nvSpPr>
          <p:spPr>
            <a:xfrm>
              <a:off x="0" y="0"/>
              <a:ext cx="812800" cy="34611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C1F0AAA0-DBD9-22AF-93C7-079279C04101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Data</a:t>
              </a:r>
            </a:p>
          </p:txBody>
        </p:sp>
      </p:grpSp>
      <p:sp>
        <p:nvSpPr>
          <p:cNvPr id="2056" name="AutoShape 55">
            <a:extLst>
              <a:ext uri="{FF2B5EF4-FFF2-40B4-BE49-F238E27FC236}">
                <a16:creationId xmlns:a16="http://schemas.microsoft.com/office/drawing/2014/main" id="{2A4F8AF4-6D89-CE33-9CD3-A883AB922C1E}"/>
              </a:ext>
            </a:extLst>
          </p:cNvPr>
          <p:cNvSpPr/>
          <p:nvPr/>
        </p:nvSpPr>
        <p:spPr>
          <a:xfrm flipV="1">
            <a:off x="3261754" y="1521915"/>
            <a:ext cx="701259" cy="18389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grpSp>
        <p:nvGrpSpPr>
          <p:cNvPr id="26" name="Group 5">
            <a:extLst>
              <a:ext uri="{FF2B5EF4-FFF2-40B4-BE49-F238E27FC236}">
                <a16:creationId xmlns:a16="http://schemas.microsoft.com/office/drawing/2014/main" id="{0C4A4111-482F-601D-C367-9C860EA198E9}"/>
              </a:ext>
            </a:extLst>
          </p:cNvPr>
          <p:cNvGrpSpPr/>
          <p:nvPr/>
        </p:nvGrpSpPr>
        <p:grpSpPr>
          <a:xfrm>
            <a:off x="3947316" y="1248728"/>
            <a:ext cx="7280121" cy="1841858"/>
            <a:chOff x="0" y="-57150"/>
            <a:chExt cx="812800" cy="403269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82B73D1E-559A-0E5B-C2D1-B46B1C1D4AF9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51" name="TextBox 7">
              <a:extLst>
                <a:ext uri="{FF2B5EF4-FFF2-40B4-BE49-F238E27FC236}">
                  <a16:creationId xmlns:a16="http://schemas.microsoft.com/office/drawing/2014/main" id="{8E3D12C0-BA43-6C47-5786-439E8A7C49E3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ADF-test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: Data is non-stationary)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KPSS-test (H</a:t>
              </a:r>
              <a:r>
                <a:rPr lang="en-US" sz="1600" dirty="0">
                  <a:solidFill>
                    <a:srgbClr val="000000"/>
                  </a:solidFill>
                  <a:ea typeface="圓體"/>
                </a:rPr>
                <a:t>0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: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Data is stationary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</a:t>
              </a:r>
            </a:p>
          </p:txBody>
        </p:sp>
      </p:grpSp>
      <p:cxnSp>
        <p:nvCxnSpPr>
          <p:cNvPr id="2052" name="直線單箭頭接點 2051">
            <a:extLst>
              <a:ext uri="{FF2B5EF4-FFF2-40B4-BE49-F238E27FC236}">
                <a16:creationId xmlns:a16="http://schemas.microsoft.com/office/drawing/2014/main" id="{DF3D1543-DC5B-C5B7-3E91-13418607F370}"/>
              </a:ext>
            </a:extLst>
          </p:cNvPr>
          <p:cNvCxnSpPr>
            <a:cxnSpLocks/>
          </p:cNvCxnSpPr>
          <p:nvPr/>
        </p:nvCxnSpPr>
        <p:spPr>
          <a:xfrm flipH="1">
            <a:off x="3251793" y="2807459"/>
            <a:ext cx="6904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3" name="Freeform 6">
            <a:extLst>
              <a:ext uri="{FF2B5EF4-FFF2-40B4-BE49-F238E27FC236}">
                <a16:creationId xmlns:a16="http://schemas.microsoft.com/office/drawing/2014/main" id="{3E56B2A3-3B17-FDCC-95FE-F984116B6985}"/>
              </a:ext>
            </a:extLst>
          </p:cNvPr>
          <p:cNvSpPr/>
          <p:nvPr/>
        </p:nvSpPr>
        <p:spPr>
          <a:xfrm>
            <a:off x="820406" y="2517972"/>
            <a:ext cx="2420596" cy="578974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Stationary</a:t>
            </a:r>
            <a:endParaRPr lang="zh-TW" altLang="en-US" sz="2800" dirty="0"/>
          </a:p>
        </p:txBody>
      </p:sp>
      <p:cxnSp>
        <p:nvCxnSpPr>
          <p:cNvPr id="2054" name="直線單箭頭接點 2053">
            <a:extLst>
              <a:ext uri="{FF2B5EF4-FFF2-40B4-BE49-F238E27FC236}">
                <a16:creationId xmlns:a16="http://schemas.microsoft.com/office/drawing/2014/main" id="{B3AC7D58-5A93-C37C-F3EB-614D2375EA3A}"/>
              </a:ext>
            </a:extLst>
          </p:cNvPr>
          <p:cNvCxnSpPr>
            <a:cxnSpLocks/>
          </p:cNvCxnSpPr>
          <p:nvPr/>
        </p:nvCxnSpPr>
        <p:spPr>
          <a:xfrm>
            <a:off x="13162192" y="1843442"/>
            <a:ext cx="0" cy="1750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5" name="Freeform 6">
            <a:extLst>
              <a:ext uri="{FF2B5EF4-FFF2-40B4-BE49-F238E27FC236}">
                <a16:creationId xmlns:a16="http://schemas.microsoft.com/office/drawing/2014/main" id="{C3E1FEAB-D4B1-9A6B-2E40-CF30C4573E53}"/>
              </a:ext>
            </a:extLst>
          </p:cNvPr>
          <p:cNvSpPr/>
          <p:nvPr/>
        </p:nvSpPr>
        <p:spPr>
          <a:xfrm>
            <a:off x="11951894" y="1264468"/>
            <a:ext cx="2420596" cy="578974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Non-stationary</a:t>
            </a:r>
            <a:endParaRPr lang="zh-TW" altLang="en-US" sz="2800" dirty="0"/>
          </a:p>
        </p:txBody>
      </p:sp>
      <p:sp>
        <p:nvSpPr>
          <p:cNvPr id="2060" name="AutoShape 55">
            <a:extLst>
              <a:ext uri="{FF2B5EF4-FFF2-40B4-BE49-F238E27FC236}">
                <a16:creationId xmlns:a16="http://schemas.microsoft.com/office/drawing/2014/main" id="{086C60BD-125D-B64B-EED2-458BDD0FED03}"/>
              </a:ext>
            </a:extLst>
          </p:cNvPr>
          <p:cNvSpPr/>
          <p:nvPr/>
        </p:nvSpPr>
        <p:spPr>
          <a:xfrm>
            <a:off x="2005781" y="3208008"/>
            <a:ext cx="0" cy="407458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cxnSp>
        <p:nvCxnSpPr>
          <p:cNvPr id="2061" name="直線單箭頭接點 2060">
            <a:extLst>
              <a:ext uri="{FF2B5EF4-FFF2-40B4-BE49-F238E27FC236}">
                <a16:creationId xmlns:a16="http://schemas.microsoft.com/office/drawing/2014/main" id="{664829B3-8556-FA8E-B1E2-BE9E0D61E4E8}"/>
              </a:ext>
            </a:extLst>
          </p:cNvPr>
          <p:cNvCxnSpPr>
            <a:cxnSpLocks/>
          </p:cNvCxnSpPr>
          <p:nvPr/>
        </p:nvCxnSpPr>
        <p:spPr>
          <a:xfrm>
            <a:off x="11256193" y="1556786"/>
            <a:ext cx="695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62" name="Group 5">
            <a:extLst>
              <a:ext uri="{FF2B5EF4-FFF2-40B4-BE49-F238E27FC236}">
                <a16:creationId xmlns:a16="http://schemas.microsoft.com/office/drawing/2014/main" id="{E1E646B5-AE21-303E-50BC-474D14C8AECA}"/>
              </a:ext>
            </a:extLst>
          </p:cNvPr>
          <p:cNvGrpSpPr/>
          <p:nvPr/>
        </p:nvGrpSpPr>
        <p:grpSpPr>
          <a:xfrm>
            <a:off x="9864012" y="3594241"/>
            <a:ext cx="4506033" cy="1074497"/>
            <a:chOff x="0" y="-57150"/>
            <a:chExt cx="812800" cy="403269"/>
          </a:xfrm>
        </p:grpSpPr>
        <p:sp>
          <p:nvSpPr>
            <p:cNvPr id="2063" name="Freeform 6">
              <a:extLst>
                <a:ext uri="{FF2B5EF4-FFF2-40B4-BE49-F238E27FC236}">
                  <a16:creationId xmlns:a16="http://schemas.microsoft.com/office/drawing/2014/main" id="{3529A490-6B50-A6C4-3753-878792DD8539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4" name="TextBox 7">
              <a:extLst>
                <a:ext uri="{FF2B5EF4-FFF2-40B4-BE49-F238E27FC236}">
                  <a16:creationId xmlns:a16="http://schemas.microsoft.com/office/drawing/2014/main" id="{7A796142-DE5F-6686-9930-15A002B97E19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Box-Cox transformation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Difference</a:t>
              </a:r>
            </a:p>
          </p:txBody>
        </p:sp>
      </p:grpSp>
      <p:cxnSp>
        <p:nvCxnSpPr>
          <p:cNvPr id="2065" name="直線單箭頭接點 2064">
            <a:extLst>
              <a:ext uri="{FF2B5EF4-FFF2-40B4-BE49-F238E27FC236}">
                <a16:creationId xmlns:a16="http://schemas.microsoft.com/office/drawing/2014/main" id="{ECE00650-5936-A81D-4C60-60155C82A418}"/>
              </a:ext>
            </a:extLst>
          </p:cNvPr>
          <p:cNvCxnSpPr>
            <a:cxnSpLocks/>
          </p:cNvCxnSpPr>
          <p:nvPr/>
        </p:nvCxnSpPr>
        <p:spPr>
          <a:xfrm flipV="1">
            <a:off x="10945011" y="3091829"/>
            <a:ext cx="0" cy="50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48" name="Group 5">
            <a:extLst>
              <a:ext uri="{FF2B5EF4-FFF2-40B4-BE49-F238E27FC236}">
                <a16:creationId xmlns:a16="http://schemas.microsoft.com/office/drawing/2014/main" id="{39BB31F8-6DFE-930D-165F-5C263FB82DDE}"/>
              </a:ext>
            </a:extLst>
          </p:cNvPr>
          <p:cNvGrpSpPr/>
          <p:nvPr/>
        </p:nvGrpSpPr>
        <p:grpSpPr>
          <a:xfrm>
            <a:off x="775558" y="3682150"/>
            <a:ext cx="6343516" cy="1841858"/>
            <a:chOff x="0" y="-57150"/>
            <a:chExt cx="812800" cy="403269"/>
          </a:xfrm>
        </p:grpSpPr>
        <p:sp>
          <p:nvSpPr>
            <p:cNvPr id="2050" name="Freeform 6">
              <a:extLst>
                <a:ext uri="{FF2B5EF4-FFF2-40B4-BE49-F238E27FC236}">
                  <a16:creationId xmlns:a16="http://schemas.microsoft.com/office/drawing/2014/main" id="{76DF8C82-D00A-DD68-E78B-927BD6C57B61}"/>
                </a:ext>
              </a:extLst>
            </p:cNvPr>
            <p:cNvSpPr/>
            <p:nvPr/>
          </p:nvSpPr>
          <p:spPr>
            <a:xfrm>
              <a:off x="0" y="-57150"/>
              <a:ext cx="812800" cy="403269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57" name="TextBox 7">
              <a:extLst>
                <a:ext uri="{FF2B5EF4-FFF2-40B4-BE49-F238E27FC236}">
                  <a16:creationId xmlns:a16="http://schemas.microsoft.com/office/drawing/2014/main" id="{0665051E-2428-8CF9-18CE-9A00898F1404}"/>
                </a:ext>
              </a:extLst>
            </p:cNvPr>
            <p:cNvSpPr txBox="1"/>
            <p:nvPr/>
          </p:nvSpPr>
          <p:spPr>
            <a:xfrm>
              <a:off x="0" y="-57150"/>
              <a:ext cx="812800" cy="40326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ACF plot: Cut-off at lag q =&gt; MA(q)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PACF plot: Cut-off at lag p =&gt; AR(p)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EACF  plot: ARMA(</a:t>
              </a:r>
              <a:r>
                <a:rPr lang="en-US" sz="2799" dirty="0" err="1">
                  <a:solidFill>
                    <a:srgbClr val="000000"/>
                  </a:solidFill>
                  <a:ea typeface="圓體"/>
                </a:rPr>
                <a:t>p,q</a:t>
              </a: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)</a:t>
              </a:r>
            </a:p>
          </p:txBody>
        </p:sp>
      </p:grpSp>
      <p:cxnSp>
        <p:nvCxnSpPr>
          <p:cNvPr id="2058" name="直線單箭頭接點 2057">
            <a:extLst>
              <a:ext uri="{FF2B5EF4-FFF2-40B4-BE49-F238E27FC236}">
                <a16:creationId xmlns:a16="http://schemas.microsoft.com/office/drawing/2014/main" id="{D05967C5-DFC0-C2E5-FBBA-523803BAE43C}"/>
              </a:ext>
            </a:extLst>
          </p:cNvPr>
          <p:cNvCxnSpPr>
            <a:cxnSpLocks/>
          </p:cNvCxnSpPr>
          <p:nvPr/>
        </p:nvCxnSpPr>
        <p:spPr>
          <a:xfrm>
            <a:off x="4235226" y="5580263"/>
            <a:ext cx="0" cy="680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59" name="Group 5">
            <a:extLst>
              <a:ext uri="{FF2B5EF4-FFF2-40B4-BE49-F238E27FC236}">
                <a16:creationId xmlns:a16="http://schemas.microsoft.com/office/drawing/2014/main" id="{A7585C89-96BC-C889-CB62-61A30896D5DD}"/>
              </a:ext>
            </a:extLst>
          </p:cNvPr>
          <p:cNvGrpSpPr/>
          <p:nvPr/>
        </p:nvGrpSpPr>
        <p:grpSpPr>
          <a:xfrm>
            <a:off x="1415107" y="6260952"/>
            <a:ext cx="5574885" cy="928932"/>
            <a:chOff x="0" y="-57150"/>
            <a:chExt cx="870293" cy="290893"/>
          </a:xfrm>
        </p:grpSpPr>
        <p:sp>
          <p:nvSpPr>
            <p:cNvPr id="2066" name="Freeform 6">
              <a:extLst>
                <a:ext uri="{FF2B5EF4-FFF2-40B4-BE49-F238E27FC236}">
                  <a16:creationId xmlns:a16="http://schemas.microsoft.com/office/drawing/2014/main" id="{258B52F4-98C0-7D17-B8C1-8AC1E79D81FF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067" name="TextBox 7">
              <a:extLst>
                <a:ext uri="{FF2B5EF4-FFF2-40B4-BE49-F238E27FC236}">
                  <a16:creationId xmlns:a16="http://schemas.microsoft.com/office/drawing/2014/main" id="{92FB7DA0-D7A0-F585-40E9-BC93FB2961C8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dirty="0">
                  <a:ea typeface="圓體"/>
                </a:rPr>
                <a:t>Check significance of parameters</a:t>
              </a:r>
            </a:p>
          </p:txBody>
        </p:sp>
      </p:grpSp>
      <p:sp>
        <p:nvSpPr>
          <p:cNvPr id="2071" name="Freeform 6">
            <a:extLst>
              <a:ext uri="{FF2B5EF4-FFF2-40B4-BE49-F238E27FC236}">
                <a16:creationId xmlns:a16="http://schemas.microsoft.com/office/drawing/2014/main" id="{B5194770-8637-3D6D-CFF2-613FB982CE4B}"/>
              </a:ext>
            </a:extLst>
          </p:cNvPr>
          <p:cNvSpPr/>
          <p:nvPr/>
        </p:nvSpPr>
        <p:spPr>
          <a:xfrm>
            <a:off x="7722624" y="5033374"/>
            <a:ext cx="3024380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All of parameters are significance</a:t>
            </a:r>
            <a:endParaRPr lang="zh-TW" altLang="en-US" sz="2800" dirty="0"/>
          </a:p>
        </p:txBody>
      </p:sp>
      <p:cxnSp>
        <p:nvCxnSpPr>
          <p:cNvPr id="2072" name="直線單箭頭接點 2071">
            <a:extLst>
              <a:ext uri="{FF2B5EF4-FFF2-40B4-BE49-F238E27FC236}">
                <a16:creationId xmlns:a16="http://schemas.microsoft.com/office/drawing/2014/main" id="{81A7DC08-DD26-7613-D870-1A548BFBA94E}"/>
              </a:ext>
            </a:extLst>
          </p:cNvPr>
          <p:cNvCxnSpPr>
            <a:cxnSpLocks/>
          </p:cNvCxnSpPr>
          <p:nvPr/>
        </p:nvCxnSpPr>
        <p:spPr>
          <a:xfrm>
            <a:off x="1879465" y="7189884"/>
            <a:ext cx="0" cy="494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3" name="Freeform 6">
            <a:extLst>
              <a:ext uri="{FF2B5EF4-FFF2-40B4-BE49-F238E27FC236}">
                <a16:creationId xmlns:a16="http://schemas.microsoft.com/office/drawing/2014/main" id="{D3FBF9EA-C886-81EB-4F4B-7A1BE26C7C4B}"/>
              </a:ext>
            </a:extLst>
          </p:cNvPr>
          <p:cNvSpPr/>
          <p:nvPr/>
        </p:nvSpPr>
        <p:spPr>
          <a:xfrm>
            <a:off x="820406" y="7694942"/>
            <a:ext cx="3259391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Some parameters are non-significance</a:t>
            </a:r>
            <a:endParaRPr lang="zh-TW" altLang="en-US" sz="2800" dirty="0"/>
          </a:p>
        </p:txBody>
      </p:sp>
      <p:sp>
        <p:nvSpPr>
          <p:cNvPr id="2074" name="AutoShape 55">
            <a:extLst>
              <a:ext uri="{FF2B5EF4-FFF2-40B4-BE49-F238E27FC236}">
                <a16:creationId xmlns:a16="http://schemas.microsoft.com/office/drawing/2014/main" id="{CA4F89CD-5AAA-A2F0-BFB4-85FAEF1867EA}"/>
              </a:ext>
            </a:extLst>
          </p:cNvPr>
          <p:cNvSpPr/>
          <p:nvPr/>
        </p:nvSpPr>
        <p:spPr>
          <a:xfrm>
            <a:off x="2920181" y="8699262"/>
            <a:ext cx="589936" cy="482005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079" name="Freeform 6">
            <a:extLst>
              <a:ext uri="{FF2B5EF4-FFF2-40B4-BE49-F238E27FC236}">
                <a16:creationId xmlns:a16="http://schemas.microsoft.com/office/drawing/2014/main" id="{D46F6D0D-A697-D7B7-D05E-6947B237E184}"/>
              </a:ext>
            </a:extLst>
          </p:cNvPr>
          <p:cNvSpPr/>
          <p:nvPr/>
        </p:nvSpPr>
        <p:spPr>
          <a:xfrm>
            <a:off x="2331731" y="9181267"/>
            <a:ext cx="3741635" cy="981267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Remove the most non-significance parameter</a:t>
            </a:r>
            <a:endParaRPr lang="zh-TW" altLang="en-US" sz="2800" dirty="0"/>
          </a:p>
        </p:txBody>
      </p:sp>
      <p:sp>
        <p:nvSpPr>
          <p:cNvPr id="2080" name="Freeform 6">
            <a:extLst>
              <a:ext uri="{FF2B5EF4-FFF2-40B4-BE49-F238E27FC236}">
                <a16:creationId xmlns:a16="http://schemas.microsoft.com/office/drawing/2014/main" id="{680F09DB-BCB6-F3ED-B5D1-C74416A06FE3}"/>
              </a:ext>
            </a:extLst>
          </p:cNvPr>
          <p:cNvSpPr/>
          <p:nvPr/>
        </p:nvSpPr>
        <p:spPr>
          <a:xfrm>
            <a:off x="4380330" y="7787985"/>
            <a:ext cx="2738744" cy="680690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Refit the model</a:t>
            </a:r>
          </a:p>
        </p:txBody>
      </p:sp>
      <p:cxnSp>
        <p:nvCxnSpPr>
          <p:cNvPr id="2081" name="直線單箭頭接點 2080">
            <a:extLst>
              <a:ext uri="{FF2B5EF4-FFF2-40B4-BE49-F238E27FC236}">
                <a16:creationId xmlns:a16="http://schemas.microsoft.com/office/drawing/2014/main" id="{6187383C-58BA-F5DF-7690-63D67D310E86}"/>
              </a:ext>
            </a:extLst>
          </p:cNvPr>
          <p:cNvCxnSpPr>
            <a:cxnSpLocks/>
          </p:cNvCxnSpPr>
          <p:nvPr/>
        </p:nvCxnSpPr>
        <p:spPr>
          <a:xfrm flipV="1">
            <a:off x="4544429" y="8525920"/>
            <a:ext cx="838732" cy="6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8" name="AutoShape 55">
            <a:extLst>
              <a:ext uri="{FF2B5EF4-FFF2-40B4-BE49-F238E27FC236}">
                <a16:creationId xmlns:a16="http://schemas.microsoft.com/office/drawing/2014/main" id="{28EB9C52-F412-FFEC-C975-E9AAFCC95837}"/>
              </a:ext>
            </a:extLst>
          </p:cNvPr>
          <p:cNvSpPr/>
          <p:nvPr/>
        </p:nvSpPr>
        <p:spPr>
          <a:xfrm flipV="1">
            <a:off x="7048391" y="5590692"/>
            <a:ext cx="674231" cy="1134726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cxnSp>
        <p:nvCxnSpPr>
          <p:cNvPr id="2091" name="直線單箭頭接點 2090">
            <a:extLst>
              <a:ext uri="{FF2B5EF4-FFF2-40B4-BE49-F238E27FC236}">
                <a16:creationId xmlns:a16="http://schemas.microsoft.com/office/drawing/2014/main" id="{6EBF8D64-C0E9-FF88-564B-02CCBFD3250D}"/>
              </a:ext>
            </a:extLst>
          </p:cNvPr>
          <p:cNvCxnSpPr>
            <a:cxnSpLocks/>
          </p:cNvCxnSpPr>
          <p:nvPr/>
        </p:nvCxnSpPr>
        <p:spPr>
          <a:xfrm flipV="1">
            <a:off x="5771292" y="7206637"/>
            <a:ext cx="0" cy="581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09" name="Group 5">
            <a:extLst>
              <a:ext uri="{FF2B5EF4-FFF2-40B4-BE49-F238E27FC236}">
                <a16:creationId xmlns:a16="http://schemas.microsoft.com/office/drawing/2014/main" id="{28D4DBC6-F12E-AEBC-E34D-F081F28F9C7B}"/>
              </a:ext>
            </a:extLst>
          </p:cNvPr>
          <p:cNvGrpSpPr/>
          <p:nvPr/>
        </p:nvGrpSpPr>
        <p:grpSpPr>
          <a:xfrm>
            <a:off x="7722622" y="6488834"/>
            <a:ext cx="3806312" cy="2421458"/>
            <a:chOff x="0" y="-57150"/>
            <a:chExt cx="870293" cy="290893"/>
          </a:xfrm>
        </p:grpSpPr>
        <p:sp>
          <p:nvSpPr>
            <p:cNvPr id="2110" name="Freeform 6">
              <a:extLst>
                <a:ext uri="{FF2B5EF4-FFF2-40B4-BE49-F238E27FC236}">
                  <a16:creationId xmlns:a16="http://schemas.microsoft.com/office/drawing/2014/main" id="{9DE9B101-49C2-C1A4-DE51-A5AE10ECBD24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111" name="TextBox 7">
              <a:extLst>
                <a:ext uri="{FF2B5EF4-FFF2-40B4-BE49-F238E27FC236}">
                  <a16:creationId xmlns:a16="http://schemas.microsoft.com/office/drawing/2014/main" id="{BA92B4D0-5171-C43B-1FFC-AE493D70646C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3919"/>
                </a:lnSpc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Time series plot + </a:t>
              </a:r>
            </a:p>
            <a:p>
              <a:pPr>
                <a:lnSpc>
                  <a:spcPts val="3919"/>
                </a:lnSpc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histogram + QQ-plot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Symmetric 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Mean = 0</a:t>
              </a:r>
            </a:p>
            <a:p>
              <a:pPr marL="514350" indent="-514350">
                <a:lnSpc>
                  <a:spcPts val="3919"/>
                </a:lnSpc>
                <a:buAutoNum type="arabicParenBoth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Outliers</a:t>
              </a:r>
            </a:p>
          </p:txBody>
        </p:sp>
      </p:grpSp>
      <p:sp>
        <p:nvSpPr>
          <p:cNvPr id="2113" name="Freeform 6">
            <a:extLst>
              <a:ext uri="{FF2B5EF4-FFF2-40B4-BE49-F238E27FC236}">
                <a16:creationId xmlns:a16="http://schemas.microsoft.com/office/drawing/2014/main" id="{C47035B3-2CA8-9091-DA9E-9BC99FCF961F}"/>
              </a:ext>
            </a:extLst>
          </p:cNvPr>
          <p:cNvSpPr/>
          <p:nvPr/>
        </p:nvSpPr>
        <p:spPr>
          <a:xfrm>
            <a:off x="7722622" y="9341346"/>
            <a:ext cx="2738744" cy="680690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Outliers</a:t>
            </a:r>
          </a:p>
        </p:txBody>
      </p:sp>
      <p:cxnSp>
        <p:nvCxnSpPr>
          <p:cNvPr id="2114" name="直線單箭頭接點 2113">
            <a:extLst>
              <a:ext uri="{FF2B5EF4-FFF2-40B4-BE49-F238E27FC236}">
                <a16:creationId xmlns:a16="http://schemas.microsoft.com/office/drawing/2014/main" id="{82980D93-7779-60E0-8F49-3EEFC62B85F5}"/>
              </a:ext>
            </a:extLst>
          </p:cNvPr>
          <p:cNvCxnSpPr>
            <a:cxnSpLocks/>
          </p:cNvCxnSpPr>
          <p:nvPr/>
        </p:nvCxnSpPr>
        <p:spPr>
          <a:xfrm flipH="1" flipV="1">
            <a:off x="6558410" y="8513550"/>
            <a:ext cx="1164212" cy="1234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16" name="Group 5">
            <a:extLst>
              <a:ext uri="{FF2B5EF4-FFF2-40B4-BE49-F238E27FC236}">
                <a16:creationId xmlns:a16="http://schemas.microsoft.com/office/drawing/2014/main" id="{63419B2E-9F07-985A-BE55-B35D1AA62D33}"/>
              </a:ext>
            </a:extLst>
          </p:cNvPr>
          <p:cNvGrpSpPr/>
          <p:nvPr/>
        </p:nvGrpSpPr>
        <p:grpSpPr>
          <a:xfrm>
            <a:off x="11951894" y="6488833"/>
            <a:ext cx="4728532" cy="1148819"/>
            <a:chOff x="0" y="-57150"/>
            <a:chExt cx="870293" cy="290893"/>
          </a:xfrm>
        </p:grpSpPr>
        <p:sp>
          <p:nvSpPr>
            <p:cNvPr id="2117" name="Freeform 6">
              <a:extLst>
                <a:ext uri="{FF2B5EF4-FFF2-40B4-BE49-F238E27FC236}">
                  <a16:creationId xmlns:a16="http://schemas.microsoft.com/office/drawing/2014/main" id="{138FCCC3-A7DD-AD73-4C40-6A791CB38FF3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118" name="TextBox 7">
              <a:extLst>
                <a:ext uri="{FF2B5EF4-FFF2-40B4-BE49-F238E27FC236}">
                  <a16:creationId xmlns:a16="http://schemas.microsoft.com/office/drawing/2014/main" id="{1D62B6AA-0FCA-075C-A4FE-46BA8B11566A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sz="2799" dirty="0">
                  <a:solidFill>
                    <a:srgbClr val="000000"/>
                  </a:solidFill>
                  <a:ea typeface="圓體"/>
                </a:rPr>
                <a:t>T test + Shapiro-Wilk test</a:t>
              </a:r>
            </a:p>
            <a:p>
              <a:pPr marL="514350" indent="-514350">
                <a:lnSpc>
                  <a:spcPts val="3919"/>
                </a:lnSpc>
                <a:buFontTx/>
                <a:buAutoNum type="arabicPeriod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ACF plot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+</a:t>
              </a: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 </a:t>
              </a:r>
              <a:r>
                <a:rPr lang="en-US" altLang="zh-TW" sz="2799" dirty="0" err="1">
                  <a:solidFill>
                    <a:srgbClr val="000000"/>
                  </a:solidFill>
                  <a:ea typeface="圓體"/>
                </a:rPr>
                <a:t>Ljung</a:t>
              </a: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-Box test</a:t>
              </a:r>
            </a:p>
          </p:txBody>
        </p:sp>
      </p:grpSp>
      <p:sp>
        <p:nvSpPr>
          <p:cNvPr id="2119" name="AutoShape 55">
            <a:extLst>
              <a:ext uri="{FF2B5EF4-FFF2-40B4-BE49-F238E27FC236}">
                <a16:creationId xmlns:a16="http://schemas.microsoft.com/office/drawing/2014/main" id="{16C451CE-E205-48C4-AE20-AEF9F1067E2F}"/>
              </a:ext>
            </a:extLst>
          </p:cNvPr>
          <p:cNvSpPr/>
          <p:nvPr/>
        </p:nvSpPr>
        <p:spPr>
          <a:xfrm>
            <a:off x="9144000" y="6014641"/>
            <a:ext cx="0" cy="474193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120" name="Freeform 6">
            <a:extLst>
              <a:ext uri="{FF2B5EF4-FFF2-40B4-BE49-F238E27FC236}">
                <a16:creationId xmlns:a16="http://schemas.microsoft.com/office/drawing/2014/main" id="{287611A2-8EDA-A72F-026D-3C38D98E5DF5}"/>
              </a:ext>
            </a:extLst>
          </p:cNvPr>
          <p:cNvSpPr/>
          <p:nvPr/>
        </p:nvSpPr>
        <p:spPr>
          <a:xfrm>
            <a:off x="11528934" y="5033373"/>
            <a:ext cx="2738744" cy="971913"/>
          </a:xfrm>
          <a:custGeom>
            <a:avLst/>
            <a:gdLst/>
            <a:ahLst/>
            <a:cxnLst/>
            <a:rect l="l" t="t" r="r" b="b"/>
            <a:pathLst>
              <a:path w="812800" h="346119">
                <a:moveTo>
                  <a:pt x="0" y="0"/>
                </a:moveTo>
                <a:lnTo>
                  <a:pt x="812800" y="0"/>
                </a:lnTo>
                <a:lnTo>
                  <a:pt x="812800" y="346119"/>
                </a:lnTo>
                <a:lnTo>
                  <a:pt x="0" y="346119"/>
                </a:ln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68D4"/>
            </a:solidFill>
            <a:prstDash val="solid"/>
            <a:miter/>
          </a:ln>
        </p:spPr>
        <p:txBody>
          <a:bodyPr/>
          <a:lstStyle/>
          <a:p>
            <a:pPr algn="ctr"/>
            <a:r>
              <a:rPr lang="en-US" altLang="zh-TW" sz="2800" dirty="0"/>
              <a:t>No outliers or ignore outliers</a:t>
            </a:r>
          </a:p>
        </p:txBody>
      </p:sp>
      <p:cxnSp>
        <p:nvCxnSpPr>
          <p:cNvPr id="2121" name="直線單箭頭接點 2120">
            <a:extLst>
              <a:ext uri="{FF2B5EF4-FFF2-40B4-BE49-F238E27FC236}">
                <a16:creationId xmlns:a16="http://schemas.microsoft.com/office/drawing/2014/main" id="{00721935-F563-9AA4-90B3-8547932242C7}"/>
              </a:ext>
            </a:extLst>
          </p:cNvPr>
          <p:cNvCxnSpPr>
            <a:cxnSpLocks/>
          </p:cNvCxnSpPr>
          <p:nvPr/>
        </p:nvCxnSpPr>
        <p:spPr>
          <a:xfrm flipV="1">
            <a:off x="10747004" y="5590692"/>
            <a:ext cx="781930" cy="898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5" name="AutoShape 55">
            <a:extLst>
              <a:ext uri="{FF2B5EF4-FFF2-40B4-BE49-F238E27FC236}">
                <a16:creationId xmlns:a16="http://schemas.microsoft.com/office/drawing/2014/main" id="{EB21EE87-2B39-B8AF-5197-9FCDA677672F}"/>
              </a:ext>
            </a:extLst>
          </p:cNvPr>
          <p:cNvSpPr/>
          <p:nvPr/>
        </p:nvSpPr>
        <p:spPr>
          <a:xfrm>
            <a:off x="9144000" y="8910293"/>
            <a:ext cx="0" cy="431054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130" name="AutoShape 55">
            <a:extLst>
              <a:ext uri="{FF2B5EF4-FFF2-40B4-BE49-F238E27FC236}">
                <a16:creationId xmlns:a16="http://schemas.microsoft.com/office/drawing/2014/main" id="{ADDD738B-1D72-997C-4E52-277AC43C04C1}"/>
              </a:ext>
            </a:extLst>
          </p:cNvPr>
          <p:cNvSpPr/>
          <p:nvPr/>
        </p:nvSpPr>
        <p:spPr>
          <a:xfrm>
            <a:off x="13181857" y="6023855"/>
            <a:ext cx="0" cy="474193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131" name="AutoShape 55">
            <a:extLst>
              <a:ext uri="{FF2B5EF4-FFF2-40B4-BE49-F238E27FC236}">
                <a16:creationId xmlns:a16="http://schemas.microsoft.com/office/drawing/2014/main" id="{10092A40-A908-BB37-9285-8F9D15011E77}"/>
              </a:ext>
            </a:extLst>
          </p:cNvPr>
          <p:cNvSpPr/>
          <p:nvPr/>
        </p:nvSpPr>
        <p:spPr>
          <a:xfrm>
            <a:off x="13907670" y="7683910"/>
            <a:ext cx="0" cy="366494"/>
          </a:xfrm>
          <a:prstGeom prst="line">
            <a:avLst/>
          </a:prstGeom>
          <a:ln>
            <a:headEnd type="none" w="sm" len="sm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 dirty="0"/>
          </a:p>
        </p:txBody>
      </p:sp>
      <p:grpSp>
        <p:nvGrpSpPr>
          <p:cNvPr id="2132" name="Group 5">
            <a:extLst>
              <a:ext uri="{FF2B5EF4-FFF2-40B4-BE49-F238E27FC236}">
                <a16:creationId xmlns:a16="http://schemas.microsoft.com/office/drawing/2014/main" id="{317B8AAE-46CD-389E-BDAF-603B0B426B5E}"/>
              </a:ext>
            </a:extLst>
          </p:cNvPr>
          <p:cNvGrpSpPr/>
          <p:nvPr/>
        </p:nvGrpSpPr>
        <p:grpSpPr>
          <a:xfrm>
            <a:off x="11950798" y="8121199"/>
            <a:ext cx="4390413" cy="1609811"/>
            <a:chOff x="0" y="-57150"/>
            <a:chExt cx="870293" cy="290893"/>
          </a:xfrm>
        </p:grpSpPr>
        <p:sp>
          <p:nvSpPr>
            <p:cNvPr id="2133" name="Freeform 6">
              <a:extLst>
                <a:ext uri="{FF2B5EF4-FFF2-40B4-BE49-F238E27FC236}">
                  <a16:creationId xmlns:a16="http://schemas.microsoft.com/office/drawing/2014/main" id="{16494D87-2101-EC05-FF50-24490E25680B}"/>
                </a:ext>
              </a:extLst>
            </p:cNvPr>
            <p:cNvSpPr/>
            <p:nvPr/>
          </p:nvSpPr>
          <p:spPr>
            <a:xfrm>
              <a:off x="0" y="-57150"/>
              <a:ext cx="870293" cy="290893"/>
            </a:xfrm>
            <a:custGeom>
              <a:avLst/>
              <a:gdLst/>
              <a:ahLst/>
              <a:cxnLst/>
              <a:rect l="l" t="t" r="r" b="b"/>
              <a:pathLst>
                <a:path w="812800" h="346119">
                  <a:moveTo>
                    <a:pt x="0" y="0"/>
                  </a:moveTo>
                  <a:lnTo>
                    <a:pt x="812800" y="0"/>
                  </a:lnTo>
                  <a:lnTo>
                    <a:pt x="812800" y="346119"/>
                  </a:lnTo>
                  <a:lnTo>
                    <a:pt x="0" y="34611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68D4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zh-TW" altLang="en-US" dirty="0"/>
            </a:p>
          </p:txBody>
        </p:sp>
        <p:sp>
          <p:nvSpPr>
            <p:cNvPr id="2134" name="TextBox 7">
              <a:extLst>
                <a:ext uri="{FF2B5EF4-FFF2-40B4-BE49-F238E27FC236}">
                  <a16:creationId xmlns:a16="http://schemas.microsoft.com/office/drawing/2014/main" id="{8E107EFF-5BEA-9EB1-8C07-94D8889EB60D}"/>
                </a:ext>
              </a:extLst>
            </p:cNvPr>
            <p:cNvSpPr txBox="1"/>
            <p:nvPr/>
          </p:nvSpPr>
          <p:spPr>
            <a:xfrm>
              <a:off x="0" y="-57150"/>
              <a:ext cx="870293" cy="27296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>
                <a:lnSpc>
                  <a:spcPts val="3919"/>
                </a:lnSpc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Criteria of model selection:</a:t>
              </a: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zh-TW" altLang="en-US" sz="2799" dirty="0">
                  <a:solidFill>
                    <a:srgbClr val="000000"/>
                  </a:solidFill>
                  <a:ea typeface="圓體"/>
                </a:rPr>
                <a:t>通過的檢定個數</a:t>
              </a:r>
              <a:endParaRPr lang="en-US" altLang="zh-TW" sz="2799" dirty="0">
                <a:solidFill>
                  <a:srgbClr val="000000"/>
                </a:solidFill>
                <a:ea typeface="圓體"/>
              </a:endParaRPr>
            </a:p>
            <a:p>
              <a:pPr marL="514350" indent="-514350">
                <a:lnSpc>
                  <a:spcPts val="3919"/>
                </a:lnSpc>
                <a:buAutoNum type="arabicPeriod"/>
              </a:pPr>
              <a:r>
                <a:rPr lang="en-US" altLang="zh-TW" sz="2799" dirty="0">
                  <a:solidFill>
                    <a:srgbClr val="000000"/>
                  </a:solidFill>
                  <a:ea typeface="圓體"/>
                </a:rPr>
                <a:t>AIC and BIC</a:t>
              </a:r>
              <a:endParaRPr lang="en-US" sz="2799" dirty="0">
                <a:solidFill>
                  <a:srgbClr val="000000"/>
                </a:solidFill>
                <a:ea typeface="圓體"/>
              </a:endParaRPr>
            </a:p>
          </p:txBody>
        </p:sp>
      </p:grpSp>
      <p:sp>
        <p:nvSpPr>
          <p:cNvPr id="2135" name="Freeform 27">
            <a:extLst>
              <a:ext uri="{FF2B5EF4-FFF2-40B4-BE49-F238E27FC236}">
                <a16:creationId xmlns:a16="http://schemas.microsoft.com/office/drawing/2014/main" id="{1880D87D-0D09-036D-9A88-9B11D7DEAA1D}"/>
              </a:ext>
            </a:extLst>
          </p:cNvPr>
          <p:cNvSpPr/>
          <p:nvPr/>
        </p:nvSpPr>
        <p:spPr>
          <a:xfrm>
            <a:off x="17020399" y="7515276"/>
            <a:ext cx="1101617" cy="953399"/>
          </a:xfrm>
          <a:custGeom>
            <a:avLst/>
            <a:gdLst/>
            <a:ahLst/>
            <a:cxnLst/>
            <a:rect l="l" t="t" r="r" b="b"/>
            <a:pathLst>
              <a:path w="1101617" h="953399">
                <a:moveTo>
                  <a:pt x="0" y="0"/>
                </a:moveTo>
                <a:lnTo>
                  <a:pt x="1101617" y="0"/>
                </a:lnTo>
                <a:lnTo>
                  <a:pt x="1101617" y="953399"/>
                </a:lnTo>
                <a:lnTo>
                  <a:pt x="0" y="953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136" name="Freeform 12">
            <a:extLst>
              <a:ext uri="{FF2B5EF4-FFF2-40B4-BE49-F238E27FC236}">
                <a16:creationId xmlns:a16="http://schemas.microsoft.com/office/drawing/2014/main" id="{1B3DF7EE-08D4-1AB7-CF97-54FB506B9B08}"/>
              </a:ext>
            </a:extLst>
          </p:cNvPr>
          <p:cNvSpPr/>
          <p:nvPr/>
        </p:nvSpPr>
        <p:spPr>
          <a:xfrm>
            <a:off x="16599272" y="8594376"/>
            <a:ext cx="1173556" cy="1147951"/>
          </a:xfrm>
          <a:custGeom>
            <a:avLst/>
            <a:gdLst/>
            <a:ahLst/>
            <a:cxnLst/>
            <a:rect l="l" t="t" r="r" b="b"/>
            <a:pathLst>
              <a:path w="1173556" h="1147951">
                <a:moveTo>
                  <a:pt x="0" y="0"/>
                </a:moveTo>
                <a:lnTo>
                  <a:pt x="1173556" y="0"/>
                </a:lnTo>
                <a:lnTo>
                  <a:pt x="1173556" y="1147950"/>
                </a:lnTo>
                <a:lnTo>
                  <a:pt x="0" y="1147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407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" name="TextBox 7"/>
          <p:cNvSpPr txBox="1"/>
          <p:nvPr/>
        </p:nvSpPr>
        <p:spPr>
          <a:xfrm>
            <a:off x="5283064" y="1898424"/>
            <a:ext cx="7721871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dirty="0">
                <a:solidFill>
                  <a:srgbClr val="000000"/>
                </a:solidFill>
                <a:ea typeface="思源宋体 Bold"/>
              </a:rPr>
              <a:t>11. </a:t>
            </a:r>
            <a:r>
              <a:rPr lang="en-US" sz="8800" dirty="0" err="1">
                <a:solidFill>
                  <a:srgbClr val="000000"/>
                </a:solidFill>
                <a:ea typeface="思源宋体 Bold"/>
              </a:rPr>
              <a:t>auto.arima</a:t>
            </a:r>
            <a:r>
              <a:rPr lang="en-US" sz="8800" dirty="0">
                <a:solidFill>
                  <a:srgbClr val="000000"/>
                </a:solidFill>
                <a:ea typeface="思源宋体 Bold"/>
              </a:rPr>
              <a:t>()</a:t>
            </a:r>
          </a:p>
        </p:txBody>
      </p:sp>
      <p:pic>
        <p:nvPicPr>
          <p:cNvPr id="2050" name="Picture 2" descr="Data Reliability: Do you Trust Your Data? | Ectobox">
            <a:extLst>
              <a:ext uri="{FF2B5EF4-FFF2-40B4-BE49-F238E27FC236}">
                <a16:creationId xmlns:a16="http://schemas.microsoft.com/office/drawing/2014/main" id="{9F47CCA3-1973-79DC-5D75-9C4145620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252641"/>
            <a:ext cx="68580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10">
            <a:extLst>
              <a:ext uri="{FF2B5EF4-FFF2-40B4-BE49-F238E27FC236}">
                <a16:creationId xmlns:a16="http://schemas.microsoft.com/office/drawing/2014/main" id="{2500DC78-D823-055E-3911-38595C5B57D7}"/>
              </a:ext>
            </a:extLst>
          </p:cNvPr>
          <p:cNvSpPr/>
          <p:nvPr/>
        </p:nvSpPr>
        <p:spPr>
          <a:xfrm>
            <a:off x="13004935" y="2018897"/>
            <a:ext cx="886568" cy="1113270"/>
          </a:xfrm>
          <a:custGeom>
            <a:avLst/>
            <a:gdLst/>
            <a:ahLst/>
            <a:cxnLst/>
            <a:rect l="l" t="t" r="r" b="b"/>
            <a:pathLst>
              <a:path w="886568" h="1113270">
                <a:moveTo>
                  <a:pt x="0" y="0"/>
                </a:moveTo>
                <a:lnTo>
                  <a:pt x="886568" y="0"/>
                </a:lnTo>
                <a:lnTo>
                  <a:pt x="886568" y="1113271"/>
                </a:lnTo>
                <a:lnTo>
                  <a:pt x="0" y="1113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9595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32948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 err="1"/>
              <a:t>auto.arima</a:t>
            </a:r>
            <a:r>
              <a:rPr lang="en-US" altLang="zh-TW" sz="4800" dirty="0"/>
              <a:t>()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4831D2A-8AC7-F4DE-DF70-DAE3953AD640}"/>
              </a:ext>
            </a:extLst>
          </p:cNvPr>
          <p:cNvGrpSpPr/>
          <p:nvPr/>
        </p:nvGrpSpPr>
        <p:grpSpPr>
          <a:xfrm>
            <a:off x="437140" y="951648"/>
            <a:ext cx="2420596" cy="3898312"/>
            <a:chOff x="6890253" y="1335106"/>
            <a:chExt cx="2420596" cy="3898312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6890253" y="1335106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6890253" y="2327022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 err="1">
                    <a:solidFill>
                      <a:srgbClr val="000000"/>
                    </a:solidFill>
                    <a:ea typeface="圓體"/>
                  </a:rPr>
                  <a:t>auto.arima</a:t>
                </a: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()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6890253" y="3986691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</a:t>
                </a:r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1914080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346764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F7C626F-DE4C-BAC1-92F3-CF667A019EFB}"/>
              </a:ext>
            </a:extLst>
          </p:cNvPr>
          <p:cNvSpPr txBox="1"/>
          <p:nvPr/>
        </p:nvSpPr>
        <p:spPr>
          <a:xfrm>
            <a:off x="4153318" y="951648"/>
            <a:ext cx="8926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Criteria of model selection: AIC, BIC and HQIC</a:t>
            </a:r>
            <a:endParaRPr lang="zh-TW" altLang="en-US" sz="32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2C5060D-8AC4-3215-F7AC-5B94D0651AF0}"/>
              </a:ext>
            </a:extLst>
          </p:cNvPr>
          <p:cNvSpPr txBox="1"/>
          <p:nvPr/>
        </p:nvSpPr>
        <p:spPr>
          <a:xfrm>
            <a:off x="4153318" y="2302312"/>
            <a:ext cx="892603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優點</a:t>
            </a:r>
            <a:r>
              <a:rPr lang="en-US" altLang="zh-TW" sz="3200" dirty="0"/>
              <a:t>:</a:t>
            </a:r>
          </a:p>
          <a:p>
            <a:pPr marL="514350" indent="-514350">
              <a:buAutoNum type="arabicParenBoth"/>
            </a:pPr>
            <a:r>
              <a:rPr lang="zh-TW" altLang="en-US" sz="3200" dirty="0"/>
              <a:t>減少模型選擇的主觀性</a:t>
            </a:r>
            <a:endParaRPr lang="en-US" altLang="zh-TW" sz="3200" dirty="0"/>
          </a:p>
          <a:p>
            <a:pPr marL="514350" indent="-514350">
              <a:buAutoNum type="arabicParenBoth"/>
            </a:pPr>
            <a:r>
              <a:rPr lang="zh-TW" altLang="en-US" sz="3200" dirty="0"/>
              <a:t> 快速方便</a:t>
            </a:r>
            <a:endParaRPr lang="en-US" altLang="zh-TW" sz="3200" dirty="0"/>
          </a:p>
          <a:p>
            <a:pPr marL="514350" indent="-514350">
              <a:buAutoNum type="arabicParenBoth"/>
            </a:pPr>
            <a:r>
              <a:rPr lang="zh-TW" altLang="en-US" sz="3200" dirty="0"/>
              <a:t> 適用性高 </a:t>
            </a:r>
            <a:r>
              <a:rPr lang="en-US" altLang="zh-TW" sz="3200" dirty="0"/>
              <a:t>(</a:t>
            </a:r>
            <a:r>
              <a:rPr lang="zh-TW" altLang="en-US" sz="3200" dirty="0"/>
              <a:t>可考慮季節性、趨勢性</a:t>
            </a:r>
            <a:r>
              <a:rPr lang="en-US" altLang="zh-TW" sz="3200" dirty="0"/>
              <a:t>)</a:t>
            </a:r>
          </a:p>
          <a:p>
            <a:endParaRPr lang="en-US" altLang="zh-TW" sz="3200" dirty="0"/>
          </a:p>
          <a:p>
            <a:r>
              <a:rPr lang="zh-TW" altLang="en-US" sz="3200" dirty="0"/>
              <a:t>缺點</a:t>
            </a:r>
            <a:r>
              <a:rPr lang="en-US" altLang="zh-TW" sz="3200" dirty="0"/>
              <a:t>:</a:t>
            </a:r>
          </a:p>
          <a:p>
            <a:pPr marL="514350" indent="-514350">
              <a:buAutoNum type="arabicParenBoth"/>
            </a:pPr>
            <a:r>
              <a:rPr lang="zh-TW" altLang="en-US" sz="3200" dirty="0"/>
              <a:t>計算時間長</a:t>
            </a:r>
            <a:endParaRPr lang="en-US" altLang="zh-TW" sz="3200" dirty="0"/>
          </a:p>
          <a:p>
            <a:pPr marL="514350" indent="-514350">
              <a:buAutoNum type="arabicParenBoth"/>
            </a:pPr>
            <a:r>
              <a:rPr lang="zh-TW" altLang="en-US" sz="3200" dirty="0"/>
              <a:t> </a:t>
            </a:r>
            <a:r>
              <a:rPr lang="en-US" altLang="zh-TW" sz="3200" dirty="0"/>
              <a:t>Overfitting</a:t>
            </a:r>
          </a:p>
          <a:p>
            <a:pPr marL="514350" indent="-514350">
              <a:buAutoNum type="arabicParenBoth"/>
            </a:pPr>
            <a:r>
              <a:rPr lang="en-US" altLang="zh-TW" sz="3200" dirty="0"/>
              <a:t> </a:t>
            </a:r>
            <a:r>
              <a:rPr lang="zh-TW" altLang="en-US" sz="3200" dirty="0"/>
              <a:t>模型可能包含不顯著參數</a:t>
            </a:r>
            <a:endParaRPr lang="en-US" altLang="zh-TW" sz="3200" dirty="0"/>
          </a:p>
          <a:p>
            <a:pPr marL="514350" indent="-514350">
              <a:buAutoNum type="arabicParenBoth"/>
            </a:pPr>
            <a:r>
              <a:rPr lang="zh-TW" altLang="en-US" sz="3200" dirty="0"/>
              <a:t> 不一定能找到最適模型</a:t>
            </a: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53A2C19B-0E96-2A86-EE59-AB6965A0F5B6}"/>
              </a:ext>
            </a:extLst>
          </p:cNvPr>
          <p:cNvSpPr/>
          <p:nvPr/>
        </p:nvSpPr>
        <p:spPr>
          <a:xfrm>
            <a:off x="4153318" y="8084959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9" y="0"/>
                </a:lnTo>
                <a:lnTo>
                  <a:pt x="838559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848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32948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 err="1"/>
              <a:t>auto.arima</a:t>
            </a:r>
            <a:r>
              <a:rPr lang="en-US" altLang="zh-TW" sz="4800" dirty="0"/>
              <a:t>()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4831D2A-8AC7-F4DE-DF70-DAE3953AD640}"/>
              </a:ext>
            </a:extLst>
          </p:cNvPr>
          <p:cNvGrpSpPr/>
          <p:nvPr/>
        </p:nvGrpSpPr>
        <p:grpSpPr>
          <a:xfrm>
            <a:off x="437140" y="951648"/>
            <a:ext cx="2420596" cy="3898312"/>
            <a:chOff x="6890253" y="1335106"/>
            <a:chExt cx="2420596" cy="3898312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6890253" y="1335106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6890253" y="2327022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 err="1">
                    <a:solidFill>
                      <a:srgbClr val="000000"/>
                    </a:solidFill>
                    <a:ea typeface="圓體"/>
                  </a:rPr>
                  <a:t>auto.arima</a:t>
                </a: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()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6890253" y="3986691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</a:t>
                </a:r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1914080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346764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BF4D65-C45F-F50C-A690-2F9C4FA8F54D}"/>
              </a:ext>
            </a:extLst>
          </p:cNvPr>
          <p:cNvSpPr txBox="1"/>
          <p:nvPr/>
        </p:nvSpPr>
        <p:spPr>
          <a:xfrm>
            <a:off x="3294876" y="856050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6F70DF1-C92A-7EDD-E6C9-14B42CE26D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793"/>
          <a:stretch/>
        </p:blipFill>
        <p:spPr>
          <a:xfrm>
            <a:off x="4103728" y="1488229"/>
            <a:ext cx="10271204" cy="270972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B84B74-51E2-7593-C726-AAC108CDB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728" y="4743859"/>
            <a:ext cx="7234142" cy="345912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96205AA-62AF-09D4-22D0-89F412F40E6D}"/>
              </a:ext>
            </a:extLst>
          </p:cNvPr>
          <p:cNvSpPr/>
          <p:nvPr/>
        </p:nvSpPr>
        <p:spPr>
          <a:xfrm>
            <a:off x="6335066" y="6230734"/>
            <a:ext cx="1212999" cy="1062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04EEF8-2807-08A0-68C6-9AA83616659B}"/>
              </a:ext>
            </a:extLst>
          </p:cNvPr>
          <p:cNvSpPr/>
          <p:nvPr/>
        </p:nvSpPr>
        <p:spPr>
          <a:xfrm>
            <a:off x="7623469" y="6237995"/>
            <a:ext cx="1212999" cy="1062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088A347C-08A4-17E6-1391-99BB27F8BAD4}"/>
              </a:ext>
            </a:extLst>
          </p:cNvPr>
          <p:cNvSpPr/>
          <p:nvPr/>
        </p:nvSpPr>
        <p:spPr>
          <a:xfrm>
            <a:off x="11337870" y="5974974"/>
            <a:ext cx="1000528" cy="996890"/>
          </a:xfrm>
          <a:custGeom>
            <a:avLst/>
            <a:gdLst/>
            <a:ahLst/>
            <a:cxnLst/>
            <a:rect l="l" t="t" r="r" b="b"/>
            <a:pathLst>
              <a:path w="1000528" h="996890">
                <a:moveTo>
                  <a:pt x="0" y="0"/>
                </a:moveTo>
                <a:lnTo>
                  <a:pt x="1000528" y="0"/>
                </a:lnTo>
                <a:lnTo>
                  <a:pt x="1000528" y="996890"/>
                </a:lnTo>
                <a:lnTo>
                  <a:pt x="0" y="996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257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32948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 err="1"/>
              <a:t>auto.arima</a:t>
            </a:r>
            <a:r>
              <a:rPr lang="en-US" altLang="zh-TW" sz="4800" dirty="0"/>
              <a:t>()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4831D2A-8AC7-F4DE-DF70-DAE3953AD640}"/>
              </a:ext>
            </a:extLst>
          </p:cNvPr>
          <p:cNvGrpSpPr/>
          <p:nvPr/>
        </p:nvGrpSpPr>
        <p:grpSpPr>
          <a:xfrm>
            <a:off x="437140" y="951648"/>
            <a:ext cx="2420596" cy="3898312"/>
            <a:chOff x="6890253" y="1335106"/>
            <a:chExt cx="2420596" cy="3898312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6890253" y="1335106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6890253" y="2327022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 err="1">
                    <a:solidFill>
                      <a:srgbClr val="000000"/>
                    </a:solidFill>
                    <a:ea typeface="圓體"/>
                  </a:rPr>
                  <a:t>auto.arima</a:t>
                </a: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()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6890253" y="3986691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</a:t>
                </a:r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1914080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346764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BF4D65-C45F-F50C-A690-2F9C4FA8F54D}"/>
              </a:ext>
            </a:extLst>
          </p:cNvPr>
          <p:cNvSpPr txBox="1"/>
          <p:nvPr/>
        </p:nvSpPr>
        <p:spPr>
          <a:xfrm>
            <a:off x="3294876" y="856050"/>
            <a:ext cx="3285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</a:t>
            </a:r>
            <a:r>
              <a:rPr lang="en-US" altLang="zh-TW" sz="3200" dirty="0" err="1"/>
              <a:t>oil.price</a:t>
            </a:r>
            <a:r>
              <a:rPr lang="en-US" altLang="zh-TW" sz="3200" dirty="0"/>
              <a:t>):</a:t>
            </a:r>
            <a:endParaRPr lang="zh-TW" altLang="en-US" sz="32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F6030D0F-DA2B-F704-C7DD-2F4D94BC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728" y="4849959"/>
            <a:ext cx="10271204" cy="320975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D5118D4-9C8B-0C2C-1F78-CFAD7B3A46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793"/>
          <a:stretch/>
        </p:blipFill>
        <p:spPr>
          <a:xfrm>
            <a:off x="4103728" y="1488229"/>
            <a:ext cx="10271204" cy="270972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388FD1C-5C6D-25FA-43FF-DD6BC5C6B13D}"/>
              </a:ext>
            </a:extLst>
          </p:cNvPr>
          <p:cNvSpPr/>
          <p:nvPr/>
        </p:nvSpPr>
        <p:spPr>
          <a:xfrm>
            <a:off x="12350188" y="7569844"/>
            <a:ext cx="2142687" cy="602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CDFB97-0969-D46C-5896-64FBA71B9099}"/>
              </a:ext>
            </a:extLst>
          </p:cNvPr>
          <p:cNvSpPr/>
          <p:nvPr/>
        </p:nvSpPr>
        <p:spPr>
          <a:xfrm>
            <a:off x="12350187" y="3610677"/>
            <a:ext cx="2142687" cy="602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Freeform 15">
            <a:extLst>
              <a:ext uri="{FF2B5EF4-FFF2-40B4-BE49-F238E27FC236}">
                <a16:creationId xmlns:a16="http://schemas.microsoft.com/office/drawing/2014/main" id="{E0284B5D-5A94-0FA2-8F90-7CD632DEE619}"/>
              </a:ext>
            </a:extLst>
          </p:cNvPr>
          <p:cNvSpPr/>
          <p:nvPr/>
        </p:nvSpPr>
        <p:spPr>
          <a:xfrm>
            <a:off x="16145313" y="8172523"/>
            <a:ext cx="2142687" cy="2114478"/>
          </a:xfrm>
          <a:custGeom>
            <a:avLst/>
            <a:gdLst/>
            <a:ahLst/>
            <a:cxnLst/>
            <a:rect l="l" t="t" r="r" b="b"/>
            <a:pathLst>
              <a:path w="1000528" h="867731">
                <a:moveTo>
                  <a:pt x="0" y="0"/>
                </a:moveTo>
                <a:lnTo>
                  <a:pt x="1000529" y="0"/>
                </a:lnTo>
                <a:lnTo>
                  <a:pt x="1000529" y="867731"/>
                </a:lnTo>
                <a:lnTo>
                  <a:pt x="0" y="8677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DC555003-9587-8672-A9EA-CC4C64084831}"/>
              </a:ext>
            </a:extLst>
          </p:cNvPr>
          <p:cNvSpPr/>
          <p:nvPr/>
        </p:nvSpPr>
        <p:spPr>
          <a:xfrm>
            <a:off x="13273315" y="2471135"/>
            <a:ext cx="1101617" cy="953399"/>
          </a:xfrm>
          <a:custGeom>
            <a:avLst/>
            <a:gdLst/>
            <a:ahLst/>
            <a:cxnLst/>
            <a:rect l="l" t="t" r="r" b="b"/>
            <a:pathLst>
              <a:path w="1101617" h="953399">
                <a:moveTo>
                  <a:pt x="0" y="0"/>
                </a:moveTo>
                <a:lnTo>
                  <a:pt x="1101617" y="0"/>
                </a:lnTo>
                <a:lnTo>
                  <a:pt x="1101617" y="953399"/>
                </a:lnTo>
                <a:lnTo>
                  <a:pt x="0" y="953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754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950820" y="5773766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09" y="0"/>
                </a:lnTo>
                <a:lnTo>
                  <a:pt x="9042909" y="9026468"/>
                </a:lnTo>
                <a:lnTo>
                  <a:pt x="0" y="902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>
            <a:off x="14374934" y="-3845014"/>
            <a:ext cx="9042909" cy="9026468"/>
          </a:xfrm>
          <a:custGeom>
            <a:avLst/>
            <a:gdLst/>
            <a:ahLst/>
            <a:cxnLst/>
            <a:rect l="l" t="t" r="r" b="b"/>
            <a:pathLst>
              <a:path w="9042909" h="9026468">
                <a:moveTo>
                  <a:pt x="0" y="0"/>
                </a:moveTo>
                <a:lnTo>
                  <a:pt x="9042910" y="0"/>
                </a:lnTo>
                <a:lnTo>
                  <a:pt x="9042910" y="9026467"/>
                </a:lnTo>
                <a:lnTo>
                  <a:pt x="0" y="9026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9D0E54-DB26-75A4-AFCF-46FBF2BC3145}"/>
              </a:ext>
            </a:extLst>
          </p:cNvPr>
          <p:cNvSpPr txBox="1"/>
          <p:nvPr/>
        </p:nvSpPr>
        <p:spPr>
          <a:xfrm>
            <a:off x="0" y="12516"/>
            <a:ext cx="32948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 err="1"/>
              <a:t>auto.arima</a:t>
            </a:r>
            <a:r>
              <a:rPr lang="en-US" altLang="zh-TW" sz="4800" dirty="0"/>
              <a:t>()</a:t>
            </a:r>
            <a:endParaRPr lang="zh-TW" altLang="en-US" sz="4800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4831D2A-8AC7-F4DE-DF70-DAE3953AD640}"/>
              </a:ext>
            </a:extLst>
          </p:cNvPr>
          <p:cNvGrpSpPr/>
          <p:nvPr/>
        </p:nvGrpSpPr>
        <p:grpSpPr>
          <a:xfrm>
            <a:off x="437140" y="951648"/>
            <a:ext cx="2420596" cy="3898312"/>
            <a:chOff x="6890253" y="1335106"/>
            <a:chExt cx="2420596" cy="3898312"/>
          </a:xfrm>
        </p:grpSpPr>
        <p:grpSp>
          <p:nvGrpSpPr>
            <p:cNvPr id="4" name="Group 5">
              <a:extLst>
                <a:ext uri="{FF2B5EF4-FFF2-40B4-BE49-F238E27FC236}">
                  <a16:creationId xmlns:a16="http://schemas.microsoft.com/office/drawing/2014/main" id="{09CC1101-4088-E39C-1DA2-00A72887F998}"/>
                </a:ext>
              </a:extLst>
            </p:cNvPr>
            <p:cNvGrpSpPr/>
            <p:nvPr/>
          </p:nvGrpSpPr>
          <p:grpSpPr>
            <a:xfrm>
              <a:off x="6890253" y="1335106"/>
              <a:ext cx="2420596" cy="578974"/>
              <a:chOff x="0" y="0"/>
              <a:chExt cx="812800" cy="346119"/>
            </a:xfrm>
          </p:grpSpPr>
          <p:sp>
            <p:nvSpPr>
              <p:cNvPr id="5" name="Freeform 6">
                <a:extLst>
                  <a:ext uri="{FF2B5EF4-FFF2-40B4-BE49-F238E27FC236}">
                    <a16:creationId xmlns:a16="http://schemas.microsoft.com/office/drawing/2014/main" id="{C9555D09-C05F-B564-0AE4-460449EC15F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" name="TextBox 7">
                <a:extLst>
                  <a:ext uri="{FF2B5EF4-FFF2-40B4-BE49-F238E27FC236}">
                    <a16:creationId xmlns:a16="http://schemas.microsoft.com/office/drawing/2014/main" id="{C1F0AAA0-DBD9-22AF-93C7-079279C04101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0326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Data</a:t>
                </a:r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D81ABBC5-BE0B-11A7-EEBF-5D7F313B2A4B}"/>
                </a:ext>
              </a:extLst>
            </p:cNvPr>
            <p:cNvGrpSpPr/>
            <p:nvPr/>
          </p:nvGrpSpPr>
          <p:grpSpPr>
            <a:xfrm>
              <a:off x="6890253" y="2327022"/>
              <a:ext cx="2420596" cy="1246727"/>
              <a:chOff x="0" y="-57150"/>
              <a:chExt cx="812800" cy="440781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0E63569D-5C32-21DC-E46C-0784E9AD3F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1B7DD60-B3AC-3E08-9AA1-FAD6B5A1041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dirty="0" err="1">
                    <a:solidFill>
                      <a:srgbClr val="000000"/>
                    </a:solidFill>
                    <a:ea typeface="圓體"/>
                  </a:rPr>
                  <a:t>auto.arima</a:t>
                </a:r>
                <a:r>
                  <a:rPr lang="en-US" sz="2799" dirty="0">
                    <a:solidFill>
                      <a:srgbClr val="000000"/>
                    </a:solidFill>
                    <a:ea typeface="圓體"/>
                  </a:rPr>
                  <a:t>()</a:t>
                </a:r>
              </a:p>
            </p:txBody>
          </p:sp>
        </p:grp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id="{0663DF3B-6748-3266-2B0D-2022AEC2339E}"/>
                </a:ext>
              </a:extLst>
            </p:cNvPr>
            <p:cNvGrpSpPr/>
            <p:nvPr/>
          </p:nvGrpSpPr>
          <p:grpSpPr>
            <a:xfrm>
              <a:off x="6890253" y="3986691"/>
              <a:ext cx="2420596" cy="1246727"/>
              <a:chOff x="0" y="-57150"/>
              <a:chExt cx="812800" cy="440781"/>
            </a:xfrm>
          </p:grpSpPr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1C42F4E8-74BA-673E-B0A2-FA567C1769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3461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346119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46119"/>
                    </a:lnTo>
                    <a:lnTo>
                      <a:pt x="0" y="346119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68D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Box 7">
                <a:extLst>
                  <a:ext uri="{FF2B5EF4-FFF2-40B4-BE49-F238E27FC236}">
                    <a16:creationId xmlns:a16="http://schemas.microsoft.com/office/drawing/2014/main" id="{16F531DC-DACF-00C2-7ABA-9A20FF6F201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812800" cy="440781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ctr">
                  <a:lnSpc>
                    <a:spcPts val="3919"/>
                  </a:lnSpc>
                </a:pPr>
                <a:r>
                  <a:rPr lang="en-US" altLang="zh-TW" sz="2799" dirty="0">
                    <a:solidFill>
                      <a:srgbClr val="000000"/>
                    </a:solidFill>
                    <a:ea typeface="圓體"/>
                  </a:rPr>
                  <a:t>Model</a:t>
                </a:r>
              </a:p>
            </p:txBody>
          </p:sp>
        </p:grp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D61FABE-0D59-0859-48AE-81B8FD0FCEFE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1914080"/>
              <a:ext cx="0" cy="5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02E0370D-E825-1352-71C9-6ED0D6326F04}"/>
                </a:ext>
              </a:extLst>
            </p:cNvPr>
            <p:cNvCxnSpPr>
              <a:cxnSpLocks/>
            </p:cNvCxnSpPr>
            <p:nvPr/>
          </p:nvCxnSpPr>
          <p:spPr>
            <a:xfrm>
              <a:off x="8075628" y="3467648"/>
              <a:ext cx="0" cy="6806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8BF4D65-C45F-F50C-A690-2F9C4FA8F54D}"/>
              </a:ext>
            </a:extLst>
          </p:cNvPr>
          <p:cNvSpPr txBox="1"/>
          <p:nvPr/>
        </p:nvSpPr>
        <p:spPr>
          <a:xfrm>
            <a:off x="3294876" y="856050"/>
            <a:ext cx="25510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Example(co2):</a:t>
            </a:r>
            <a:endParaRPr lang="zh-TW" altLang="en-US" sz="32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AA43F364-FD9E-582D-DE5E-E7A465238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876" y="1440825"/>
            <a:ext cx="6849431" cy="415348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DECB8DEC-3A2B-5CF7-83A8-8BEE6563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272" y="5594304"/>
            <a:ext cx="9137318" cy="4692695"/>
          </a:xfrm>
          <a:prstGeom prst="rect">
            <a:avLst/>
          </a:prstGeom>
        </p:spPr>
      </p:pic>
      <p:sp>
        <p:nvSpPr>
          <p:cNvPr id="24" name="Freeform 27">
            <a:extLst>
              <a:ext uri="{FF2B5EF4-FFF2-40B4-BE49-F238E27FC236}">
                <a16:creationId xmlns:a16="http://schemas.microsoft.com/office/drawing/2014/main" id="{6D5954A0-EB97-E92B-6E5A-BB2CA3F2249B}"/>
              </a:ext>
            </a:extLst>
          </p:cNvPr>
          <p:cNvSpPr/>
          <p:nvPr/>
        </p:nvSpPr>
        <p:spPr>
          <a:xfrm>
            <a:off x="13751590" y="7463951"/>
            <a:ext cx="1101617" cy="953399"/>
          </a:xfrm>
          <a:custGeom>
            <a:avLst/>
            <a:gdLst/>
            <a:ahLst/>
            <a:cxnLst/>
            <a:rect l="l" t="t" r="r" b="b"/>
            <a:pathLst>
              <a:path w="1101617" h="953399">
                <a:moveTo>
                  <a:pt x="0" y="0"/>
                </a:moveTo>
                <a:lnTo>
                  <a:pt x="1101617" y="0"/>
                </a:lnTo>
                <a:lnTo>
                  <a:pt x="1101617" y="953399"/>
                </a:lnTo>
                <a:lnTo>
                  <a:pt x="0" y="953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45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14938847" y="-5577476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4" y="0"/>
                </a:lnTo>
                <a:lnTo>
                  <a:pt x="9279264" y="9262392"/>
                </a:lnTo>
                <a:lnTo>
                  <a:pt x="0" y="926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-6187549" y="7481501"/>
            <a:ext cx="9279264" cy="9262392"/>
          </a:xfrm>
          <a:custGeom>
            <a:avLst/>
            <a:gdLst/>
            <a:ahLst/>
            <a:cxnLst/>
            <a:rect l="l" t="t" r="r" b="b"/>
            <a:pathLst>
              <a:path w="9279264" h="9262392">
                <a:moveTo>
                  <a:pt x="0" y="0"/>
                </a:moveTo>
                <a:lnTo>
                  <a:pt x="9279263" y="0"/>
                </a:lnTo>
                <a:lnTo>
                  <a:pt x="9279263" y="9262393"/>
                </a:lnTo>
                <a:lnTo>
                  <a:pt x="0" y="926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758CAA7-9079-E459-D34A-D530D7174077}"/>
              </a:ext>
            </a:extLst>
          </p:cNvPr>
          <p:cNvSpPr txBox="1"/>
          <p:nvPr/>
        </p:nvSpPr>
        <p:spPr>
          <a:xfrm>
            <a:off x="4283861" y="4466391"/>
            <a:ext cx="972027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800" b="1" dirty="0">
                <a:solidFill>
                  <a:srgbClr val="000000"/>
                </a:solidFill>
                <a:ea typeface="思源宋体 Bold"/>
              </a:rPr>
              <a:t>Thanks for listening!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43662DD7-4869-309B-20E1-92A3E56D1766}"/>
              </a:ext>
            </a:extLst>
          </p:cNvPr>
          <p:cNvSpPr/>
          <p:nvPr/>
        </p:nvSpPr>
        <p:spPr>
          <a:xfrm>
            <a:off x="8643735" y="3251960"/>
            <a:ext cx="1000528" cy="865912"/>
          </a:xfrm>
          <a:custGeom>
            <a:avLst/>
            <a:gdLst/>
            <a:ahLst/>
            <a:cxnLst/>
            <a:rect l="l" t="t" r="r" b="b"/>
            <a:pathLst>
              <a:path w="1000528" h="865912">
                <a:moveTo>
                  <a:pt x="0" y="0"/>
                </a:moveTo>
                <a:lnTo>
                  <a:pt x="1000528" y="0"/>
                </a:lnTo>
                <a:lnTo>
                  <a:pt x="1000528" y="865912"/>
                </a:lnTo>
                <a:lnTo>
                  <a:pt x="0" y="865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65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1778</Words>
  <Application>Microsoft Office PowerPoint</Application>
  <PresentationFormat>自訂</PresentationFormat>
  <Paragraphs>457</Paragraphs>
  <Slides>45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5" baseType="lpstr">
      <vt:lpstr>Songti SC</vt:lpstr>
      <vt:lpstr>思源宋体 Bold</vt:lpstr>
      <vt:lpstr>圓體</vt:lpstr>
      <vt:lpstr>圓體 Bold</vt:lpstr>
      <vt:lpstr>Arial</vt:lpstr>
      <vt:lpstr>Calibri</vt:lpstr>
      <vt:lpstr>Cambria Math</vt:lpstr>
      <vt:lpstr>Symbol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皓謙 黃</cp:lastModifiedBy>
  <cp:revision>33</cp:revision>
  <dcterms:created xsi:type="dcterms:W3CDTF">2006-08-16T00:00:00Z</dcterms:created>
  <dcterms:modified xsi:type="dcterms:W3CDTF">2024-04-29T03:50:44Z</dcterms:modified>
  <dc:identifier>DAGDJonF_os</dc:identifier>
</cp:coreProperties>
</file>