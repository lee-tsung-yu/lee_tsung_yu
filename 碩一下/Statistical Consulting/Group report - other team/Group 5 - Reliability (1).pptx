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notesSlides/notesSlide1.xml" ContentType="application/vnd.openxmlformats-officedocument.presentationml.notesSlide+xml"/>
  <Override PartName="/ppt/theme/themeOverride4.xml" ContentType="application/vnd.openxmlformats-officedocument.themeOverride+xml"/>
  <Override PartName="/ppt/notesSlides/notesSlide2.xml" ContentType="application/vnd.openxmlformats-officedocument.presentationml.notesSlide+xml"/>
  <Override PartName="/ppt/theme/themeOverride5.xml" ContentType="application/vnd.openxmlformats-officedocument.themeOverride+xml"/>
  <Override PartName="/ppt/notesSlides/notesSlide3.xml" ContentType="application/vnd.openxmlformats-officedocument.presentationml.notesSlide+xml"/>
  <Override PartName="/ppt/theme/themeOverride6.xml" ContentType="application/vnd.openxmlformats-officedocument.themeOverride+xml"/>
  <Override PartName="/ppt/notesSlides/notesSlide4.xml" ContentType="application/vnd.openxmlformats-officedocument.presentationml.notesSlide+xml"/>
  <Override PartName="/ppt/theme/themeOverride7.xml" ContentType="application/vnd.openxmlformats-officedocument.themeOverr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291" r:id="rId4"/>
    <p:sldId id="275" r:id="rId5"/>
    <p:sldId id="296" r:id="rId6"/>
    <p:sldId id="297" r:id="rId7"/>
    <p:sldId id="276" r:id="rId8"/>
    <p:sldId id="298" r:id="rId9"/>
    <p:sldId id="301" r:id="rId10"/>
    <p:sldId id="303" r:id="rId11"/>
    <p:sldId id="319" r:id="rId12"/>
    <p:sldId id="317" r:id="rId13"/>
    <p:sldId id="295" r:id="rId14"/>
    <p:sldId id="312" r:id="rId15"/>
    <p:sldId id="304" r:id="rId16"/>
    <p:sldId id="309" r:id="rId17"/>
    <p:sldId id="308" r:id="rId18"/>
    <p:sldId id="310" r:id="rId19"/>
    <p:sldId id="290" r:id="rId20"/>
    <p:sldId id="278" r:id="rId21"/>
    <p:sldId id="274" r:id="rId22"/>
    <p:sldId id="277" r:id="rId23"/>
    <p:sldId id="292" r:id="rId24"/>
    <p:sldId id="281" r:id="rId25"/>
    <p:sldId id="283" r:id="rId26"/>
    <p:sldId id="285" r:id="rId27"/>
    <p:sldId id="316" r:id="rId28"/>
    <p:sldId id="311" r:id="rId29"/>
    <p:sldId id="313" r:id="rId30"/>
    <p:sldId id="314" r:id="rId31"/>
    <p:sldId id="293" r:id="rId32"/>
    <p:sldId id="286" r:id="rId33"/>
    <p:sldId id="287" r:id="rId34"/>
    <p:sldId id="288" r:id="rId35"/>
    <p:sldId id="289" r:id="rId36"/>
    <p:sldId id="318" r:id="rId37"/>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14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7F31B3-93E1-491C-AEB6-AFE848180D1C}" v="2464" dt="2024-04-29T11:29:37.509"/>
    <p1510:client id="{FAB47B4E-5022-EB48-B499-5D746291D179}" v="2043" dt="2024-04-29T12:58:29.78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19"/>
  </p:normalViewPr>
  <p:slideViewPr>
    <p:cSldViewPr snapToGrid="0" showGuides="1">
      <p:cViewPr varScale="1">
        <p:scale>
          <a:sx n="96" d="100"/>
          <a:sy n="96" d="100"/>
        </p:scale>
        <p:origin x="1048" y="176"/>
      </p:cViewPr>
      <p:guideLst>
        <p:guide orient="horz" pos="3240"/>
        <p:guide pos="1440"/>
      </p:guideLst>
    </p:cSldViewPr>
  </p:slideViewPr>
  <p:notesTextViewPr>
    <p:cViewPr>
      <p:scale>
        <a:sx n="1" d="1"/>
        <a:sy n="1" d="1"/>
      </p:scale>
      <p:origin x="0" y="0"/>
    </p:cViewPr>
  </p:notesTextViewPr>
  <p:gridSpacing cx="180023" cy="180023"/>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D323D3-3EE5-8B49-A51A-E808E8ACDC98}" type="datetimeFigureOut">
              <a:rPr kumimoji="1" lang="zh-TW" altLang="en-US" smtClean="0"/>
              <a:t>2024/4/29</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1671E1-D58A-5745-A559-1B9358CD7C2E}" type="slidenum">
              <a:rPr kumimoji="1" lang="zh-TW" altLang="en-US" smtClean="0"/>
              <a:t>‹#›</a:t>
            </a:fld>
            <a:endParaRPr kumimoji="1" lang="zh-TW" altLang="en-US"/>
          </a:p>
        </p:txBody>
      </p:sp>
    </p:spTree>
    <p:extLst>
      <p:ext uri="{BB962C8B-B14F-4D97-AF65-F5344CB8AC3E}">
        <p14:creationId xmlns:p14="http://schemas.microsoft.com/office/powerpoint/2010/main" val="4046577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C1671E1-D58A-5745-A559-1B9358CD7C2E}" type="slidenum">
              <a:rPr kumimoji="1" lang="zh-TW" altLang="en-US" smtClean="0"/>
              <a:t>10</a:t>
            </a:fld>
            <a:endParaRPr kumimoji="1" lang="zh-TW" altLang="en-US"/>
          </a:p>
        </p:txBody>
      </p:sp>
    </p:spTree>
    <p:extLst>
      <p:ext uri="{BB962C8B-B14F-4D97-AF65-F5344CB8AC3E}">
        <p14:creationId xmlns:p14="http://schemas.microsoft.com/office/powerpoint/2010/main" val="3380815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C1671E1-D58A-5745-A559-1B9358CD7C2E}" type="slidenum">
              <a:rPr kumimoji="1" lang="zh-TW" altLang="en-US" smtClean="0"/>
              <a:t>11</a:t>
            </a:fld>
            <a:endParaRPr kumimoji="1" lang="zh-TW" altLang="en-US"/>
          </a:p>
        </p:txBody>
      </p:sp>
    </p:spTree>
    <p:extLst>
      <p:ext uri="{BB962C8B-B14F-4D97-AF65-F5344CB8AC3E}">
        <p14:creationId xmlns:p14="http://schemas.microsoft.com/office/powerpoint/2010/main" val="3656317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C1671E1-D58A-5745-A559-1B9358CD7C2E}" type="slidenum">
              <a:rPr kumimoji="1" lang="zh-TW" altLang="en-US" smtClean="0"/>
              <a:t>12</a:t>
            </a:fld>
            <a:endParaRPr kumimoji="1" lang="zh-TW" altLang="en-US"/>
          </a:p>
        </p:txBody>
      </p:sp>
    </p:spTree>
    <p:extLst>
      <p:ext uri="{BB962C8B-B14F-4D97-AF65-F5344CB8AC3E}">
        <p14:creationId xmlns:p14="http://schemas.microsoft.com/office/powerpoint/2010/main" val="3781487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C1671E1-D58A-5745-A559-1B9358CD7C2E}" type="slidenum">
              <a:rPr kumimoji="1" lang="zh-TW" altLang="en-US" smtClean="0"/>
              <a:t>14</a:t>
            </a:fld>
            <a:endParaRPr kumimoji="1" lang="zh-TW" altLang="en-US"/>
          </a:p>
        </p:txBody>
      </p:sp>
    </p:spTree>
    <p:extLst>
      <p:ext uri="{BB962C8B-B14F-4D97-AF65-F5344CB8AC3E}">
        <p14:creationId xmlns:p14="http://schemas.microsoft.com/office/powerpoint/2010/main" val="1980020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C1671E1-D58A-5745-A559-1B9358CD7C2E}" type="slidenum">
              <a:rPr kumimoji="1" lang="zh-TW" altLang="en-US" smtClean="0"/>
              <a:t>16</a:t>
            </a:fld>
            <a:endParaRPr kumimoji="1" lang="zh-TW" altLang="en-US"/>
          </a:p>
        </p:txBody>
      </p:sp>
    </p:spTree>
    <p:extLst>
      <p:ext uri="{BB962C8B-B14F-4D97-AF65-F5344CB8AC3E}">
        <p14:creationId xmlns:p14="http://schemas.microsoft.com/office/powerpoint/2010/main" val="3351386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4/29/24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2.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themeOverride" Target="../theme/themeOverride3.xml"/><Relationship Id="rId6" Type="http://schemas.openxmlformats.org/officeDocument/2006/relationships/image" Target="../media/image12.png"/><Relationship Id="rId5" Type="http://schemas.openxmlformats.org/officeDocument/2006/relationships/image" Target="../media/image7.sv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4.xml"/><Relationship Id="rId6" Type="http://schemas.openxmlformats.org/officeDocument/2006/relationships/image" Target="../media/image11.gif"/><Relationship Id="rId5" Type="http://schemas.openxmlformats.org/officeDocument/2006/relationships/image" Target="../media/image7.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3.xml"/><Relationship Id="rId7" Type="http://schemas.openxmlformats.org/officeDocument/2006/relationships/image" Target="../media/image14.png"/><Relationship Id="rId2" Type="http://schemas.openxmlformats.org/officeDocument/2006/relationships/slideLayout" Target="../slideLayouts/slideLayout7.xml"/><Relationship Id="rId1" Type="http://schemas.openxmlformats.org/officeDocument/2006/relationships/themeOverride" Target="../theme/themeOverride5.xml"/><Relationship Id="rId6" Type="http://schemas.openxmlformats.org/officeDocument/2006/relationships/image" Target="../media/image15.png"/><Relationship Id="rId5" Type="http://schemas.openxmlformats.org/officeDocument/2006/relationships/image" Target="../media/image7.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4.xml"/><Relationship Id="rId7" Type="http://schemas.openxmlformats.org/officeDocument/2006/relationships/image" Target="../media/image18.png"/><Relationship Id="rId2" Type="http://schemas.openxmlformats.org/officeDocument/2006/relationships/slideLayout" Target="../slideLayouts/slideLayout7.xml"/><Relationship Id="rId1" Type="http://schemas.openxmlformats.org/officeDocument/2006/relationships/themeOverride" Target="../theme/themeOverride6.xml"/><Relationship Id="rId6" Type="http://schemas.openxmlformats.org/officeDocument/2006/relationships/image" Target="../media/image17.png"/><Relationship Id="rId5" Type="http://schemas.openxmlformats.org/officeDocument/2006/relationships/image" Target="../media/image7.sv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5.xml"/><Relationship Id="rId7" Type="http://schemas.openxmlformats.org/officeDocument/2006/relationships/image" Target="../media/image20.png"/><Relationship Id="rId2" Type="http://schemas.openxmlformats.org/officeDocument/2006/relationships/slideLayout" Target="../slideLayouts/slideLayout7.xml"/><Relationship Id="rId1" Type="http://schemas.openxmlformats.org/officeDocument/2006/relationships/themeOverride" Target="../theme/themeOverride7.xml"/><Relationship Id="rId6" Type="http://schemas.openxmlformats.org/officeDocument/2006/relationships/image" Target="../media/image180.png"/><Relationship Id="rId5" Type="http://schemas.openxmlformats.org/officeDocument/2006/relationships/image" Target="../media/image7.sv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30.png"/></Relationships>
</file>

<file path=ppt/slides/_rels/slide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5.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8.emf"/></Relationships>
</file>

<file path=ppt/slides/_rels/slide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itl.nist.gov/div898/handbook/index.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群組 14">
            <a:extLst>
              <a:ext uri="{FF2B5EF4-FFF2-40B4-BE49-F238E27FC236}">
                <a16:creationId xmlns:a16="http://schemas.microsoft.com/office/drawing/2014/main" id="{57C3104D-1023-78C1-6127-3B1167DED4A3}"/>
              </a:ext>
            </a:extLst>
          </p:cNvPr>
          <p:cNvGrpSpPr/>
          <p:nvPr/>
        </p:nvGrpSpPr>
        <p:grpSpPr>
          <a:xfrm>
            <a:off x="1573580" y="6972300"/>
            <a:ext cx="4820534" cy="1395209"/>
            <a:chOff x="1573580" y="6972300"/>
            <a:chExt cx="4820534" cy="1395209"/>
          </a:xfrm>
        </p:grpSpPr>
        <p:sp>
          <p:nvSpPr>
            <p:cNvPr id="7" name="Freeform 7"/>
            <p:cNvSpPr/>
            <p:nvPr/>
          </p:nvSpPr>
          <p:spPr>
            <a:xfrm>
              <a:off x="1573580" y="6972300"/>
              <a:ext cx="4820534" cy="1395209"/>
            </a:xfrm>
            <a:custGeom>
              <a:avLst/>
              <a:gdLst/>
              <a:ahLst/>
              <a:cxnLst/>
              <a:rect l="l" t="t" r="r" b="b"/>
              <a:pathLst>
                <a:path w="8580503" h="1290848">
                  <a:moveTo>
                    <a:pt x="0" y="0"/>
                  </a:moveTo>
                  <a:lnTo>
                    <a:pt x="0" y="1290848"/>
                  </a:lnTo>
                  <a:lnTo>
                    <a:pt x="8580503" y="1290848"/>
                  </a:lnTo>
                  <a:lnTo>
                    <a:pt x="8580503" y="0"/>
                  </a:lnTo>
                  <a:lnTo>
                    <a:pt x="0" y="0"/>
                  </a:lnTo>
                  <a:close/>
                  <a:moveTo>
                    <a:pt x="8519543" y="1229888"/>
                  </a:moveTo>
                  <a:lnTo>
                    <a:pt x="59690" y="1229888"/>
                  </a:lnTo>
                  <a:lnTo>
                    <a:pt x="59690" y="59690"/>
                  </a:lnTo>
                  <a:lnTo>
                    <a:pt x="8519543" y="59690"/>
                  </a:lnTo>
                  <a:lnTo>
                    <a:pt x="8519543" y="1229888"/>
                  </a:lnTo>
                  <a:close/>
                </a:path>
              </a:pathLst>
            </a:custGeom>
            <a:solidFill>
              <a:srgbClr val="FF68D4"/>
            </a:solidFill>
          </p:spPr>
          <p:txBody>
            <a:bodyPr/>
            <a:lstStyle/>
            <a:p>
              <a:endParaRPr lang="zh-TW" altLang="en-US"/>
            </a:p>
          </p:txBody>
        </p:sp>
        <p:sp>
          <p:nvSpPr>
            <p:cNvPr id="8" name="TextBox 8"/>
            <p:cNvSpPr txBox="1"/>
            <p:nvPr/>
          </p:nvSpPr>
          <p:spPr>
            <a:xfrm>
              <a:off x="1743043" y="7244791"/>
              <a:ext cx="4481609" cy="878830"/>
            </a:xfrm>
            <a:prstGeom prst="rect">
              <a:avLst/>
            </a:prstGeom>
          </p:spPr>
          <p:txBody>
            <a:bodyPr lIns="0" tIns="0" rIns="0" bIns="0" rtlCol="0" anchor="t">
              <a:spAutoFit/>
            </a:bodyPr>
            <a:lstStyle/>
            <a:p>
              <a:pPr algn="ctr">
                <a:lnSpc>
                  <a:spcPts val="3499"/>
                </a:lnSpc>
              </a:pPr>
              <a:r>
                <a:rPr lang="en-US" sz="2499" err="1">
                  <a:solidFill>
                    <a:srgbClr val="000000"/>
                  </a:solidFill>
                  <a:latin typeface="Songti SC" panose="02010600040101010101" pitchFamily="2" charset="-122"/>
                  <a:ea typeface="Songti SC" panose="02010600040101010101" pitchFamily="2" charset="-122"/>
                </a:rPr>
                <a:t>數據所</a:t>
              </a:r>
              <a:r>
                <a:rPr lang="en-US" sz="2499">
                  <a:solidFill>
                    <a:srgbClr val="000000"/>
                  </a:solidFill>
                  <a:latin typeface="Songti SC" panose="02010600040101010101" pitchFamily="2" charset="-122"/>
                  <a:ea typeface="Songti SC" panose="02010600040101010101" pitchFamily="2" charset="-122"/>
                </a:rPr>
                <a:t>	</a:t>
              </a:r>
              <a:r>
                <a:rPr lang="en-US" sz="2499" err="1">
                  <a:solidFill>
                    <a:srgbClr val="000000"/>
                  </a:solidFill>
                  <a:latin typeface="Songti SC" panose="02010600040101010101" pitchFamily="2" charset="-122"/>
                  <a:ea typeface="Songti SC" panose="02010600040101010101" pitchFamily="2" charset="-122"/>
                </a:rPr>
                <a:t>李易庭</a:t>
              </a:r>
              <a:endParaRPr lang="en-US" sz="2499">
                <a:solidFill>
                  <a:srgbClr val="000000"/>
                </a:solidFill>
                <a:latin typeface="Songti SC" panose="02010600040101010101" pitchFamily="2" charset="-122"/>
                <a:ea typeface="Songti SC" panose="02010600040101010101" pitchFamily="2" charset="-122"/>
              </a:endParaRPr>
            </a:p>
            <a:p>
              <a:pPr algn="ctr">
                <a:lnSpc>
                  <a:spcPts val="3499"/>
                </a:lnSpc>
              </a:pPr>
              <a:r>
                <a:rPr lang="en-US" sz="2499" err="1">
                  <a:solidFill>
                    <a:srgbClr val="000000"/>
                  </a:solidFill>
                  <a:latin typeface="Songti SC" panose="02010600040101010101" pitchFamily="2" charset="-122"/>
                  <a:ea typeface="Songti SC" panose="02010600040101010101" pitchFamily="2" charset="-122"/>
                </a:rPr>
                <a:t>統計所</a:t>
              </a:r>
              <a:r>
                <a:rPr lang="en-US" sz="2499">
                  <a:solidFill>
                    <a:srgbClr val="000000"/>
                  </a:solidFill>
                  <a:latin typeface="Songti SC" panose="02010600040101010101" pitchFamily="2" charset="-122"/>
                  <a:ea typeface="Songti SC" panose="02010600040101010101" pitchFamily="2" charset="-122"/>
                </a:rPr>
                <a:t>	</a:t>
              </a:r>
              <a:r>
                <a:rPr lang="en-US" sz="2499" err="1">
                  <a:solidFill>
                    <a:srgbClr val="000000"/>
                  </a:solidFill>
                  <a:latin typeface="Songti SC" panose="02010600040101010101" pitchFamily="2" charset="-122"/>
                  <a:ea typeface="Songti SC" panose="02010600040101010101" pitchFamily="2" charset="-122"/>
                </a:rPr>
                <a:t>黃群翔</a:t>
              </a:r>
              <a:endParaRPr lang="en-US" sz="2499">
                <a:solidFill>
                  <a:srgbClr val="000000"/>
                </a:solidFill>
                <a:latin typeface="Songti SC" panose="02010600040101010101" pitchFamily="2" charset="-122"/>
                <a:ea typeface="Songti SC" panose="02010600040101010101" pitchFamily="2" charset="-122"/>
              </a:endParaRPr>
            </a:p>
          </p:txBody>
        </p:sp>
      </p:grpSp>
      <p:sp>
        <p:nvSpPr>
          <p:cNvPr id="9" name="Freeform 9"/>
          <p:cNvSpPr/>
          <p:nvPr/>
        </p:nvSpPr>
        <p:spPr>
          <a:xfrm>
            <a:off x="11542992" y="-8517227"/>
            <a:ext cx="11432615" cy="11411829"/>
          </a:xfrm>
          <a:custGeom>
            <a:avLst/>
            <a:gdLst/>
            <a:ahLst/>
            <a:cxnLst/>
            <a:rect l="l" t="t" r="r" b="b"/>
            <a:pathLst>
              <a:path w="11432615" h="11411829">
                <a:moveTo>
                  <a:pt x="0" y="0"/>
                </a:moveTo>
                <a:lnTo>
                  <a:pt x="11432616" y="0"/>
                </a:lnTo>
                <a:lnTo>
                  <a:pt x="11432616" y="11411829"/>
                </a:lnTo>
                <a:lnTo>
                  <a:pt x="0" y="114118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3" name="TextBox 13"/>
          <p:cNvSpPr txBox="1"/>
          <p:nvPr/>
        </p:nvSpPr>
        <p:spPr>
          <a:xfrm>
            <a:off x="1573580" y="3638550"/>
            <a:ext cx="5360620" cy="1492653"/>
          </a:xfrm>
          <a:prstGeom prst="rect">
            <a:avLst/>
          </a:prstGeom>
        </p:spPr>
        <p:txBody>
          <a:bodyPr wrap="square" lIns="0" tIns="0" rIns="0" bIns="0" rtlCol="0" anchor="t">
            <a:spAutoFit/>
          </a:bodyPr>
          <a:lstStyle/>
          <a:p>
            <a:pPr>
              <a:lnSpc>
                <a:spcPts val="11999"/>
              </a:lnSpc>
            </a:pPr>
            <a:r>
              <a:rPr lang="en-US" sz="9999">
                <a:solidFill>
                  <a:srgbClr val="000000"/>
                </a:solidFill>
                <a:ea typeface="思源宋体 Bold"/>
              </a:rPr>
              <a:t>Reliability</a:t>
            </a:r>
          </a:p>
        </p:txBody>
      </p:sp>
      <p:pic>
        <p:nvPicPr>
          <p:cNvPr id="1026" name="Picture 2" descr="Reliability of data – all about this data quality metric | DS Stream">
            <a:extLst>
              <a:ext uri="{FF2B5EF4-FFF2-40B4-BE49-F238E27FC236}">
                <a16:creationId xmlns:a16="http://schemas.microsoft.com/office/drawing/2014/main" id="{85BA6171-17DC-63CD-4104-9B8B364A80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3133" y="3009900"/>
            <a:ext cx="8323262" cy="55499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999895" y="-9092389"/>
            <a:ext cx="11432615" cy="11411829"/>
          </a:xfrm>
          <a:custGeom>
            <a:avLst/>
            <a:gdLst/>
            <a:ahLst/>
            <a:cxnLst/>
            <a:rect l="l" t="t" r="r" b="b"/>
            <a:pathLst>
              <a:path w="11432615" h="11411829">
                <a:moveTo>
                  <a:pt x="0" y="0"/>
                </a:moveTo>
                <a:lnTo>
                  <a:pt x="11432615" y="0"/>
                </a:lnTo>
                <a:lnTo>
                  <a:pt x="11432615" y="11411829"/>
                </a:lnTo>
                <a:lnTo>
                  <a:pt x="0" y="11411829"/>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276695" y="7670004"/>
            <a:ext cx="11841808" cy="11820277"/>
          </a:xfrm>
          <a:custGeom>
            <a:avLst/>
            <a:gdLst/>
            <a:ahLst/>
            <a:cxnLst/>
            <a:rect l="l" t="t" r="r" b="b"/>
            <a:pathLst>
              <a:path w="11841808" h="11820277">
                <a:moveTo>
                  <a:pt x="0" y="0"/>
                </a:moveTo>
                <a:lnTo>
                  <a:pt x="11841807" y="0"/>
                </a:lnTo>
                <a:lnTo>
                  <a:pt x="11841807" y="11820278"/>
                </a:lnTo>
                <a:lnTo>
                  <a:pt x="0" y="118202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2" name="文字方塊 21">
            <a:extLst>
              <a:ext uri="{FF2B5EF4-FFF2-40B4-BE49-F238E27FC236}">
                <a16:creationId xmlns:a16="http://schemas.microsoft.com/office/drawing/2014/main" id="{0FA27375-43C8-238B-4ACC-AC8A3E632765}"/>
              </a:ext>
            </a:extLst>
          </p:cNvPr>
          <p:cNvSpPr txBox="1"/>
          <p:nvPr/>
        </p:nvSpPr>
        <p:spPr>
          <a:xfrm>
            <a:off x="1214204" y="2624296"/>
            <a:ext cx="5300895" cy="3316742"/>
          </a:xfrm>
          <a:prstGeom prst="rect">
            <a:avLst/>
          </a:prstGeom>
          <a:noFill/>
        </p:spPr>
        <p:txBody>
          <a:bodyPr wrap="square" numCol="1">
            <a:spAutoFit/>
          </a:bodyPr>
          <a:lstStyle/>
          <a:p>
            <a:pPr marL="514350" indent="-514350">
              <a:lnSpc>
                <a:spcPct val="150000"/>
              </a:lnSpc>
              <a:buFont typeface="+mj-lt"/>
              <a:buAutoNum type="arabicPeriod"/>
            </a:pPr>
            <a:r>
              <a:rPr lang="zh-TW" altLang="en-US" sz="3600" b="1">
                <a:latin typeface="Times New Roman" panose="02020603050405020304" pitchFamily="18" charset="0"/>
                <a:cs typeface="Times New Roman" panose="02020603050405020304" pitchFamily="18" charset="0"/>
              </a:rPr>
              <a:t>Reli</a:t>
            </a:r>
            <a:r>
              <a:rPr lang="en-US" altLang="zh-TW" sz="3600" b="1">
                <a:latin typeface="Times New Roman" panose="02020603050405020304" pitchFamily="18" charset="0"/>
                <a:cs typeface="Times New Roman" panose="02020603050405020304" pitchFamily="18" charset="0"/>
              </a:rPr>
              <a:t>a</a:t>
            </a:r>
            <a:r>
              <a:rPr lang="zh-TW" altLang="en-US" sz="3600" b="1">
                <a:latin typeface="Times New Roman" panose="02020603050405020304" pitchFamily="18" charset="0"/>
                <a:cs typeface="Times New Roman" panose="02020603050405020304" pitchFamily="18" charset="0"/>
              </a:rPr>
              <a:t>bility concept</a:t>
            </a:r>
          </a:p>
          <a:p>
            <a:pPr marL="514350" indent="-514350">
              <a:lnSpc>
                <a:spcPct val="150000"/>
              </a:lnSpc>
              <a:buFont typeface="+mj-lt"/>
              <a:buAutoNum type="arabicPeriod"/>
            </a:pPr>
            <a:r>
              <a:rPr lang="en-US" altLang="zh-TW" sz="3600" b="1">
                <a:latin typeface="Times New Roman" panose="02020603050405020304" pitchFamily="18" charset="0"/>
                <a:cs typeface="Times New Roman" panose="02020603050405020304" pitchFamily="18" charset="0"/>
              </a:rPr>
              <a:t>Reliability Function</a:t>
            </a:r>
            <a:endParaRPr lang="zh-TW" altLang="en-US" sz="3600" b="1">
              <a:latin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a:pPr>
            <a:r>
              <a:rPr lang="en-US" altLang="zh-TW" sz="3600" b="1">
                <a:latin typeface="Times New Roman" panose="02020603050405020304" pitchFamily="18" charset="0"/>
                <a:cs typeface="Times New Roman" panose="02020603050405020304" pitchFamily="18" charset="0"/>
              </a:rPr>
              <a:t>L</a:t>
            </a:r>
            <a:r>
              <a:rPr lang="zh-TW" altLang="en-US" sz="3600" b="1">
                <a:latin typeface="Times New Roman" panose="02020603050405020304" pitchFamily="18" charset="0"/>
                <a:cs typeface="Times New Roman" panose="02020603050405020304" pitchFamily="18" charset="0"/>
              </a:rPr>
              <a:t>ikelihood cen</a:t>
            </a:r>
            <a:r>
              <a:rPr lang="en-US" altLang="zh-TW" sz="3600" b="1">
                <a:latin typeface="Times New Roman" panose="02020603050405020304" pitchFamily="18" charset="0"/>
                <a:cs typeface="Times New Roman" panose="02020603050405020304" pitchFamily="18" charset="0"/>
              </a:rPr>
              <a:t>s</a:t>
            </a:r>
            <a:r>
              <a:rPr lang="zh-TW" altLang="en-US" sz="3600" b="1">
                <a:latin typeface="Times New Roman" panose="02020603050405020304" pitchFamily="18" charset="0"/>
                <a:cs typeface="Times New Roman" panose="02020603050405020304" pitchFamily="18" charset="0"/>
              </a:rPr>
              <a:t>or</a:t>
            </a:r>
          </a:p>
          <a:p>
            <a:pPr marL="514350" indent="-514350">
              <a:lnSpc>
                <a:spcPct val="150000"/>
              </a:lnSpc>
              <a:buFont typeface="+mj-lt"/>
              <a:buAutoNum type="arabicPeriod"/>
            </a:pPr>
            <a:r>
              <a:rPr lang="en-US" altLang="zh-TW" sz="3600" b="1">
                <a:latin typeface="Times New Roman" panose="02020603050405020304" pitchFamily="18" charset="0"/>
                <a:cs typeface="Times New Roman" panose="02020603050405020304" pitchFamily="18" charset="0"/>
              </a:rPr>
              <a:t>C</a:t>
            </a:r>
            <a:r>
              <a:rPr lang="zh-TW" altLang="en-US" sz="3600" b="1">
                <a:latin typeface="Times New Roman" panose="02020603050405020304" pitchFamily="18" charset="0"/>
                <a:cs typeface="Times New Roman" panose="02020603050405020304" pitchFamily="18" charset="0"/>
              </a:rPr>
              <a:t>ommon </a:t>
            </a:r>
            <a:r>
              <a:rPr lang="en-US" altLang="zh-TW" sz="3600" b="1">
                <a:latin typeface="Times New Roman" panose="02020603050405020304" pitchFamily="18" charset="0"/>
                <a:cs typeface="Times New Roman" panose="02020603050405020304" pitchFamily="18" charset="0"/>
              </a:rPr>
              <a:t>D</a:t>
            </a:r>
            <a:r>
              <a:rPr lang="zh-TW" altLang="en-US" sz="3600" b="1">
                <a:latin typeface="Times New Roman" panose="02020603050405020304" pitchFamily="18" charset="0"/>
                <a:cs typeface="Times New Roman" panose="02020603050405020304" pitchFamily="18" charset="0"/>
              </a:rPr>
              <a:t>istribution</a:t>
            </a:r>
          </a:p>
        </p:txBody>
      </p:sp>
      <p:sp>
        <p:nvSpPr>
          <p:cNvPr id="23" name="文字方塊 22">
            <a:extLst>
              <a:ext uri="{FF2B5EF4-FFF2-40B4-BE49-F238E27FC236}">
                <a16:creationId xmlns:a16="http://schemas.microsoft.com/office/drawing/2014/main" id="{0F52603F-53D9-60F9-68F5-4BBA6B1B0F9A}"/>
              </a:ext>
            </a:extLst>
          </p:cNvPr>
          <p:cNvSpPr txBox="1"/>
          <p:nvPr/>
        </p:nvSpPr>
        <p:spPr>
          <a:xfrm>
            <a:off x="7608344" y="2624296"/>
            <a:ext cx="3166251" cy="2485745"/>
          </a:xfrm>
          <a:prstGeom prst="rect">
            <a:avLst/>
          </a:prstGeom>
          <a:noFill/>
        </p:spPr>
        <p:txBody>
          <a:bodyPr wrap="none" rtlCol="0">
            <a:spAutoFit/>
          </a:bodyPr>
          <a:lstStyle/>
          <a:p>
            <a:pPr marL="514350" indent="-514350">
              <a:lnSpc>
                <a:spcPct val="150000"/>
              </a:lnSpc>
              <a:buFont typeface="+mj-lt"/>
              <a:buAutoNum type="arabicPeriod" startAt="5"/>
            </a:pPr>
            <a:r>
              <a:rPr lang="en-US" altLang="zh-TW" sz="3600" b="1">
                <a:latin typeface="Times New Roman" panose="02020603050405020304" pitchFamily="18" charset="0"/>
                <a:cs typeface="Times New Roman" panose="02020603050405020304" pitchFamily="18" charset="0"/>
              </a:rPr>
              <a:t>B</a:t>
            </a:r>
            <a:r>
              <a:rPr lang="zh-TW" altLang="en-US" sz="3600" b="1">
                <a:latin typeface="Times New Roman" panose="02020603050405020304" pitchFamily="18" charset="0"/>
                <a:cs typeface="Times New Roman" panose="02020603050405020304" pitchFamily="18" charset="0"/>
              </a:rPr>
              <a:t>oo</a:t>
            </a:r>
            <a:r>
              <a:rPr lang="en-US" altLang="zh-TW" sz="3600" b="1">
                <a:latin typeface="Times New Roman" panose="02020603050405020304" pitchFamily="18" charset="0"/>
                <a:cs typeface="Times New Roman" panose="02020603050405020304" pitchFamily="18" charset="0"/>
              </a:rPr>
              <a:t>t</a:t>
            </a:r>
            <a:r>
              <a:rPr lang="zh-TW" altLang="en-US" sz="3600" b="1">
                <a:latin typeface="Times New Roman" panose="02020603050405020304" pitchFamily="18" charset="0"/>
                <a:cs typeface="Times New Roman" panose="02020603050405020304" pitchFamily="18" charset="0"/>
              </a:rPr>
              <a:t>strap</a:t>
            </a:r>
          </a:p>
          <a:p>
            <a:pPr marL="514350" indent="-514350">
              <a:lnSpc>
                <a:spcPct val="150000"/>
              </a:lnSpc>
              <a:buFont typeface="+mj-lt"/>
              <a:buAutoNum type="arabicPeriod" startAt="5"/>
            </a:pPr>
            <a:r>
              <a:rPr lang="en-US" altLang="zh-TW" sz="3600" b="1">
                <a:latin typeface="Times New Roman" panose="02020603050405020304" pitchFamily="18" charset="0"/>
                <a:cs typeface="Times New Roman" panose="02020603050405020304" pitchFamily="18" charset="0"/>
              </a:rPr>
              <a:t>D</a:t>
            </a:r>
            <a:r>
              <a:rPr lang="zh-TW" altLang="en-US" sz="3600" b="1">
                <a:latin typeface="Times New Roman" panose="02020603050405020304" pitchFamily="18" charset="0"/>
                <a:cs typeface="Times New Roman" panose="02020603050405020304" pitchFamily="18" charset="0"/>
              </a:rPr>
              <a:t>egradation</a:t>
            </a:r>
            <a:endParaRPr lang="en-US" altLang="zh-TW" sz="3600" b="1">
              <a:latin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startAt="5"/>
            </a:pPr>
            <a:r>
              <a:rPr kumimoji="1" lang="en-US" altLang="zh-TW" sz="3600" b="1">
                <a:latin typeface="Times New Roman" panose="02020603050405020304" pitchFamily="18" charset="0"/>
                <a:cs typeface="Times New Roman" panose="02020603050405020304" pitchFamily="18" charset="0"/>
              </a:rPr>
              <a:t>Example</a:t>
            </a:r>
            <a:endParaRPr kumimoji="1" lang="zh-TW" altLang="en-US" sz="36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5926074" y="6972300"/>
            <a:ext cx="6435852" cy="1015663"/>
          </a:xfrm>
          <a:prstGeom prst="rect">
            <a:avLst/>
          </a:prstGeom>
        </p:spPr>
        <p:txBody>
          <a:bodyPr wrap="square" lIns="0" tIns="0" rIns="0" bIns="0" rtlCol="0" anchor="t">
            <a:spAutoFit/>
          </a:bodyPr>
          <a:lstStyle/>
          <a:p>
            <a:r>
              <a:rPr lang="en-US" altLang="zh-TW" sz="6600">
                <a:solidFill>
                  <a:srgbClr val="000000"/>
                </a:solidFill>
                <a:ea typeface="思源宋体 Bold"/>
              </a:rPr>
              <a:t>Reliability Concept</a:t>
            </a: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1463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2286000" y="800100"/>
            <a:ext cx="7696200" cy="923330"/>
          </a:xfrm>
          <a:prstGeom prst="rect">
            <a:avLst/>
          </a:prstGeom>
          <a:noFill/>
        </p:spPr>
        <p:txBody>
          <a:bodyPr wrap="square">
            <a:spAutoFit/>
          </a:bodyPr>
          <a:lstStyle>
            <a:defPPr>
              <a:defRPr lang="en-US"/>
            </a:defPPr>
            <a:lvl1pPr>
              <a:defRPr sz="6600">
                <a:solidFill>
                  <a:srgbClr val="000000"/>
                </a:solidFill>
                <a:effectLst/>
                <a:latin typeface="+mj-lt"/>
              </a:defRPr>
            </a:lvl1pPr>
          </a:lstStyle>
          <a:p>
            <a:r>
              <a:rPr lang="en" altLang="zh-TW" sz="5400"/>
              <a:t>Quality vs Reliability</a:t>
            </a: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547E1FC4-2190-119A-D656-4F2BA2F8F078}"/>
              </a:ext>
            </a:extLst>
          </p:cNvPr>
          <p:cNvSpPr txBox="1"/>
          <p:nvPr/>
        </p:nvSpPr>
        <p:spPr>
          <a:xfrm>
            <a:off x="2305879" y="2400300"/>
            <a:ext cx="13543721" cy="6494085"/>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rPr>
              <a:t> The difference between quality and reliability is that quality shows how well an object performs its proper function, while reliability shows how well this object maintains its original level of quality over time, through various conditions.</a:t>
            </a:r>
          </a:p>
          <a:p>
            <a:pPr marL="457200" indent="-457200">
              <a:buFont typeface="Arial" panose="020B0604020202020204" pitchFamily="34" charset="0"/>
              <a:buChar char="•"/>
            </a:pPr>
            <a:endParaRPr lang="en" altLang="zh-TW" sz="3200">
              <a:solidFill>
                <a:srgbClr val="000000"/>
              </a:solidFill>
              <a:effectLst/>
            </a:endParaRPr>
          </a:p>
          <a:p>
            <a:pPr marL="457200" indent="-457200">
              <a:buFont typeface="Arial" panose="020B0604020202020204" pitchFamily="34" charset="0"/>
              <a:buChar char="•"/>
            </a:pPr>
            <a:r>
              <a:rPr lang="en" altLang="zh-TW" sz="3200">
                <a:solidFill>
                  <a:srgbClr val="000000"/>
                </a:solidFill>
                <a:effectLst/>
              </a:rPr>
              <a:t>Asking a few key questions can help one determine the difference between both quality and reliability:</a:t>
            </a:r>
          </a:p>
          <a:p>
            <a:pPr marL="457200" indent="-457200">
              <a:buFont typeface="Arial" panose="020B0604020202020204" pitchFamily="34" charset="0"/>
              <a:buChar char="•"/>
            </a:pPr>
            <a:endParaRPr lang="en" altLang="zh-TW" sz="3200">
              <a:solidFill>
                <a:srgbClr val="000000"/>
              </a:solidFill>
              <a:effectLst/>
            </a:endParaRPr>
          </a:p>
          <a:p>
            <a:pPr marL="914400" lvl="1" indent="-457200">
              <a:buFont typeface="Arial" panose="020B0604020202020204" pitchFamily="34" charset="0"/>
              <a:buChar char="•"/>
            </a:pPr>
            <a:r>
              <a:rPr lang="en" altLang="zh-TW" sz="3200">
                <a:solidFill>
                  <a:srgbClr val="000000"/>
                </a:solidFill>
                <a:effectLst/>
              </a:rPr>
              <a:t>Quality = </a:t>
            </a:r>
            <a:r>
              <a:rPr lang="en" altLang="zh-TW" sz="3200" b="1">
                <a:solidFill>
                  <a:srgbClr val="000000"/>
                </a:solidFill>
                <a:effectLst/>
              </a:rPr>
              <a:t>Does the object perform its intended function? If so, how well does it perform its intended function?</a:t>
            </a:r>
          </a:p>
          <a:p>
            <a:pPr marL="914400" lvl="1" indent="-457200">
              <a:buFont typeface="Arial" panose="020B0604020202020204" pitchFamily="34" charset="0"/>
              <a:buChar char="•"/>
            </a:pPr>
            <a:endParaRPr lang="en" altLang="zh-TW" sz="3200" b="1">
              <a:solidFill>
                <a:srgbClr val="000000"/>
              </a:solidFill>
              <a:effectLst/>
            </a:endParaRPr>
          </a:p>
          <a:p>
            <a:pPr marL="914400" lvl="1" indent="-457200">
              <a:buFont typeface="Arial" panose="020B0604020202020204" pitchFamily="34" charset="0"/>
              <a:buChar char="•"/>
            </a:pPr>
            <a:r>
              <a:rPr lang="en" altLang="zh-TW" sz="3200">
                <a:solidFill>
                  <a:srgbClr val="000000"/>
                </a:solidFill>
                <a:effectLst/>
              </a:rPr>
              <a:t>Reliability = </a:t>
            </a:r>
            <a:r>
              <a:rPr lang="en" altLang="zh-TW" sz="3200" b="1">
                <a:solidFill>
                  <a:srgbClr val="000000"/>
                </a:solidFill>
                <a:effectLst/>
              </a:rPr>
              <a:t>To what level has said object maintained this level of quality over time?</a:t>
            </a:r>
          </a:p>
        </p:txBody>
      </p:sp>
    </p:spTree>
    <p:extLst>
      <p:ext uri="{BB962C8B-B14F-4D97-AF65-F5344CB8AC3E}">
        <p14:creationId xmlns:p14="http://schemas.microsoft.com/office/powerpoint/2010/main" val="249706733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2286000" y="800100"/>
            <a:ext cx="8610600" cy="923330"/>
          </a:xfrm>
          <a:prstGeom prst="rect">
            <a:avLst/>
          </a:prstGeom>
          <a:noFill/>
        </p:spPr>
        <p:txBody>
          <a:bodyPr wrap="square">
            <a:spAutoFit/>
          </a:bodyPr>
          <a:lstStyle/>
          <a:p>
            <a:r>
              <a:rPr lang="en" altLang="zh-TW" sz="5400">
                <a:solidFill>
                  <a:srgbClr val="000000"/>
                </a:solidFill>
                <a:effectLst/>
                <a:latin typeface="+mj-lt"/>
              </a:rPr>
              <a:t>Uncertainties of Failure</a:t>
            </a: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547E1FC4-2190-119A-D656-4F2BA2F8F078}"/>
              </a:ext>
            </a:extLst>
          </p:cNvPr>
          <p:cNvSpPr txBox="1"/>
          <p:nvPr/>
        </p:nvSpPr>
        <p:spPr>
          <a:xfrm>
            <a:off x="2305879" y="2400300"/>
            <a:ext cx="13543721" cy="5509200"/>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latin typeface="Helvetica" pitchFamily="2" charset="0"/>
              </a:rPr>
              <a:t>In theory, if we were able to comprehend and understand the mechanisms of failure processes, then we would be able to predict failures with certainty.</a:t>
            </a:r>
          </a:p>
          <a:p>
            <a:pPr marL="457200" indent="-457200">
              <a:buFont typeface="Arial" panose="020B0604020202020204" pitchFamily="34" charset="0"/>
              <a:buChar char="•"/>
            </a:pPr>
            <a:endParaRPr lang="en" altLang="zh-TW" sz="3200">
              <a:solidFill>
                <a:srgbClr val="000000"/>
              </a:solidFill>
              <a:effectLst/>
              <a:latin typeface="Helvetica" pitchFamily="2" charset="0"/>
            </a:endParaRPr>
          </a:p>
          <a:p>
            <a:pPr marL="457200" indent="-457200">
              <a:buFont typeface="Arial" panose="020B0604020202020204" pitchFamily="34" charset="0"/>
              <a:buChar char="•"/>
            </a:pPr>
            <a:r>
              <a:rPr lang="en" altLang="zh-TW" sz="3200">
                <a:solidFill>
                  <a:srgbClr val="000000"/>
                </a:solidFill>
                <a:effectLst/>
                <a:latin typeface="Helvetica" pitchFamily="2" charset="0"/>
              </a:rPr>
              <a:t>In practice, we have limited knowledge of the physical state of the system, a lack of understanding of the physical processes and chemical reactions that cause failure, and the randomness of external events.</a:t>
            </a:r>
          </a:p>
          <a:p>
            <a:pPr marL="457200" indent="-457200">
              <a:buFont typeface="Arial" panose="020B0604020202020204" pitchFamily="34" charset="0"/>
              <a:buChar char="•"/>
            </a:pPr>
            <a:endParaRPr lang="en" altLang="zh-TW" sz="3200">
              <a:solidFill>
                <a:srgbClr val="000000"/>
              </a:solidFill>
              <a:effectLst/>
              <a:latin typeface="Helvetica" pitchFamily="2" charset="0"/>
            </a:endParaRPr>
          </a:p>
          <a:p>
            <a:pPr marL="457200" indent="-457200">
              <a:buFont typeface="Arial" panose="020B0604020202020204" pitchFamily="34" charset="0"/>
              <a:buChar char="•"/>
            </a:pPr>
            <a:r>
              <a:rPr lang="en" altLang="zh-TW" sz="3200">
                <a:solidFill>
                  <a:srgbClr val="000000"/>
                </a:solidFill>
                <a:effectLst/>
                <a:latin typeface="Helvetica" pitchFamily="2" charset="0"/>
              </a:rPr>
              <a:t>Thus, failures appear to be random. However, this randomness may exhibit some pattern that can be modeled by some probability distribution. We can, therefore, predict failures statistically.</a:t>
            </a:r>
          </a:p>
        </p:txBody>
      </p:sp>
    </p:spTree>
    <p:extLst>
      <p:ext uri="{BB962C8B-B14F-4D97-AF65-F5344CB8AC3E}">
        <p14:creationId xmlns:p14="http://schemas.microsoft.com/office/powerpoint/2010/main" val="155014695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9E827B0E-08AE-D35D-7C3B-24969B4DE5B1}"/>
              </a:ext>
            </a:extLst>
          </p:cNvPr>
          <p:cNvSpPr txBox="1"/>
          <p:nvPr/>
        </p:nvSpPr>
        <p:spPr>
          <a:xfrm>
            <a:off x="2286000" y="800100"/>
            <a:ext cx="8610600" cy="923330"/>
          </a:xfrm>
          <a:prstGeom prst="rect">
            <a:avLst/>
          </a:prstGeom>
          <a:noFill/>
        </p:spPr>
        <p:txBody>
          <a:bodyPr wrap="square">
            <a:spAutoFit/>
          </a:bodyPr>
          <a:lstStyle/>
          <a:p>
            <a:r>
              <a:rPr lang="en" altLang="zh-TW" sz="5400">
                <a:solidFill>
                  <a:srgbClr val="000000"/>
                </a:solidFill>
                <a:effectLst/>
                <a:latin typeface="+mj-lt"/>
              </a:rPr>
              <a:t>Acceleration</a:t>
            </a:r>
          </a:p>
        </p:txBody>
      </p:sp>
      <p:sp>
        <p:nvSpPr>
          <p:cNvPr id="6" name="文字方塊 5">
            <a:extLst>
              <a:ext uri="{FF2B5EF4-FFF2-40B4-BE49-F238E27FC236}">
                <a16:creationId xmlns:a16="http://schemas.microsoft.com/office/drawing/2014/main" id="{7E711FC1-9068-6593-C1B4-F53EA5AD0181}"/>
              </a:ext>
            </a:extLst>
          </p:cNvPr>
          <p:cNvSpPr txBox="1"/>
          <p:nvPr/>
        </p:nvSpPr>
        <p:spPr>
          <a:xfrm>
            <a:off x="2305879" y="2006600"/>
            <a:ext cx="13543721" cy="1569660"/>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latin typeface="Helvetica" pitchFamily="2" charset="0"/>
              </a:rPr>
              <a:t>Acceleration factors show how time-to-fail at a particular operating stress level (for one failure mode or mechanism) can be used to predict the equivalent time to fail at a different operating stress level.</a:t>
            </a:r>
          </a:p>
        </p:txBody>
      </p:sp>
      <p:sp>
        <p:nvSpPr>
          <p:cNvPr id="7" name="文字方塊 6">
            <a:extLst>
              <a:ext uri="{FF2B5EF4-FFF2-40B4-BE49-F238E27FC236}">
                <a16:creationId xmlns:a16="http://schemas.microsoft.com/office/drawing/2014/main" id="{B24E0A95-FB01-1EA5-2505-721C55B521A9}"/>
              </a:ext>
            </a:extLst>
          </p:cNvPr>
          <p:cNvSpPr txBox="1"/>
          <p:nvPr/>
        </p:nvSpPr>
        <p:spPr>
          <a:xfrm>
            <a:off x="2286000" y="4254500"/>
            <a:ext cx="8610600" cy="923330"/>
          </a:xfrm>
          <a:prstGeom prst="rect">
            <a:avLst/>
          </a:prstGeom>
          <a:noFill/>
        </p:spPr>
        <p:txBody>
          <a:bodyPr wrap="square">
            <a:spAutoFit/>
          </a:bodyPr>
          <a:lstStyle/>
          <a:p>
            <a:r>
              <a:rPr lang="en" altLang="zh-TW" sz="5400">
                <a:solidFill>
                  <a:srgbClr val="000000"/>
                </a:solidFill>
                <a:effectLst/>
                <a:latin typeface="+mj-lt"/>
              </a:rPr>
              <a:t>Reliability Data</a:t>
            </a:r>
          </a:p>
        </p:txBody>
      </p:sp>
      <p:pic>
        <p:nvPicPr>
          <p:cNvPr id="9" name="圖片 8">
            <a:extLst>
              <a:ext uri="{FF2B5EF4-FFF2-40B4-BE49-F238E27FC236}">
                <a16:creationId xmlns:a16="http://schemas.microsoft.com/office/drawing/2014/main" id="{93194EEB-EE12-B155-CB4A-E384D48B2C40}"/>
              </a:ext>
            </a:extLst>
          </p:cNvPr>
          <p:cNvPicPr>
            <a:picLocks noChangeAspect="1"/>
          </p:cNvPicPr>
          <p:nvPr/>
        </p:nvPicPr>
        <p:blipFill rotWithShape="1">
          <a:blip r:embed="rId4"/>
          <a:srcRect l="-329" t="16685" r="7176" b="3510"/>
          <a:stretch/>
        </p:blipFill>
        <p:spPr>
          <a:xfrm>
            <a:off x="3858767" y="5380582"/>
            <a:ext cx="5407613" cy="4106318"/>
          </a:xfrm>
          <a:prstGeom prst="rect">
            <a:avLst/>
          </a:prstGeom>
        </p:spPr>
      </p:pic>
    </p:spTree>
    <p:extLst>
      <p:ext uri="{BB962C8B-B14F-4D97-AF65-F5344CB8AC3E}">
        <p14:creationId xmlns:p14="http://schemas.microsoft.com/office/powerpoint/2010/main" val="2154312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5849874" y="6972300"/>
            <a:ext cx="6588252" cy="1015663"/>
          </a:xfrm>
          <a:prstGeom prst="rect">
            <a:avLst/>
          </a:prstGeom>
        </p:spPr>
        <p:txBody>
          <a:bodyPr wrap="square" lIns="0" tIns="0" rIns="0" bIns="0" rtlCol="0" anchor="t">
            <a:spAutoFit/>
          </a:bodyPr>
          <a:lstStyle/>
          <a:p>
            <a:r>
              <a:rPr lang="en-US" sz="6600">
                <a:solidFill>
                  <a:srgbClr val="000000"/>
                </a:solidFill>
                <a:ea typeface="思源宋体 Bold"/>
              </a:rPr>
              <a:t>Reliability Function</a:t>
            </a: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6937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C955EB0C-79F5-C298-6EF6-D4424F891474}"/>
              </a:ext>
            </a:extLst>
          </p:cNvPr>
          <p:cNvSpPr txBox="1"/>
          <p:nvPr/>
        </p:nvSpPr>
        <p:spPr>
          <a:xfrm>
            <a:off x="3538330" y="3458817"/>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A32F1720-78B7-DDD1-C15E-5C445F19FA5C}"/>
                  </a:ext>
                </a:extLst>
              </p:cNvPr>
              <p:cNvSpPr txBox="1"/>
              <p:nvPr/>
            </p:nvSpPr>
            <p:spPr>
              <a:xfrm>
                <a:off x="1143001" y="977900"/>
                <a:ext cx="12573000" cy="5032853"/>
              </a:xfrm>
              <a:prstGeom prst="rect">
                <a:avLst/>
              </a:prstGeom>
              <a:noFill/>
            </p:spPr>
            <p:txBody>
              <a:bodyPr wrap="square" rtlCol="0">
                <a:spAutoFit/>
              </a:bodyPr>
              <a:lstStyle/>
              <a:p>
                <a:pPr marL="457200" indent="-457200">
                  <a:buFont typeface="Arial" panose="020B0604020202020204" pitchFamily="34" charset="0"/>
                  <a:buChar char="•"/>
                </a:pPr>
                <a:r>
                  <a:rPr lang="en" altLang="zh-TW" sz="3200">
                    <a:solidFill>
                      <a:srgbClr val="000000"/>
                    </a:solidFill>
                    <a:latin typeface="Helvetica" pitchFamily="2" charset="0"/>
                  </a:rPr>
                  <a:t>Suppose </a:t>
                </a:r>
                <a14:m>
                  <m:oMath xmlns:m="http://schemas.openxmlformats.org/officeDocument/2006/math">
                    <m:r>
                      <a:rPr lang="en-US" altLang="zh-TW" sz="3200" b="0" i="1" smtClean="0">
                        <a:solidFill>
                          <a:srgbClr val="000000"/>
                        </a:solidFill>
                        <a:latin typeface="Cambria Math" panose="02040503050406030204" pitchFamily="18" charset="0"/>
                      </a:rPr>
                      <m:t>𝑛</m:t>
                    </m:r>
                  </m:oMath>
                </a14:m>
                <a:r>
                  <a:rPr lang="en-US" altLang="zh-TW" sz="3200">
                    <a:solidFill>
                      <a:srgbClr val="000000"/>
                    </a:solidFill>
                    <a:latin typeface="Helvetica" pitchFamily="2" charset="0"/>
                  </a:rPr>
                  <a:t> </a:t>
                </a:r>
                <a:r>
                  <a:rPr lang="en" altLang="zh-TW" sz="3200">
                    <a:solidFill>
                      <a:srgbClr val="000000"/>
                    </a:solidFill>
                    <a:latin typeface="Helvetica" pitchFamily="2" charset="0"/>
                  </a:rPr>
                  <a:t>identical components are tested under their designed operating conditions.</a:t>
                </a:r>
              </a:p>
              <a:p>
                <a:pPr marL="457200" indent="-457200">
                  <a:buFont typeface="Arial" panose="020B0604020202020204" pitchFamily="34" charset="0"/>
                  <a:buChar char="•"/>
                </a:pPr>
                <a:endParaRPr lang="en" altLang="zh-TW" sz="3200">
                  <a:solidFill>
                    <a:srgbClr val="000000"/>
                  </a:solidFill>
                  <a:effectLst/>
                  <a:latin typeface="Helvetica" pitchFamily="2" charset="0"/>
                </a:endParaRPr>
              </a:p>
              <a:p>
                <a:pPr marL="457200" indent="-457200">
                  <a:buFont typeface="Arial" panose="020B0604020202020204" pitchFamily="34" charset="0"/>
                  <a:buChar char="•"/>
                </a:pPr>
                <a:r>
                  <a:rPr lang="en" altLang="zh-TW" sz="3200">
                    <a:solidFill>
                      <a:srgbClr val="000000"/>
                    </a:solidFill>
                    <a:effectLst/>
                    <a:latin typeface="Helvetica" pitchFamily="2" charset="0"/>
                  </a:rPr>
                  <a:t>T is a random variable denoting </a:t>
                </a:r>
                <a:r>
                  <a:rPr lang="en" altLang="zh-TW" sz="3200" u="sng">
                    <a:solidFill>
                      <a:srgbClr val="000000"/>
                    </a:solidFill>
                    <a:effectLst/>
                    <a:latin typeface="Helvetica" pitchFamily="2" charset="0"/>
                  </a:rPr>
                  <a:t>the time to failure</a:t>
                </a:r>
                <a:r>
                  <a:rPr lang="en" altLang="zh-TW" sz="3200">
                    <a:solidFill>
                      <a:srgbClr val="000000"/>
                    </a:solidFill>
                    <a:effectLst/>
                    <a:latin typeface="Helvetica" pitchFamily="2" charset="0"/>
                  </a:rPr>
                  <a:t>, then the reliability function at time t can be expressed as</a:t>
                </a:r>
                <a:br>
                  <a:rPr lang="en" altLang="zh-TW" sz="3200">
                    <a:solidFill>
                      <a:srgbClr val="000000"/>
                    </a:solidFill>
                    <a:effectLst/>
                    <a:latin typeface="Helvetica" pitchFamily="2" charset="0"/>
                  </a:rPr>
                </a:br>
                <a14:m>
                  <m:oMath xmlns:m="http://schemas.openxmlformats.org/officeDocument/2006/math">
                    <m:sSub>
                      <m:sSubPr>
                        <m:ctrlPr>
                          <a:rPr lang="en-US" altLang="zh-TW" sz="2400" b="0" i="1" dirty="0" smtClean="0">
                            <a:solidFill>
                              <a:srgbClr val="000000"/>
                            </a:solidFill>
                            <a:effectLst/>
                            <a:latin typeface="Cambria Math" panose="02040503050406030204" pitchFamily="18" charset="0"/>
                          </a:rPr>
                        </m:ctrlPr>
                      </m:sSubPr>
                      <m:e>
                        <m:r>
                          <a:rPr lang="en" altLang="zh-TW" sz="2400" i="1" dirty="0" smtClean="0">
                            <a:solidFill>
                              <a:srgbClr val="000000"/>
                            </a:solidFill>
                            <a:effectLst/>
                            <a:latin typeface="Cambria Math" panose="02040503050406030204" pitchFamily="18" charset="0"/>
                          </a:rPr>
                          <m:t>𝑛</m:t>
                        </m:r>
                      </m:e>
                      <m:sub>
                        <m:r>
                          <a:rPr lang="en" altLang="zh-TW" sz="2400" i="1" dirty="0" smtClean="0">
                            <a:solidFill>
                              <a:srgbClr val="000000"/>
                            </a:solidFill>
                            <a:effectLst/>
                            <a:latin typeface="Cambria Math" panose="02040503050406030204" pitchFamily="18" charset="0"/>
                          </a:rPr>
                          <m:t>𝑓</m:t>
                        </m:r>
                      </m:sub>
                    </m:sSub>
                    <m:r>
                      <a:rPr lang="en" altLang="zh-TW" sz="2400" i="1" dirty="0" smtClean="0">
                        <a:solidFill>
                          <a:srgbClr val="000000"/>
                        </a:solidFill>
                        <a:effectLst/>
                        <a:latin typeface="Cambria Math" panose="02040503050406030204" pitchFamily="18" charset="0"/>
                      </a:rPr>
                      <m:t>(</m:t>
                    </m:r>
                    <m:r>
                      <a:rPr lang="en" altLang="zh-TW" sz="2400" i="1" dirty="0" smtClean="0">
                        <a:solidFill>
                          <a:srgbClr val="000000"/>
                        </a:solidFill>
                        <a:effectLst/>
                        <a:latin typeface="Cambria Math" panose="02040503050406030204" pitchFamily="18" charset="0"/>
                      </a:rPr>
                      <m:t>𝑡</m:t>
                    </m:r>
                    <m:r>
                      <a:rPr lang="en" altLang="zh-TW" sz="2400" i="1" dirty="0" smtClean="0">
                        <a:solidFill>
                          <a:srgbClr val="000000"/>
                        </a:solidFill>
                        <a:effectLst/>
                        <a:latin typeface="Cambria Math" panose="02040503050406030204" pitchFamily="18" charset="0"/>
                      </a:rPr>
                      <m:t>) </m:t>
                    </m:r>
                  </m:oMath>
                </a14:m>
                <a:r>
                  <a:rPr lang="en" altLang="zh-TW" sz="2400">
                    <a:solidFill>
                      <a:srgbClr val="000000"/>
                    </a:solidFill>
                    <a:effectLst/>
                    <a:latin typeface="Helvetica" pitchFamily="2" charset="0"/>
                  </a:rPr>
                  <a:t>failed components, </a:t>
                </a:r>
                <a14:m>
                  <m:oMath xmlns:m="http://schemas.openxmlformats.org/officeDocument/2006/math">
                    <m:sSub>
                      <m:sSubPr>
                        <m:ctrlPr>
                          <a:rPr lang="en-US" altLang="zh-TW" sz="2400" b="0" i="1" dirty="0" smtClean="0">
                            <a:solidFill>
                              <a:srgbClr val="000000"/>
                            </a:solidFill>
                            <a:effectLst/>
                            <a:latin typeface="Cambria Math" panose="02040503050406030204" pitchFamily="18" charset="0"/>
                          </a:rPr>
                        </m:ctrlPr>
                      </m:sSubPr>
                      <m:e>
                        <m:r>
                          <a:rPr lang="en" altLang="zh-TW" sz="2400" i="1" dirty="0" smtClean="0">
                            <a:solidFill>
                              <a:srgbClr val="000000"/>
                            </a:solidFill>
                            <a:effectLst/>
                            <a:latin typeface="Cambria Math" panose="02040503050406030204" pitchFamily="18" charset="0"/>
                          </a:rPr>
                          <m:t>𝑛</m:t>
                        </m:r>
                      </m:e>
                      <m:sub>
                        <m:r>
                          <a:rPr lang="en" altLang="zh-TW" sz="2400" i="1" dirty="0" smtClean="0">
                            <a:solidFill>
                              <a:srgbClr val="000000"/>
                            </a:solidFill>
                            <a:effectLst/>
                            <a:latin typeface="Cambria Math" panose="02040503050406030204" pitchFamily="18" charset="0"/>
                          </a:rPr>
                          <m:t>𝑠</m:t>
                        </m:r>
                      </m:sub>
                    </m:sSub>
                    <m:r>
                      <a:rPr lang="en" altLang="zh-TW" sz="2400" i="1" dirty="0" smtClean="0">
                        <a:solidFill>
                          <a:srgbClr val="000000"/>
                        </a:solidFill>
                        <a:effectLst/>
                        <a:latin typeface="Cambria Math" panose="02040503050406030204" pitchFamily="18" charset="0"/>
                      </a:rPr>
                      <m:t>(</m:t>
                    </m:r>
                    <m:r>
                      <a:rPr lang="en" altLang="zh-TW" sz="2400" i="1" dirty="0" smtClean="0">
                        <a:solidFill>
                          <a:srgbClr val="000000"/>
                        </a:solidFill>
                        <a:effectLst/>
                        <a:latin typeface="Cambria Math" panose="02040503050406030204" pitchFamily="18" charset="0"/>
                      </a:rPr>
                      <m:t>𝑡</m:t>
                    </m:r>
                    <m:r>
                      <a:rPr lang="en" altLang="zh-TW" sz="2400" i="1" dirty="0" smtClean="0">
                        <a:solidFill>
                          <a:srgbClr val="000000"/>
                        </a:solidFill>
                        <a:effectLst/>
                        <a:latin typeface="Cambria Math" panose="02040503050406030204" pitchFamily="18" charset="0"/>
                      </a:rPr>
                      <m:t>)</m:t>
                    </m:r>
                  </m:oMath>
                </a14:m>
                <a:r>
                  <a:rPr lang="en" altLang="zh-TW" sz="2400">
                    <a:solidFill>
                      <a:srgbClr val="000000"/>
                    </a:solidFill>
                    <a:effectLst/>
                    <a:latin typeface="Helvetica" pitchFamily="2" charset="0"/>
                  </a:rPr>
                  <a:t>surviving components</a:t>
                </a:r>
                <a:endParaRPr lang="en" altLang="zh-TW" sz="3200">
                  <a:solidFill>
                    <a:srgbClr val="000000"/>
                  </a:solidFill>
                  <a:effectLst/>
                  <a:latin typeface="Helvetica" pitchFamily="2" charset="0"/>
                </a:endParaRPr>
              </a:p>
              <a:p>
                <a:pPr/>
                <a14:m>
                  <m:oMathPara xmlns:m="http://schemas.openxmlformats.org/officeDocument/2006/math">
                    <m:oMathParaPr>
                      <m:jc m:val="centerGroup"/>
                    </m:oMathParaPr>
                    <m:oMath xmlns:m="http://schemas.openxmlformats.org/officeDocument/2006/math">
                      <m:r>
                        <a:rPr lang="en-US" altLang="zh-TW" sz="3200" b="0" i="1" smtClean="0">
                          <a:solidFill>
                            <a:srgbClr val="000000"/>
                          </a:solidFill>
                          <a:effectLst/>
                          <a:latin typeface="Cambria Math" panose="02040503050406030204" pitchFamily="18" charset="0"/>
                        </a:rPr>
                        <m:t>𝑅</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𝑃</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𝑇</m:t>
                          </m:r>
                          <m:r>
                            <a:rPr lang="en-US" altLang="zh-TW" sz="3200" b="0" i="1" smtClean="0">
                              <a:solidFill>
                                <a:srgbClr val="000000"/>
                              </a:solidFill>
                              <a:effectLst/>
                              <a:latin typeface="Cambria Math" panose="02040503050406030204" pitchFamily="18" charset="0"/>
                            </a:rPr>
                            <m:t>&gt;</m:t>
                          </m:r>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f>
                        <m:fPr>
                          <m:ctrlPr>
                            <a:rPr lang="en-US" altLang="zh-TW" sz="3200" b="0" i="1" smtClean="0">
                              <a:solidFill>
                                <a:srgbClr val="000000"/>
                              </a:solidFill>
                              <a:effectLst/>
                              <a:latin typeface="Cambria Math" panose="02040503050406030204" pitchFamily="18" charset="0"/>
                            </a:rPr>
                          </m:ctrlPr>
                        </m:fPr>
                        <m:num>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𝑛</m:t>
                              </m:r>
                            </m:e>
                            <m:sub>
                              <m:r>
                                <a:rPr lang="en-US" altLang="zh-TW" sz="3200" b="0" i="1" smtClean="0">
                                  <a:solidFill>
                                    <a:srgbClr val="000000"/>
                                  </a:solidFill>
                                  <a:effectLst/>
                                  <a:latin typeface="Cambria Math" panose="02040503050406030204" pitchFamily="18" charset="0"/>
                                </a:rPr>
                                <m:t>𝑠</m:t>
                              </m:r>
                            </m:sub>
                          </m:sSub>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num>
                        <m:den>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𝑛</m:t>
                              </m:r>
                            </m:e>
                            <m:sub>
                              <m:r>
                                <a:rPr lang="en-US" altLang="zh-TW" sz="3200" b="0" i="1" smtClean="0">
                                  <a:solidFill>
                                    <a:srgbClr val="000000"/>
                                  </a:solidFill>
                                  <a:effectLst/>
                                  <a:latin typeface="Cambria Math" panose="02040503050406030204" pitchFamily="18" charset="0"/>
                                </a:rPr>
                                <m:t>𝑠</m:t>
                              </m:r>
                            </m:sub>
                          </m:sSub>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𝑛</m:t>
                              </m:r>
                            </m:e>
                            <m:sub>
                              <m:r>
                                <a:rPr lang="en-US" altLang="zh-TW" sz="3200" b="0" i="1" smtClean="0">
                                  <a:solidFill>
                                    <a:srgbClr val="000000"/>
                                  </a:solidFill>
                                  <a:effectLst/>
                                  <a:latin typeface="Cambria Math" panose="02040503050406030204" pitchFamily="18" charset="0"/>
                                </a:rPr>
                                <m:t>𝑓</m:t>
                              </m:r>
                            </m:sub>
                          </m:sSub>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m:t>
                          </m:r>
                        </m:den>
                      </m:f>
                    </m:oMath>
                  </m:oMathPara>
                </a14:m>
                <a:endParaRPr lang="en" altLang="zh-TW" sz="3200">
                  <a:solidFill>
                    <a:srgbClr val="000000"/>
                  </a:solidFill>
                  <a:effectLst/>
                  <a:latin typeface="Helvetica" pitchFamily="2" charset="0"/>
                </a:endParaRPr>
              </a:p>
              <a:p>
                <a:endParaRPr lang="en" altLang="zh-TW" sz="3200">
                  <a:solidFill>
                    <a:srgbClr val="000000"/>
                  </a:solidFill>
                  <a:latin typeface="Helvetica" pitchFamily="2" charset="0"/>
                </a:endParaRPr>
              </a:p>
              <a:p>
                <a:pPr marL="457200" indent="-457200">
                  <a:buFont typeface="Arial" panose="020B0604020202020204" pitchFamily="34" charset="0"/>
                  <a:buChar char="•"/>
                </a:pPr>
                <a:r>
                  <a:rPr lang="en" altLang="zh-TW" sz="3200">
                    <a:solidFill>
                      <a:srgbClr val="000000"/>
                    </a:solidFill>
                    <a:effectLst/>
                    <a:latin typeface="Helvetica" pitchFamily="2" charset="0"/>
                  </a:rPr>
                  <a:t>Often called the </a:t>
                </a:r>
                <a:r>
                  <a:rPr lang="en" altLang="zh-TW" sz="3200">
                    <a:solidFill>
                      <a:srgbClr val="FF0000"/>
                    </a:solidFill>
                    <a:effectLst/>
                    <a:latin typeface="Helvetica" pitchFamily="2" charset="0"/>
                  </a:rPr>
                  <a:t>SURVIVAL FUNCTION!</a:t>
                </a:r>
              </a:p>
            </p:txBody>
          </p:sp>
        </mc:Choice>
        <mc:Fallback xmlns="">
          <p:sp>
            <p:nvSpPr>
              <p:cNvPr id="3" name="文字方塊 2">
                <a:extLst>
                  <a:ext uri="{FF2B5EF4-FFF2-40B4-BE49-F238E27FC236}">
                    <a16:creationId xmlns:a16="http://schemas.microsoft.com/office/drawing/2014/main" id="{A32F1720-78B7-DDD1-C15E-5C445F19FA5C}"/>
                  </a:ext>
                </a:extLst>
              </p:cNvPr>
              <p:cNvSpPr txBox="1">
                <a:spLocks noRot="1" noChangeAspect="1" noMove="1" noResize="1" noEditPoints="1" noAdjustHandles="1" noChangeArrowheads="1" noChangeShapeType="1" noTextEdit="1"/>
              </p:cNvSpPr>
              <p:nvPr/>
            </p:nvSpPr>
            <p:spPr>
              <a:xfrm>
                <a:off x="1143001" y="977900"/>
                <a:ext cx="12573000" cy="5032853"/>
              </a:xfrm>
              <a:prstGeom prst="rect">
                <a:avLst/>
              </a:prstGeom>
              <a:blipFill>
                <a:blip r:embed="rId4"/>
                <a:stretch>
                  <a:fillRect l="-1111" t="-1256" b="-2764"/>
                </a:stretch>
              </a:blipFill>
            </p:spPr>
            <p:txBody>
              <a:bodyPr/>
              <a:lstStyle/>
              <a:p>
                <a:r>
                  <a:rPr lang="zh-TW" altLang="en-US">
                    <a:noFill/>
                  </a:rPr>
                  <a:t> </a:t>
                </a:r>
              </a:p>
            </p:txBody>
          </p:sp>
        </mc:Fallback>
      </mc:AlternateContent>
      <p:sp>
        <p:nvSpPr>
          <p:cNvPr id="7" name="矩形 6">
            <a:extLst>
              <a:ext uri="{FF2B5EF4-FFF2-40B4-BE49-F238E27FC236}">
                <a16:creationId xmlns:a16="http://schemas.microsoft.com/office/drawing/2014/main" id="{FAC353EC-B77C-EEC3-2690-61C67E2BA169}"/>
              </a:ext>
            </a:extLst>
          </p:cNvPr>
          <p:cNvSpPr/>
          <p:nvPr/>
        </p:nvSpPr>
        <p:spPr>
          <a:xfrm>
            <a:off x="5829301" y="4080971"/>
            <a:ext cx="1600200" cy="609600"/>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TW" altLang="en-US"/>
          </a:p>
        </p:txBody>
      </p:sp>
      <p:pic>
        <p:nvPicPr>
          <p:cNvPr id="1026" name="Picture 2" descr="Statistical Background - ReliaWiki">
            <a:extLst>
              <a:ext uri="{FF2B5EF4-FFF2-40B4-BE49-F238E27FC236}">
                <a16:creationId xmlns:a16="http://schemas.microsoft.com/office/drawing/2014/main" id="{B12A874E-C0EB-E307-9949-8FBDE1FBE6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11066" y="4705480"/>
            <a:ext cx="6505334" cy="4781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613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C955EB0C-79F5-C298-6EF6-D4424F891474}"/>
              </a:ext>
            </a:extLst>
          </p:cNvPr>
          <p:cNvSpPr txBox="1"/>
          <p:nvPr/>
        </p:nvSpPr>
        <p:spPr>
          <a:xfrm>
            <a:off x="3538330" y="3458817"/>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A32F1720-78B7-DDD1-C15E-5C445F19FA5C}"/>
                  </a:ext>
                </a:extLst>
              </p:cNvPr>
              <p:cNvSpPr txBox="1"/>
              <p:nvPr/>
            </p:nvSpPr>
            <p:spPr>
              <a:xfrm>
                <a:off x="1143000" y="965141"/>
                <a:ext cx="12652847" cy="5769015"/>
              </a:xfrm>
              <a:prstGeom prst="rect">
                <a:avLst/>
              </a:prstGeom>
              <a:noFill/>
            </p:spPr>
            <p:txBody>
              <a:bodyPr wrap="square" rtlCol="0">
                <a:spAutoFit/>
              </a:bodyPr>
              <a:lstStyle/>
              <a:p>
                <a:pPr marL="457200" indent="-457200">
                  <a:buFont typeface="Arial" panose="020B0604020202020204" pitchFamily="34" charset="0"/>
                  <a:buChar char="•"/>
                </a:pPr>
                <a:r>
                  <a:rPr lang="en" altLang="zh-TW" sz="3200">
                    <a:solidFill>
                      <a:srgbClr val="000000"/>
                    </a:solidFill>
                    <a:latin typeface="Helvetica" pitchFamily="2" charset="0"/>
                  </a:rPr>
                  <a:t>The cumulative distribution function CDF of failure, F(t) is the complement of R(t), that is</a:t>
                </a:r>
              </a:p>
              <a:p>
                <a:pPr marL="457200" indent="-457200">
                  <a:buFont typeface="Arial" panose="020B0604020202020204" pitchFamily="34" charset="0"/>
                  <a:buChar char="•"/>
                </a:pPr>
                <a:endParaRPr lang="en" altLang="zh-TW" sz="3200">
                  <a:solidFill>
                    <a:srgbClr val="000000"/>
                  </a:solidFill>
                  <a:latin typeface="Helvetica" pitchFamily="2" charset="0"/>
                </a:endParaRPr>
              </a:p>
              <a:p>
                <a:pPr/>
                <a14:m>
                  <m:oMathPara xmlns:m="http://schemas.openxmlformats.org/officeDocument/2006/math">
                    <m:oMathParaPr>
                      <m:jc m:val="centerGroup"/>
                    </m:oMathParaPr>
                    <m:oMath xmlns:m="http://schemas.openxmlformats.org/officeDocument/2006/math">
                      <m:r>
                        <a:rPr lang="en-US" altLang="zh-TW" sz="3200" b="0" i="1" smtClean="0">
                          <a:solidFill>
                            <a:srgbClr val="000000"/>
                          </a:solidFill>
                          <a:effectLst/>
                          <a:latin typeface="Cambria Math" panose="02040503050406030204" pitchFamily="18" charset="0"/>
                        </a:rPr>
                        <m:t>𝑅</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𝐹</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=1</m:t>
                      </m:r>
                    </m:oMath>
                  </m:oMathPara>
                </a14:m>
                <a:br>
                  <a:rPr lang="en-US" altLang="zh-TW" sz="3200" b="0">
                    <a:solidFill>
                      <a:srgbClr val="000000"/>
                    </a:solidFill>
                    <a:effectLst/>
                    <a:latin typeface="Helvetica" pitchFamily="2" charset="0"/>
                  </a:rPr>
                </a:br>
                <a:endParaRPr lang="en" altLang="zh-TW" sz="3200">
                  <a:solidFill>
                    <a:srgbClr val="000000"/>
                  </a:solidFill>
                  <a:effectLst/>
                  <a:latin typeface="Helvetica" pitchFamily="2" charset="0"/>
                </a:endParaRPr>
              </a:p>
              <a:p>
                <a:pPr/>
                <a14:m>
                  <m:oMathPara xmlns:m="http://schemas.openxmlformats.org/officeDocument/2006/math">
                    <m:oMathParaPr>
                      <m:jc m:val="centerGroup"/>
                    </m:oMathParaPr>
                    <m:oMath xmlns:m="http://schemas.openxmlformats.org/officeDocument/2006/math">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𝐹</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=1 − </m:t>
                      </m:r>
                      <m:r>
                        <a:rPr lang="en-US" altLang="zh-TW" sz="3200" b="0" i="1" smtClean="0">
                          <a:solidFill>
                            <a:srgbClr val="000000"/>
                          </a:solidFill>
                          <a:effectLst/>
                          <a:latin typeface="Cambria Math" panose="02040503050406030204" pitchFamily="18" charset="0"/>
                        </a:rPr>
                        <m:t>𝑅</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oMath>
                  </m:oMathPara>
                </a14:m>
                <a:endParaRPr lang="en-US" altLang="zh-TW" sz="3200" b="0">
                  <a:solidFill>
                    <a:srgbClr val="000000"/>
                  </a:solidFill>
                  <a:effectLst/>
                  <a:latin typeface="Helvetica" pitchFamily="2" charset="0"/>
                </a:endParaRPr>
              </a:p>
              <a:p>
                <a:pPr/>
                <a14:m>
                  <m:oMathPara xmlns:m="http://schemas.openxmlformats.org/officeDocument/2006/math">
                    <m:oMathParaPr>
                      <m:jc m:val="centerGroup"/>
                    </m:oMathParaPr>
                    <m:oMath xmlns:m="http://schemas.openxmlformats.org/officeDocument/2006/math">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𝑓</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f>
                        <m:fPr>
                          <m:ctrlPr>
                            <a:rPr lang="en-US" altLang="zh-TW" sz="3200" b="0" i="1" smtClean="0">
                              <a:solidFill>
                                <a:srgbClr val="000000"/>
                              </a:solidFill>
                              <a:effectLst/>
                              <a:latin typeface="Cambria Math" panose="02040503050406030204" pitchFamily="18" charset="0"/>
                            </a:rPr>
                          </m:ctrlPr>
                        </m:fPr>
                        <m:num>
                          <m:r>
                            <a:rPr lang="en-US" altLang="zh-TW" sz="3200" b="0" i="1" smtClean="0">
                              <a:solidFill>
                                <a:srgbClr val="000000"/>
                              </a:solidFill>
                              <a:effectLst/>
                              <a:latin typeface="Cambria Math" panose="02040503050406030204" pitchFamily="18" charset="0"/>
                            </a:rPr>
                            <m:t>𝑑</m:t>
                          </m:r>
                          <m:r>
                            <a:rPr lang="en-US" altLang="zh-TW" sz="3200" b="0" i="1" smtClean="0">
                              <a:solidFill>
                                <a:srgbClr val="000000"/>
                              </a:solidFill>
                              <a:effectLst/>
                              <a:latin typeface="Cambria Math" panose="02040503050406030204" pitchFamily="18" charset="0"/>
                            </a:rPr>
                            <m:t> </m:t>
                          </m:r>
                          <m:r>
                            <a:rPr lang="en-US" altLang="zh-TW" sz="3200" b="0" i="1" smtClean="0">
                              <a:solidFill>
                                <a:srgbClr val="000000"/>
                              </a:solidFill>
                              <a:effectLst/>
                              <a:latin typeface="Cambria Math" panose="02040503050406030204" pitchFamily="18" charset="0"/>
                            </a:rPr>
                            <m:t>𝑅</m:t>
                          </m:r>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m:t>
                          </m:r>
                        </m:num>
                        <m:den>
                          <m:r>
                            <a:rPr lang="en-US" altLang="zh-TW" sz="3200" b="0" i="1" smtClean="0">
                              <a:solidFill>
                                <a:srgbClr val="000000"/>
                              </a:solidFill>
                              <a:effectLst/>
                              <a:latin typeface="Cambria Math" panose="02040503050406030204" pitchFamily="18" charset="0"/>
                            </a:rPr>
                            <m:t>𝑑𝑡</m:t>
                          </m:r>
                        </m:den>
                      </m:f>
                    </m:oMath>
                  </m:oMathPara>
                </a14:m>
                <a:endParaRPr lang="en" altLang="zh-TW" sz="3200">
                  <a:solidFill>
                    <a:srgbClr val="000000"/>
                  </a:solidFill>
                  <a:effectLst/>
                  <a:latin typeface="Helvetica" pitchFamily="2" charset="0"/>
                </a:endParaRPr>
              </a:p>
              <a:p>
                <a:endParaRPr lang="en" altLang="zh-TW" sz="3200">
                  <a:solidFill>
                    <a:srgbClr val="000000"/>
                  </a:solidFill>
                  <a:latin typeface="Helvetica" pitchFamily="2" charset="0"/>
                </a:endParaRPr>
              </a:p>
              <a:p>
                <a:pPr marL="457200" indent="-457200">
                  <a:buFont typeface="Arial" panose="020B0604020202020204" pitchFamily="34" charset="0"/>
                  <a:buChar char="•"/>
                </a:pPr>
                <a:r>
                  <a:rPr lang="en" altLang="zh-TW" sz="3200">
                    <a:solidFill>
                      <a:srgbClr val="000000"/>
                    </a:solidFill>
                    <a:effectLst/>
                    <a:latin typeface="Helvetica" pitchFamily="2" charset="0"/>
                  </a:rPr>
                  <a:t>Mean Time to Failure(MTTF)</a:t>
                </a:r>
              </a:p>
              <a:p>
                <a:pPr/>
                <a14:m>
                  <m:oMathPara xmlns:m="http://schemas.openxmlformats.org/officeDocument/2006/math">
                    <m:oMathParaPr>
                      <m:jc m:val="centerGroup"/>
                    </m:oMathParaPr>
                    <m:oMath xmlns:m="http://schemas.openxmlformats.org/officeDocument/2006/math">
                      <m:r>
                        <a:rPr lang="en-US" altLang="zh-TW" sz="3200" b="0" i="1" smtClean="0">
                          <a:solidFill>
                            <a:srgbClr val="000000"/>
                          </a:solidFill>
                          <a:effectLst/>
                          <a:latin typeface="Cambria Math" panose="02040503050406030204" pitchFamily="18" charset="0"/>
                        </a:rPr>
                        <m:t>𝑀𝑇𝑇𝐹</m:t>
                      </m:r>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𝐸</m:t>
                      </m:r>
                      <m:d>
                        <m:dPr>
                          <m:begChr m:val="["/>
                          <m:endChr m:val="]"/>
                          <m:ctrlPr>
                            <a:rPr lang="en-US" altLang="zh-TW" sz="3200" b="0" i="1" smtClean="0">
                              <a:solidFill>
                                <a:srgbClr val="000000"/>
                              </a:solidFill>
                              <a:effectLst/>
                              <a:latin typeface="Cambria Math" panose="02040503050406030204" pitchFamily="18" charset="0"/>
                            </a:rPr>
                          </m:ctrlPr>
                        </m:dPr>
                        <m:e>
                          <m:r>
                            <m:rPr>
                              <m:sty m:val="p"/>
                            </m:rPr>
                            <a:rPr lang="en-US" altLang="zh-TW" sz="3200" i="1">
                              <a:solidFill>
                                <a:srgbClr val="000000"/>
                              </a:solidFill>
                              <a:latin typeface="Cambria Math" panose="02040503050406030204" pitchFamily="18" charset="0"/>
                            </a:rPr>
                            <m:t>T</m:t>
                          </m:r>
                        </m:e>
                      </m:d>
                      <m:r>
                        <a:rPr lang="en-US" altLang="zh-TW" sz="3200" b="0" i="1" smtClean="0">
                          <a:solidFill>
                            <a:srgbClr val="000000"/>
                          </a:solidFill>
                          <a:effectLst/>
                          <a:latin typeface="Cambria Math" panose="02040503050406030204" pitchFamily="18" charset="0"/>
                        </a:rPr>
                        <m:t>= </m:t>
                      </m:r>
                      <m:nary>
                        <m:naryPr>
                          <m:limLoc m:val="undOvr"/>
                          <m:subHide m:val="on"/>
                          <m:supHide m:val="on"/>
                          <m:ctrlPr>
                            <a:rPr lang="en-US" altLang="zh-TW" sz="3200" b="0" i="1" smtClean="0">
                              <a:solidFill>
                                <a:srgbClr val="000000"/>
                              </a:solidFill>
                              <a:effectLst/>
                              <a:latin typeface="Cambria Math" panose="02040503050406030204" pitchFamily="18" charset="0"/>
                            </a:rPr>
                          </m:ctrlPr>
                        </m:naryPr>
                        <m:sub/>
                        <m:sup/>
                        <m:e>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 </m:t>
                          </m:r>
                          <m:r>
                            <a:rPr lang="en-US" altLang="zh-TW" sz="3200" b="0" i="1" smtClean="0">
                              <a:solidFill>
                                <a:srgbClr val="000000"/>
                              </a:solidFill>
                              <a:effectLst/>
                              <a:latin typeface="Cambria Math" panose="02040503050406030204" pitchFamily="18" charset="0"/>
                            </a:rPr>
                            <m:t>𝑓</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 </m:t>
                          </m:r>
                          <m:r>
                            <a:rPr lang="en-US" altLang="zh-TW" sz="3200" b="0" i="1" smtClean="0">
                              <a:solidFill>
                                <a:srgbClr val="000000"/>
                              </a:solidFill>
                              <a:effectLst/>
                              <a:latin typeface="Cambria Math" panose="02040503050406030204" pitchFamily="18" charset="0"/>
                            </a:rPr>
                            <m:t>𝑑𝑡</m:t>
                          </m:r>
                        </m:e>
                      </m:nary>
                    </m:oMath>
                  </m:oMathPara>
                </a14:m>
                <a:endParaRPr lang="en" altLang="zh-TW" sz="3200">
                  <a:solidFill>
                    <a:srgbClr val="000000"/>
                  </a:solidFill>
                  <a:effectLst/>
                  <a:latin typeface="Helvetica" pitchFamily="2" charset="0"/>
                </a:endParaRPr>
              </a:p>
            </p:txBody>
          </p:sp>
        </mc:Choice>
        <mc:Fallback xmlns="">
          <p:sp>
            <p:nvSpPr>
              <p:cNvPr id="3" name="文字方塊 2">
                <a:extLst>
                  <a:ext uri="{FF2B5EF4-FFF2-40B4-BE49-F238E27FC236}">
                    <a16:creationId xmlns:a16="http://schemas.microsoft.com/office/drawing/2014/main" id="{A32F1720-78B7-DDD1-C15E-5C445F19FA5C}"/>
                  </a:ext>
                </a:extLst>
              </p:cNvPr>
              <p:cNvSpPr txBox="1">
                <a:spLocks noRot="1" noChangeAspect="1" noMove="1" noResize="1" noEditPoints="1" noAdjustHandles="1" noChangeArrowheads="1" noChangeShapeType="1" noTextEdit="1"/>
              </p:cNvSpPr>
              <p:nvPr/>
            </p:nvSpPr>
            <p:spPr>
              <a:xfrm>
                <a:off x="1143000" y="965141"/>
                <a:ext cx="12652847" cy="5769015"/>
              </a:xfrm>
              <a:prstGeom prst="rect">
                <a:avLst/>
              </a:prstGeom>
              <a:blipFill>
                <a:blip r:embed="rId4"/>
                <a:stretch>
                  <a:fillRect l="-1108" t="-1373"/>
                </a:stretch>
              </a:blipFill>
            </p:spPr>
            <p:txBody>
              <a:bodyPr/>
              <a:lstStyle/>
              <a:p>
                <a:r>
                  <a:rPr lang="en-US">
                    <a:noFill/>
                  </a:rPr>
                  <a:t> </a:t>
                </a:r>
              </a:p>
            </p:txBody>
          </p:sp>
        </mc:Fallback>
      </mc:AlternateContent>
    </p:spTree>
    <p:extLst>
      <p:ext uri="{BB962C8B-B14F-4D97-AF65-F5344CB8AC3E}">
        <p14:creationId xmlns:p14="http://schemas.microsoft.com/office/powerpoint/2010/main" val="275730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a:spLocks noGrp="1" noRot="1" noMove="1" noResize="1" noEditPoints="1" noAdjustHandles="1" noChangeArrowheads="1" noChangeShapeType="1"/>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1600200" y="883503"/>
            <a:ext cx="8610600" cy="830997"/>
          </a:xfrm>
          <a:prstGeom prst="rect">
            <a:avLst/>
          </a:prstGeom>
          <a:noFill/>
        </p:spPr>
        <p:txBody>
          <a:bodyPr wrap="square">
            <a:spAutoFit/>
          </a:bodyPr>
          <a:lstStyle/>
          <a:p>
            <a:r>
              <a:rPr lang="en" altLang="zh-TW" sz="4800" b="1">
                <a:solidFill>
                  <a:srgbClr val="000000"/>
                </a:solidFill>
                <a:effectLst/>
                <a:latin typeface="+mj-lt"/>
              </a:rPr>
              <a:t>Failure Rate</a:t>
            </a: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1600200" y="1996500"/>
                <a:ext cx="13543721" cy="2851935"/>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latin typeface="Helvetica" pitchFamily="2" charset="0"/>
                  </a:rPr>
                  <a:t>Failure Rate is defined as the probability that a failure occurs in the interval </a:t>
                </a:r>
                <a:r>
                  <a:rPr lang="en" altLang="zh-TW" sz="3200" u="sng">
                    <a:solidFill>
                      <a:srgbClr val="FF0000"/>
                    </a:solidFill>
                    <a:effectLst/>
                    <a:latin typeface="Helvetica" pitchFamily="2" charset="0"/>
                  </a:rPr>
                  <a:t>given that no failure occurred prior to t</a:t>
                </a:r>
              </a:p>
              <a:p>
                <a:pPr>
                  <a:lnSpc>
                    <a:spcPct val="130000"/>
                  </a:lnSpc>
                </a:pPr>
                <a14:m>
                  <m:oMathPara xmlns:m="http://schemas.openxmlformats.org/officeDocument/2006/math">
                    <m:oMathParaPr>
                      <m:jc m:val="centerGroup"/>
                    </m:oMathParaPr>
                    <m:oMath xmlns:m="http://schemas.openxmlformats.org/officeDocument/2006/math">
                      <m:r>
                        <a:rPr lang="en-US" altLang="zh-TW" sz="3200" b="0" i="1" smtClean="0">
                          <a:effectLst/>
                          <a:latin typeface="Cambria Math" panose="02040503050406030204" pitchFamily="18" charset="0"/>
                        </a:rPr>
                        <m:t>𝑃</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𝐹𝑎𝑖𝑙𝑢𝑟𝑒</m:t>
                          </m:r>
                        </m:e>
                        <m:e>
                          <m:r>
                            <a:rPr lang="en-US" altLang="zh-TW" sz="3200" b="0" i="1" smtClean="0">
                              <a:effectLst/>
                              <a:latin typeface="Cambria Math" panose="02040503050406030204" pitchFamily="18" charset="0"/>
                            </a:rPr>
                            <m:t>𝑇</m:t>
                          </m:r>
                          <m:r>
                            <a:rPr lang="en-US" altLang="zh-TW" sz="3200" b="0" i="1" smtClean="0">
                              <a:effectLst/>
                              <a:latin typeface="Cambria Math" panose="02040503050406030204" pitchFamily="18" charset="0"/>
                            </a:rPr>
                            <m:t>=</m:t>
                          </m:r>
                          <m:r>
                            <a:rPr lang="en-US" altLang="zh-TW" sz="3200" b="0" i="1" smtClean="0">
                              <a:effectLst/>
                              <a:latin typeface="Cambria Math" panose="02040503050406030204" pitchFamily="18" charset="0"/>
                            </a:rPr>
                            <m:t>𝑡</m:t>
                          </m:r>
                        </m:e>
                      </m:d>
                      <m:r>
                        <a:rPr lang="en-US" altLang="zh-TW" sz="3200" b="0" i="1" smtClean="0">
                          <a:effectLst/>
                          <a:latin typeface="Cambria Math" panose="02040503050406030204" pitchFamily="18" charset="0"/>
                        </a:rPr>
                        <m:t>= </m:t>
                      </m:r>
                      <m:f>
                        <m:fPr>
                          <m:ctrlPr>
                            <a:rPr lang="en-US" altLang="zh-TW" sz="3200" b="0" i="1" smtClean="0">
                              <a:effectLst/>
                              <a:latin typeface="Cambria Math" panose="02040503050406030204" pitchFamily="18" charset="0"/>
                            </a:rPr>
                          </m:ctrlPr>
                        </m:fPr>
                        <m:num>
                          <m:f>
                            <m:fPr>
                              <m:ctrlPr>
                                <a:rPr lang="en-US" altLang="zh-TW" sz="3200" b="0" i="1" smtClean="0">
                                  <a:effectLst/>
                                  <a:latin typeface="Cambria Math" panose="02040503050406030204" pitchFamily="18" charset="0"/>
                                </a:rPr>
                              </m:ctrlPr>
                            </m:fPr>
                            <m:num>
                              <m:r>
                                <a:rPr lang="en-US" altLang="zh-TW" sz="3200" b="0" i="1" smtClean="0">
                                  <a:effectLst/>
                                  <a:latin typeface="Cambria Math" panose="02040503050406030204" pitchFamily="18" charset="0"/>
                                </a:rPr>
                                <m:t>𝑅</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𝑡</m:t>
                                  </m:r>
                                </m:e>
                              </m:d>
                              <m:r>
                                <a:rPr lang="en-US" altLang="zh-TW" sz="3200" b="0" i="1" smtClean="0">
                                  <a:effectLst/>
                                  <a:latin typeface="Cambria Math" panose="02040503050406030204" pitchFamily="18" charset="0"/>
                                </a:rPr>
                                <m:t>− </m:t>
                              </m:r>
                              <m:r>
                                <a:rPr lang="en-US" altLang="zh-TW" sz="3200" b="0" i="1" smtClean="0">
                                  <a:effectLst/>
                                  <a:latin typeface="Cambria Math" panose="02040503050406030204" pitchFamily="18" charset="0"/>
                                </a:rPr>
                                <m:t>𝑅</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𝑡</m:t>
                                  </m:r>
                                  <m:r>
                                    <a:rPr lang="en-US" altLang="zh-TW" sz="3200" b="0" i="0" smtClean="0">
                                      <a:effectLst/>
                                      <a:latin typeface="Cambria Math" panose="02040503050406030204" pitchFamily="18" charset="0"/>
                                    </a:rPr>
                                    <m:t>+</m:t>
                                  </m:r>
                                  <m:r>
                                    <m:rPr>
                                      <m:sty m:val="p"/>
                                    </m:rPr>
                                    <a:rPr lang="en-US" altLang="zh-TW" sz="3200" b="0" i="0" smtClean="0">
                                      <a:effectLst/>
                                      <a:latin typeface="Cambria Math" panose="02040503050406030204" pitchFamily="18" charset="0"/>
                                    </a:rPr>
                                    <m:t>Δ</m:t>
                                  </m:r>
                                  <m:r>
                                    <a:rPr lang="en-US" altLang="zh-TW" sz="3200" b="0" i="1" smtClean="0">
                                      <a:effectLst/>
                                      <a:latin typeface="Cambria Math" panose="02040503050406030204" pitchFamily="18" charset="0"/>
                                    </a:rPr>
                                    <m:t>𝑡</m:t>
                                  </m:r>
                                </m:e>
                              </m:d>
                            </m:num>
                            <m:den>
                              <m:r>
                                <m:rPr>
                                  <m:sty m:val="p"/>
                                </m:rPr>
                                <a:rPr lang="en-US" altLang="zh-TW" sz="3200" b="0" i="0" smtClean="0">
                                  <a:effectLst/>
                                  <a:latin typeface="Cambria Math" panose="02040503050406030204" pitchFamily="18" charset="0"/>
                                </a:rPr>
                                <m:t>Δ</m:t>
                              </m:r>
                              <m:r>
                                <a:rPr lang="en-US" altLang="zh-TW" sz="3200" b="0" i="1" smtClean="0">
                                  <a:effectLst/>
                                  <a:latin typeface="Cambria Math" panose="02040503050406030204" pitchFamily="18" charset="0"/>
                                </a:rPr>
                                <m:t>𝑡</m:t>
                              </m:r>
                            </m:den>
                          </m:f>
                        </m:num>
                        <m:den>
                          <m:r>
                            <a:rPr lang="en-US" altLang="zh-TW" sz="3200" b="0" i="1" smtClean="0">
                              <a:effectLst/>
                              <a:latin typeface="Cambria Math" panose="02040503050406030204" pitchFamily="18" charset="0"/>
                            </a:rPr>
                            <m:t>𝑅</m:t>
                          </m:r>
                          <m:r>
                            <a:rPr lang="en-US" altLang="zh-TW" sz="3200" b="0" i="1" smtClean="0">
                              <a:effectLst/>
                              <a:latin typeface="Cambria Math" panose="02040503050406030204" pitchFamily="18" charset="0"/>
                            </a:rPr>
                            <m:t>(</m:t>
                          </m:r>
                          <m:r>
                            <a:rPr lang="en-US" altLang="zh-TW" sz="3200" b="0" i="1" smtClean="0">
                              <a:effectLst/>
                              <a:latin typeface="Cambria Math" panose="02040503050406030204" pitchFamily="18" charset="0"/>
                            </a:rPr>
                            <m:t>𝑡</m:t>
                          </m:r>
                          <m:r>
                            <a:rPr lang="en-US" altLang="zh-TW" sz="3200" b="0" i="1" smtClean="0">
                              <a:effectLst/>
                              <a:latin typeface="Cambria Math" panose="02040503050406030204" pitchFamily="18" charset="0"/>
                            </a:rPr>
                            <m:t>)</m:t>
                          </m:r>
                        </m:den>
                      </m:f>
                    </m:oMath>
                  </m:oMathPara>
                </a14:m>
                <a:endParaRPr lang="en" altLang="zh-TW" sz="3200">
                  <a:effectLst/>
                  <a:latin typeface="Helvetica" pitchFamily="2" charset="0"/>
                </a:endParaRP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1600200" y="1996500"/>
                <a:ext cx="13543721" cy="2851935"/>
              </a:xfrm>
              <a:prstGeom prst="rect">
                <a:avLst/>
              </a:prstGeom>
              <a:blipFill>
                <a:blip r:embed="rId6"/>
                <a:stretch>
                  <a:fillRect l="-1031" t="-2667" b="-889"/>
                </a:stretch>
              </a:blipFill>
            </p:spPr>
            <p:txBody>
              <a:bodyPr/>
              <a:lstStyle/>
              <a:p>
                <a:r>
                  <a:rPr lang="zh-TW" altLang="en-US">
                    <a:noFill/>
                  </a:rPr>
                  <a:t> </a:t>
                </a:r>
              </a:p>
            </p:txBody>
          </p:sp>
        </mc:Fallback>
      </mc:AlternateContent>
      <p:sp>
        <p:nvSpPr>
          <p:cNvPr id="3" name="文字方塊 2">
            <a:extLst>
              <a:ext uri="{FF2B5EF4-FFF2-40B4-BE49-F238E27FC236}">
                <a16:creationId xmlns:a16="http://schemas.microsoft.com/office/drawing/2014/main" id="{F7763D39-B17E-B119-5FAF-4C33FAAF1EBB}"/>
              </a:ext>
            </a:extLst>
          </p:cNvPr>
          <p:cNvSpPr txBox="1"/>
          <p:nvPr/>
        </p:nvSpPr>
        <p:spPr>
          <a:xfrm>
            <a:off x="1524000" y="4797736"/>
            <a:ext cx="8610600" cy="830997"/>
          </a:xfrm>
          <a:prstGeom prst="rect">
            <a:avLst/>
          </a:prstGeom>
          <a:noFill/>
        </p:spPr>
        <p:txBody>
          <a:bodyPr wrap="square">
            <a:spAutoFit/>
          </a:bodyPr>
          <a:lstStyle/>
          <a:p>
            <a:r>
              <a:rPr lang="en" altLang="zh-TW" sz="4800" b="1">
                <a:solidFill>
                  <a:srgbClr val="000000"/>
                </a:solidFill>
                <a:effectLst/>
                <a:latin typeface="+mj-lt"/>
              </a:rPr>
              <a:t>Hazard Rate</a:t>
            </a: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A452E23B-8C89-E166-0522-05B20D614404}"/>
                  </a:ext>
                </a:extLst>
              </p:cNvPr>
              <p:cNvSpPr txBox="1"/>
              <p:nvPr/>
            </p:nvSpPr>
            <p:spPr>
              <a:xfrm>
                <a:off x="1524000" y="5910733"/>
                <a:ext cx="14020800" cy="3599255"/>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latin typeface="Helvetica" pitchFamily="2" charset="0"/>
                  </a:rPr>
                  <a:t>Hazard Function is defined as the limit of the failure rate as ∆t approaches zero, i.e., it is the </a:t>
                </a:r>
                <a:r>
                  <a:rPr lang="en" altLang="zh-TW" sz="3200">
                    <a:solidFill>
                      <a:srgbClr val="FF0000"/>
                    </a:solidFill>
                    <a:effectLst/>
                    <a:latin typeface="Helvetica" pitchFamily="2" charset="0"/>
                  </a:rPr>
                  <a:t>instantaneous</a:t>
                </a:r>
                <a:r>
                  <a:rPr lang="en" altLang="zh-TW" sz="3200">
                    <a:solidFill>
                      <a:srgbClr val="000000"/>
                    </a:solidFill>
                    <a:effectLst/>
                    <a:latin typeface="Helvetica" pitchFamily="2" charset="0"/>
                  </a:rPr>
                  <a:t> Failure Rate</a:t>
                </a:r>
                <a:endParaRPr lang="en" altLang="zh-TW" sz="3200">
                  <a:solidFill>
                    <a:srgbClr val="FF0000"/>
                  </a:solidFill>
                  <a:effectLst/>
                  <a:latin typeface="Helvetica" pitchFamily="2" charset="0"/>
                </a:endParaRPr>
              </a:p>
              <a:p>
                <a:pPr>
                  <a:lnSpc>
                    <a:spcPct val="130000"/>
                  </a:lnSpc>
                </a:pPr>
                <a14:m>
                  <m:oMathPara xmlns:m="http://schemas.openxmlformats.org/officeDocument/2006/math">
                    <m:oMathParaPr>
                      <m:jc m:val="centerGroup"/>
                    </m:oMathParaPr>
                    <m:oMath xmlns:m="http://schemas.openxmlformats.org/officeDocument/2006/math">
                      <m:r>
                        <a:rPr lang="en-US" altLang="zh-TW" sz="3200" b="0" i="1" smtClean="0">
                          <a:effectLst/>
                          <a:latin typeface="Cambria Math" panose="02040503050406030204" pitchFamily="18" charset="0"/>
                        </a:rPr>
                        <m:t>𝜆</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𝑡</m:t>
                          </m:r>
                        </m:e>
                      </m:d>
                      <m:r>
                        <a:rPr lang="en-US" altLang="zh-TW" sz="3200" b="0" i="1" smtClean="0">
                          <a:effectLst/>
                          <a:latin typeface="Cambria Math" panose="02040503050406030204" pitchFamily="18" charset="0"/>
                        </a:rPr>
                        <m:t>= </m:t>
                      </m:r>
                      <m:func>
                        <m:funcPr>
                          <m:ctrlPr>
                            <a:rPr lang="en-US" altLang="zh-TW" sz="3200" b="0" i="1" smtClean="0">
                              <a:effectLst/>
                              <a:latin typeface="Cambria Math" panose="02040503050406030204" pitchFamily="18" charset="0"/>
                            </a:rPr>
                          </m:ctrlPr>
                        </m:funcPr>
                        <m:fName>
                          <m:limLow>
                            <m:limLowPr>
                              <m:ctrlPr>
                                <a:rPr lang="en-US" altLang="zh-TW" sz="3200" b="0" i="1" smtClean="0">
                                  <a:effectLst/>
                                  <a:latin typeface="Cambria Math" panose="02040503050406030204" pitchFamily="18" charset="0"/>
                                </a:rPr>
                              </m:ctrlPr>
                            </m:limLowPr>
                            <m:e>
                              <m:r>
                                <m:rPr>
                                  <m:sty m:val="p"/>
                                </m:rPr>
                                <a:rPr lang="en-US" altLang="zh-TW" sz="3200" b="0" i="0" smtClean="0">
                                  <a:effectLst/>
                                  <a:latin typeface="Cambria Math" panose="02040503050406030204" pitchFamily="18" charset="0"/>
                                </a:rPr>
                                <m:t>lim</m:t>
                              </m:r>
                            </m:e>
                            <m:lim>
                              <m:r>
                                <m:rPr>
                                  <m:sty m:val="p"/>
                                </m:rPr>
                                <a:rPr lang="en-US" altLang="zh-TW" sz="3200" b="0" i="0" smtClean="0">
                                  <a:effectLst/>
                                  <a:latin typeface="Cambria Math" panose="02040503050406030204" pitchFamily="18" charset="0"/>
                                </a:rPr>
                                <m:t>Δ</m:t>
                              </m:r>
                              <m:r>
                                <a:rPr lang="en-US" altLang="zh-TW" sz="3200" b="0" i="1" smtClean="0">
                                  <a:effectLst/>
                                  <a:latin typeface="Cambria Math" panose="02040503050406030204" pitchFamily="18" charset="0"/>
                                </a:rPr>
                                <m:t>𝑡</m:t>
                              </m:r>
                              <m:r>
                                <a:rPr lang="en-US" altLang="zh-TW" sz="3200" b="0" i="1" smtClean="0">
                                  <a:effectLst/>
                                  <a:latin typeface="Cambria Math" panose="02040503050406030204" pitchFamily="18" charset="0"/>
                                </a:rPr>
                                <m:t>→0</m:t>
                              </m:r>
                            </m:lim>
                          </m:limLow>
                        </m:fName>
                        <m:e>
                          <m:f>
                            <m:fPr>
                              <m:ctrlPr>
                                <a:rPr lang="en-US" altLang="zh-TW" sz="3200" i="1">
                                  <a:latin typeface="Cambria Math" panose="02040503050406030204" pitchFamily="18" charset="0"/>
                                </a:rPr>
                              </m:ctrlPr>
                            </m:fPr>
                            <m:num>
                              <m:r>
                                <a:rPr lang="en-US" altLang="zh-TW" sz="3200" i="1">
                                  <a:latin typeface="Cambria Math" panose="02040503050406030204" pitchFamily="18" charset="0"/>
                                </a:rPr>
                                <m:t>𝑅</m:t>
                              </m:r>
                              <m:d>
                                <m:dPr>
                                  <m:ctrlPr>
                                    <a:rPr lang="en-US" altLang="zh-TW" sz="3200" i="1">
                                      <a:latin typeface="Cambria Math" panose="02040503050406030204" pitchFamily="18" charset="0"/>
                                    </a:rPr>
                                  </m:ctrlPr>
                                </m:dPr>
                                <m:e>
                                  <m:r>
                                    <a:rPr lang="en-US" altLang="zh-TW" sz="3200" i="1">
                                      <a:latin typeface="Cambria Math" panose="02040503050406030204" pitchFamily="18" charset="0"/>
                                    </a:rPr>
                                    <m:t>𝑡</m:t>
                                  </m:r>
                                </m:e>
                              </m:d>
                              <m:r>
                                <a:rPr lang="en-US" altLang="zh-TW" sz="3200" i="1">
                                  <a:latin typeface="Cambria Math" panose="02040503050406030204" pitchFamily="18" charset="0"/>
                                </a:rPr>
                                <m:t>− </m:t>
                              </m:r>
                              <m:r>
                                <a:rPr lang="en-US" altLang="zh-TW" sz="3200" i="1">
                                  <a:latin typeface="Cambria Math" panose="02040503050406030204" pitchFamily="18" charset="0"/>
                                </a:rPr>
                                <m:t>𝑅</m:t>
                              </m:r>
                              <m:d>
                                <m:dPr>
                                  <m:ctrlPr>
                                    <a:rPr lang="en-US" altLang="zh-TW" sz="3200" i="1">
                                      <a:latin typeface="Cambria Math" panose="02040503050406030204" pitchFamily="18" charset="0"/>
                                    </a:rPr>
                                  </m:ctrlPr>
                                </m:dPr>
                                <m:e>
                                  <m:r>
                                    <a:rPr lang="en-US" altLang="zh-TW" sz="3200" i="1">
                                      <a:latin typeface="Cambria Math" panose="02040503050406030204" pitchFamily="18" charset="0"/>
                                    </a:rPr>
                                    <m:t>𝑡</m:t>
                                  </m:r>
                                  <m:r>
                                    <a:rPr lang="en-US" altLang="zh-TW" sz="3200">
                                      <a:latin typeface="Cambria Math" panose="02040503050406030204" pitchFamily="18" charset="0"/>
                                    </a:rPr>
                                    <m:t>+</m:t>
                                  </m:r>
                                  <m:r>
                                    <m:rPr>
                                      <m:sty m:val="p"/>
                                    </m:rPr>
                                    <a:rPr lang="en-US" altLang="zh-TW" sz="3200">
                                      <a:latin typeface="Cambria Math" panose="02040503050406030204" pitchFamily="18" charset="0"/>
                                    </a:rPr>
                                    <m:t>Δ</m:t>
                                  </m:r>
                                  <m:r>
                                    <a:rPr lang="en-US" altLang="zh-TW" sz="3200" i="1">
                                      <a:latin typeface="Cambria Math" panose="02040503050406030204" pitchFamily="18" charset="0"/>
                                    </a:rPr>
                                    <m:t>𝑡</m:t>
                                  </m:r>
                                </m:e>
                              </m:d>
                            </m:num>
                            <m:den>
                              <m:r>
                                <m:rPr>
                                  <m:sty m:val="p"/>
                                </m:rPr>
                                <a:rPr lang="en-US" altLang="zh-TW" sz="3200" b="0" i="0" smtClean="0">
                                  <a:latin typeface="Cambria Math" panose="02040503050406030204" pitchFamily="18" charset="0"/>
                                </a:rPr>
                                <m:t>Δ</m:t>
                              </m:r>
                              <m:r>
                                <a:rPr lang="en-US" altLang="zh-TW" sz="3200" b="0" i="1" smtClean="0">
                                  <a:latin typeface="Cambria Math" panose="02040503050406030204" pitchFamily="18" charset="0"/>
                                </a:rPr>
                                <m:t>𝑡𝑅</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𝑡</m:t>
                                  </m:r>
                                </m:e>
                              </m:d>
                            </m:den>
                          </m:f>
                        </m:e>
                      </m:func>
                      <m:r>
                        <a:rPr lang="en-US" altLang="zh-TW" sz="3200" b="0" i="1" smtClean="0">
                          <a:effectLst/>
                          <a:latin typeface="Cambria Math" panose="02040503050406030204" pitchFamily="18" charset="0"/>
                        </a:rPr>
                        <m:t>=</m:t>
                      </m:r>
                      <m:limLow>
                        <m:limLowPr>
                          <m:ctrlPr>
                            <a:rPr lang="en-US" altLang="zh-TW" sz="3200" i="1">
                              <a:latin typeface="Cambria Math" panose="02040503050406030204" pitchFamily="18" charset="0"/>
                            </a:rPr>
                          </m:ctrlPr>
                        </m:limLowPr>
                        <m:e>
                          <m:r>
                            <m:rPr>
                              <m:sty m:val="p"/>
                            </m:rPr>
                            <a:rPr lang="en-US" altLang="zh-TW" sz="3200">
                              <a:latin typeface="Cambria Math" panose="02040503050406030204" pitchFamily="18" charset="0"/>
                            </a:rPr>
                            <m:t>lim</m:t>
                          </m:r>
                        </m:e>
                        <m:lim>
                          <m:r>
                            <m:rPr>
                              <m:sty m:val="p"/>
                            </m:rPr>
                            <a:rPr lang="en-US" altLang="zh-TW" sz="3200">
                              <a:latin typeface="Cambria Math" panose="02040503050406030204" pitchFamily="18" charset="0"/>
                            </a:rPr>
                            <m:t>Δ</m:t>
                          </m:r>
                          <m:r>
                            <a:rPr lang="en-US" altLang="zh-TW" sz="3200" i="1">
                              <a:latin typeface="Cambria Math" panose="02040503050406030204" pitchFamily="18" charset="0"/>
                            </a:rPr>
                            <m:t>𝑡</m:t>
                          </m:r>
                          <m:r>
                            <a:rPr lang="en-US" altLang="zh-TW" sz="3200" i="1">
                              <a:latin typeface="Cambria Math" panose="02040503050406030204" pitchFamily="18" charset="0"/>
                            </a:rPr>
                            <m:t>→0</m:t>
                          </m:r>
                        </m:lim>
                      </m:limLow>
                      <m:f>
                        <m:fPr>
                          <m:ctrlPr>
                            <a:rPr lang="en-US" altLang="zh-TW" sz="3200" b="0" i="1" smtClean="0">
                              <a:latin typeface="Cambria Math" panose="02040503050406030204" pitchFamily="18" charset="0"/>
                            </a:rPr>
                          </m:ctrlPr>
                        </m:fPr>
                        <m:num>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𝑅</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𝑡</m:t>
                              </m:r>
                              <m:r>
                                <a:rPr lang="en-US" altLang="zh-TW" sz="3200" b="0" i="1" smtClean="0">
                                  <a:latin typeface="Cambria Math" panose="02040503050406030204" pitchFamily="18" charset="0"/>
                                </a:rPr>
                                <m:t>+</m:t>
                              </m:r>
                              <m:r>
                                <m:rPr>
                                  <m:sty m:val="p"/>
                                </m:rPr>
                                <a:rPr lang="en-US" altLang="zh-TW" sz="3200" b="0" i="0" smtClean="0">
                                  <a:latin typeface="Cambria Math" panose="02040503050406030204" pitchFamily="18" charset="0"/>
                                </a:rPr>
                                <m:t>Δ</m:t>
                              </m:r>
                              <m:r>
                                <a:rPr lang="en-US" altLang="zh-TW" sz="3200" b="0" i="1" smtClean="0">
                                  <a:latin typeface="Cambria Math" panose="02040503050406030204" pitchFamily="18" charset="0"/>
                                </a:rPr>
                                <m:t>𝑡</m:t>
                              </m:r>
                            </m:e>
                          </m:d>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𝑅</m:t>
                          </m:r>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𝑡</m:t>
                          </m:r>
                          <m:r>
                            <a:rPr lang="en-US" altLang="zh-TW" sz="3200" b="0" i="1" smtClean="0">
                              <a:latin typeface="Cambria Math" panose="02040503050406030204" pitchFamily="18" charset="0"/>
                            </a:rPr>
                            <m:t>)]</m:t>
                          </m:r>
                        </m:num>
                        <m:den>
                          <m:r>
                            <m:rPr>
                              <m:sty m:val="p"/>
                            </m:rPr>
                            <a:rPr lang="en-US" altLang="zh-TW" sz="3200" b="0" i="0" smtClean="0">
                              <a:latin typeface="Cambria Math" panose="02040503050406030204" pitchFamily="18" charset="0"/>
                            </a:rPr>
                            <m:t>Δ</m:t>
                          </m:r>
                          <m:r>
                            <a:rPr lang="en-US" altLang="zh-TW" sz="3200" b="0" i="1" smtClean="0">
                              <a:latin typeface="Cambria Math" panose="02040503050406030204" pitchFamily="18" charset="0"/>
                            </a:rPr>
                            <m:t>𝑡</m:t>
                          </m:r>
                        </m:den>
                      </m:f>
                      <m:f>
                        <m:fPr>
                          <m:ctrlPr>
                            <a:rPr lang="en-US" altLang="zh-TW" sz="3200" b="0" i="1" smtClean="0">
                              <a:latin typeface="Cambria Math" panose="02040503050406030204" pitchFamily="18" charset="0"/>
                            </a:rPr>
                          </m:ctrlPr>
                        </m:fPr>
                        <m:num>
                          <m:r>
                            <a:rPr lang="en-US" altLang="zh-TW" sz="3200" b="0" i="1" smtClean="0">
                              <a:latin typeface="Cambria Math" panose="02040503050406030204" pitchFamily="18" charset="0"/>
                            </a:rPr>
                            <m:t>1</m:t>
                          </m:r>
                        </m:num>
                        <m:den>
                          <m:r>
                            <a:rPr lang="en-US" altLang="zh-TW" sz="3200" b="0" i="1" smtClean="0">
                              <a:latin typeface="Cambria Math" panose="02040503050406030204" pitchFamily="18" charset="0"/>
                            </a:rPr>
                            <m:t>𝑅</m:t>
                          </m:r>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𝑡</m:t>
                          </m:r>
                          <m:r>
                            <a:rPr lang="en-US" altLang="zh-TW" sz="3200" b="0" i="1" smtClean="0">
                              <a:latin typeface="Cambria Math" panose="02040503050406030204" pitchFamily="18" charset="0"/>
                            </a:rPr>
                            <m:t>)</m:t>
                          </m:r>
                        </m:den>
                      </m:f>
                    </m:oMath>
                  </m:oMathPara>
                </a14:m>
                <a:endParaRPr lang="en" altLang="zh-TW" sz="3200" b="0">
                  <a:latin typeface="Helvetica" pitchFamily="2" charset="0"/>
                </a:endParaRPr>
              </a:p>
              <a:p>
                <a:pPr>
                  <a:lnSpc>
                    <a:spcPct val="130000"/>
                  </a:lnSpc>
                </a:pPr>
                <a:r>
                  <a:rPr lang="en" altLang="zh-TW" sz="3600">
                    <a:latin typeface="Helvetica" pitchFamily="2" charset="0"/>
                  </a:rPr>
                  <a:t>		    </a:t>
                </a:r>
                <a14:m>
                  <m:oMath xmlns:m="http://schemas.openxmlformats.org/officeDocument/2006/math">
                    <m:r>
                      <a:rPr lang="en-US" altLang="zh-TW" sz="3600" b="0" i="1" smtClean="0">
                        <a:latin typeface="Cambria Math" panose="02040503050406030204" pitchFamily="18" charset="0"/>
                      </a:rPr>
                      <m:t>=−</m:t>
                    </m:r>
                    <m:f>
                      <m:fPr>
                        <m:ctrlPr>
                          <a:rPr lang="en-US" altLang="zh-TW" sz="3600" b="0" i="1" smtClean="0">
                            <a:latin typeface="Cambria Math" panose="02040503050406030204" pitchFamily="18" charset="0"/>
                          </a:rPr>
                        </m:ctrlPr>
                      </m:fPr>
                      <m:num>
                        <m:r>
                          <a:rPr lang="en-US" altLang="zh-TW" sz="3600" b="0" i="1" smtClean="0">
                            <a:latin typeface="Cambria Math" panose="02040503050406030204" pitchFamily="18" charset="0"/>
                          </a:rPr>
                          <m:t>𝑑</m:t>
                        </m:r>
                        <m:r>
                          <a:rPr lang="en-US" altLang="zh-TW" sz="3600" b="0" i="1" smtClean="0">
                            <a:latin typeface="Cambria Math" panose="02040503050406030204" pitchFamily="18" charset="0"/>
                          </a:rPr>
                          <m:t> </m:t>
                        </m:r>
                        <m:r>
                          <a:rPr lang="en-US" altLang="zh-TW" sz="3600" b="0" i="1" smtClean="0">
                            <a:latin typeface="Cambria Math" panose="02040503050406030204" pitchFamily="18" charset="0"/>
                          </a:rPr>
                          <m:t>𝑅</m:t>
                        </m:r>
                        <m:d>
                          <m:dPr>
                            <m:ctrlPr>
                              <a:rPr lang="en-US" altLang="zh-TW" sz="3600" b="0" i="1" smtClean="0">
                                <a:latin typeface="Cambria Math" panose="02040503050406030204" pitchFamily="18" charset="0"/>
                              </a:rPr>
                            </m:ctrlPr>
                          </m:dPr>
                          <m:e>
                            <m:r>
                              <a:rPr lang="en-US" altLang="zh-TW" sz="3600" b="0" i="1" smtClean="0">
                                <a:latin typeface="Cambria Math" panose="02040503050406030204" pitchFamily="18" charset="0"/>
                              </a:rPr>
                              <m:t>𝑡</m:t>
                            </m:r>
                          </m:e>
                        </m:d>
                      </m:num>
                      <m:den>
                        <m:r>
                          <a:rPr lang="en-US" altLang="zh-TW" sz="3600" b="0" i="1" smtClean="0">
                            <a:latin typeface="Cambria Math" panose="02040503050406030204" pitchFamily="18" charset="0"/>
                          </a:rPr>
                          <m:t>𝑑𝑡</m:t>
                        </m:r>
                      </m:den>
                    </m:f>
                    <m:f>
                      <m:fPr>
                        <m:ctrlPr>
                          <a:rPr lang="en-US" altLang="zh-TW" sz="3600" b="0" i="1" smtClean="0">
                            <a:latin typeface="Cambria Math" panose="02040503050406030204" pitchFamily="18" charset="0"/>
                          </a:rPr>
                        </m:ctrlPr>
                      </m:fPr>
                      <m:num>
                        <m:r>
                          <a:rPr lang="en-US" altLang="zh-TW" sz="3600" b="0" i="1" smtClean="0">
                            <a:latin typeface="Cambria Math" panose="02040503050406030204" pitchFamily="18" charset="0"/>
                          </a:rPr>
                          <m:t>1</m:t>
                        </m:r>
                      </m:num>
                      <m:den>
                        <m:r>
                          <a:rPr lang="en-US" altLang="zh-TW" sz="3600" b="0" i="1" smtClean="0">
                            <a:latin typeface="Cambria Math" panose="02040503050406030204" pitchFamily="18" charset="0"/>
                          </a:rPr>
                          <m:t>𝑅</m:t>
                        </m:r>
                        <m:d>
                          <m:dPr>
                            <m:ctrlPr>
                              <a:rPr lang="en-US" altLang="zh-TW" sz="3600" b="0" i="1" smtClean="0">
                                <a:latin typeface="Cambria Math" panose="02040503050406030204" pitchFamily="18" charset="0"/>
                              </a:rPr>
                            </m:ctrlPr>
                          </m:dPr>
                          <m:e>
                            <m:r>
                              <a:rPr lang="en-US" altLang="zh-TW" sz="3600" b="0" i="1" smtClean="0">
                                <a:latin typeface="Cambria Math" panose="02040503050406030204" pitchFamily="18" charset="0"/>
                              </a:rPr>
                              <m:t>𝑡</m:t>
                            </m:r>
                          </m:e>
                        </m:d>
                      </m:den>
                    </m:f>
                    <m:r>
                      <a:rPr lang="en-US" altLang="zh-TW" sz="3600" b="0" i="1" smtClean="0">
                        <a:latin typeface="Cambria Math" panose="02040503050406030204" pitchFamily="18" charset="0"/>
                      </a:rPr>
                      <m:t>=</m:t>
                    </m:r>
                    <m:f>
                      <m:fPr>
                        <m:ctrlPr>
                          <a:rPr lang="en-US" altLang="zh-TW" sz="3600" b="0" i="1" smtClean="0">
                            <a:latin typeface="Cambria Math" panose="02040503050406030204" pitchFamily="18" charset="0"/>
                          </a:rPr>
                        </m:ctrlPr>
                      </m:fPr>
                      <m:num>
                        <m:r>
                          <a:rPr lang="en-US" altLang="zh-TW" sz="3600" b="0" i="1" smtClean="0">
                            <a:latin typeface="Cambria Math" panose="02040503050406030204" pitchFamily="18" charset="0"/>
                          </a:rPr>
                          <m:t>𝑓</m:t>
                        </m:r>
                        <m:r>
                          <a:rPr lang="en-US" altLang="zh-TW" sz="3600" b="0" i="1" smtClean="0">
                            <a:latin typeface="Cambria Math" panose="02040503050406030204" pitchFamily="18" charset="0"/>
                          </a:rPr>
                          <m:t>(</m:t>
                        </m:r>
                        <m:r>
                          <a:rPr lang="en-US" altLang="zh-TW" sz="3600" b="0" i="1" smtClean="0">
                            <a:latin typeface="Cambria Math" panose="02040503050406030204" pitchFamily="18" charset="0"/>
                          </a:rPr>
                          <m:t>𝑡</m:t>
                        </m:r>
                        <m:r>
                          <a:rPr lang="en-US" altLang="zh-TW" sz="3600" b="0" i="1" smtClean="0">
                            <a:latin typeface="Cambria Math" panose="02040503050406030204" pitchFamily="18" charset="0"/>
                          </a:rPr>
                          <m:t>)</m:t>
                        </m:r>
                      </m:num>
                      <m:den>
                        <m:r>
                          <a:rPr lang="en-US" altLang="zh-TW" sz="3600" b="0" i="1" smtClean="0">
                            <a:latin typeface="Cambria Math" panose="02040503050406030204" pitchFamily="18" charset="0"/>
                          </a:rPr>
                          <m:t>𝑅</m:t>
                        </m:r>
                        <m:r>
                          <a:rPr lang="en-US" altLang="zh-TW" sz="3600" b="0" i="1" smtClean="0">
                            <a:latin typeface="Cambria Math" panose="02040503050406030204" pitchFamily="18" charset="0"/>
                          </a:rPr>
                          <m:t>(</m:t>
                        </m:r>
                        <m:r>
                          <a:rPr lang="en-US" altLang="zh-TW" sz="3600" b="0" i="1" smtClean="0">
                            <a:latin typeface="Cambria Math" panose="02040503050406030204" pitchFamily="18" charset="0"/>
                          </a:rPr>
                          <m:t>𝑡</m:t>
                        </m:r>
                        <m:r>
                          <a:rPr lang="en-US" altLang="zh-TW" sz="3600" b="0" i="1" smtClean="0">
                            <a:latin typeface="Cambria Math" panose="02040503050406030204" pitchFamily="18" charset="0"/>
                          </a:rPr>
                          <m:t>)</m:t>
                        </m:r>
                      </m:den>
                    </m:f>
                  </m:oMath>
                </a14:m>
                <a:endParaRPr lang="en-US" altLang="zh-TW" sz="3600" b="0">
                  <a:latin typeface="Helvetica" pitchFamily="2" charset="0"/>
                </a:endParaRPr>
              </a:p>
            </p:txBody>
          </p:sp>
        </mc:Choice>
        <mc:Fallback xmlns="">
          <p:sp>
            <p:nvSpPr>
              <p:cNvPr id="5" name="文字方塊 4">
                <a:extLst>
                  <a:ext uri="{FF2B5EF4-FFF2-40B4-BE49-F238E27FC236}">
                    <a16:creationId xmlns:a16="http://schemas.microsoft.com/office/drawing/2014/main" id="{A452E23B-8C89-E166-0522-05B20D614404}"/>
                  </a:ext>
                </a:extLst>
              </p:cNvPr>
              <p:cNvSpPr txBox="1">
                <a:spLocks noRot="1" noChangeAspect="1" noMove="1" noResize="1" noEditPoints="1" noAdjustHandles="1" noChangeArrowheads="1" noChangeShapeType="1" noTextEdit="1"/>
              </p:cNvSpPr>
              <p:nvPr/>
            </p:nvSpPr>
            <p:spPr>
              <a:xfrm>
                <a:off x="1524000" y="5910733"/>
                <a:ext cx="14020800" cy="3599255"/>
              </a:xfrm>
              <a:prstGeom prst="rect">
                <a:avLst/>
              </a:prstGeom>
              <a:blipFill>
                <a:blip r:embed="rId7"/>
                <a:stretch>
                  <a:fillRect l="-1087" t="-2113" r="-1178" b="-246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4584279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a:spLocks noGrp="1" noRot="1" noMove="1" noResize="1" noEditPoints="1" noAdjustHandles="1" noChangeArrowheads="1" noChangeShapeType="1"/>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1600200" y="883503"/>
            <a:ext cx="8610600" cy="830997"/>
          </a:xfrm>
          <a:prstGeom prst="rect">
            <a:avLst/>
          </a:prstGeom>
          <a:noFill/>
        </p:spPr>
        <p:txBody>
          <a:bodyPr wrap="square">
            <a:spAutoFit/>
          </a:bodyPr>
          <a:lstStyle/>
          <a:p>
            <a:r>
              <a:rPr lang="en" altLang="zh-TW" sz="4800" b="1">
                <a:solidFill>
                  <a:srgbClr val="000000"/>
                </a:solidFill>
                <a:effectLst/>
                <a:latin typeface="+mj-lt"/>
              </a:rPr>
              <a:t>Bathtub Curve</a:t>
            </a: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pic>
        <p:nvPicPr>
          <p:cNvPr id="4098" name="Picture 2" descr="8.1.2.4. &quot;Bathtub&quot; curve">
            <a:extLst>
              <a:ext uri="{FF2B5EF4-FFF2-40B4-BE49-F238E27FC236}">
                <a16:creationId xmlns:a16="http://schemas.microsoft.com/office/drawing/2014/main" id="{F69DD056-2C68-E6CD-F62F-051B6795EE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91715" y="4273550"/>
            <a:ext cx="7088717" cy="3752850"/>
          </a:xfrm>
          <a:prstGeom prst="rect">
            <a:avLst/>
          </a:prstGeom>
          <a:noFill/>
          <a:extLst>
            <a:ext uri="{909E8E84-426E-40DD-AFC4-6F175D3DCCD1}">
              <a14:hiddenFill xmlns:a14="http://schemas.microsoft.com/office/drawing/2010/main">
                <a:solidFill>
                  <a:srgbClr val="FFFFFF"/>
                </a:solidFill>
              </a14:hiddenFill>
            </a:ext>
          </a:extLst>
        </p:spPr>
      </p:pic>
      <p:sp>
        <p:nvSpPr>
          <p:cNvPr id="8" name="文字方塊 7">
            <a:extLst>
              <a:ext uri="{FF2B5EF4-FFF2-40B4-BE49-F238E27FC236}">
                <a16:creationId xmlns:a16="http://schemas.microsoft.com/office/drawing/2014/main" id="{922213E4-4F17-6DEE-B35F-FE44588A46AE}"/>
              </a:ext>
            </a:extLst>
          </p:cNvPr>
          <p:cNvSpPr txBox="1"/>
          <p:nvPr/>
        </p:nvSpPr>
        <p:spPr>
          <a:xfrm>
            <a:off x="1600200" y="1996500"/>
            <a:ext cx="13543721" cy="1569660"/>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latin typeface="Helvetica" pitchFamily="2" charset="0"/>
              </a:rPr>
              <a:t>The bathtub curve is a graphical representation commonly used in reliability engineering to illustrate the failure rate of a product or system over its lifecycle.</a:t>
            </a:r>
            <a:endParaRPr lang="en" altLang="zh-TW" sz="3200">
              <a:effectLst/>
              <a:latin typeface="Helvetica" pitchFamily="2" charset="0"/>
            </a:endParaRPr>
          </a:p>
        </p:txBody>
      </p:sp>
    </p:spTree>
    <p:extLst>
      <p:ext uri="{BB962C8B-B14F-4D97-AF65-F5344CB8AC3E}">
        <p14:creationId xmlns:p14="http://schemas.microsoft.com/office/powerpoint/2010/main" val="2965189202"/>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a:spLocks noGrp="1" noRot="1" noMove="1" noResize="1" noEditPoints="1" noAdjustHandles="1" noChangeArrowheads="1" noChangeShapeType="1"/>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1600200" y="883503"/>
            <a:ext cx="8610600" cy="830997"/>
          </a:xfrm>
          <a:prstGeom prst="rect">
            <a:avLst/>
          </a:prstGeom>
          <a:noFill/>
        </p:spPr>
        <p:txBody>
          <a:bodyPr wrap="square">
            <a:spAutoFit/>
          </a:bodyPr>
          <a:lstStyle/>
          <a:p>
            <a:r>
              <a:rPr lang="en" altLang="zh-TW" sz="4800" b="1">
                <a:solidFill>
                  <a:srgbClr val="000000"/>
                </a:solidFill>
                <a:effectLst/>
                <a:latin typeface="+mj-lt"/>
              </a:rPr>
              <a:t>Summary</a:t>
            </a: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1600200" y="1996500"/>
                <a:ext cx="13543721" cy="416466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TW" sz="3200" b="0" i="1" smtClean="0">
                          <a:solidFill>
                            <a:srgbClr val="000000"/>
                          </a:solidFill>
                          <a:effectLst/>
                          <a:latin typeface="Cambria Math" panose="02040503050406030204" pitchFamily="18" charset="0"/>
                        </a:rPr>
                        <m:t>𝑅</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𝑃</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𝑇</m:t>
                          </m:r>
                          <m:r>
                            <a:rPr lang="en-US" altLang="zh-TW" sz="3200" b="0" i="1" smtClean="0">
                              <a:solidFill>
                                <a:srgbClr val="000000"/>
                              </a:solidFill>
                              <a:effectLst/>
                              <a:latin typeface="Cambria Math" panose="02040503050406030204" pitchFamily="18" charset="0"/>
                            </a:rPr>
                            <m:t>&gt;</m:t>
                          </m:r>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f>
                        <m:fPr>
                          <m:ctrlPr>
                            <a:rPr lang="en-US" altLang="zh-TW" sz="3200" b="0" i="1" smtClean="0">
                              <a:solidFill>
                                <a:srgbClr val="000000"/>
                              </a:solidFill>
                              <a:effectLst/>
                              <a:latin typeface="Cambria Math" panose="02040503050406030204" pitchFamily="18" charset="0"/>
                            </a:rPr>
                          </m:ctrlPr>
                        </m:fPr>
                        <m:num>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𝑛</m:t>
                              </m:r>
                            </m:e>
                            <m:sub>
                              <m:r>
                                <a:rPr lang="en-US" altLang="zh-TW" sz="3200" b="0" i="1" smtClean="0">
                                  <a:solidFill>
                                    <a:srgbClr val="000000"/>
                                  </a:solidFill>
                                  <a:effectLst/>
                                  <a:latin typeface="Cambria Math" panose="02040503050406030204" pitchFamily="18" charset="0"/>
                                </a:rPr>
                                <m:t>𝑠</m:t>
                              </m:r>
                            </m:sub>
                          </m:sSub>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num>
                        <m:den>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𝑛</m:t>
                              </m:r>
                            </m:e>
                            <m:sub>
                              <m:r>
                                <a:rPr lang="en-US" altLang="zh-TW" sz="3200" b="0" i="1" smtClean="0">
                                  <a:solidFill>
                                    <a:srgbClr val="000000"/>
                                  </a:solidFill>
                                  <a:effectLst/>
                                  <a:latin typeface="Cambria Math" panose="02040503050406030204" pitchFamily="18" charset="0"/>
                                </a:rPr>
                                <m:t>𝑠</m:t>
                              </m:r>
                            </m:sub>
                          </m:sSub>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𝑛</m:t>
                              </m:r>
                            </m:e>
                            <m:sub>
                              <m:r>
                                <a:rPr lang="en-US" altLang="zh-TW" sz="3200" b="0" i="1" smtClean="0">
                                  <a:solidFill>
                                    <a:srgbClr val="000000"/>
                                  </a:solidFill>
                                  <a:effectLst/>
                                  <a:latin typeface="Cambria Math" panose="02040503050406030204" pitchFamily="18" charset="0"/>
                                </a:rPr>
                                <m:t>𝑓</m:t>
                              </m:r>
                            </m:sub>
                          </m:sSub>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m:t>
                          </m:r>
                        </m:den>
                      </m:f>
                    </m:oMath>
                  </m:oMathPara>
                </a14:m>
                <a:endParaRPr lang="en" altLang="zh-TW" sz="3200">
                  <a:solidFill>
                    <a:srgbClr val="000000"/>
                  </a:solidFill>
                  <a:effectLst/>
                  <a:latin typeface="Helvetica" pitchFamily="2" charset="0"/>
                </a:endParaRPr>
              </a:p>
              <a:p>
                <a:endParaRPr lang="en" altLang="zh-TW" sz="3200">
                  <a:solidFill>
                    <a:srgbClr val="000000"/>
                  </a:solidFill>
                  <a:latin typeface="Helvetica" pitchFamily="2" charset="0"/>
                </a:endParaRPr>
              </a:p>
              <a:p>
                <a:pPr/>
                <a14:m>
                  <m:oMathPara xmlns:m="http://schemas.openxmlformats.org/officeDocument/2006/math">
                    <m:oMathParaPr>
                      <m:jc m:val="left"/>
                    </m:oMathParaPr>
                    <m:oMath xmlns:m="http://schemas.openxmlformats.org/officeDocument/2006/math">
                      <m:r>
                        <a:rPr lang="en-US" altLang="zh-TW" sz="3200" b="0" i="1" smtClean="0">
                          <a:solidFill>
                            <a:srgbClr val="000000"/>
                          </a:solidFill>
                          <a:effectLst/>
                          <a:latin typeface="Cambria Math" panose="02040503050406030204" pitchFamily="18" charset="0"/>
                        </a:rPr>
                        <m:t>𝑓</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f>
                        <m:fPr>
                          <m:ctrlPr>
                            <a:rPr lang="en-US" altLang="zh-TW" sz="3200" b="0" i="1" smtClean="0">
                              <a:solidFill>
                                <a:srgbClr val="000000"/>
                              </a:solidFill>
                              <a:effectLst/>
                              <a:latin typeface="Cambria Math" panose="02040503050406030204" pitchFamily="18" charset="0"/>
                            </a:rPr>
                          </m:ctrlPr>
                        </m:fPr>
                        <m:num>
                          <m:r>
                            <a:rPr lang="en-US" altLang="zh-TW" sz="3200" b="0" i="1" smtClean="0">
                              <a:solidFill>
                                <a:srgbClr val="000000"/>
                              </a:solidFill>
                              <a:effectLst/>
                              <a:latin typeface="Cambria Math" panose="02040503050406030204" pitchFamily="18" charset="0"/>
                            </a:rPr>
                            <m:t>𝑑</m:t>
                          </m:r>
                          <m:r>
                            <a:rPr lang="en-US" altLang="zh-TW" sz="3200" b="0" i="1" smtClean="0">
                              <a:solidFill>
                                <a:srgbClr val="000000"/>
                              </a:solidFill>
                              <a:effectLst/>
                              <a:latin typeface="Cambria Math" panose="02040503050406030204" pitchFamily="18" charset="0"/>
                            </a:rPr>
                            <m:t> </m:t>
                          </m:r>
                          <m:r>
                            <a:rPr lang="en-US" altLang="zh-TW" sz="3200" b="0" i="1" smtClean="0">
                              <a:solidFill>
                                <a:srgbClr val="000000"/>
                              </a:solidFill>
                              <a:effectLst/>
                              <a:latin typeface="Cambria Math" panose="02040503050406030204" pitchFamily="18" charset="0"/>
                            </a:rPr>
                            <m:t>𝑅</m:t>
                          </m:r>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m:t>
                          </m:r>
                        </m:num>
                        <m:den>
                          <m:r>
                            <a:rPr lang="en-US" altLang="zh-TW" sz="3200" b="0" i="1" smtClean="0">
                              <a:solidFill>
                                <a:srgbClr val="000000"/>
                              </a:solidFill>
                              <a:effectLst/>
                              <a:latin typeface="Cambria Math" panose="02040503050406030204" pitchFamily="18" charset="0"/>
                            </a:rPr>
                            <m:t>𝑑𝑡</m:t>
                          </m:r>
                        </m:den>
                      </m:f>
                    </m:oMath>
                  </m:oMathPara>
                </a14:m>
                <a:endParaRPr lang="en" altLang="zh-TW" sz="3200">
                  <a:solidFill>
                    <a:srgbClr val="000000"/>
                  </a:solidFill>
                  <a:effectLst/>
                  <a:latin typeface="Helvetica" pitchFamily="2" charset="0"/>
                </a:endParaRPr>
              </a:p>
              <a:p>
                <a:endParaRPr lang="en" altLang="zh-TW" sz="3200">
                  <a:solidFill>
                    <a:srgbClr val="000000"/>
                  </a:solidFill>
                  <a:latin typeface="Helvetica" pitchFamily="2" charset="0"/>
                </a:endParaRPr>
              </a:p>
              <a:p>
                <a:pPr/>
                <a14:m>
                  <m:oMathPara xmlns:m="http://schemas.openxmlformats.org/officeDocument/2006/math">
                    <m:oMathParaPr>
                      <m:jc m:val="left"/>
                    </m:oMathParaPr>
                    <m:oMath xmlns:m="http://schemas.openxmlformats.org/officeDocument/2006/math">
                      <m:r>
                        <a:rPr lang="en-US" altLang="zh-TW" sz="3200" b="0" i="1" smtClean="0">
                          <a:solidFill>
                            <a:srgbClr val="000000"/>
                          </a:solidFill>
                          <a:effectLst/>
                          <a:latin typeface="Cambria Math" panose="02040503050406030204" pitchFamily="18" charset="0"/>
                        </a:rPr>
                        <m:t>𝜆</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f>
                        <m:fPr>
                          <m:ctrlPr>
                            <a:rPr lang="en-US" altLang="zh-TW" sz="3200" b="0" i="1" smtClean="0">
                              <a:solidFill>
                                <a:srgbClr val="000000"/>
                              </a:solidFill>
                              <a:effectLst/>
                              <a:latin typeface="Cambria Math" panose="02040503050406030204" pitchFamily="18" charset="0"/>
                            </a:rPr>
                          </m:ctrlPr>
                        </m:fPr>
                        <m:num>
                          <m:r>
                            <a:rPr lang="en-US" altLang="zh-TW" sz="3200" b="0" i="1" smtClean="0">
                              <a:solidFill>
                                <a:srgbClr val="000000"/>
                              </a:solidFill>
                              <a:effectLst/>
                              <a:latin typeface="Cambria Math" panose="02040503050406030204" pitchFamily="18" charset="0"/>
                            </a:rPr>
                            <m:t>𝑓</m:t>
                          </m:r>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m:t>
                          </m:r>
                        </m:num>
                        <m:den>
                          <m:r>
                            <a:rPr lang="en-US" altLang="zh-TW" sz="3200" b="0" i="1" smtClean="0">
                              <a:solidFill>
                                <a:srgbClr val="000000"/>
                              </a:solidFill>
                              <a:effectLst/>
                              <a:latin typeface="Cambria Math" panose="02040503050406030204" pitchFamily="18" charset="0"/>
                            </a:rPr>
                            <m:t>𝑅</m:t>
                          </m:r>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m:t>
                          </m:r>
                        </m:den>
                      </m:f>
                    </m:oMath>
                  </m:oMathPara>
                </a14:m>
                <a:endParaRPr lang="en" altLang="zh-TW" sz="3200">
                  <a:solidFill>
                    <a:srgbClr val="000000"/>
                  </a:solidFill>
                  <a:effectLst/>
                  <a:latin typeface="Helvetica" pitchFamily="2" charset="0"/>
                </a:endParaRP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1600200" y="1996500"/>
                <a:ext cx="13543721" cy="4164666"/>
              </a:xfrm>
              <a:prstGeom prst="rect">
                <a:avLst/>
              </a:prstGeom>
              <a:blipFill>
                <a:blip r:embed="rId6"/>
                <a:stretch>
                  <a:fillRect l="-750" b="-1824"/>
                </a:stretch>
              </a:blipFill>
            </p:spPr>
            <p:txBody>
              <a:bodyPr/>
              <a:lstStyle/>
              <a:p>
                <a:r>
                  <a:rPr lang="zh-TW" altLang="en-US">
                    <a:noFill/>
                  </a:rPr>
                  <a:t> </a:t>
                </a:r>
              </a:p>
            </p:txBody>
          </p:sp>
        </mc:Fallback>
      </mc:AlternateContent>
      <p:pic>
        <p:nvPicPr>
          <p:cNvPr id="7" name="圖片 6" descr="一張含有 行, 文字, 圖表, 繪圖 的圖片&#10;&#10;自動產生的描述">
            <a:extLst>
              <a:ext uri="{FF2B5EF4-FFF2-40B4-BE49-F238E27FC236}">
                <a16:creationId xmlns:a16="http://schemas.microsoft.com/office/drawing/2014/main" id="{2E7BBDC2-B272-3896-7C98-D5D0DFEA6CC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87850" y="5480050"/>
            <a:ext cx="5422444" cy="3575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2" descr="Statistical Background - ReliaWiki">
            <a:extLst>
              <a:ext uri="{FF2B5EF4-FFF2-40B4-BE49-F238E27FC236}">
                <a16:creationId xmlns:a16="http://schemas.microsoft.com/office/drawing/2014/main" id="{787DF4C3-0709-E130-49CF-8AEEE6CF195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11066" y="4705480"/>
            <a:ext cx="6505334" cy="47814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638092718"/>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6072124" y="6934200"/>
            <a:ext cx="6143752" cy="1015663"/>
          </a:xfrm>
          <a:prstGeom prst="rect">
            <a:avLst/>
          </a:prstGeom>
        </p:spPr>
        <p:txBody>
          <a:bodyPr wrap="square" lIns="0" tIns="0" rIns="0" bIns="0" rtlCol="0" anchor="t">
            <a:spAutoFit/>
          </a:bodyPr>
          <a:lstStyle/>
          <a:p>
            <a:r>
              <a:rPr lang="en-US" sz="6600">
                <a:solidFill>
                  <a:srgbClr val="000000"/>
                </a:solidFill>
                <a:ea typeface="思源宋体 Bold"/>
              </a:rPr>
              <a:t>Likelihood Censor</a:t>
            </a: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227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a:spLocks noGrp="1" noRot="1" noMove="1" noResize="1" noEditPoints="1" noAdjustHandles="1" noChangeArrowheads="1" noChangeShapeType="1"/>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1600200" y="883503"/>
            <a:ext cx="8610600" cy="830997"/>
          </a:xfrm>
          <a:prstGeom prst="rect">
            <a:avLst/>
          </a:prstGeom>
          <a:noFill/>
        </p:spPr>
        <p:txBody>
          <a:bodyPr wrap="square">
            <a:spAutoFit/>
          </a:bodyPr>
          <a:lstStyle/>
          <a:p>
            <a:r>
              <a:rPr lang="en" altLang="zh-TW" sz="4800" b="1">
                <a:solidFill>
                  <a:srgbClr val="000000"/>
                </a:solidFill>
                <a:latin typeface="+mj-lt"/>
              </a:rPr>
              <a:t>Censoring : Type I Data</a:t>
            </a:r>
            <a:endParaRPr lang="en" altLang="zh-TW" sz="4800" b="1">
              <a:solidFill>
                <a:srgbClr val="000000"/>
              </a:solidFill>
              <a:effectLst/>
              <a:latin typeface="+mj-lt"/>
            </a:endParaRP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1600200" y="1996500"/>
                <a:ext cx="13543721" cy="1569660"/>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latin typeface="Helvetica" pitchFamily="2" charset="0"/>
                  </a:rPr>
                  <a:t>During the </a:t>
                </a:r>
                <a14:m>
                  <m:oMath xmlns:m="http://schemas.openxmlformats.org/officeDocument/2006/math">
                    <m:r>
                      <a:rPr lang="en-US" altLang="zh-TW" sz="3200" b="0" i="1" smtClean="0">
                        <a:solidFill>
                          <a:srgbClr val="000000"/>
                        </a:solidFill>
                        <a:effectLst/>
                        <a:latin typeface="Cambria Math" panose="02040503050406030204" pitchFamily="18" charset="0"/>
                      </a:rPr>
                      <m:t>𝑇</m:t>
                    </m:r>
                  </m:oMath>
                </a14:m>
                <a:r>
                  <a:rPr lang="en" altLang="zh-TW" sz="3200">
                    <a:solidFill>
                      <a:srgbClr val="000000"/>
                    </a:solidFill>
                    <a:effectLst/>
                    <a:latin typeface="Helvetica" pitchFamily="2" charset="0"/>
                  </a:rPr>
                  <a:t>  hours of test we observe</a:t>
                </a:r>
                <a:r>
                  <a:rPr lang="zh-TW" altLang="en-US" sz="3200">
                    <a:solidFill>
                      <a:srgbClr val="000000"/>
                    </a:solidFill>
                    <a:effectLst/>
                    <a:latin typeface="Helvetica" pitchFamily="2" charset="0"/>
                  </a:rPr>
                  <a:t> </a:t>
                </a:r>
                <a:r>
                  <a:rPr lang="en" altLang="zh-TW" sz="3200">
                    <a:solidFill>
                      <a:srgbClr val="000000"/>
                    </a:solidFill>
                    <a:effectLst/>
                    <a:latin typeface="Helvetica" pitchFamily="2" charset="0"/>
                  </a:rPr>
                  <a:t>failures. The failure times are </a:t>
                </a:r>
                <a14:m>
                  <m:oMath xmlns:m="http://schemas.openxmlformats.org/officeDocument/2006/math">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𝑡</m:t>
                        </m:r>
                      </m:e>
                      <m:sub>
                        <m:r>
                          <a:rPr lang="en-US" altLang="zh-TW" sz="3200" b="0" i="1" smtClean="0">
                            <a:solidFill>
                              <a:srgbClr val="000000"/>
                            </a:solidFill>
                            <a:effectLst/>
                            <a:latin typeface="Cambria Math" panose="02040503050406030204" pitchFamily="18" charset="0"/>
                          </a:rPr>
                          <m:t>1</m:t>
                        </m:r>
                      </m:sub>
                    </m:sSub>
                    <m:r>
                      <a:rPr lang="en-US" altLang="zh-TW" sz="3200" b="0" i="1" smtClean="0">
                        <a:solidFill>
                          <a:srgbClr val="000000"/>
                        </a:solidFill>
                        <a:effectLst/>
                        <a:latin typeface="Cambria Math" panose="02040503050406030204" pitchFamily="18" charset="0"/>
                      </a:rPr>
                      <m:t>, </m:t>
                    </m:r>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𝑡</m:t>
                        </m:r>
                      </m:e>
                      <m:sub>
                        <m:r>
                          <a:rPr lang="en-US" altLang="zh-TW" sz="3200" b="0" i="1" smtClean="0">
                            <a:solidFill>
                              <a:srgbClr val="000000"/>
                            </a:solidFill>
                            <a:effectLst/>
                            <a:latin typeface="Cambria Math" panose="02040503050406030204" pitchFamily="18" charset="0"/>
                          </a:rPr>
                          <m:t>2</m:t>
                        </m:r>
                      </m:sub>
                    </m:sSub>
                    <m:r>
                      <a:rPr lang="en-US" altLang="zh-TW" sz="3200" b="0" i="1" smtClean="0">
                        <a:solidFill>
                          <a:srgbClr val="000000"/>
                        </a:solidFill>
                        <a:effectLst/>
                        <a:latin typeface="Cambria Math" panose="02040503050406030204" pitchFamily="18" charset="0"/>
                      </a:rPr>
                      <m:t>, …, </m:t>
                    </m:r>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𝑡</m:t>
                        </m:r>
                      </m:e>
                      <m:sub>
                        <m:r>
                          <a:rPr lang="en-US" altLang="zh-TW" sz="3200" b="0" i="1" smtClean="0">
                            <a:solidFill>
                              <a:srgbClr val="000000"/>
                            </a:solidFill>
                            <a:effectLst/>
                            <a:latin typeface="Cambria Math" panose="02040503050406030204" pitchFamily="18" charset="0"/>
                          </a:rPr>
                          <m:t>𝑟</m:t>
                        </m:r>
                      </m:sub>
                    </m:sSub>
                  </m:oMath>
                </a14:m>
                <a:r>
                  <a:rPr lang="en" altLang="zh-TW" sz="3200">
                    <a:solidFill>
                      <a:srgbClr val="000000"/>
                    </a:solidFill>
                    <a:effectLst/>
                    <a:latin typeface="Helvetica" pitchFamily="2" charset="0"/>
                  </a:rPr>
                  <a:t>, and there are </a:t>
                </a:r>
                <a14:m>
                  <m:oMath xmlns:m="http://schemas.openxmlformats.org/officeDocument/2006/math">
                    <m:r>
                      <a:rPr lang="en-US" altLang="zh-TW" sz="3200" b="0" i="1" smtClean="0">
                        <a:solidFill>
                          <a:srgbClr val="000000"/>
                        </a:solidFill>
                        <a:effectLst/>
                        <a:latin typeface="Cambria Math" panose="02040503050406030204" pitchFamily="18" charset="0"/>
                      </a:rPr>
                      <m:t>𝑟</m:t>
                    </m:r>
                    <m:r>
                      <a:rPr lang="en-US" altLang="zh-TW" sz="3200" b="0" i="0" smtClean="0">
                        <a:solidFill>
                          <a:srgbClr val="000000"/>
                        </a:solidFill>
                        <a:effectLst/>
                        <a:latin typeface="Cambria Math" panose="02040503050406030204" pitchFamily="18" charset="0"/>
                      </a:rPr>
                      <m:t> </m:t>
                    </m:r>
                  </m:oMath>
                </a14:m>
                <a:r>
                  <a:rPr lang="en" altLang="zh-TW" sz="3200">
                    <a:solidFill>
                      <a:srgbClr val="000000"/>
                    </a:solidFill>
                    <a:effectLst/>
                    <a:latin typeface="Helvetica" pitchFamily="2" charset="0"/>
                  </a:rPr>
                  <a:t>nits that survived the entire </a:t>
                </a:r>
                <a14:m>
                  <m:oMath xmlns:m="http://schemas.openxmlformats.org/officeDocument/2006/math">
                    <m:r>
                      <a:rPr lang="en-US" altLang="zh-TW" sz="3200" i="1">
                        <a:solidFill>
                          <a:srgbClr val="000000"/>
                        </a:solidFill>
                        <a:latin typeface="Cambria Math" panose="02040503050406030204" pitchFamily="18" charset="0"/>
                      </a:rPr>
                      <m:t>𝑇</m:t>
                    </m:r>
                  </m:oMath>
                </a14:m>
                <a:r>
                  <a:rPr lang="en" altLang="zh-TW" sz="3200">
                    <a:solidFill>
                      <a:srgbClr val="000000"/>
                    </a:solidFill>
                    <a:effectLst/>
                    <a:latin typeface="Helvetica" pitchFamily="2" charset="0"/>
                  </a:rPr>
                  <a:t>-hour test without failing. </a:t>
                </a: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1600200" y="1996500"/>
                <a:ext cx="13543721" cy="1569660"/>
              </a:xfrm>
              <a:prstGeom prst="rect">
                <a:avLst/>
              </a:prstGeom>
              <a:blipFill>
                <a:blip r:embed="rId6"/>
                <a:stretch>
                  <a:fillRect l="-1031" t="-4839" b="-12097"/>
                </a:stretch>
              </a:blipFill>
            </p:spPr>
            <p:txBody>
              <a:bodyPr/>
              <a:lstStyle/>
              <a:p>
                <a:r>
                  <a:rPr lang="zh-TW" altLang="en-US">
                    <a:noFill/>
                  </a:rPr>
                  <a:t> </a:t>
                </a:r>
              </a:p>
            </p:txBody>
          </p:sp>
        </mc:Fallback>
      </mc:AlternateContent>
      <p:sp>
        <p:nvSpPr>
          <p:cNvPr id="6" name="文字方塊 5">
            <a:extLst>
              <a:ext uri="{FF2B5EF4-FFF2-40B4-BE49-F238E27FC236}">
                <a16:creationId xmlns:a16="http://schemas.microsoft.com/office/drawing/2014/main" id="{43D13699-B57B-1950-F049-CF7EC49DFA96}"/>
              </a:ext>
            </a:extLst>
          </p:cNvPr>
          <p:cNvSpPr txBox="1"/>
          <p:nvPr/>
        </p:nvSpPr>
        <p:spPr>
          <a:xfrm>
            <a:off x="1600200" y="4030503"/>
            <a:ext cx="8610600" cy="830997"/>
          </a:xfrm>
          <a:prstGeom prst="rect">
            <a:avLst/>
          </a:prstGeom>
          <a:noFill/>
        </p:spPr>
        <p:txBody>
          <a:bodyPr wrap="square">
            <a:spAutoFit/>
          </a:bodyPr>
          <a:lstStyle/>
          <a:p>
            <a:r>
              <a:rPr lang="en" altLang="zh-TW" sz="4800" b="1">
                <a:solidFill>
                  <a:srgbClr val="000000"/>
                </a:solidFill>
                <a:latin typeface="+mj-lt"/>
              </a:rPr>
              <a:t>Censoring : Type II Data</a:t>
            </a:r>
            <a:endParaRPr lang="en" altLang="zh-TW" sz="4800" b="1">
              <a:solidFill>
                <a:srgbClr val="000000"/>
              </a:solidFill>
              <a:effectLst/>
              <a:latin typeface="+mj-lt"/>
            </a:endParaRPr>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7FAA0E63-B69C-A2FE-7215-D39760CD0860}"/>
                  </a:ext>
                </a:extLst>
              </p:cNvPr>
              <p:cNvSpPr txBox="1"/>
              <p:nvPr/>
            </p:nvSpPr>
            <p:spPr>
              <a:xfrm>
                <a:off x="1600200" y="5143500"/>
                <a:ext cx="13543721" cy="1077218"/>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latin typeface="Helvetica" pitchFamily="2" charset="0"/>
                  </a:rPr>
                  <a:t>We observe </a:t>
                </a:r>
                <a14:m>
                  <m:oMath xmlns:m="http://schemas.openxmlformats.org/officeDocument/2006/math">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𝑡</m:t>
                        </m:r>
                      </m:e>
                      <m:sub>
                        <m:r>
                          <a:rPr lang="en-US" altLang="zh-TW" sz="3200" b="0" i="1" smtClean="0">
                            <a:solidFill>
                              <a:srgbClr val="000000"/>
                            </a:solidFill>
                            <a:effectLst/>
                            <a:latin typeface="Cambria Math" panose="02040503050406030204" pitchFamily="18" charset="0"/>
                          </a:rPr>
                          <m:t>1</m:t>
                        </m:r>
                      </m:sub>
                    </m:sSub>
                    <m:r>
                      <a:rPr lang="en-US" altLang="zh-TW" sz="3200" b="0" i="1" smtClean="0">
                        <a:solidFill>
                          <a:srgbClr val="000000"/>
                        </a:solidFill>
                        <a:effectLst/>
                        <a:latin typeface="Cambria Math" panose="02040503050406030204" pitchFamily="18" charset="0"/>
                      </a:rPr>
                      <m:t>, </m:t>
                    </m:r>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𝑡</m:t>
                        </m:r>
                      </m:e>
                      <m:sub>
                        <m:r>
                          <a:rPr lang="en-US" altLang="zh-TW" sz="3200" b="0" i="1" smtClean="0">
                            <a:solidFill>
                              <a:srgbClr val="000000"/>
                            </a:solidFill>
                            <a:effectLst/>
                            <a:latin typeface="Cambria Math" panose="02040503050406030204" pitchFamily="18" charset="0"/>
                          </a:rPr>
                          <m:t>2</m:t>
                        </m:r>
                      </m:sub>
                    </m:sSub>
                    <m:r>
                      <a:rPr lang="en-US" altLang="zh-TW" sz="3200" b="0" i="1" smtClean="0">
                        <a:solidFill>
                          <a:srgbClr val="000000"/>
                        </a:solidFill>
                        <a:effectLst/>
                        <a:latin typeface="Cambria Math" panose="02040503050406030204" pitchFamily="18" charset="0"/>
                      </a:rPr>
                      <m:t>, …, </m:t>
                    </m:r>
                    <m:sSub>
                      <m:sSubPr>
                        <m:ctrlPr>
                          <a:rPr lang="en-US" altLang="zh-TW" sz="3200" b="0" i="1" smtClean="0">
                            <a:solidFill>
                              <a:srgbClr val="000000"/>
                            </a:solidFill>
                            <a:effectLst/>
                            <a:latin typeface="Cambria Math" panose="02040503050406030204" pitchFamily="18" charset="0"/>
                          </a:rPr>
                        </m:ctrlPr>
                      </m:sSubPr>
                      <m:e>
                        <m:r>
                          <a:rPr lang="en-US" altLang="zh-TW" sz="3200" b="0" i="1" smtClean="0">
                            <a:solidFill>
                              <a:srgbClr val="000000"/>
                            </a:solidFill>
                            <a:effectLst/>
                            <a:latin typeface="Cambria Math" panose="02040503050406030204" pitchFamily="18" charset="0"/>
                          </a:rPr>
                          <m:t>𝑡</m:t>
                        </m:r>
                      </m:e>
                      <m:sub>
                        <m:r>
                          <a:rPr lang="en-US" altLang="zh-TW" sz="3200" b="0" i="1" smtClean="0">
                            <a:solidFill>
                              <a:srgbClr val="000000"/>
                            </a:solidFill>
                            <a:effectLst/>
                            <a:latin typeface="Cambria Math" panose="02040503050406030204" pitchFamily="18" charset="0"/>
                          </a:rPr>
                          <m:t>𝑟</m:t>
                        </m:r>
                      </m:sub>
                    </m:sSub>
                  </m:oMath>
                </a14:m>
                <a:r>
                  <a:rPr lang="en" altLang="zh-TW" sz="3200">
                    <a:solidFill>
                      <a:srgbClr val="000000"/>
                    </a:solidFill>
                    <a:latin typeface="Helvetica" pitchFamily="2" charset="0"/>
                  </a:rPr>
                  <a:t> , where </a:t>
                </a:r>
                <a14:m>
                  <m:oMath xmlns:m="http://schemas.openxmlformats.org/officeDocument/2006/math">
                    <m:r>
                      <a:rPr lang="en-US" altLang="zh-TW" sz="3200" i="1">
                        <a:solidFill>
                          <a:srgbClr val="000000"/>
                        </a:solidFill>
                        <a:latin typeface="Cambria Math" panose="02040503050406030204" pitchFamily="18" charset="0"/>
                      </a:rPr>
                      <m:t>𝑟</m:t>
                    </m:r>
                  </m:oMath>
                </a14:m>
                <a:r>
                  <a:rPr lang="en" altLang="zh-TW" sz="3200">
                    <a:solidFill>
                      <a:srgbClr val="000000"/>
                    </a:solidFill>
                    <a:latin typeface="Helvetica" pitchFamily="2" charset="0"/>
                  </a:rPr>
                  <a:t> is specified in advance. The test ends at time 𝑇 = </a:t>
                </a:r>
                <a14:m>
                  <m:oMath xmlns:m="http://schemas.openxmlformats.org/officeDocument/2006/math">
                    <m:sSub>
                      <m:sSubPr>
                        <m:ctrlPr>
                          <a:rPr lang="en-US" altLang="zh-TW" sz="3200" i="1">
                            <a:solidFill>
                              <a:srgbClr val="000000"/>
                            </a:solidFill>
                            <a:latin typeface="Cambria Math" panose="02040503050406030204" pitchFamily="18" charset="0"/>
                          </a:rPr>
                        </m:ctrlPr>
                      </m:sSubPr>
                      <m:e>
                        <m:r>
                          <a:rPr lang="en-US" altLang="zh-TW" sz="3200" i="1">
                            <a:solidFill>
                              <a:srgbClr val="000000"/>
                            </a:solidFill>
                            <a:latin typeface="Cambria Math" panose="02040503050406030204" pitchFamily="18" charset="0"/>
                          </a:rPr>
                          <m:t>𝑡</m:t>
                        </m:r>
                      </m:e>
                      <m:sub>
                        <m:r>
                          <a:rPr lang="en-US" altLang="zh-TW" sz="3200" i="1">
                            <a:solidFill>
                              <a:srgbClr val="000000"/>
                            </a:solidFill>
                            <a:latin typeface="Cambria Math" panose="02040503050406030204" pitchFamily="18" charset="0"/>
                          </a:rPr>
                          <m:t>𝑟</m:t>
                        </m:r>
                      </m:sub>
                    </m:sSub>
                  </m:oMath>
                </a14:m>
                <a:r>
                  <a:rPr lang="en" altLang="zh-TW" sz="3200">
                    <a:solidFill>
                      <a:srgbClr val="000000"/>
                    </a:solidFill>
                    <a:latin typeface="Helvetica" pitchFamily="2" charset="0"/>
                  </a:rPr>
                  <a:t>, and (n-r) units have survived.</a:t>
                </a:r>
                <a:endParaRPr lang="en" altLang="zh-TW" sz="3200">
                  <a:solidFill>
                    <a:srgbClr val="000000"/>
                  </a:solidFill>
                  <a:effectLst/>
                  <a:latin typeface="Helvetica" pitchFamily="2" charset="0"/>
                </a:endParaRPr>
              </a:p>
            </p:txBody>
          </p:sp>
        </mc:Choice>
        <mc:Fallback xmlns="">
          <p:sp>
            <p:nvSpPr>
              <p:cNvPr id="7" name="文字方塊 6">
                <a:extLst>
                  <a:ext uri="{FF2B5EF4-FFF2-40B4-BE49-F238E27FC236}">
                    <a16:creationId xmlns:a16="http://schemas.microsoft.com/office/drawing/2014/main" id="{7FAA0E63-B69C-A2FE-7215-D39760CD0860}"/>
                  </a:ext>
                </a:extLst>
              </p:cNvPr>
              <p:cNvSpPr txBox="1">
                <a:spLocks noRot="1" noChangeAspect="1" noMove="1" noResize="1" noEditPoints="1" noAdjustHandles="1" noChangeArrowheads="1" noChangeShapeType="1" noTextEdit="1"/>
              </p:cNvSpPr>
              <p:nvPr/>
            </p:nvSpPr>
            <p:spPr>
              <a:xfrm>
                <a:off x="1600200" y="5143500"/>
                <a:ext cx="13543721" cy="1077218"/>
              </a:xfrm>
              <a:prstGeom prst="rect">
                <a:avLst/>
              </a:prstGeom>
              <a:blipFill>
                <a:blip r:embed="rId7"/>
                <a:stretch>
                  <a:fillRect l="-1031" t="-8235" r="-750" b="-17647"/>
                </a:stretch>
              </a:blipFill>
            </p:spPr>
            <p:txBody>
              <a:bodyPr/>
              <a:lstStyle/>
              <a:p>
                <a:r>
                  <a:rPr lang="zh-TW" altLang="en-US">
                    <a:noFill/>
                  </a:rPr>
                  <a:t> </a:t>
                </a:r>
              </a:p>
            </p:txBody>
          </p:sp>
        </mc:Fallback>
      </mc:AlternateContent>
      <p:sp>
        <p:nvSpPr>
          <p:cNvPr id="8" name="文字方塊 7">
            <a:extLst>
              <a:ext uri="{FF2B5EF4-FFF2-40B4-BE49-F238E27FC236}">
                <a16:creationId xmlns:a16="http://schemas.microsoft.com/office/drawing/2014/main" id="{03863F92-2AFE-2451-DE0C-94CACDECE772}"/>
              </a:ext>
            </a:extLst>
          </p:cNvPr>
          <p:cNvSpPr txBox="1"/>
          <p:nvPr/>
        </p:nvSpPr>
        <p:spPr>
          <a:xfrm>
            <a:off x="1600200" y="6498877"/>
            <a:ext cx="5308600" cy="830997"/>
          </a:xfrm>
          <a:prstGeom prst="rect">
            <a:avLst/>
          </a:prstGeom>
          <a:noFill/>
        </p:spPr>
        <p:txBody>
          <a:bodyPr wrap="square">
            <a:spAutoFit/>
          </a:bodyPr>
          <a:lstStyle/>
          <a:p>
            <a:r>
              <a:rPr lang="en" altLang="zh-TW" sz="4800" b="1">
                <a:solidFill>
                  <a:srgbClr val="000000"/>
                </a:solidFill>
                <a:latin typeface="+mj-lt"/>
              </a:rPr>
              <a:t>Likelihood Function</a:t>
            </a:r>
            <a:endParaRPr lang="en" altLang="zh-TW" sz="4800" b="1">
              <a:solidFill>
                <a:srgbClr val="000000"/>
              </a:solidFill>
              <a:effectLst/>
              <a:latin typeface="+mj-lt"/>
            </a:endParaRPr>
          </a:p>
        </p:txBody>
      </p: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7DEED869-9887-0E74-4578-5D27EA73CCE9}"/>
                  </a:ext>
                </a:extLst>
              </p:cNvPr>
              <p:cNvSpPr txBox="1"/>
              <p:nvPr/>
            </p:nvSpPr>
            <p:spPr>
              <a:xfrm>
                <a:off x="1600200" y="7698270"/>
                <a:ext cx="5442644" cy="13443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TW" sz="3200" b="0" i="1" smtClean="0">
                          <a:latin typeface="Cambria Math" panose="02040503050406030204" pitchFamily="18" charset="0"/>
                        </a:rPr>
                        <m:t>𝐿</m:t>
                      </m:r>
                      <m:r>
                        <a:rPr kumimoji="1" lang="en-US" altLang="zh-TW" sz="3200" b="0" i="1" smtClean="0">
                          <a:latin typeface="Cambria Math" panose="02040503050406030204" pitchFamily="18" charset="0"/>
                        </a:rPr>
                        <m:t>=</m:t>
                      </m:r>
                      <m:d>
                        <m:dPr>
                          <m:ctrlPr>
                            <a:rPr kumimoji="1" lang="en-US" altLang="zh-TW" sz="3200" b="0" i="1" smtClean="0">
                              <a:latin typeface="Cambria Math" panose="02040503050406030204" pitchFamily="18" charset="0"/>
                            </a:rPr>
                          </m:ctrlPr>
                        </m:dPr>
                        <m:e>
                          <m:nary>
                            <m:naryPr>
                              <m:chr m:val="∏"/>
                              <m:ctrlPr>
                                <a:rPr kumimoji="1" lang="en-US" altLang="zh-TW" sz="3200" b="0" i="1" smtClean="0">
                                  <a:latin typeface="Cambria Math" panose="02040503050406030204" pitchFamily="18" charset="0"/>
                                </a:rPr>
                              </m:ctrlPr>
                            </m:naryPr>
                            <m:sub>
                              <m:r>
                                <m:rPr>
                                  <m:brk m:alnAt="23"/>
                                </m:rPr>
                                <a:rPr kumimoji="1" lang="en-US" altLang="zh-TW" sz="3200" b="0" i="1" smtClean="0">
                                  <a:latin typeface="Cambria Math" panose="02040503050406030204" pitchFamily="18" charset="0"/>
                                </a:rPr>
                                <m:t>𝑖</m:t>
                              </m:r>
                              <m:r>
                                <a:rPr kumimoji="1" lang="en-US" altLang="zh-TW" sz="3200" b="0" i="1" smtClean="0">
                                  <a:latin typeface="Cambria Math" panose="02040503050406030204" pitchFamily="18" charset="0"/>
                                </a:rPr>
                                <m:t>=1</m:t>
                              </m:r>
                            </m:sub>
                            <m:sup>
                              <m:r>
                                <a:rPr kumimoji="1" lang="en-US" altLang="zh-TW" sz="3200" b="0" i="1" smtClean="0">
                                  <a:latin typeface="Cambria Math" panose="02040503050406030204" pitchFamily="18" charset="0"/>
                                </a:rPr>
                                <m:t>𝑟</m:t>
                              </m:r>
                            </m:sup>
                            <m:e>
                              <m:r>
                                <a:rPr kumimoji="1" lang="en-US" altLang="zh-TW" sz="3200" b="0" i="1" smtClean="0">
                                  <a:latin typeface="Cambria Math" panose="02040503050406030204" pitchFamily="18" charset="0"/>
                                </a:rPr>
                                <m:t>𝑓</m:t>
                              </m:r>
                              <m:d>
                                <m:dPr>
                                  <m:ctrlPr>
                                    <a:rPr kumimoji="1" lang="en-US" altLang="zh-TW" sz="3200" b="0" i="1" smtClean="0">
                                      <a:latin typeface="Cambria Math" panose="02040503050406030204" pitchFamily="18" charset="0"/>
                                    </a:rPr>
                                  </m:ctrlPr>
                                </m:dPr>
                                <m:e>
                                  <m:sSub>
                                    <m:sSubPr>
                                      <m:ctrlPr>
                                        <a:rPr kumimoji="1" lang="en-US" altLang="zh-TW" sz="3200" b="0" i="1" smtClean="0">
                                          <a:latin typeface="Cambria Math" panose="02040503050406030204" pitchFamily="18" charset="0"/>
                                        </a:rPr>
                                      </m:ctrlPr>
                                    </m:sSubPr>
                                    <m:e>
                                      <m:r>
                                        <a:rPr kumimoji="1" lang="en-US" altLang="zh-TW" sz="3200" b="0" i="1" smtClean="0">
                                          <a:latin typeface="Cambria Math" panose="02040503050406030204" pitchFamily="18" charset="0"/>
                                        </a:rPr>
                                        <m:t>𝑡</m:t>
                                      </m:r>
                                    </m:e>
                                    <m:sub>
                                      <m:r>
                                        <a:rPr kumimoji="1" lang="en-US" altLang="zh-TW" sz="3200" b="0" i="1" smtClean="0">
                                          <a:latin typeface="Cambria Math" panose="02040503050406030204" pitchFamily="18" charset="0"/>
                                        </a:rPr>
                                        <m:t>𝑖</m:t>
                                      </m:r>
                                    </m:sub>
                                  </m:sSub>
                                </m:e>
                              </m:d>
                            </m:e>
                          </m:nary>
                        </m:e>
                      </m:d>
                      <m:sSup>
                        <m:sSupPr>
                          <m:ctrlPr>
                            <a:rPr kumimoji="1" lang="en-US" altLang="zh-TW" sz="3200" b="0" i="1" smtClean="0">
                              <a:latin typeface="Cambria Math" panose="02040503050406030204" pitchFamily="18" charset="0"/>
                            </a:rPr>
                          </m:ctrlPr>
                        </m:sSupPr>
                        <m:e>
                          <m:d>
                            <m:dPr>
                              <m:begChr m:val="["/>
                              <m:endChr m:val="]"/>
                              <m:ctrlPr>
                                <a:rPr kumimoji="1" lang="en-US" altLang="zh-TW" sz="3200" b="0" i="1" smtClean="0">
                                  <a:latin typeface="Cambria Math" panose="02040503050406030204" pitchFamily="18" charset="0"/>
                                </a:rPr>
                              </m:ctrlPr>
                            </m:dPr>
                            <m:e>
                              <m:r>
                                <a:rPr kumimoji="1" lang="en-US" altLang="zh-TW" sz="3200" b="0" i="1" smtClean="0">
                                  <a:latin typeface="Cambria Math" panose="02040503050406030204" pitchFamily="18" charset="0"/>
                                </a:rPr>
                                <m:t>1−</m:t>
                              </m:r>
                              <m:r>
                                <a:rPr kumimoji="1" lang="en-US" altLang="zh-TW" sz="3200" b="0" i="1" smtClean="0">
                                  <a:latin typeface="Cambria Math" panose="02040503050406030204" pitchFamily="18" charset="0"/>
                                </a:rPr>
                                <m:t>𝐹</m:t>
                              </m:r>
                              <m:d>
                                <m:dPr>
                                  <m:ctrlPr>
                                    <a:rPr kumimoji="1" lang="en-US" altLang="zh-TW" sz="3200" b="0" i="1" smtClean="0">
                                      <a:latin typeface="Cambria Math" panose="02040503050406030204" pitchFamily="18" charset="0"/>
                                    </a:rPr>
                                  </m:ctrlPr>
                                </m:dPr>
                                <m:e>
                                  <m:r>
                                    <a:rPr kumimoji="1" lang="en-US" altLang="zh-TW" sz="3200" b="0" i="1" smtClean="0">
                                      <a:latin typeface="Cambria Math" panose="02040503050406030204" pitchFamily="18" charset="0"/>
                                    </a:rPr>
                                    <m:t>𝑇</m:t>
                                  </m:r>
                                </m:e>
                              </m:d>
                            </m:e>
                          </m:d>
                        </m:e>
                        <m:sup>
                          <m:r>
                            <a:rPr kumimoji="1" lang="en-US" altLang="zh-TW" sz="3200" b="0" i="1" smtClean="0">
                              <a:latin typeface="Cambria Math" panose="02040503050406030204" pitchFamily="18" charset="0"/>
                            </a:rPr>
                            <m:t>𝑛</m:t>
                          </m:r>
                          <m:r>
                            <a:rPr kumimoji="1" lang="en-US" altLang="zh-TW" sz="3200" b="0" i="1" smtClean="0">
                              <a:latin typeface="Cambria Math" panose="02040503050406030204" pitchFamily="18" charset="0"/>
                            </a:rPr>
                            <m:t>−</m:t>
                          </m:r>
                          <m:r>
                            <a:rPr kumimoji="1" lang="en-US" altLang="zh-TW" sz="3200" b="0" i="1" smtClean="0">
                              <a:latin typeface="Cambria Math" panose="02040503050406030204" pitchFamily="18" charset="0"/>
                            </a:rPr>
                            <m:t>𝑟</m:t>
                          </m:r>
                        </m:sup>
                      </m:sSup>
                    </m:oMath>
                  </m:oMathPara>
                </a14:m>
                <a:endParaRPr kumimoji="1" lang="zh-TW" altLang="en-US"/>
              </a:p>
            </p:txBody>
          </p:sp>
        </mc:Choice>
        <mc:Fallback xmlns="">
          <p:sp>
            <p:nvSpPr>
              <p:cNvPr id="9" name="文字方塊 8">
                <a:extLst>
                  <a:ext uri="{FF2B5EF4-FFF2-40B4-BE49-F238E27FC236}">
                    <a16:creationId xmlns:a16="http://schemas.microsoft.com/office/drawing/2014/main" id="{7DEED869-9887-0E74-4578-5D27EA73CCE9}"/>
                  </a:ext>
                </a:extLst>
              </p:cNvPr>
              <p:cNvSpPr txBox="1">
                <a:spLocks noRot="1" noChangeAspect="1" noMove="1" noResize="1" noEditPoints="1" noAdjustHandles="1" noChangeArrowheads="1" noChangeShapeType="1" noTextEdit="1"/>
              </p:cNvSpPr>
              <p:nvPr/>
            </p:nvSpPr>
            <p:spPr>
              <a:xfrm>
                <a:off x="1600200" y="7698270"/>
                <a:ext cx="5442644" cy="1344342"/>
              </a:xfrm>
              <a:prstGeom prst="rect">
                <a:avLst/>
              </a:prstGeom>
              <a:blipFill>
                <a:blip r:embed="rId8"/>
                <a:stretch>
                  <a:fillRect l="-8858" t="-120755" b="-1830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87275615"/>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5375148" y="6972300"/>
            <a:ext cx="7537704" cy="1015663"/>
          </a:xfrm>
          <a:prstGeom prst="rect">
            <a:avLst/>
          </a:prstGeom>
        </p:spPr>
        <p:txBody>
          <a:bodyPr wrap="square" lIns="0" tIns="0" rIns="0" bIns="0" rtlCol="0" anchor="t">
            <a:spAutoFit/>
          </a:bodyPr>
          <a:lstStyle/>
          <a:p>
            <a:r>
              <a:rPr lang="en-US" sz="6600">
                <a:solidFill>
                  <a:srgbClr val="000000"/>
                </a:solidFill>
                <a:ea typeface="思源宋体 Bold"/>
              </a:rPr>
              <a:t>Common Distribution</a:t>
            </a: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1000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3"/>
          <p:cNvSpPr>
            <a:spLocks noGrp="1" noRot="1" noMove="1" noResize="1" noEditPoints="1" noAdjustHandles="1" noChangeArrowheads="1" noChangeShapeType="1"/>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7" name="Freeform 17"/>
          <p:cNvSpPr/>
          <p:nvPr/>
        </p:nvSpPr>
        <p:spPr>
          <a:xfrm>
            <a:off x="-6225649" y="75323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21" name="文字方塊 20">
            <a:extLst>
              <a:ext uri="{FF2B5EF4-FFF2-40B4-BE49-F238E27FC236}">
                <a16:creationId xmlns:a16="http://schemas.microsoft.com/office/drawing/2014/main" id="{C87FD078-3620-AEE3-8A42-44A030C3E30E}"/>
              </a:ext>
            </a:extLst>
          </p:cNvPr>
          <p:cNvSpPr txBox="1"/>
          <p:nvPr/>
        </p:nvSpPr>
        <p:spPr>
          <a:xfrm>
            <a:off x="1600200" y="883503"/>
            <a:ext cx="8610600" cy="830997"/>
          </a:xfrm>
          <a:prstGeom prst="rect">
            <a:avLst/>
          </a:prstGeom>
          <a:noFill/>
        </p:spPr>
        <p:txBody>
          <a:bodyPr wrap="square">
            <a:spAutoFit/>
          </a:bodyPr>
          <a:lstStyle/>
          <a:p>
            <a:r>
              <a:rPr lang="en" altLang="zh-TW" sz="4800" b="1">
                <a:solidFill>
                  <a:srgbClr val="000000"/>
                </a:solidFill>
                <a:effectLst/>
                <a:latin typeface="+mj-lt"/>
              </a:rPr>
              <a:t>Exponential Distribution</a:t>
            </a:r>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1600201" y="1996499"/>
                <a:ext cx="5172074" cy="1615955"/>
              </a:xfrm>
              <a:prstGeom prst="rect">
                <a:avLst/>
              </a:prstGeom>
              <a:noFill/>
            </p:spPr>
            <p:txBody>
              <a:bodyPr wrap="square" numCol="1">
                <a:spAutoFit/>
              </a:bodyPr>
              <a:lstStyle/>
              <a:p>
                <a:pPr marL="457200" indent="-457200">
                  <a:buFont typeface="Arial" panose="020B0604020202020204" pitchFamily="34" charset="0"/>
                  <a:buChar char="•"/>
                </a:pPr>
                <a:r>
                  <a:rPr lang="en-US" altLang="zh-TW" sz="3200">
                    <a:solidFill>
                      <a:srgbClr val="000000"/>
                    </a:solidFill>
                    <a:effectLst/>
                    <a:latin typeface="Helvetica" pitchFamily="2" charset="0"/>
                  </a:rPr>
                  <a:t>PDF : </a:t>
                </a:r>
                <a14:m>
                  <m:oMath xmlns:m="http://schemas.openxmlformats.org/officeDocument/2006/math">
                    <m:r>
                      <a:rPr lang="en-US" altLang="zh-TW" sz="3200" b="0" i="1" smtClean="0">
                        <a:solidFill>
                          <a:srgbClr val="000000"/>
                        </a:solidFill>
                        <a:effectLst/>
                        <a:latin typeface="Cambria Math" panose="02040503050406030204" pitchFamily="18" charset="0"/>
                      </a:rPr>
                      <m:t>𝑓</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𝜆</m:t>
                    </m:r>
                    <m:sSup>
                      <m:sSupPr>
                        <m:ctrlPr>
                          <a:rPr lang="en-US" altLang="zh-TW" sz="3200" b="0" i="1" smtClean="0">
                            <a:solidFill>
                              <a:srgbClr val="000000"/>
                            </a:solidFill>
                            <a:effectLst/>
                            <a:latin typeface="Cambria Math" panose="02040503050406030204" pitchFamily="18" charset="0"/>
                          </a:rPr>
                        </m:ctrlPr>
                      </m:sSupPr>
                      <m:e>
                        <m:r>
                          <a:rPr lang="en-US" altLang="zh-TW" sz="3200" b="0" i="1" smtClean="0">
                            <a:solidFill>
                              <a:srgbClr val="000000"/>
                            </a:solidFill>
                            <a:effectLst/>
                            <a:latin typeface="Cambria Math" panose="02040503050406030204" pitchFamily="18" charset="0"/>
                          </a:rPr>
                          <m:t>𝑒</m:t>
                        </m:r>
                      </m:e>
                      <m:sup>
                        <m:r>
                          <a:rPr lang="en-US" altLang="zh-TW" sz="3200" b="0" i="1" smtClean="0">
                            <a:solidFill>
                              <a:srgbClr val="000000"/>
                            </a:solidFill>
                            <a:effectLst/>
                            <a:latin typeface="Cambria Math" panose="02040503050406030204" pitchFamily="18" charset="0"/>
                          </a:rPr>
                          <m:t>−</m:t>
                        </m:r>
                        <m:r>
                          <a:rPr lang="en-US" altLang="zh-TW" sz="3200" b="0" i="1" smtClean="0">
                            <a:solidFill>
                              <a:srgbClr val="000000"/>
                            </a:solidFill>
                            <a:effectLst/>
                            <a:latin typeface="Cambria Math" panose="02040503050406030204" pitchFamily="18" charset="0"/>
                          </a:rPr>
                          <m:t>𝜆</m:t>
                        </m:r>
                        <m:r>
                          <a:rPr lang="en-US" altLang="zh-TW" sz="3200" b="0" i="1" smtClean="0">
                            <a:solidFill>
                              <a:srgbClr val="000000"/>
                            </a:solidFill>
                            <a:effectLst/>
                            <a:latin typeface="Cambria Math" panose="02040503050406030204" pitchFamily="18" charset="0"/>
                          </a:rPr>
                          <m:t>𝑡</m:t>
                        </m:r>
                      </m:sup>
                    </m:sSup>
                  </m:oMath>
                </a14:m>
                <a:r>
                  <a:rPr lang="en" altLang="zh-TW" sz="3200">
                    <a:effectLst/>
                    <a:latin typeface="Helvetica" pitchFamily="2" charset="0"/>
                  </a:rPr>
                  <a:t>	</a:t>
                </a:r>
              </a:p>
              <a:p>
                <a:pPr marL="457200" indent="-457200">
                  <a:buFont typeface="Arial" panose="020B0604020202020204" pitchFamily="34" charset="0"/>
                  <a:buChar char="•"/>
                </a:pPr>
                <a:r>
                  <a:rPr lang="en" altLang="zh-TW" sz="3200">
                    <a:effectLst/>
                    <a:latin typeface="Helvetica" pitchFamily="2" charset="0"/>
                  </a:rPr>
                  <a:t>Reliability : </a:t>
                </a:r>
                <a14:m>
                  <m:oMath xmlns:m="http://schemas.openxmlformats.org/officeDocument/2006/math">
                    <m:r>
                      <a:rPr lang="en-US" altLang="zh-TW" sz="3200" b="0" i="1" smtClean="0">
                        <a:effectLst/>
                        <a:latin typeface="Cambria Math" panose="02040503050406030204" pitchFamily="18" charset="0"/>
                      </a:rPr>
                      <m:t>𝑅</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𝑡</m:t>
                        </m:r>
                      </m:e>
                    </m:d>
                    <m:r>
                      <a:rPr lang="en-US" altLang="zh-TW" sz="3200" b="0" i="1" smtClean="0">
                        <a:effectLst/>
                        <a:latin typeface="Cambria Math" panose="02040503050406030204" pitchFamily="18" charset="0"/>
                      </a:rPr>
                      <m:t>=</m:t>
                    </m:r>
                    <m:sSup>
                      <m:sSupPr>
                        <m:ctrlPr>
                          <a:rPr lang="en-US" altLang="zh-TW" sz="3200" b="0" i="1" smtClean="0">
                            <a:effectLst/>
                            <a:latin typeface="Cambria Math" panose="02040503050406030204" pitchFamily="18" charset="0"/>
                          </a:rPr>
                        </m:ctrlPr>
                      </m:sSupPr>
                      <m:e>
                        <m:r>
                          <a:rPr lang="en-US" altLang="zh-TW" sz="3200" b="0" i="1" smtClean="0">
                            <a:effectLst/>
                            <a:latin typeface="Cambria Math" panose="02040503050406030204" pitchFamily="18" charset="0"/>
                          </a:rPr>
                          <m:t>𝑒</m:t>
                        </m:r>
                      </m:e>
                      <m:sup>
                        <m:r>
                          <a:rPr lang="en-US" altLang="zh-TW" sz="3200" b="0" i="1" smtClean="0">
                            <a:effectLst/>
                            <a:latin typeface="Cambria Math" panose="02040503050406030204" pitchFamily="18" charset="0"/>
                          </a:rPr>
                          <m:t>−</m:t>
                        </m:r>
                        <m:r>
                          <a:rPr lang="en-US" altLang="zh-TW" sz="3200" b="0" i="1" smtClean="0">
                            <a:effectLst/>
                            <a:latin typeface="Cambria Math" panose="02040503050406030204" pitchFamily="18" charset="0"/>
                          </a:rPr>
                          <m:t>𝜆</m:t>
                        </m:r>
                        <m:r>
                          <a:rPr lang="en-US" altLang="zh-TW" sz="3200" b="0" i="1" smtClean="0">
                            <a:effectLst/>
                            <a:latin typeface="Cambria Math" panose="02040503050406030204" pitchFamily="18" charset="0"/>
                          </a:rPr>
                          <m:t>𝑡</m:t>
                        </m:r>
                      </m:sup>
                    </m:sSup>
                  </m:oMath>
                </a14:m>
                <a:endParaRPr lang="en-US" altLang="zh-TW" sz="3200" b="0">
                  <a:effectLst/>
                  <a:latin typeface="Helvetica" pitchFamily="2" charset="0"/>
                </a:endParaRPr>
              </a:p>
              <a:p>
                <a:pPr marL="457200" indent="-457200">
                  <a:buFont typeface="Arial" panose="020B0604020202020204" pitchFamily="34" charset="0"/>
                  <a:buChar char="•"/>
                </a:pPr>
                <a:r>
                  <a:rPr lang="en" altLang="zh-TW" sz="3200">
                    <a:latin typeface="Helvetica" pitchFamily="2" charset="0"/>
                  </a:rPr>
                  <a:t>Failure Rate : </a:t>
                </a:r>
                <a14:m>
                  <m:oMath xmlns:m="http://schemas.openxmlformats.org/officeDocument/2006/math">
                    <m:r>
                      <a:rPr lang="en-US" altLang="zh-TW" sz="3200" b="0" i="1" smtClean="0">
                        <a:latin typeface="Cambria Math" panose="02040503050406030204" pitchFamily="18" charset="0"/>
                      </a:rPr>
                      <m:t>h</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𝑡</m:t>
                        </m:r>
                      </m:e>
                    </m:d>
                    <m:r>
                      <a:rPr lang="en-US" altLang="zh-TW" sz="3200" b="0" i="1" smtClean="0">
                        <a:latin typeface="Cambria Math" panose="02040503050406030204" pitchFamily="18" charset="0"/>
                      </a:rPr>
                      <m:t>=</m:t>
                    </m:r>
                    <m:r>
                      <a:rPr lang="en-US" altLang="zh-TW" sz="3200" b="0" i="1" smtClean="0">
                        <a:latin typeface="Cambria Math" panose="02040503050406030204" pitchFamily="18" charset="0"/>
                      </a:rPr>
                      <m:t>𝜆</m:t>
                    </m:r>
                  </m:oMath>
                </a14:m>
                <a:endParaRPr lang="en" altLang="zh-TW" sz="3200">
                  <a:effectLst/>
                  <a:latin typeface="Helvetica" pitchFamily="2" charset="0"/>
                </a:endParaRP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1600201" y="1996499"/>
                <a:ext cx="5172074" cy="1615955"/>
              </a:xfrm>
              <a:prstGeom prst="rect">
                <a:avLst/>
              </a:prstGeom>
              <a:blipFill>
                <a:blip r:embed="rId6"/>
                <a:stretch>
                  <a:fillRect l="-2712" t="-3396" b="-11321"/>
                </a:stretch>
              </a:blipFill>
            </p:spPr>
            <p:txBody>
              <a:bodyPr/>
              <a:lstStyle/>
              <a:p>
                <a:r>
                  <a:rPr lang="en-US">
                    <a:noFill/>
                  </a:rPr>
                  <a:t> </a:t>
                </a:r>
              </a:p>
            </p:txBody>
          </p:sp>
        </mc:Fallback>
      </mc:AlternateContent>
      <p:sp>
        <p:nvSpPr>
          <p:cNvPr id="6" name="文字方塊 5">
            <a:extLst>
              <a:ext uri="{FF2B5EF4-FFF2-40B4-BE49-F238E27FC236}">
                <a16:creationId xmlns:a16="http://schemas.microsoft.com/office/drawing/2014/main" id="{D59798FE-6BC2-8921-F5CB-02F8DC626F5F}"/>
              </a:ext>
            </a:extLst>
          </p:cNvPr>
          <p:cNvSpPr txBox="1"/>
          <p:nvPr/>
        </p:nvSpPr>
        <p:spPr>
          <a:xfrm>
            <a:off x="1600200" y="4305732"/>
            <a:ext cx="8610600" cy="830997"/>
          </a:xfrm>
          <a:prstGeom prst="rect">
            <a:avLst/>
          </a:prstGeom>
          <a:noFill/>
        </p:spPr>
        <p:txBody>
          <a:bodyPr wrap="square">
            <a:spAutoFit/>
          </a:bodyPr>
          <a:lstStyle/>
          <a:p>
            <a:r>
              <a:rPr lang="en" altLang="zh-TW" sz="4800" b="1">
                <a:solidFill>
                  <a:srgbClr val="000000"/>
                </a:solidFill>
                <a:effectLst/>
                <a:latin typeface="+mj-lt"/>
              </a:rPr>
              <a:t>Weibull Distribution</a:t>
            </a:r>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F8515E6D-9C59-88AD-45FB-1E602AF3B800}"/>
                  </a:ext>
                </a:extLst>
              </p:cNvPr>
              <p:cNvSpPr txBox="1"/>
              <p:nvPr/>
            </p:nvSpPr>
            <p:spPr>
              <a:xfrm>
                <a:off x="1600201" y="5418728"/>
                <a:ext cx="6900862" cy="2677721"/>
              </a:xfrm>
              <a:prstGeom prst="rect">
                <a:avLst/>
              </a:prstGeom>
              <a:noFill/>
            </p:spPr>
            <p:txBody>
              <a:bodyPr wrap="square" numCol="1">
                <a:spAutoFit/>
              </a:bodyPr>
              <a:lstStyle/>
              <a:p>
                <a:pPr marL="457200" indent="-457200">
                  <a:buFont typeface="Arial" panose="020B0604020202020204" pitchFamily="34" charset="0"/>
                  <a:buChar char="•"/>
                </a:pPr>
                <a:r>
                  <a:rPr lang="en-US" altLang="zh-TW" sz="3200">
                    <a:solidFill>
                      <a:srgbClr val="000000"/>
                    </a:solidFill>
                    <a:effectLst/>
                    <a:latin typeface="Helvetica" pitchFamily="2" charset="0"/>
                  </a:rPr>
                  <a:t>PDF : </a:t>
                </a:r>
                <a14:m>
                  <m:oMath xmlns:m="http://schemas.openxmlformats.org/officeDocument/2006/math">
                    <m:r>
                      <a:rPr lang="en-US" altLang="zh-TW" sz="3200" b="0" i="1" smtClean="0">
                        <a:solidFill>
                          <a:srgbClr val="000000"/>
                        </a:solidFill>
                        <a:effectLst/>
                        <a:latin typeface="Cambria Math" panose="02040503050406030204" pitchFamily="18" charset="0"/>
                      </a:rPr>
                      <m:t>𝑓</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r>
                          <a:rPr lang="en-US" altLang="zh-TW" sz="3200" b="0" i="1" smtClean="0">
                            <a:solidFill>
                              <a:srgbClr val="000000"/>
                            </a:solidFill>
                            <a:effectLst/>
                            <a:latin typeface="Cambria Math" panose="02040503050406030204" pitchFamily="18" charset="0"/>
                          </a:rPr>
                          <m:t> ;</m:t>
                        </m:r>
                        <m:r>
                          <a:rPr lang="en-US" altLang="zh-TW" sz="3200" b="0" i="1" smtClean="0">
                            <a:solidFill>
                              <a:srgbClr val="000000"/>
                            </a:solidFill>
                            <a:effectLst/>
                            <a:latin typeface="Cambria Math" panose="02040503050406030204" pitchFamily="18" charset="0"/>
                          </a:rPr>
                          <m:t>𝛽</m:t>
                        </m:r>
                        <m:r>
                          <a:rPr lang="en-US" altLang="zh-TW" sz="3200" b="0" i="1" smtClean="0">
                            <a:solidFill>
                              <a:srgbClr val="000000"/>
                            </a:solidFill>
                            <a:effectLst/>
                            <a:latin typeface="Cambria Math" panose="02040503050406030204" pitchFamily="18" charset="0"/>
                          </a:rPr>
                          <m:t> ,</m:t>
                        </m:r>
                        <m:r>
                          <a:rPr lang="en-US" altLang="zh-TW" sz="3200" b="0" i="1" smtClean="0">
                            <a:solidFill>
                              <a:srgbClr val="000000"/>
                            </a:solidFill>
                            <a:effectLst/>
                            <a:latin typeface="Cambria Math" panose="02040503050406030204" pitchFamily="18" charset="0"/>
                          </a:rPr>
                          <m:t>𝛼</m:t>
                        </m:r>
                      </m:e>
                    </m:d>
                    <m:r>
                      <a:rPr lang="en-US" altLang="zh-TW" sz="3200" b="0" i="1" smtClean="0">
                        <a:solidFill>
                          <a:srgbClr val="000000"/>
                        </a:solidFill>
                        <a:effectLst/>
                        <a:latin typeface="Cambria Math" panose="02040503050406030204" pitchFamily="18" charset="0"/>
                      </a:rPr>
                      <m:t>=</m:t>
                    </m:r>
                    <m:f>
                      <m:fPr>
                        <m:ctrlPr>
                          <a:rPr lang="en-US" altLang="zh-TW" sz="3200" b="0" i="1" smtClean="0">
                            <a:solidFill>
                              <a:srgbClr val="000000"/>
                            </a:solidFill>
                            <a:effectLst/>
                            <a:latin typeface="Cambria Math" panose="02040503050406030204" pitchFamily="18" charset="0"/>
                          </a:rPr>
                        </m:ctrlPr>
                      </m:fPr>
                      <m:num>
                        <m:r>
                          <a:rPr lang="en-US" altLang="zh-TW" sz="3200" b="0" i="1" smtClean="0">
                            <a:solidFill>
                              <a:srgbClr val="000000"/>
                            </a:solidFill>
                            <a:effectLst/>
                            <a:latin typeface="Cambria Math" panose="02040503050406030204" pitchFamily="18" charset="0"/>
                          </a:rPr>
                          <m:t>𝛽</m:t>
                        </m:r>
                      </m:num>
                      <m:den>
                        <m:r>
                          <a:rPr lang="en-US" altLang="zh-TW" sz="3200" b="0" i="1" smtClean="0">
                            <a:solidFill>
                              <a:srgbClr val="000000"/>
                            </a:solidFill>
                            <a:effectLst/>
                            <a:latin typeface="Cambria Math" panose="02040503050406030204" pitchFamily="18" charset="0"/>
                          </a:rPr>
                          <m:t>𝑡</m:t>
                        </m:r>
                      </m:den>
                    </m:f>
                    <m:sSup>
                      <m:sSupPr>
                        <m:ctrlPr>
                          <a:rPr lang="en-US" altLang="zh-TW" sz="3200" b="0" i="1" smtClean="0">
                            <a:solidFill>
                              <a:srgbClr val="000000"/>
                            </a:solidFill>
                            <a:effectLst/>
                            <a:latin typeface="Cambria Math" panose="02040503050406030204" pitchFamily="18" charset="0"/>
                          </a:rPr>
                        </m:ctrlPr>
                      </m:sSupPr>
                      <m:e>
                        <m:d>
                          <m:dPr>
                            <m:ctrlPr>
                              <a:rPr lang="en-US" altLang="zh-TW" sz="3200" b="0" i="1" smtClean="0">
                                <a:solidFill>
                                  <a:srgbClr val="000000"/>
                                </a:solidFill>
                                <a:effectLst/>
                                <a:latin typeface="Cambria Math" panose="02040503050406030204" pitchFamily="18" charset="0"/>
                              </a:rPr>
                            </m:ctrlPr>
                          </m:dPr>
                          <m:e>
                            <m:f>
                              <m:fPr>
                                <m:ctrlPr>
                                  <a:rPr lang="en-US" altLang="zh-TW" sz="3200" b="0" i="1" smtClean="0">
                                    <a:solidFill>
                                      <a:srgbClr val="000000"/>
                                    </a:solidFill>
                                    <a:effectLst/>
                                    <a:latin typeface="Cambria Math" panose="02040503050406030204" pitchFamily="18" charset="0"/>
                                  </a:rPr>
                                </m:ctrlPr>
                              </m:fPr>
                              <m:num>
                                <m:r>
                                  <a:rPr lang="en-US" altLang="zh-TW" sz="3200" b="0" i="1" smtClean="0">
                                    <a:solidFill>
                                      <a:srgbClr val="000000"/>
                                    </a:solidFill>
                                    <a:effectLst/>
                                    <a:latin typeface="Cambria Math" panose="02040503050406030204" pitchFamily="18" charset="0"/>
                                  </a:rPr>
                                  <m:t>𝑡</m:t>
                                </m:r>
                              </m:num>
                              <m:den>
                                <m:r>
                                  <a:rPr lang="en-US" altLang="zh-TW" sz="3200" b="0" i="1" smtClean="0">
                                    <a:solidFill>
                                      <a:srgbClr val="000000"/>
                                    </a:solidFill>
                                    <a:effectLst/>
                                    <a:latin typeface="Cambria Math" panose="02040503050406030204" pitchFamily="18" charset="0"/>
                                  </a:rPr>
                                  <m:t>𝛼</m:t>
                                </m:r>
                              </m:den>
                            </m:f>
                          </m:e>
                        </m:d>
                      </m:e>
                      <m:sup>
                        <m:r>
                          <a:rPr lang="en-US" altLang="zh-TW" sz="3200" b="0" i="1" smtClean="0">
                            <a:solidFill>
                              <a:srgbClr val="000000"/>
                            </a:solidFill>
                            <a:effectLst/>
                            <a:latin typeface="Cambria Math" panose="02040503050406030204" pitchFamily="18" charset="0"/>
                          </a:rPr>
                          <m:t>𝛽</m:t>
                        </m:r>
                      </m:sup>
                    </m:sSup>
                    <m:sSup>
                      <m:sSupPr>
                        <m:ctrlPr>
                          <a:rPr lang="en-US" altLang="zh-TW" sz="3200" b="0" i="1" smtClean="0">
                            <a:solidFill>
                              <a:srgbClr val="000000"/>
                            </a:solidFill>
                            <a:effectLst/>
                            <a:latin typeface="Cambria Math" panose="02040503050406030204" pitchFamily="18" charset="0"/>
                          </a:rPr>
                        </m:ctrlPr>
                      </m:sSupPr>
                      <m:e>
                        <m:r>
                          <a:rPr lang="en-US" altLang="zh-TW" sz="3200" b="0" i="1" smtClean="0">
                            <a:solidFill>
                              <a:srgbClr val="000000"/>
                            </a:solidFill>
                            <a:effectLst/>
                            <a:latin typeface="Cambria Math" panose="02040503050406030204" pitchFamily="18" charset="0"/>
                          </a:rPr>
                          <m:t>𝑒</m:t>
                        </m:r>
                      </m:e>
                      <m:sup>
                        <m:r>
                          <a:rPr lang="en-US" altLang="zh-TW" sz="3200" b="0" i="1" smtClean="0">
                            <a:solidFill>
                              <a:srgbClr val="000000"/>
                            </a:solidFill>
                            <a:effectLst/>
                            <a:latin typeface="Cambria Math" panose="02040503050406030204" pitchFamily="18" charset="0"/>
                          </a:rPr>
                          <m:t>−</m:t>
                        </m:r>
                        <m:sSup>
                          <m:sSupPr>
                            <m:ctrlPr>
                              <a:rPr lang="en-US" altLang="zh-TW" sz="3200" b="0" i="1" smtClean="0">
                                <a:solidFill>
                                  <a:srgbClr val="000000"/>
                                </a:solidFill>
                                <a:effectLst/>
                                <a:latin typeface="Cambria Math" panose="02040503050406030204" pitchFamily="18" charset="0"/>
                              </a:rPr>
                            </m:ctrlPr>
                          </m:sSupPr>
                          <m:e>
                            <m:d>
                              <m:dPr>
                                <m:ctrlPr>
                                  <a:rPr lang="en-US" altLang="zh-TW" sz="3200" b="0" i="1" smtClean="0">
                                    <a:solidFill>
                                      <a:srgbClr val="000000"/>
                                    </a:solidFill>
                                    <a:effectLst/>
                                    <a:latin typeface="Cambria Math" panose="02040503050406030204" pitchFamily="18" charset="0"/>
                                  </a:rPr>
                                </m:ctrlPr>
                              </m:dPr>
                              <m:e>
                                <m:f>
                                  <m:fPr>
                                    <m:ctrlPr>
                                      <a:rPr lang="en-US" altLang="zh-TW" sz="3200" b="0" i="1" smtClean="0">
                                        <a:solidFill>
                                          <a:srgbClr val="000000"/>
                                        </a:solidFill>
                                        <a:effectLst/>
                                        <a:latin typeface="Cambria Math" panose="02040503050406030204" pitchFamily="18" charset="0"/>
                                      </a:rPr>
                                    </m:ctrlPr>
                                  </m:fPr>
                                  <m:num>
                                    <m:r>
                                      <a:rPr lang="en-US" altLang="zh-TW" sz="3200" b="0" i="1" smtClean="0">
                                        <a:solidFill>
                                          <a:srgbClr val="000000"/>
                                        </a:solidFill>
                                        <a:effectLst/>
                                        <a:latin typeface="Cambria Math" panose="02040503050406030204" pitchFamily="18" charset="0"/>
                                      </a:rPr>
                                      <m:t>𝑡</m:t>
                                    </m:r>
                                  </m:num>
                                  <m:den>
                                    <m:r>
                                      <a:rPr lang="en-US" altLang="zh-TW" sz="3200" b="0" i="1" smtClean="0">
                                        <a:solidFill>
                                          <a:srgbClr val="000000"/>
                                        </a:solidFill>
                                        <a:effectLst/>
                                        <a:latin typeface="Cambria Math" panose="02040503050406030204" pitchFamily="18" charset="0"/>
                                      </a:rPr>
                                      <m:t>𝛼</m:t>
                                    </m:r>
                                  </m:den>
                                </m:f>
                              </m:e>
                            </m:d>
                          </m:e>
                          <m:sup>
                            <m:r>
                              <a:rPr lang="en-US" altLang="zh-TW" sz="3200" b="0" i="1" smtClean="0">
                                <a:solidFill>
                                  <a:srgbClr val="000000"/>
                                </a:solidFill>
                                <a:effectLst/>
                                <a:latin typeface="Cambria Math" panose="02040503050406030204" pitchFamily="18" charset="0"/>
                              </a:rPr>
                              <m:t>𝛽</m:t>
                            </m:r>
                          </m:sup>
                        </m:sSup>
                      </m:sup>
                    </m:sSup>
                  </m:oMath>
                </a14:m>
                <a:r>
                  <a:rPr lang="en" altLang="zh-TW" sz="3200">
                    <a:effectLst/>
                    <a:latin typeface="Helvetica" pitchFamily="2" charset="0"/>
                  </a:rPr>
                  <a:t>	</a:t>
                </a:r>
              </a:p>
              <a:p>
                <a:pPr marL="457200" indent="-457200">
                  <a:buFont typeface="Arial" panose="020B0604020202020204" pitchFamily="34" charset="0"/>
                  <a:buChar char="•"/>
                </a:pPr>
                <a:r>
                  <a:rPr lang="en" altLang="zh-TW" sz="3200">
                    <a:effectLst/>
                    <a:latin typeface="Helvetica" pitchFamily="2" charset="0"/>
                  </a:rPr>
                  <a:t>Reliability : </a:t>
                </a:r>
                <a14:m>
                  <m:oMath xmlns:m="http://schemas.openxmlformats.org/officeDocument/2006/math">
                    <m:r>
                      <a:rPr lang="en-US" altLang="zh-TW" sz="3200" b="0" i="1" smtClean="0">
                        <a:effectLst/>
                        <a:latin typeface="Cambria Math" panose="02040503050406030204" pitchFamily="18" charset="0"/>
                      </a:rPr>
                      <m:t>𝑅</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𝑡</m:t>
                        </m:r>
                      </m:e>
                    </m:d>
                    <m:r>
                      <a:rPr lang="en-US" altLang="zh-TW" sz="3200" b="0" i="1" smtClean="0">
                        <a:effectLst/>
                        <a:latin typeface="Cambria Math" panose="02040503050406030204" pitchFamily="18" charset="0"/>
                      </a:rPr>
                      <m:t>=</m:t>
                    </m:r>
                    <m:sSup>
                      <m:sSupPr>
                        <m:ctrlPr>
                          <a:rPr lang="en-US" altLang="zh-TW" sz="3200" b="0" i="1" smtClean="0">
                            <a:effectLst/>
                            <a:latin typeface="Cambria Math" panose="02040503050406030204" pitchFamily="18" charset="0"/>
                          </a:rPr>
                        </m:ctrlPr>
                      </m:sSupPr>
                      <m:e>
                        <m:r>
                          <a:rPr lang="en-US" altLang="zh-TW" sz="3200" b="0" i="1" smtClean="0">
                            <a:effectLst/>
                            <a:latin typeface="Cambria Math" panose="02040503050406030204" pitchFamily="18" charset="0"/>
                          </a:rPr>
                          <m:t>𝑒</m:t>
                        </m:r>
                      </m:e>
                      <m:sup>
                        <m:r>
                          <a:rPr lang="en-US" altLang="zh-TW" sz="3200" b="0" i="1" smtClean="0">
                            <a:effectLst/>
                            <a:latin typeface="Cambria Math" panose="02040503050406030204" pitchFamily="18" charset="0"/>
                          </a:rPr>
                          <m:t>−</m:t>
                        </m:r>
                        <m:sSup>
                          <m:sSupPr>
                            <m:ctrlPr>
                              <a:rPr lang="en-US" altLang="zh-TW" sz="3200" b="0" i="1" smtClean="0">
                                <a:effectLst/>
                                <a:latin typeface="Cambria Math" panose="02040503050406030204" pitchFamily="18" charset="0"/>
                              </a:rPr>
                            </m:ctrlPr>
                          </m:sSupPr>
                          <m:e>
                            <m:d>
                              <m:dPr>
                                <m:ctrlPr>
                                  <a:rPr lang="en-US" altLang="zh-TW" sz="3200" b="0" i="1" smtClean="0">
                                    <a:effectLst/>
                                    <a:latin typeface="Cambria Math" panose="02040503050406030204" pitchFamily="18" charset="0"/>
                                  </a:rPr>
                                </m:ctrlPr>
                              </m:dPr>
                              <m:e>
                                <m:f>
                                  <m:fPr>
                                    <m:ctrlPr>
                                      <a:rPr lang="en-US" altLang="zh-TW" sz="3200" b="0" i="1" smtClean="0">
                                        <a:effectLst/>
                                        <a:latin typeface="Cambria Math" panose="02040503050406030204" pitchFamily="18" charset="0"/>
                                      </a:rPr>
                                    </m:ctrlPr>
                                  </m:fPr>
                                  <m:num>
                                    <m:r>
                                      <a:rPr lang="en-US" altLang="zh-TW" sz="3200" b="0" i="1" smtClean="0">
                                        <a:effectLst/>
                                        <a:latin typeface="Cambria Math" panose="02040503050406030204" pitchFamily="18" charset="0"/>
                                      </a:rPr>
                                      <m:t>𝑡</m:t>
                                    </m:r>
                                  </m:num>
                                  <m:den>
                                    <m:r>
                                      <a:rPr lang="en-US" altLang="zh-TW" sz="3200" b="0" i="1" smtClean="0">
                                        <a:effectLst/>
                                        <a:latin typeface="Cambria Math" panose="02040503050406030204" pitchFamily="18" charset="0"/>
                                      </a:rPr>
                                      <m:t>𝛼</m:t>
                                    </m:r>
                                  </m:den>
                                </m:f>
                              </m:e>
                            </m:d>
                          </m:e>
                          <m:sup>
                            <m:r>
                              <a:rPr lang="en-US" altLang="zh-TW" sz="3200" b="0" i="1" smtClean="0">
                                <a:effectLst/>
                                <a:latin typeface="Cambria Math" panose="02040503050406030204" pitchFamily="18" charset="0"/>
                              </a:rPr>
                              <m:t>𝛽</m:t>
                            </m:r>
                          </m:sup>
                        </m:sSup>
                      </m:sup>
                    </m:sSup>
                  </m:oMath>
                </a14:m>
                <a:endParaRPr lang="en-US" altLang="zh-TW" sz="3200" b="0">
                  <a:effectLst/>
                  <a:latin typeface="Helvetica" pitchFamily="2" charset="0"/>
                </a:endParaRPr>
              </a:p>
              <a:p>
                <a:pPr marL="457200" indent="-457200">
                  <a:buFont typeface="Arial" panose="020B0604020202020204" pitchFamily="34" charset="0"/>
                  <a:buChar char="•"/>
                </a:pPr>
                <a:r>
                  <a:rPr lang="en" altLang="zh-TW" sz="3200">
                    <a:latin typeface="Helvetica" pitchFamily="2" charset="0"/>
                  </a:rPr>
                  <a:t>Failure Rate : </a:t>
                </a:r>
                <a14:m>
                  <m:oMath xmlns:m="http://schemas.openxmlformats.org/officeDocument/2006/math">
                    <m:r>
                      <a:rPr lang="en-US" altLang="zh-TW" sz="3200" b="0" i="1" smtClean="0">
                        <a:latin typeface="Cambria Math" panose="02040503050406030204" pitchFamily="18" charset="0"/>
                      </a:rPr>
                      <m:t>h</m:t>
                    </m:r>
                    <m:d>
                      <m:dPr>
                        <m:ctrlPr>
                          <a:rPr lang="en-US" altLang="zh-TW" sz="3200" b="0" i="1" smtClean="0">
                            <a:latin typeface="Cambria Math" panose="02040503050406030204" pitchFamily="18" charset="0"/>
                          </a:rPr>
                        </m:ctrlPr>
                      </m:dPr>
                      <m:e>
                        <m:r>
                          <a:rPr lang="en-US" altLang="zh-TW" sz="3200" b="0" i="1" smtClean="0">
                            <a:latin typeface="Cambria Math" panose="02040503050406030204" pitchFamily="18" charset="0"/>
                          </a:rPr>
                          <m:t>𝑡</m:t>
                        </m:r>
                      </m:e>
                    </m:d>
                    <m:r>
                      <a:rPr lang="en-US" altLang="zh-TW" sz="3200" b="0" i="1" smtClean="0">
                        <a:latin typeface="Cambria Math" panose="02040503050406030204" pitchFamily="18" charset="0"/>
                      </a:rPr>
                      <m:t>=</m:t>
                    </m:r>
                    <m:f>
                      <m:fPr>
                        <m:ctrlPr>
                          <a:rPr lang="en-US" altLang="zh-TW" sz="3200" b="0" i="1" smtClean="0">
                            <a:latin typeface="Cambria Math" panose="02040503050406030204" pitchFamily="18" charset="0"/>
                          </a:rPr>
                        </m:ctrlPr>
                      </m:fPr>
                      <m:num>
                        <m:r>
                          <a:rPr lang="en-US" altLang="zh-TW" sz="3200" b="0" i="1" smtClean="0">
                            <a:latin typeface="Cambria Math" panose="02040503050406030204" pitchFamily="18" charset="0"/>
                          </a:rPr>
                          <m:t>𝛽</m:t>
                        </m:r>
                      </m:num>
                      <m:den>
                        <m:r>
                          <a:rPr lang="en-US" altLang="zh-TW" sz="3200" b="0" i="1" smtClean="0">
                            <a:latin typeface="Cambria Math" panose="02040503050406030204" pitchFamily="18" charset="0"/>
                          </a:rPr>
                          <m:t>𝛼</m:t>
                        </m:r>
                      </m:den>
                    </m:f>
                    <m:sSup>
                      <m:sSupPr>
                        <m:ctrlPr>
                          <a:rPr lang="en-US" altLang="zh-TW" sz="3200" b="0" i="1" smtClean="0">
                            <a:latin typeface="Cambria Math" panose="02040503050406030204" pitchFamily="18" charset="0"/>
                          </a:rPr>
                        </m:ctrlPr>
                      </m:sSupPr>
                      <m:e>
                        <m:d>
                          <m:dPr>
                            <m:ctrlPr>
                              <a:rPr lang="en-US" altLang="zh-TW" sz="3200" b="0" i="1" smtClean="0">
                                <a:latin typeface="Cambria Math" panose="02040503050406030204" pitchFamily="18" charset="0"/>
                              </a:rPr>
                            </m:ctrlPr>
                          </m:dPr>
                          <m:e>
                            <m:f>
                              <m:fPr>
                                <m:ctrlPr>
                                  <a:rPr lang="en-US" altLang="zh-TW" sz="3200" b="0" i="1" smtClean="0">
                                    <a:latin typeface="Cambria Math" panose="02040503050406030204" pitchFamily="18" charset="0"/>
                                  </a:rPr>
                                </m:ctrlPr>
                              </m:fPr>
                              <m:num>
                                <m:r>
                                  <a:rPr lang="en-US" altLang="zh-TW" sz="3200" b="0" i="1" smtClean="0">
                                    <a:latin typeface="Cambria Math" panose="02040503050406030204" pitchFamily="18" charset="0"/>
                                  </a:rPr>
                                  <m:t>𝑡</m:t>
                                </m:r>
                              </m:num>
                              <m:den>
                                <m:r>
                                  <m:rPr>
                                    <m:lit/>
                                  </m:rPr>
                                  <a:rPr lang="en-US" altLang="zh-TW" sz="3200" b="0" i="1" smtClean="0">
                                    <a:latin typeface="Cambria Math" panose="02040503050406030204" pitchFamily="18" charset="0"/>
                                  </a:rPr>
                                  <m:t> </m:t>
                                </m:r>
                                <m:r>
                                  <a:rPr lang="en-US" altLang="zh-TW" sz="3200" b="0" i="1" smtClean="0">
                                    <a:latin typeface="Cambria Math" panose="02040503050406030204" pitchFamily="18" charset="0"/>
                                  </a:rPr>
                                  <m:t>𝛼</m:t>
                                </m:r>
                                <m:r>
                                  <a:rPr lang="en-US" altLang="zh-TW" sz="3200" b="0" i="1" smtClean="0">
                                    <a:latin typeface="Cambria Math" panose="02040503050406030204" pitchFamily="18" charset="0"/>
                                  </a:rPr>
                                  <m:t> </m:t>
                                </m:r>
                              </m:den>
                            </m:f>
                          </m:e>
                        </m:d>
                      </m:e>
                      <m:sup>
                        <m:r>
                          <a:rPr lang="en-US" altLang="zh-TW" sz="3200" b="0" i="1" smtClean="0">
                            <a:latin typeface="Cambria Math" panose="02040503050406030204" pitchFamily="18" charset="0"/>
                          </a:rPr>
                          <m:t>𝛽</m:t>
                        </m:r>
                        <m:r>
                          <a:rPr lang="en-US" altLang="zh-TW" sz="3200" b="0" i="1" smtClean="0">
                            <a:latin typeface="Cambria Math" panose="02040503050406030204" pitchFamily="18" charset="0"/>
                          </a:rPr>
                          <m:t>−1</m:t>
                        </m:r>
                      </m:sup>
                    </m:sSup>
                  </m:oMath>
                </a14:m>
                <a:endParaRPr lang="en" altLang="zh-TW" sz="3200">
                  <a:effectLst/>
                  <a:latin typeface="Helvetica" pitchFamily="2" charset="0"/>
                </a:endParaRPr>
              </a:p>
            </p:txBody>
          </p:sp>
        </mc:Choice>
        <mc:Fallback xmlns="">
          <p:sp>
            <p:nvSpPr>
              <p:cNvPr id="7" name="文字方塊 6">
                <a:extLst>
                  <a:ext uri="{FF2B5EF4-FFF2-40B4-BE49-F238E27FC236}">
                    <a16:creationId xmlns:a16="http://schemas.microsoft.com/office/drawing/2014/main" id="{F8515E6D-9C59-88AD-45FB-1E602AF3B800}"/>
                  </a:ext>
                </a:extLst>
              </p:cNvPr>
              <p:cNvSpPr txBox="1">
                <a:spLocks noRot="1" noChangeAspect="1" noMove="1" noResize="1" noEditPoints="1" noAdjustHandles="1" noChangeArrowheads="1" noChangeShapeType="1" noTextEdit="1"/>
              </p:cNvSpPr>
              <p:nvPr/>
            </p:nvSpPr>
            <p:spPr>
              <a:xfrm>
                <a:off x="1600201" y="5418728"/>
                <a:ext cx="6900862" cy="2677721"/>
              </a:xfrm>
              <a:prstGeom prst="rect">
                <a:avLst/>
              </a:prstGeom>
              <a:blipFill>
                <a:blip r:embed="rId7"/>
                <a:stretch>
                  <a:fillRect l="-2022" b="-4717"/>
                </a:stretch>
              </a:blipFill>
            </p:spPr>
            <p:txBody>
              <a:bodyPr/>
              <a:lstStyle/>
              <a:p>
                <a:r>
                  <a:rPr lang="zh-TW" altLang="en-US">
                    <a:noFill/>
                  </a:rPr>
                  <a:t> </a:t>
                </a:r>
              </a:p>
            </p:txBody>
          </p:sp>
        </mc:Fallback>
      </mc:AlternateContent>
      <p:pic>
        <p:nvPicPr>
          <p:cNvPr id="1028" name="Picture 4" descr="Weibull Distribution - MATLAB &amp; Simulink">
            <a:extLst>
              <a:ext uri="{FF2B5EF4-FFF2-40B4-BE49-F238E27FC236}">
                <a16:creationId xmlns:a16="http://schemas.microsoft.com/office/drawing/2014/main" id="{6623EEC4-7C66-A876-0E3D-53E28B26996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97876" y="4305732"/>
            <a:ext cx="71120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4355206"/>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3" name="文字方塊 2">
            <a:extLst>
              <a:ext uri="{FF2B5EF4-FFF2-40B4-BE49-F238E27FC236}">
                <a16:creationId xmlns:a16="http://schemas.microsoft.com/office/drawing/2014/main" id="{BF2A3C78-3EFB-5759-E785-3F2329BAFF62}"/>
              </a:ext>
            </a:extLst>
          </p:cNvPr>
          <p:cNvSpPr txBox="1"/>
          <p:nvPr/>
        </p:nvSpPr>
        <p:spPr>
          <a:xfrm>
            <a:off x="1600200" y="921603"/>
            <a:ext cx="8610600" cy="830997"/>
          </a:xfrm>
          <a:prstGeom prst="rect">
            <a:avLst/>
          </a:prstGeom>
          <a:noFill/>
        </p:spPr>
        <p:txBody>
          <a:bodyPr wrap="square">
            <a:spAutoFit/>
          </a:bodyPr>
          <a:lstStyle/>
          <a:p>
            <a:r>
              <a:rPr lang="en" altLang="zh-TW" sz="4800" b="1">
                <a:solidFill>
                  <a:srgbClr val="000000"/>
                </a:solidFill>
                <a:effectLst/>
                <a:latin typeface="+mj-lt"/>
              </a:rPr>
              <a:t>Lognormal Distribution</a:t>
            </a:r>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A9B4F98C-02C2-82D1-54EE-F294052770CE}"/>
                  </a:ext>
                </a:extLst>
              </p:cNvPr>
              <p:cNvSpPr txBox="1"/>
              <p:nvPr/>
            </p:nvSpPr>
            <p:spPr>
              <a:xfrm>
                <a:off x="1600200" y="2034599"/>
                <a:ext cx="12471399" cy="1759328"/>
              </a:xfrm>
              <a:prstGeom prst="rect">
                <a:avLst/>
              </a:prstGeom>
              <a:noFill/>
            </p:spPr>
            <p:txBody>
              <a:bodyPr wrap="square" numCol="1">
                <a:spAutoFit/>
              </a:bodyPr>
              <a:lstStyle/>
              <a:p>
                <a:pPr marL="457200" indent="-457200">
                  <a:buFont typeface="Arial" panose="020B0604020202020204" pitchFamily="34" charset="0"/>
                  <a:buChar char="•"/>
                </a:pPr>
                <a:r>
                  <a:rPr lang="en-US" altLang="zh-TW" sz="3200">
                    <a:solidFill>
                      <a:srgbClr val="000000"/>
                    </a:solidFill>
                    <a:effectLst/>
                    <a:latin typeface="Helvetica" pitchFamily="2" charset="0"/>
                  </a:rPr>
                  <a:t>PDF : </a:t>
                </a:r>
                <a14:m>
                  <m:oMath xmlns:m="http://schemas.openxmlformats.org/officeDocument/2006/math">
                    <m:r>
                      <a:rPr lang="en-US" altLang="zh-TW" sz="3200" b="0" i="1" smtClean="0">
                        <a:solidFill>
                          <a:srgbClr val="000000"/>
                        </a:solidFill>
                        <a:effectLst/>
                        <a:latin typeface="Cambria Math" panose="02040503050406030204" pitchFamily="18" charset="0"/>
                      </a:rPr>
                      <m:t>𝑓</m:t>
                    </m:r>
                    <m:d>
                      <m:dPr>
                        <m:ctrlPr>
                          <a:rPr lang="en-US" altLang="zh-TW" sz="3200" b="0" i="1" smtClean="0">
                            <a:solidFill>
                              <a:srgbClr val="000000"/>
                            </a:solidFill>
                            <a:effectLst/>
                            <a:latin typeface="Cambria Math" panose="02040503050406030204" pitchFamily="18" charset="0"/>
                          </a:rPr>
                        </m:ctrlPr>
                      </m:dPr>
                      <m:e>
                        <m:r>
                          <a:rPr lang="en-US" altLang="zh-TW" sz="3200" b="0" i="1" smtClean="0">
                            <a:solidFill>
                              <a:srgbClr val="000000"/>
                            </a:solidFill>
                            <a:effectLst/>
                            <a:latin typeface="Cambria Math" panose="02040503050406030204" pitchFamily="18" charset="0"/>
                          </a:rPr>
                          <m:t>𝑡</m:t>
                        </m:r>
                      </m:e>
                    </m:d>
                    <m:r>
                      <a:rPr lang="en-US" altLang="zh-TW" sz="3200" b="0" i="1" smtClean="0">
                        <a:solidFill>
                          <a:srgbClr val="000000"/>
                        </a:solidFill>
                        <a:effectLst/>
                        <a:latin typeface="Cambria Math" panose="02040503050406030204" pitchFamily="18" charset="0"/>
                      </a:rPr>
                      <m:t>=</m:t>
                    </m:r>
                  </m:oMath>
                </a14:m>
                <a:r>
                  <a:rPr lang="en" altLang="zh-TW" sz="3200">
                    <a:effectLst/>
                    <a:latin typeface="Helvetica" pitchFamily="2" charset="0"/>
                  </a:rPr>
                  <a:t> </a:t>
                </a:r>
                <a14:m>
                  <m:oMath xmlns:m="http://schemas.openxmlformats.org/officeDocument/2006/math">
                    <m:f>
                      <m:fPr>
                        <m:ctrlPr>
                          <a:rPr lang="en-US" altLang="zh-TW" sz="3200" b="0" i="1" dirty="0" smtClean="0">
                            <a:effectLst/>
                            <a:latin typeface="Cambria Math" panose="02040503050406030204" pitchFamily="18" charset="0"/>
                          </a:rPr>
                        </m:ctrlPr>
                      </m:fPr>
                      <m:num>
                        <m:r>
                          <a:rPr lang="en-US" altLang="zh-TW" sz="3200" b="0" i="1" dirty="0" smtClean="0">
                            <a:effectLst/>
                            <a:latin typeface="Cambria Math" panose="02040503050406030204" pitchFamily="18" charset="0"/>
                          </a:rPr>
                          <m:t>1</m:t>
                        </m:r>
                      </m:num>
                      <m:den>
                        <m:r>
                          <a:rPr lang="en-US" altLang="zh-TW" sz="3200" b="0" i="1" dirty="0" smtClean="0">
                            <a:effectLst/>
                            <a:latin typeface="Cambria Math" panose="02040503050406030204" pitchFamily="18" charset="0"/>
                          </a:rPr>
                          <m:t>𝜎</m:t>
                        </m:r>
                        <m:r>
                          <a:rPr lang="en-US" altLang="zh-TW" sz="3200" b="0" i="1" dirty="0" smtClean="0">
                            <a:effectLst/>
                            <a:latin typeface="Cambria Math" panose="02040503050406030204" pitchFamily="18" charset="0"/>
                          </a:rPr>
                          <m:t>𝑡</m:t>
                        </m:r>
                        <m:rad>
                          <m:radPr>
                            <m:degHide m:val="on"/>
                            <m:ctrlPr>
                              <a:rPr lang="en-US" altLang="zh-TW" sz="3200" b="0" i="1" dirty="0" smtClean="0">
                                <a:effectLst/>
                                <a:latin typeface="Cambria Math" panose="02040503050406030204" pitchFamily="18" charset="0"/>
                              </a:rPr>
                            </m:ctrlPr>
                          </m:radPr>
                          <m:deg/>
                          <m:e>
                            <m:r>
                              <a:rPr lang="en-US" altLang="zh-TW" sz="3200" b="0" i="1" dirty="0" smtClean="0">
                                <a:effectLst/>
                                <a:latin typeface="Cambria Math" panose="02040503050406030204" pitchFamily="18" charset="0"/>
                              </a:rPr>
                              <m:t>2</m:t>
                            </m:r>
                            <m:r>
                              <a:rPr lang="en-US" altLang="zh-TW" sz="3200" b="0" i="1" dirty="0" smtClean="0">
                                <a:effectLst/>
                                <a:latin typeface="Cambria Math" panose="02040503050406030204" pitchFamily="18" charset="0"/>
                              </a:rPr>
                              <m:t>𝜋</m:t>
                            </m:r>
                          </m:e>
                        </m:rad>
                        <m:r>
                          <a:rPr lang="en-US" altLang="zh-TW" sz="3200" b="0" i="1" dirty="0" smtClean="0">
                            <a:effectLst/>
                            <a:latin typeface="Cambria Math" panose="02040503050406030204" pitchFamily="18" charset="0"/>
                          </a:rPr>
                          <m:t> </m:t>
                        </m:r>
                      </m:den>
                    </m:f>
                    <m:sSup>
                      <m:sSupPr>
                        <m:ctrlPr>
                          <a:rPr lang="en-US" altLang="zh-TW" sz="3200" b="0" i="1" dirty="0" smtClean="0">
                            <a:effectLst/>
                            <a:latin typeface="Cambria Math" panose="02040503050406030204" pitchFamily="18" charset="0"/>
                          </a:rPr>
                        </m:ctrlPr>
                      </m:sSupPr>
                      <m:e>
                        <m:sSup>
                          <m:sSupPr>
                            <m:ctrlPr>
                              <a:rPr lang="en-US" altLang="zh-TW" sz="3200" b="0" i="1" dirty="0" smtClean="0">
                                <a:effectLst/>
                                <a:latin typeface="Cambria Math" panose="02040503050406030204" pitchFamily="18" charset="0"/>
                              </a:rPr>
                            </m:ctrlPr>
                          </m:sSupPr>
                          <m:e>
                            <m:r>
                              <a:rPr lang="en-US" altLang="zh-TW" sz="3200" b="0" i="1" dirty="0" smtClean="0">
                                <a:effectLst/>
                                <a:latin typeface="Cambria Math" panose="02040503050406030204" pitchFamily="18" charset="0"/>
                              </a:rPr>
                              <m:t>𝑒</m:t>
                            </m:r>
                          </m:e>
                          <m:sup>
                            <m:r>
                              <a:rPr lang="en-US" altLang="zh-TW" sz="3200" b="0" i="1" dirty="0" smtClean="0">
                                <a:effectLst/>
                                <a:latin typeface="Cambria Math" panose="02040503050406030204" pitchFamily="18" charset="0"/>
                              </a:rPr>
                              <m:t>−</m:t>
                            </m:r>
                            <m:d>
                              <m:dPr>
                                <m:ctrlPr>
                                  <a:rPr lang="en-US" altLang="zh-TW" sz="3200" b="0" i="1" dirty="0" smtClean="0">
                                    <a:effectLst/>
                                    <a:latin typeface="Cambria Math" panose="02040503050406030204" pitchFamily="18" charset="0"/>
                                  </a:rPr>
                                </m:ctrlPr>
                              </m:dPr>
                              <m:e>
                                <m:f>
                                  <m:fPr>
                                    <m:ctrlPr>
                                      <a:rPr lang="en-US" altLang="zh-TW" sz="3200" b="0" i="1" dirty="0" smtClean="0">
                                        <a:effectLst/>
                                        <a:latin typeface="Cambria Math" panose="02040503050406030204" pitchFamily="18" charset="0"/>
                                      </a:rPr>
                                    </m:ctrlPr>
                                  </m:fPr>
                                  <m:num>
                                    <m:r>
                                      <a:rPr lang="en-US" altLang="zh-TW" sz="3200" b="0" i="1" dirty="0" smtClean="0">
                                        <a:effectLst/>
                                        <a:latin typeface="Cambria Math" panose="02040503050406030204" pitchFamily="18" charset="0"/>
                                      </a:rPr>
                                      <m:t>1</m:t>
                                    </m:r>
                                  </m:num>
                                  <m:den>
                                    <m:r>
                                      <a:rPr lang="en-US" altLang="zh-TW" sz="3200" b="0" i="1" dirty="0" smtClean="0">
                                        <a:effectLst/>
                                        <a:latin typeface="Cambria Math" panose="02040503050406030204" pitchFamily="18" charset="0"/>
                                      </a:rPr>
                                      <m:t>2</m:t>
                                    </m:r>
                                    <m:sSup>
                                      <m:sSupPr>
                                        <m:ctrlPr>
                                          <a:rPr lang="en-US" altLang="zh-TW" sz="3200" b="0" i="1" dirty="0" smtClean="0">
                                            <a:effectLst/>
                                            <a:latin typeface="Cambria Math" panose="02040503050406030204" pitchFamily="18" charset="0"/>
                                          </a:rPr>
                                        </m:ctrlPr>
                                      </m:sSupPr>
                                      <m:e>
                                        <m:r>
                                          <a:rPr lang="en-US" altLang="zh-TW" sz="3200" b="0" i="1" dirty="0" smtClean="0">
                                            <a:effectLst/>
                                            <a:latin typeface="Cambria Math" panose="02040503050406030204" pitchFamily="18" charset="0"/>
                                          </a:rPr>
                                          <m:t>𝜎</m:t>
                                        </m:r>
                                      </m:e>
                                      <m:sup>
                                        <m:r>
                                          <a:rPr lang="en-US" altLang="zh-TW" sz="3200" b="0" i="1" dirty="0" smtClean="0">
                                            <a:effectLst/>
                                            <a:latin typeface="Cambria Math" panose="02040503050406030204" pitchFamily="18" charset="0"/>
                                          </a:rPr>
                                          <m:t>2</m:t>
                                        </m:r>
                                      </m:sup>
                                    </m:sSup>
                                  </m:den>
                                </m:f>
                              </m:e>
                            </m:d>
                            <m:d>
                              <m:dPr>
                                <m:ctrlPr>
                                  <a:rPr lang="en-US" altLang="zh-TW" sz="3200" b="0" i="1" dirty="0" smtClean="0">
                                    <a:effectLst/>
                                    <a:latin typeface="Cambria Math" panose="02040503050406030204" pitchFamily="18" charset="0"/>
                                  </a:rPr>
                                </m:ctrlPr>
                              </m:dPr>
                              <m:e>
                                <m:func>
                                  <m:funcPr>
                                    <m:ctrlPr>
                                      <a:rPr lang="en-US" altLang="zh-TW" sz="3200" b="0" i="1" dirty="0" smtClean="0">
                                        <a:effectLst/>
                                        <a:latin typeface="Cambria Math" panose="02040503050406030204" pitchFamily="18" charset="0"/>
                                      </a:rPr>
                                    </m:ctrlPr>
                                  </m:funcPr>
                                  <m:fName>
                                    <m:r>
                                      <m:rPr>
                                        <m:sty m:val="p"/>
                                      </m:rPr>
                                      <a:rPr lang="en-US" altLang="zh-TW" sz="3200" b="0" i="0" dirty="0" smtClean="0">
                                        <a:effectLst/>
                                        <a:latin typeface="Cambria Math" panose="02040503050406030204" pitchFamily="18" charset="0"/>
                                      </a:rPr>
                                      <m:t>ln</m:t>
                                    </m:r>
                                  </m:fName>
                                  <m:e>
                                    <m:r>
                                      <a:rPr lang="en-US" altLang="zh-TW" sz="3200" b="0" i="1" dirty="0" smtClean="0">
                                        <a:effectLst/>
                                        <a:latin typeface="Cambria Math" panose="02040503050406030204" pitchFamily="18" charset="0"/>
                                      </a:rPr>
                                      <m:t>𝑡</m:t>
                                    </m:r>
                                    <m:r>
                                      <a:rPr lang="en-US" altLang="zh-TW" sz="3200" b="0" i="1" dirty="0" smtClean="0">
                                        <a:effectLst/>
                                        <a:latin typeface="Cambria Math" panose="02040503050406030204" pitchFamily="18" charset="0"/>
                                      </a:rPr>
                                      <m:t> −</m:t>
                                    </m:r>
                                    <m:func>
                                      <m:funcPr>
                                        <m:ctrlPr>
                                          <a:rPr lang="en-US" altLang="zh-TW" sz="3200" b="0" i="1" dirty="0" smtClean="0">
                                            <a:effectLst/>
                                            <a:latin typeface="Cambria Math" panose="02040503050406030204" pitchFamily="18" charset="0"/>
                                          </a:rPr>
                                        </m:ctrlPr>
                                      </m:funcPr>
                                      <m:fName>
                                        <m:r>
                                          <m:rPr>
                                            <m:sty m:val="p"/>
                                          </m:rPr>
                                          <a:rPr lang="en-US" altLang="zh-TW" sz="3200" b="0" i="0" dirty="0" smtClean="0">
                                            <a:effectLst/>
                                            <a:latin typeface="Cambria Math" panose="02040503050406030204" pitchFamily="18" charset="0"/>
                                          </a:rPr>
                                          <m:t>ln</m:t>
                                        </m:r>
                                      </m:fName>
                                      <m:e>
                                        <m:sSub>
                                          <m:sSubPr>
                                            <m:ctrlPr>
                                              <a:rPr lang="en-US" altLang="zh-TW" sz="3200" b="0" i="1" dirty="0" smtClean="0">
                                                <a:effectLst/>
                                                <a:latin typeface="Cambria Math" panose="02040503050406030204" pitchFamily="18" charset="0"/>
                                              </a:rPr>
                                            </m:ctrlPr>
                                          </m:sSubPr>
                                          <m:e>
                                            <m:r>
                                              <a:rPr lang="en-US" altLang="zh-TW" sz="3200" b="0" i="1" dirty="0" smtClean="0">
                                                <a:effectLst/>
                                                <a:latin typeface="Cambria Math" panose="02040503050406030204" pitchFamily="18" charset="0"/>
                                              </a:rPr>
                                              <m:t>𝑇</m:t>
                                            </m:r>
                                          </m:e>
                                          <m:sub>
                                            <m:r>
                                              <a:rPr lang="en-US" altLang="zh-TW" sz="3200" b="0" i="1" dirty="0" smtClean="0">
                                                <a:effectLst/>
                                                <a:latin typeface="Cambria Math" panose="02040503050406030204" pitchFamily="18" charset="0"/>
                                              </a:rPr>
                                              <m:t>50</m:t>
                                            </m:r>
                                          </m:sub>
                                        </m:sSub>
                                      </m:e>
                                    </m:func>
                                  </m:e>
                                </m:func>
                              </m:e>
                            </m:d>
                          </m:sup>
                        </m:sSup>
                      </m:e>
                      <m:sup>
                        <m:r>
                          <a:rPr lang="en-US" altLang="zh-TW" sz="3200" b="0" i="1" dirty="0" smtClean="0">
                            <a:effectLst/>
                            <a:latin typeface="Cambria Math" panose="02040503050406030204" pitchFamily="18" charset="0"/>
                          </a:rPr>
                          <m:t>2</m:t>
                        </m:r>
                      </m:sup>
                    </m:sSup>
                  </m:oMath>
                </a14:m>
                <a:endParaRPr lang="en" altLang="zh-TW" sz="3200">
                  <a:effectLst/>
                  <a:latin typeface="Helvetica" pitchFamily="2" charset="0"/>
                </a:endParaRPr>
              </a:p>
              <a:p>
                <a:pPr marL="457200" indent="-457200">
                  <a:buFont typeface="Arial" panose="020B0604020202020204" pitchFamily="34" charset="0"/>
                  <a:buChar char="•"/>
                </a:pPr>
                <a:r>
                  <a:rPr lang="en" altLang="zh-TW" sz="3200">
                    <a:effectLst/>
                    <a:latin typeface="Helvetica" pitchFamily="2" charset="0"/>
                  </a:rPr>
                  <a:t>Reliability : </a:t>
                </a:r>
                <a14:m>
                  <m:oMath xmlns:m="http://schemas.openxmlformats.org/officeDocument/2006/math">
                    <m:r>
                      <a:rPr lang="en-US" altLang="zh-TW" sz="3200" b="0" i="1" smtClean="0">
                        <a:effectLst/>
                        <a:latin typeface="Cambria Math" panose="02040503050406030204" pitchFamily="18" charset="0"/>
                      </a:rPr>
                      <m:t>𝑅</m:t>
                    </m:r>
                    <m:d>
                      <m:dPr>
                        <m:ctrlPr>
                          <a:rPr lang="en-US" altLang="zh-TW" sz="3200" b="0" i="1" smtClean="0">
                            <a:effectLst/>
                            <a:latin typeface="Cambria Math" panose="02040503050406030204" pitchFamily="18" charset="0"/>
                          </a:rPr>
                        </m:ctrlPr>
                      </m:dPr>
                      <m:e>
                        <m:r>
                          <a:rPr lang="en-US" altLang="zh-TW" sz="3200" b="0" i="1" smtClean="0">
                            <a:effectLst/>
                            <a:latin typeface="Cambria Math" panose="02040503050406030204" pitchFamily="18" charset="0"/>
                          </a:rPr>
                          <m:t>𝑡</m:t>
                        </m:r>
                      </m:e>
                    </m:d>
                    <m:r>
                      <a:rPr lang="en-US" altLang="zh-TW" sz="3200" b="0" i="1" smtClean="0">
                        <a:effectLst/>
                        <a:latin typeface="Cambria Math" panose="02040503050406030204" pitchFamily="18" charset="0"/>
                      </a:rPr>
                      <m:t>=1 − </m:t>
                    </m:r>
                    <m:r>
                      <m:rPr>
                        <m:sty m:val="p"/>
                      </m:rPr>
                      <a:rPr lang="el-GR" altLang="zh-TW" sz="3200" b="0" i="1" smtClean="0">
                        <a:effectLst/>
                        <a:latin typeface="Cambria Math" panose="02040503050406030204" pitchFamily="18" charset="0"/>
                        <a:ea typeface="Cambria Math" panose="02040503050406030204" pitchFamily="18" charset="0"/>
                      </a:rPr>
                      <m:t>Φ</m:t>
                    </m:r>
                    <m:r>
                      <a:rPr lang="en-US" altLang="zh-TW" sz="3200" b="0" i="1" smtClean="0">
                        <a:effectLst/>
                        <a:latin typeface="Cambria Math" panose="02040503050406030204" pitchFamily="18" charset="0"/>
                        <a:ea typeface="Cambria Math" panose="02040503050406030204" pitchFamily="18" charset="0"/>
                      </a:rPr>
                      <m:t>(</m:t>
                    </m:r>
                    <m:f>
                      <m:fPr>
                        <m:ctrlPr>
                          <a:rPr lang="en-US" altLang="zh-TW" sz="3200" b="0" i="1" smtClean="0">
                            <a:effectLst/>
                            <a:latin typeface="Cambria Math" panose="02040503050406030204" pitchFamily="18" charset="0"/>
                            <a:ea typeface="Cambria Math" panose="02040503050406030204" pitchFamily="18" charset="0"/>
                          </a:rPr>
                        </m:ctrlPr>
                      </m:fPr>
                      <m:num>
                        <m:func>
                          <m:funcPr>
                            <m:ctrlPr>
                              <a:rPr lang="en-US" altLang="zh-TW" sz="3200" b="0" i="1" smtClean="0">
                                <a:effectLst/>
                                <a:latin typeface="Cambria Math" panose="02040503050406030204" pitchFamily="18" charset="0"/>
                                <a:ea typeface="Cambria Math" panose="02040503050406030204" pitchFamily="18" charset="0"/>
                              </a:rPr>
                            </m:ctrlPr>
                          </m:funcPr>
                          <m:fName>
                            <m:r>
                              <m:rPr>
                                <m:sty m:val="p"/>
                              </m:rPr>
                              <a:rPr lang="en-US" altLang="zh-TW" sz="3200" b="0" i="0" smtClean="0">
                                <a:effectLst/>
                                <a:latin typeface="Cambria Math" panose="02040503050406030204" pitchFamily="18" charset="0"/>
                                <a:ea typeface="Cambria Math" panose="02040503050406030204" pitchFamily="18" charset="0"/>
                              </a:rPr>
                              <m:t>ln</m:t>
                            </m:r>
                          </m:fName>
                          <m:e>
                            <m:r>
                              <a:rPr lang="en-US" altLang="zh-TW" sz="3200" b="0" i="1" smtClean="0">
                                <a:effectLst/>
                                <a:latin typeface="Cambria Math" panose="02040503050406030204" pitchFamily="18" charset="0"/>
                                <a:ea typeface="Cambria Math" panose="02040503050406030204" pitchFamily="18" charset="0"/>
                              </a:rPr>
                              <m:t>𝑡</m:t>
                            </m:r>
                            <m:r>
                              <a:rPr lang="en-US" altLang="zh-TW" sz="3200" b="0" i="1" smtClean="0">
                                <a:effectLst/>
                                <a:latin typeface="Cambria Math" panose="02040503050406030204" pitchFamily="18" charset="0"/>
                                <a:ea typeface="Cambria Math" panose="02040503050406030204" pitchFamily="18" charset="0"/>
                              </a:rPr>
                              <m:t> −</m:t>
                            </m:r>
                            <m:func>
                              <m:funcPr>
                                <m:ctrlPr>
                                  <a:rPr lang="en-US" altLang="zh-TW" sz="3200" b="0" i="1" smtClean="0">
                                    <a:effectLst/>
                                    <a:latin typeface="Cambria Math" panose="02040503050406030204" pitchFamily="18" charset="0"/>
                                    <a:ea typeface="Cambria Math" panose="02040503050406030204" pitchFamily="18" charset="0"/>
                                  </a:rPr>
                                </m:ctrlPr>
                              </m:funcPr>
                              <m:fName>
                                <m:r>
                                  <m:rPr>
                                    <m:sty m:val="p"/>
                                  </m:rPr>
                                  <a:rPr lang="en-US" altLang="zh-TW" sz="3200" b="0" i="0" smtClean="0">
                                    <a:effectLst/>
                                    <a:latin typeface="Cambria Math" panose="02040503050406030204" pitchFamily="18" charset="0"/>
                                    <a:ea typeface="Cambria Math" panose="02040503050406030204" pitchFamily="18" charset="0"/>
                                  </a:rPr>
                                  <m:t>ln</m:t>
                                </m:r>
                              </m:fName>
                              <m:e>
                                <m:sSub>
                                  <m:sSubPr>
                                    <m:ctrlPr>
                                      <a:rPr lang="en-US" altLang="zh-TW" sz="3200" b="0" i="1" smtClean="0">
                                        <a:effectLst/>
                                        <a:latin typeface="Cambria Math" panose="02040503050406030204" pitchFamily="18" charset="0"/>
                                        <a:ea typeface="Cambria Math" panose="02040503050406030204" pitchFamily="18" charset="0"/>
                                      </a:rPr>
                                    </m:ctrlPr>
                                  </m:sSubPr>
                                  <m:e>
                                    <m:r>
                                      <a:rPr lang="en-US" altLang="zh-TW" sz="3200" b="0" i="1" smtClean="0">
                                        <a:effectLst/>
                                        <a:latin typeface="Cambria Math" panose="02040503050406030204" pitchFamily="18" charset="0"/>
                                        <a:ea typeface="Cambria Math" panose="02040503050406030204" pitchFamily="18" charset="0"/>
                                      </a:rPr>
                                      <m:t>𝑇</m:t>
                                    </m:r>
                                  </m:e>
                                  <m:sub>
                                    <m:r>
                                      <a:rPr lang="en-US" altLang="zh-TW" sz="3200" b="0" i="1" smtClean="0">
                                        <a:effectLst/>
                                        <a:latin typeface="Cambria Math" panose="02040503050406030204" pitchFamily="18" charset="0"/>
                                        <a:ea typeface="Cambria Math" panose="02040503050406030204" pitchFamily="18" charset="0"/>
                                      </a:rPr>
                                      <m:t>50</m:t>
                                    </m:r>
                                  </m:sub>
                                </m:sSub>
                              </m:e>
                            </m:func>
                          </m:e>
                        </m:func>
                      </m:num>
                      <m:den>
                        <m:r>
                          <a:rPr lang="en-US" altLang="zh-TW" sz="3200" b="0" i="1" smtClean="0">
                            <a:effectLst/>
                            <a:latin typeface="Cambria Math" panose="02040503050406030204" pitchFamily="18" charset="0"/>
                            <a:ea typeface="Cambria Math" panose="02040503050406030204" pitchFamily="18" charset="0"/>
                          </a:rPr>
                          <m:t>𝜎</m:t>
                        </m:r>
                      </m:den>
                    </m:f>
                  </m:oMath>
                </a14:m>
                <a:r>
                  <a:rPr lang="en-US" altLang="zh-TW" sz="3200" b="0">
                    <a:effectLst/>
                    <a:latin typeface="Helvetica" pitchFamily="2" charset="0"/>
                  </a:rPr>
                  <a:t>)</a:t>
                </a:r>
              </a:p>
            </p:txBody>
          </p:sp>
        </mc:Choice>
        <mc:Fallback xmlns="">
          <p:sp>
            <p:nvSpPr>
              <p:cNvPr id="4" name="文字方塊 3">
                <a:extLst>
                  <a:ext uri="{FF2B5EF4-FFF2-40B4-BE49-F238E27FC236}">
                    <a16:creationId xmlns:a16="http://schemas.microsoft.com/office/drawing/2014/main" id="{A9B4F98C-02C2-82D1-54EE-F294052770CE}"/>
                  </a:ext>
                </a:extLst>
              </p:cNvPr>
              <p:cNvSpPr txBox="1">
                <a:spLocks noRot="1" noChangeAspect="1" noMove="1" noResize="1" noEditPoints="1" noAdjustHandles="1" noChangeArrowheads="1" noChangeShapeType="1" noTextEdit="1"/>
              </p:cNvSpPr>
              <p:nvPr/>
            </p:nvSpPr>
            <p:spPr>
              <a:xfrm>
                <a:off x="1600200" y="2034599"/>
                <a:ext cx="12471399" cy="1759328"/>
              </a:xfrm>
              <a:prstGeom prst="rect">
                <a:avLst/>
              </a:prstGeom>
              <a:blipFill>
                <a:blip r:embed="rId4"/>
                <a:stretch>
                  <a:fillRect l="-1120" b="-575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10990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pic>
        <p:nvPicPr>
          <p:cNvPr id="6" name="圖片 5" descr="一張含有 文字, 螢幕擷取畫面, 字型, 行 的圖片&#10;&#10;自動產生的描述">
            <a:extLst>
              <a:ext uri="{FF2B5EF4-FFF2-40B4-BE49-F238E27FC236}">
                <a16:creationId xmlns:a16="http://schemas.microsoft.com/office/drawing/2014/main" id="{9345B37C-8991-1BD5-EE64-30C014F9E1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598" y="2346622"/>
            <a:ext cx="13579773" cy="4676478"/>
          </a:xfrm>
          <a:prstGeom prst="rect">
            <a:avLst/>
          </a:prstGeom>
        </p:spPr>
      </p:pic>
    </p:spTree>
    <p:extLst>
      <p:ext uri="{BB962C8B-B14F-4D97-AF65-F5344CB8AC3E}">
        <p14:creationId xmlns:p14="http://schemas.microsoft.com/office/powerpoint/2010/main" val="3017171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7450074" y="6972300"/>
            <a:ext cx="3387852" cy="1015663"/>
          </a:xfrm>
          <a:prstGeom prst="rect">
            <a:avLst/>
          </a:prstGeom>
        </p:spPr>
        <p:txBody>
          <a:bodyPr wrap="square" lIns="0" tIns="0" rIns="0" bIns="0" rtlCol="0" anchor="t">
            <a:spAutoFit/>
          </a:bodyPr>
          <a:lstStyle/>
          <a:p>
            <a:r>
              <a:rPr lang="en-US" sz="6600">
                <a:solidFill>
                  <a:srgbClr val="000000"/>
                </a:solidFill>
                <a:ea typeface="思源宋体 Bold"/>
              </a:rPr>
              <a:t>Bootstrap</a:t>
            </a: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76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547E1FC4-2190-119A-D656-4F2BA2F8F078}"/>
              </a:ext>
            </a:extLst>
          </p:cNvPr>
          <p:cNvSpPr txBox="1"/>
          <p:nvPr/>
        </p:nvSpPr>
        <p:spPr>
          <a:xfrm>
            <a:off x="1600912" y="2805499"/>
            <a:ext cx="15086176" cy="3416320"/>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rPr>
              <a:t> </a:t>
            </a:r>
            <a:r>
              <a:rPr lang="en" altLang="zh-TW" sz="4000">
                <a:solidFill>
                  <a:srgbClr val="000000"/>
                </a:solidFill>
                <a:effectLst/>
              </a:rPr>
              <a:t>Gerenal Idea </a:t>
            </a:r>
            <a:r>
              <a:rPr lang="en" altLang="zh-TW" sz="3200">
                <a:solidFill>
                  <a:srgbClr val="000000"/>
                </a:solidFill>
                <a:effectLst/>
              </a:rPr>
              <a:t>:</a:t>
            </a:r>
          </a:p>
          <a:p>
            <a:endParaRPr lang="en" altLang="zh-TW" sz="3200">
              <a:solidFill>
                <a:srgbClr val="000000"/>
              </a:solidFill>
              <a:effectLst/>
            </a:endParaRPr>
          </a:p>
          <a:p>
            <a:r>
              <a:rPr lang="en-US" altLang="zh-TW" sz="3200" b="0" i="0">
                <a:solidFill>
                  <a:srgbClr val="0D0D0D"/>
                </a:solidFill>
                <a:effectLst/>
                <a:highlight>
                  <a:srgbClr val="FFFFFF"/>
                </a:highlight>
                <a:latin typeface="Söhne"/>
              </a:rPr>
              <a:t>      </a:t>
            </a:r>
            <a:r>
              <a:rPr lang="en-US" altLang="zh-TW" sz="3600" b="0" i="0">
                <a:solidFill>
                  <a:srgbClr val="0D0D0D"/>
                </a:solidFill>
                <a:effectLst/>
                <a:highlight>
                  <a:srgbClr val="FFFFFF"/>
                </a:highlight>
                <a:latin typeface="Söhne"/>
              </a:rPr>
              <a:t>The idea of bootstrap sampling is to simulate the repeated sampling process </a:t>
            </a:r>
          </a:p>
          <a:p>
            <a:r>
              <a:rPr lang="en-US" altLang="zh-TW" sz="3600" b="0" i="0">
                <a:solidFill>
                  <a:srgbClr val="0D0D0D"/>
                </a:solidFill>
                <a:effectLst/>
                <a:highlight>
                  <a:srgbClr val="FFFFFF"/>
                </a:highlight>
                <a:latin typeface="Söhne"/>
              </a:rPr>
              <a:t>      and use the information from the distribution of appropriate statistics in the</a:t>
            </a:r>
          </a:p>
          <a:p>
            <a:r>
              <a:rPr lang="en-US" altLang="zh-TW" sz="3600">
                <a:solidFill>
                  <a:srgbClr val="0D0D0D"/>
                </a:solidFill>
                <a:highlight>
                  <a:srgbClr val="FFFFFF"/>
                </a:highlight>
                <a:latin typeface="Söhne"/>
              </a:rPr>
              <a:t>     </a:t>
            </a:r>
            <a:r>
              <a:rPr lang="en-US" altLang="zh-TW" sz="3600" b="0" i="0">
                <a:solidFill>
                  <a:srgbClr val="0D0D0D"/>
                </a:solidFill>
                <a:effectLst/>
                <a:highlight>
                  <a:srgbClr val="FFFFFF"/>
                </a:highlight>
                <a:latin typeface="Söhne"/>
              </a:rPr>
              <a:t> bootstrap samples to compute the needed confidence interval, reducing the</a:t>
            </a:r>
          </a:p>
          <a:p>
            <a:r>
              <a:rPr lang="en-US" altLang="zh-TW" sz="3600">
                <a:solidFill>
                  <a:srgbClr val="0D0D0D"/>
                </a:solidFill>
                <a:highlight>
                  <a:srgbClr val="FFFFFF"/>
                </a:highlight>
                <a:latin typeface="Söhne"/>
              </a:rPr>
              <a:t>     </a:t>
            </a:r>
            <a:r>
              <a:rPr lang="en-US" altLang="zh-TW" sz="3600" b="0" i="0">
                <a:solidFill>
                  <a:srgbClr val="0D0D0D"/>
                </a:solidFill>
                <a:effectLst/>
                <a:highlight>
                  <a:srgbClr val="FFFFFF"/>
                </a:highlight>
                <a:latin typeface="Söhne"/>
              </a:rPr>
              <a:t> reliance on large-sample approximations</a:t>
            </a:r>
            <a:r>
              <a:rPr lang="en-US" altLang="zh-TW" sz="3200" b="0" i="0">
                <a:solidFill>
                  <a:srgbClr val="0D0D0D"/>
                </a:solidFill>
                <a:effectLst/>
                <a:highlight>
                  <a:srgbClr val="FFFFFF"/>
                </a:highlight>
                <a:latin typeface="Söhne"/>
              </a:rPr>
              <a:t>. </a:t>
            </a:r>
            <a:endParaRPr lang="en" altLang="zh-TW" sz="3200">
              <a:solidFill>
                <a:srgbClr val="000000"/>
              </a:solidFill>
              <a:effectLst/>
            </a:endParaRPr>
          </a:p>
        </p:txBody>
      </p:sp>
    </p:spTree>
    <p:extLst>
      <p:ext uri="{BB962C8B-B14F-4D97-AF65-F5344CB8AC3E}">
        <p14:creationId xmlns:p14="http://schemas.microsoft.com/office/powerpoint/2010/main" val="110491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D3E2EBAE-73B2-4404-3BF5-8BD320636ABD}"/>
                  </a:ext>
                </a:extLst>
              </p:cNvPr>
              <p:cNvSpPr txBox="1"/>
              <p:nvPr/>
            </p:nvSpPr>
            <p:spPr>
              <a:xfrm>
                <a:off x="2487449" y="1635584"/>
                <a:ext cx="13857451" cy="7015831"/>
              </a:xfrm>
              <a:prstGeom prst="rect">
                <a:avLst/>
              </a:prstGeom>
              <a:noFill/>
            </p:spPr>
            <p:txBody>
              <a:bodyPr wrap="square">
                <a:spAutoFit/>
              </a:bodyPr>
              <a:lstStyle/>
              <a:p>
                <a:pPr marL="457200" indent="-457200">
                  <a:buFont typeface="Arial" panose="020B0604020202020204" pitchFamily="34" charset="0"/>
                  <a:buChar char="•"/>
                </a:pPr>
                <a:r>
                  <a:rPr lang="en" altLang="zh-TW" sz="4000">
                    <a:solidFill>
                      <a:srgbClr val="000000"/>
                    </a:solidFill>
                    <a:effectLst/>
                  </a:rPr>
                  <a:t> Non-parametric method</a:t>
                </a:r>
              </a:p>
              <a:p>
                <a:endParaRPr lang="en" altLang="zh-TW" sz="4000">
                  <a:solidFill>
                    <a:srgbClr val="000000"/>
                  </a:solidFill>
                  <a:effectLst/>
                </a:endParaRPr>
              </a:p>
              <a:p>
                <a:pPr marL="514350" indent="-514350">
                  <a:buFont typeface="+mj-lt"/>
                  <a:buAutoNum type="arabicPeriod"/>
                </a:pPr>
                <a:r>
                  <a:rPr lang="en" altLang="zh-TW" sz="3200">
                    <a:solidFill>
                      <a:srgbClr val="000000"/>
                    </a:solidFill>
                  </a:rPr>
                  <a:t> </a:t>
                </a:r>
                <a:r>
                  <a:rPr lang="en" altLang="zh-TW" sz="3600">
                    <a:solidFill>
                      <a:srgbClr val="000000"/>
                    </a:solidFill>
                  </a:rPr>
                  <a:t>Re-sampling the dataset with the </a:t>
                </a:r>
                <a:r>
                  <a:rPr lang="en" altLang="zh-TW" sz="3600">
                    <a:solidFill>
                      <a:srgbClr val="FF0000"/>
                    </a:solidFill>
                  </a:rPr>
                  <a:t>same</a:t>
                </a:r>
                <a:r>
                  <a:rPr lang="en" altLang="zh-TW" sz="3600">
                    <a:solidFill>
                      <a:srgbClr val="000000"/>
                    </a:solidFill>
                  </a:rPr>
                  <a:t> length as the new data.</a:t>
                </a:r>
              </a:p>
              <a:p>
                <a:pPr marL="514350" indent="-514350">
                  <a:buFont typeface="+mj-lt"/>
                  <a:buAutoNum type="arabicPeriod"/>
                </a:pPr>
                <a:endParaRPr lang="en" altLang="zh-TW" sz="3600">
                  <a:solidFill>
                    <a:srgbClr val="000000"/>
                  </a:solidFill>
                </a:endParaRPr>
              </a:p>
              <a:p>
                <a:pPr marL="514350" indent="-514350">
                  <a:buFont typeface="+mj-lt"/>
                  <a:buAutoNum type="arabicPeriod"/>
                </a:pPr>
                <a:r>
                  <a:rPr lang="en" altLang="zh-TW" sz="3600">
                    <a:solidFill>
                      <a:srgbClr val="000000"/>
                    </a:solidFill>
                  </a:rPr>
                  <a:t>Calculate the value of the estimator.</a:t>
                </a:r>
              </a:p>
              <a:p>
                <a:pPr marL="514350" indent="-514350">
                  <a:buFont typeface="+mj-lt"/>
                  <a:buAutoNum type="arabicPeriod"/>
                </a:pPr>
                <a:endParaRPr lang="en" altLang="zh-TW" sz="3600">
                  <a:solidFill>
                    <a:srgbClr val="000000"/>
                  </a:solidFill>
                </a:endParaRPr>
              </a:p>
              <a:p>
                <a:pPr marL="514350" indent="-514350">
                  <a:buFont typeface="+mj-lt"/>
                  <a:buAutoNum type="arabicPeriod"/>
                </a:pPr>
                <a:r>
                  <a:rPr lang="en" altLang="zh-TW" sz="3600">
                    <a:solidFill>
                      <a:srgbClr val="000000"/>
                    </a:solidFill>
                  </a:rPr>
                  <a:t>Repeat step 1-2 B times</a:t>
                </a:r>
                <a:r>
                  <a:rPr lang="zh-TW" altLang="en-US" sz="3600">
                    <a:solidFill>
                      <a:srgbClr val="000000"/>
                    </a:solidFill>
                  </a:rPr>
                  <a:t> </a:t>
                </a:r>
                <a:r>
                  <a:rPr lang="en-US" altLang="zh-TW" sz="3600">
                    <a:solidFill>
                      <a:srgbClr val="000000"/>
                    </a:solidFill>
                  </a:rPr>
                  <a:t>to obtain </a:t>
                </a:r>
                <a14:m>
                  <m:oMath xmlns:m="http://schemas.openxmlformats.org/officeDocument/2006/math">
                    <m:r>
                      <a:rPr lang="en-US" altLang="zh-TW" sz="3600" b="0" i="1" smtClean="0">
                        <a:solidFill>
                          <a:srgbClr val="000000"/>
                        </a:solidFill>
                        <a:latin typeface="Cambria Math" panose="02040503050406030204" pitchFamily="18" charset="0"/>
                      </a:rPr>
                      <m:t>{</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1</m:t>
                            </m:r>
                          </m:sup>
                        </m:sSup>
                      </m:e>
                    </m:acc>
                    <m:r>
                      <a:rPr lang="en-US" altLang="zh-TW" sz="3600" b="0" i="1" smtClean="0">
                        <a:solidFill>
                          <a:srgbClr val="000000"/>
                        </a:solidFill>
                        <a:latin typeface="Cambria Math" panose="02040503050406030204" pitchFamily="18" charset="0"/>
                      </a:rPr>
                      <m:t>, ……</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m:rPr>
                                <m:sty m:val="p"/>
                              </m:rPr>
                              <a:rPr lang="en-US" altLang="zh-TW" sz="3600" i="1">
                                <a:solidFill>
                                  <a:srgbClr val="000000"/>
                                </a:solidFill>
                                <a:latin typeface="Cambria Math" panose="02040503050406030204" pitchFamily="18" charset="0"/>
                              </a:rPr>
                              <m:t>B</m:t>
                            </m:r>
                          </m:sup>
                        </m:sSup>
                      </m:e>
                    </m:acc>
                    <m:r>
                      <a:rPr lang="en-US" altLang="zh-TW" sz="3600" b="0" i="1" smtClean="0">
                        <a:solidFill>
                          <a:srgbClr val="000000"/>
                        </a:solidFill>
                        <a:latin typeface="Cambria Math" panose="02040503050406030204" pitchFamily="18" charset="0"/>
                      </a:rPr>
                      <m:t>}</m:t>
                    </m:r>
                  </m:oMath>
                </a14:m>
                <a:r>
                  <a:rPr lang="en" altLang="zh-TW" sz="3600">
                    <a:solidFill>
                      <a:srgbClr val="000000"/>
                    </a:solidFill>
                  </a:rPr>
                  <a:t>.</a:t>
                </a:r>
              </a:p>
              <a:p>
                <a:pPr marL="514350" indent="-514350">
                  <a:buFont typeface="+mj-lt"/>
                  <a:buAutoNum type="arabicPeriod"/>
                </a:pPr>
                <a:endParaRPr lang="en-US" altLang="zh-TW" sz="3600">
                  <a:solidFill>
                    <a:srgbClr val="000000"/>
                  </a:solidFill>
                </a:endParaRPr>
              </a:p>
              <a:p>
                <a:pPr marL="514350" indent="-514350">
                  <a:buFont typeface="+mj-lt"/>
                  <a:buAutoNum type="arabicPeriod"/>
                </a:pPr>
                <a:r>
                  <a:rPr lang="en-US" altLang="zh-TW" sz="3600">
                    <a:solidFill>
                      <a:srgbClr val="000000"/>
                    </a:solidFill>
                  </a:rPr>
                  <a:t>S</a:t>
                </a:r>
                <a:r>
                  <a:rPr lang="en" altLang="zh-TW" sz="3600">
                    <a:solidFill>
                      <a:srgbClr val="000000"/>
                    </a:solidFill>
                  </a:rPr>
                  <a:t>ort </a:t>
                </a:r>
                <a14:m>
                  <m:oMath xmlns:m="http://schemas.openxmlformats.org/officeDocument/2006/math">
                    <m:r>
                      <a:rPr lang="en-US" altLang="zh-TW" sz="3600" b="0" i="1" smtClean="0">
                        <a:solidFill>
                          <a:srgbClr val="000000"/>
                        </a:solidFill>
                        <a:latin typeface="Cambria Math" panose="02040503050406030204" pitchFamily="18" charset="0"/>
                      </a:rPr>
                      <m:t>{</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1</m:t>
                            </m:r>
                          </m:sup>
                        </m:sSup>
                      </m:e>
                    </m:acc>
                    <m:r>
                      <a:rPr lang="en-US" altLang="zh-TW" sz="3600" b="0" i="1" smtClean="0">
                        <a:solidFill>
                          <a:srgbClr val="000000"/>
                        </a:solidFill>
                        <a:latin typeface="Cambria Math" panose="02040503050406030204" pitchFamily="18" charset="0"/>
                      </a:rPr>
                      <m:t>, ……</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𝐵</m:t>
                            </m:r>
                          </m:sup>
                        </m:sSup>
                      </m:e>
                    </m:acc>
                    <m:r>
                      <a:rPr lang="en-US" altLang="zh-TW" sz="3600" b="0" i="1" smtClean="0">
                        <a:solidFill>
                          <a:srgbClr val="000000"/>
                        </a:solidFill>
                        <a:latin typeface="Cambria Math" panose="02040503050406030204" pitchFamily="18" charset="0"/>
                      </a:rPr>
                      <m:t>}</m:t>
                    </m:r>
                  </m:oMath>
                </a14:m>
                <a:r>
                  <a:rPr lang="en" altLang="zh-TW" sz="3600">
                    <a:solidFill>
                      <a:srgbClr val="000000"/>
                    </a:solidFill>
                  </a:rPr>
                  <a:t> to have </a:t>
                </a:r>
                <a14:m>
                  <m:oMath xmlns:m="http://schemas.openxmlformats.org/officeDocument/2006/math">
                    <m:d>
                      <m:dPr>
                        <m:begChr m:val="{"/>
                        <m:endChr m:val="}"/>
                        <m:ctrlPr>
                          <a:rPr lang="en-US" altLang="zh-TW" sz="3600" i="1">
                            <a:solidFill>
                              <a:srgbClr val="000000"/>
                            </a:solidFill>
                            <a:latin typeface="Cambria Math" panose="02040503050406030204" pitchFamily="18" charset="0"/>
                          </a:rPr>
                        </m:ctrlPr>
                      </m:dPr>
                      <m:e>
                        <m:acc>
                          <m:accPr>
                            <m:chr m:val="̂"/>
                            <m:ctrlPr>
                              <a:rPr lang="en-US" altLang="zh-TW" sz="3600" i="1">
                                <a:solidFill>
                                  <a:srgbClr val="000000"/>
                                </a:solidFill>
                                <a:latin typeface="Cambria Math" panose="02040503050406030204" pitchFamily="18" charset="0"/>
                              </a:rPr>
                            </m:ctrlPr>
                          </m:accPr>
                          <m:e>
                            <m:sSup>
                              <m:sSupPr>
                                <m:ctrlPr>
                                  <a:rPr lang="en-US" altLang="zh-TW" sz="3600" i="1">
                                    <a:solidFill>
                                      <a:srgbClr val="000000"/>
                                    </a:solidFill>
                                    <a:latin typeface="Cambria Math" panose="02040503050406030204" pitchFamily="18" charset="0"/>
                                  </a:rPr>
                                </m:ctrlPr>
                              </m:sSupPr>
                              <m:e>
                                <m:r>
                                  <a:rPr lang="zh-TW" altLang="en-US" sz="3600" b="1" i="1">
                                    <a:solidFill>
                                      <a:srgbClr val="000000"/>
                                    </a:solidFill>
                                    <a:latin typeface="Cambria Math" panose="02040503050406030204" pitchFamily="18" charset="0"/>
                                  </a:rPr>
                                  <m:t>𝜽</m:t>
                                </m:r>
                              </m:e>
                              <m:sup>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1</m:t>
                                    </m:r>
                                  </m:e>
                                </m:d>
                              </m:sup>
                            </m:sSup>
                          </m:e>
                        </m:acc>
                        <m:r>
                          <a:rPr lang="en-US" altLang="zh-TW" sz="3600" i="1">
                            <a:solidFill>
                              <a:srgbClr val="000000"/>
                            </a:solidFill>
                            <a:latin typeface="Cambria Math" panose="02040503050406030204" pitchFamily="18" charset="0"/>
                          </a:rPr>
                          <m:t>, ……</m:t>
                        </m:r>
                        <m:acc>
                          <m:accPr>
                            <m:chr m:val="̂"/>
                            <m:ctrlPr>
                              <a:rPr lang="en-US" altLang="zh-TW" sz="3600" i="1">
                                <a:solidFill>
                                  <a:srgbClr val="000000"/>
                                </a:solidFill>
                                <a:latin typeface="Cambria Math" panose="02040503050406030204" pitchFamily="18" charset="0"/>
                              </a:rPr>
                            </m:ctrlPr>
                          </m:accPr>
                          <m:e>
                            <m:sSup>
                              <m:sSupPr>
                                <m:ctrlPr>
                                  <a:rPr lang="en-US" altLang="zh-TW" sz="3600" i="1" smtClean="0">
                                    <a:solidFill>
                                      <a:srgbClr val="000000"/>
                                    </a:solidFill>
                                    <a:latin typeface="Cambria Math" panose="02040503050406030204" pitchFamily="18" charset="0"/>
                                  </a:rPr>
                                </m:ctrlPr>
                              </m:sSupPr>
                              <m:e>
                                <m:r>
                                  <a:rPr lang="zh-TW" altLang="en-US" sz="3600" b="1" i="1">
                                    <a:solidFill>
                                      <a:srgbClr val="000000"/>
                                    </a:solidFill>
                                    <a:latin typeface="Cambria Math" panose="02040503050406030204" pitchFamily="18" charset="0"/>
                                  </a:rPr>
                                  <m:t>𝜽</m:t>
                                </m:r>
                              </m:e>
                              <m:sup>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𝐵</m:t>
                                    </m:r>
                                  </m:e>
                                </m:d>
                              </m:sup>
                            </m:sSup>
                          </m:e>
                        </m:acc>
                      </m:e>
                    </m:d>
                    <m:r>
                      <a:rPr lang="en-US" altLang="zh-TW" sz="3600" b="0" i="0" smtClean="0">
                        <a:solidFill>
                          <a:srgbClr val="000000"/>
                        </a:solidFill>
                        <a:latin typeface="Cambria Math" panose="02040503050406030204" pitchFamily="18" charset="0"/>
                      </a:rPr>
                      <m:t>.</m:t>
                    </m:r>
                  </m:oMath>
                </a14:m>
                <a:endParaRPr lang="en" altLang="zh-TW" sz="3600">
                  <a:solidFill>
                    <a:srgbClr val="000000"/>
                  </a:solidFill>
                </a:endParaRPr>
              </a:p>
              <a:p>
                <a:pPr marL="514350" indent="-514350">
                  <a:buFont typeface="+mj-lt"/>
                  <a:buAutoNum type="arabicPeriod"/>
                </a:pPr>
                <a:r>
                  <a:rPr lang="en" altLang="zh-TW" sz="3600">
                    <a:solidFill>
                      <a:srgbClr val="000000"/>
                    </a:solidFill>
                  </a:rPr>
                  <a:t>Construct a </a:t>
                </a:r>
                <a14:m>
                  <m:oMath xmlns:m="http://schemas.openxmlformats.org/officeDocument/2006/math">
                    <m:r>
                      <a:rPr lang="en-US" altLang="zh-TW" sz="3600" b="0" i="1" smtClean="0">
                        <a:solidFill>
                          <a:srgbClr val="000000"/>
                        </a:solidFill>
                        <a:latin typeface="Cambria Math" panose="02040503050406030204" pitchFamily="18" charset="0"/>
                      </a:rPr>
                      <m:t>100(1−</m:t>
                    </m:r>
                    <m:r>
                      <a:rPr lang="zh-TW" altLang="en-US" sz="3600" b="0" i="1" smtClean="0">
                        <a:solidFill>
                          <a:srgbClr val="000000"/>
                        </a:solidFill>
                        <a:latin typeface="Cambria Math" panose="02040503050406030204" pitchFamily="18" charset="0"/>
                      </a:rPr>
                      <m:t>𝛼</m:t>
                    </m:r>
                    <m:r>
                      <a:rPr lang="en-US" altLang="zh-TW" sz="3600" b="0" i="1" smtClean="0">
                        <a:solidFill>
                          <a:srgbClr val="000000"/>
                        </a:solidFill>
                        <a:latin typeface="Cambria Math" panose="02040503050406030204" pitchFamily="18" charset="0"/>
                      </a:rPr>
                      <m:t>)</m:t>
                    </m:r>
                  </m:oMath>
                </a14:m>
                <a:r>
                  <a:rPr lang="en" altLang="zh-TW" sz="3600">
                    <a:solidFill>
                      <a:srgbClr val="000000"/>
                    </a:solidFill>
                  </a:rPr>
                  <a:t>% bootstrap CI for </a:t>
                </a:r>
                <a14:m>
                  <m:oMath xmlns:m="http://schemas.openxmlformats.org/officeDocument/2006/math">
                    <m:r>
                      <a:rPr lang="zh-TW" altLang="en-US" sz="3600" b="1" i="1">
                        <a:solidFill>
                          <a:srgbClr val="000000"/>
                        </a:solidFill>
                        <a:latin typeface="Cambria Math" panose="02040503050406030204" pitchFamily="18" charset="0"/>
                      </a:rPr>
                      <m:t>𝜽</m:t>
                    </m:r>
                  </m:oMath>
                </a14:m>
                <a:r>
                  <a:rPr lang="en" altLang="zh-TW" sz="3600" b="1">
                    <a:solidFill>
                      <a:srgbClr val="000000"/>
                    </a:solidFill>
                  </a:rPr>
                  <a:t> </a:t>
                </a:r>
                <a:r>
                  <a:rPr lang="en" altLang="zh-TW" sz="3600">
                    <a:solidFill>
                      <a:srgbClr val="000000"/>
                    </a:solidFill>
                  </a:rPr>
                  <a:t>to be </a:t>
                </a:r>
                <a14:m>
                  <m:oMath xmlns:m="http://schemas.openxmlformats.org/officeDocument/2006/math">
                    <m:d>
                      <m:dPr>
                        <m:begChr m:val="["/>
                        <m:endChr m:val="]"/>
                        <m:ctrlPr>
                          <a:rPr lang="en-US" altLang="zh-TW" sz="3600" b="0" i="1" smtClean="0">
                            <a:solidFill>
                              <a:srgbClr val="000000"/>
                            </a:solidFill>
                            <a:latin typeface="Cambria Math" panose="02040503050406030204" pitchFamily="18" charset="0"/>
                          </a:rPr>
                        </m:ctrlPr>
                      </m:dPr>
                      <m:e>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𝐵</m:t>
                                    </m:r>
                                    <m:f>
                                      <m:fPr>
                                        <m:ctrlPr>
                                          <a:rPr lang="en-US" altLang="zh-TW" sz="3600" b="0" i="1" smtClean="0">
                                            <a:solidFill>
                                              <a:srgbClr val="000000"/>
                                            </a:solidFill>
                                            <a:latin typeface="Cambria Math" panose="02040503050406030204" pitchFamily="18" charset="0"/>
                                          </a:rPr>
                                        </m:ctrlPr>
                                      </m:fPr>
                                      <m:num>
                                        <m:r>
                                          <a:rPr lang="zh-TW" altLang="en-US" sz="3600" b="0" i="1" smtClean="0">
                                            <a:solidFill>
                                              <a:srgbClr val="000000"/>
                                            </a:solidFill>
                                            <a:latin typeface="Cambria Math" panose="02040503050406030204" pitchFamily="18" charset="0"/>
                                          </a:rPr>
                                          <m:t>𝛼</m:t>
                                        </m:r>
                                      </m:num>
                                      <m:den>
                                        <m:r>
                                          <a:rPr lang="en-US" altLang="zh-TW" sz="3600" b="0" i="1" smtClean="0">
                                            <a:solidFill>
                                              <a:srgbClr val="000000"/>
                                            </a:solidFill>
                                            <a:latin typeface="Cambria Math" panose="02040503050406030204" pitchFamily="18" charset="0"/>
                                          </a:rPr>
                                          <m:t>2</m:t>
                                        </m:r>
                                      </m:den>
                                    </m:f>
                                  </m:e>
                                </m:d>
                              </m:sup>
                            </m:sSup>
                            <m:r>
                              <a:rPr lang="en-US" altLang="zh-TW" sz="3600" b="0" i="1" smtClean="0">
                                <a:solidFill>
                                  <a:srgbClr val="000000"/>
                                </a:solidFill>
                                <a:latin typeface="Cambria Math" panose="02040503050406030204" pitchFamily="18" charset="0"/>
                              </a:rPr>
                              <m:t>,</m:t>
                            </m:r>
                          </m:e>
                        </m:acc>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𝐵</m:t>
                                    </m:r>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1−</m:t>
                                        </m:r>
                                        <m:f>
                                          <m:fPr>
                                            <m:ctrlPr>
                                              <a:rPr lang="en-US" altLang="zh-TW" sz="3600" b="0" i="1" smtClean="0">
                                                <a:solidFill>
                                                  <a:srgbClr val="000000"/>
                                                </a:solidFill>
                                                <a:latin typeface="Cambria Math" panose="02040503050406030204" pitchFamily="18" charset="0"/>
                                              </a:rPr>
                                            </m:ctrlPr>
                                          </m:fPr>
                                          <m:num>
                                            <m:r>
                                              <a:rPr lang="zh-TW" altLang="en-US" sz="3600" b="0" i="1" smtClean="0">
                                                <a:solidFill>
                                                  <a:srgbClr val="000000"/>
                                                </a:solidFill>
                                                <a:latin typeface="Cambria Math" panose="02040503050406030204" pitchFamily="18" charset="0"/>
                                              </a:rPr>
                                              <m:t>𝛼</m:t>
                                            </m:r>
                                          </m:num>
                                          <m:den>
                                            <m:r>
                                              <a:rPr lang="en-US" altLang="zh-TW" sz="3600" b="0" i="1" smtClean="0">
                                                <a:solidFill>
                                                  <a:srgbClr val="000000"/>
                                                </a:solidFill>
                                                <a:latin typeface="Cambria Math" panose="02040503050406030204" pitchFamily="18" charset="0"/>
                                              </a:rPr>
                                              <m:t>2</m:t>
                                            </m:r>
                                          </m:den>
                                        </m:f>
                                      </m:e>
                                    </m:d>
                                  </m:e>
                                </m:d>
                              </m:sup>
                            </m:sSup>
                          </m:e>
                        </m:acc>
                      </m:e>
                    </m:d>
                    <m:r>
                      <a:rPr lang="en-US" altLang="zh-TW" sz="3600" b="0" i="1" smtClean="0">
                        <a:solidFill>
                          <a:srgbClr val="000000"/>
                        </a:solidFill>
                        <a:latin typeface="Cambria Math" panose="02040503050406030204" pitchFamily="18" charset="0"/>
                      </a:rPr>
                      <m:t>.</m:t>
                    </m:r>
                  </m:oMath>
                </a14:m>
                <a:endParaRPr lang="en" altLang="zh-TW" sz="3600">
                  <a:solidFill>
                    <a:srgbClr val="000000"/>
                  </a:solidFill>
                </a:endParaRPr>
              </a:p>
              <a:p>
                <a:endParaRPr lang="en" altLang="zh-TW" sz="3200">
                  <a:solidFill>
                    <a:srgbClr val="000000"/>
                  </a:solidFill>
                </a:endParaRPr>
              </a:p>
            </p:txBody>
          </p:sp>
        </mc:Choice>
        <mc:Fallback xmlns="">
          <p:sp>
            <p:nvSpPr>
              <p:cNvPr id="2" name="文字方塊 1">
                <a:extLst>
                  <a:ext uri="{FF2B5EF4-FFF2-40B4-BE49-F238E27FC236}">
                    <a16:creationId xmlns:a16="http://schemas.microsoft.com/office/drawing/2014/main" id="{D3E2EBAE-73B2-4404-3BF5-8BD320636ABD}"/>
                  </a:ext>
                </a:extLst>
              </p:cNvPr>
              <p:cNvSpPr txBox="1">
                <a:spLocks noRot="1" noChangeAspect="1" noMove="1" noResize="1" noEditPoints="1" noAdjustHandles="1" noChangeArrowheads="1" noChangeShapeType="1" noTextEdit="1"/>
              </p:cNvSpPr>
              <p:nvPr/>
            </p:nvSpPr>
            <p:spPr>
              <a:xfrm>
                <a:off x="2487449" y="1635584"/>
                <a:ext cx="13857451" cy="7015831"/>
              </a:xfrm>
              <a:prstGeom prst="rect">
                <a:avLst/>
              </a:prstGeom>
              <a:blipFill>
                <a:blip r:embed="rId4"/>
                <a:stretch>
                  <a:fillRect l="-1408" t="-1564"/>
                </a:stretch>
              </a:blipFill>
            </p:spPr>
            <p:txBody>
              <a:bodyPr/>
              <a:lstStyle/>
              <a:p>
                <a:r>
                  <a:rPr lang="en-US">
                    <a:noFill/>
                  </a:rPr>
                  <a:t> </a:t>
                </a:r>
              </a:p>
            </p:txBody>
          </p:sp>
        </mc:Fallback>
      </mc:AlternateContent>
    </p:spTree>
    <p:extLst>
      <p:ext uri="{BB962C8B-B14F-4D97-AF65-F5344CB8AC3E}">
        <p14:creationId xmlns:p14="http://schemas.microsoft.com/office/powerpoint/2010/main" val="2726173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id="{D3E2EBAE-73B2-4404-3BF5-8BD320636ABD}"/>
                  </a:ext>
                </a:extLst>
              </p:cNvPr>
              <p:cNvSpPr txBox="1"/>
              <p:nvPr/>
            </p:nvSpPr>
            <p:spPr>
              <a:xfrm>
                <a:off x="2573307" y="1251204"/>
                <a:ext cx="13981143" cy="8630248"/>
              </a:xfrm>
              <a:prstGeom prst="rect">
                <a:avLst/>
              </a:prstGeom>
              <a:noFill/>
            </p:spPr>
            <p:txBody>
              <a:bodyPr wrap="square">
                <a:spAutoFit/>
              </a:bodyPr>
              <a:lstStyle/>
              <a:p>
                <a:pPr marL="457200" indent="-457200">
                  <a:buFont typeface="Arial" panose="020B0604020202020204" pitchFamily="34" charset="0"/>
                  <a:buChar char="•"/>
                </a:pPr>
                <a:r>
                  <a:rPr lang="en" altLang="zh-TW" sz="4000">
                    <a:solidFill>
                      <a:srgbClr val="000000"/>
                    </a:solidFill>
                    <a:effectLst/>
                  </a:rPr>
                  <a:t>Parametric method</a:t>
                </a:r>
              </a:p>
              <a:p>
                <a:endParaRPr lang="en" altLang="zh-TW" sz="4000">
                  <a:solidFill>
                    <a:srgbClr val="000000"/>
                  </a:solidFill>
                  <a:effectLst/>
                </a:endParaRPr>
              </a:p>
              <a:p>
                <a:pPr marL="514350" indent="-514350">
                  <a:buFont typeface="+mj-lt"/>
                  <a:buAutoNum type="arabicPeriod"/>
                </a:pPr>
                <a:r>
                  <a:rPr lang="en" altLang="zh-TW" sz="3600">
                    <a:solidFill>
                      <a:srgbClr val="000000"/>
                    </a:solidFill>
                  </a:rPr>
                  <a:t>Set </a:t>
                </a:r>
                <a:r>
                  <a:rPr lang="en-US" altLang="zh-TW" sz="3600" err="1">
                    <a:solidFill>
                      <a:srgbClr val="000000"/>
                    </a:solidFill>
                  </a:rPr>
                  <a:t>i</a:t>
                </a:r>
                <a:r>
                  <a:rPr lang="en" altLang="zh-TW" sz="3600">
                    <a:solidFill>
                      <a:srgbClr val="000000"/>
                    </a:solidFill>
                  </a:rPr>
                  <a:t> =0.</a:t>
                </a:r>
              </a:p>
              <a:p>
                <a:pPr marL="514350" indent="-514350">
                  <a:buFont typeface="+mj-lt"/>
                  <a:buAutoNum type="arabicPeriod"/>
                </a:pPr>
                <a:endParaRPr lang="en" altLang="zh-TW" sz="3600">
                  <a:solidFill>
                    <a:srgbClr val="000000"/>
                  </a:solidFill>
                </a:endParaRPr>
              </a:p>
              <a:p>
                <a:pPr marL="514350" indent="-514350">
                  <a:buFont typeface="+mj-lt"/>
                  <a:buAutoNum type="arabicPeriod"/>
                </a:pPr>
                <a:r>
                  <a:rPr lang="en" altLang="zh-TW" sz="3600">
                    <a:solidFill>
                      <a:srgbClr val="000000"/>
                    </a:solidFill>
                  </a:rPr>
                  <a:t>Let </a:t>
                </a:r>
                <a:r>
                  <a:rPr lang="en-US" altLang="zh-TW" sz="3600" err="1">
                    <a:solidFill>
                      <a:srgbClr val="000000"/>
                    </a:solidFill>
                  </a:rPr>
                  <a:t>i</a:t>
                </a:r>
                <a:r>
                  <a:rPr lang="en-US" altLang="zh-TW" sz="3600">
                    <a:solidFill>
                      <a:srgbClr val="000000"/>
                    </a:solidFill>
                  </a:rPr>
                  <a:t> = </a:t>
                </a:r>
                <a:r>
                  <a:rPr lang="en-US" altLang="zh-TW" sz="3600" err="1">
                    <a:solidFill>
                      <a:srgbClr val="000000"/>
                    </a:solidFill>
                  </a:rPr>
                  <a:t>i</a:t>
                </a:r>
                <a:r>
                  <a:rPr lang="en-US" altLang="zh-TW" sz="3600">
                    <a:solidFill>
                      <a:srgbClr val="000000"/>
                    </a:solidFill>
                  </a:rPr>
                  <a:t> + 1. Generate dataset (</a:t>
                </a:r>
                <a14:m>
                  <m:oMath xmlns:m="http://schemas.openxmlformats.org/officeDocument/2006/math">
                    <m:sSup>
                      <m:sSupPr>
                        <m:ctrlPr>
                          <a:rPr lang="en-US" altLang="zh-TW" sz="3600" i="1" smtClean="0">
                            <a:solidFill>
                              <a:srgbClr val="000000"/>
                            </a:solidFill>
                            <a:latin typeface="Cambria Math" panose="02040503050406030204" pitchFamily="18" charset="0"/>
                          </a:rPr>
                        </m:ctrlPr>
                      </m:sSupPr>
                      <m:e>
                        <m:r>
                          <a:rPr lang="en-US" altLang="zh-TW" sz="3600" b="1" i="1" smtClean="0">
                            <a:solidFill>
                              <a:srgbClr val="000000"/>
                            </a:solidFill>
                            <a:latin typeface="Cambria Math" panose="02040503050406030204" pitchFamily="18" charset="0"/>
                          </a:rPr>
                          <m:t>𝒙</m:t>
                        </m:r>
                      </m:e>
                      <m:sup>
                        <m:r>
                          <a:rPr lang="en-US" altLang="zh-TW" sz="3600" b="0" i="1" smtClean="0">
                            <a:solidFill>
                              <a:srgbClr val="000000"/>
                            </a:solidFill>
                            <a:latin typeface="Cambria Math" panose="02040503050406030204" pitchFamily="18" charset="0"/>
                          </a:rPr>
                          <m:t>𝑖</m:t>
                        </m:r>
                      </m:sup>
                    </m:sSup>
                  </m:oMath>
                </a14:m>
                <a:r>
                  <a:rPr lang="en-US" altLang="zh-TW" sz="3600">
                    <a:solidFill>
                      <a:srgbClr val="000000"/>
                    </a:solidFill>
                  </a:rPr>
                  <a:t>) from the “given distribution” with the </a:t>
                </a:r>
                <a:r>
                  <a:rPr lang="en-US" altLang="zh-TW" sz="3600">
                    <a:solidFill>
                      <a:srgbClr val="FF0000"/>
                    </a:solidFill>
                  </a:rPr>
                  <a:t>same</a:t>
                </a:r>
                <a:r>
                  <a:rPr lang="en-US" altLang="zh-TW" sz="3600">
                    <a:solidFill>
                      <a:srgbClr val="000000"/>
                    </a:solidFill>
                  </a:rPr>
                  <a:t> length as the collected data based on the MLEs.</a:t>
                </a:r>
              </a:p>
              <a:p>
                <a:pPr marL="514350" indent="-514350">
                  <a:buFont typeface="+mj-lt"/>
                  <a:buAutoNum type="arabicPeriod"/>
                </a:pPr>
                <a:endParaRPr lang="en-US" altLang="zh-TW" sz="3600">
                  <a:solidFill>
                    <a:srgbClr val="000000"/>
                  </a:solidFill>
                </a:endParaRPr>
              </a:p>
              <a:p>
                <a:pPr marL="514350" indent="-514350">
                  <a:buFont typeface="+mj-lt"/>
                  <a:buAutoNum type="arabicPeriod"/>
                </a:pPr>
                <a:r>
                  <a:rPr lang="en" altLang="zh-TW" sz="3600">
                    <a:solidFill>
                      <a:srgbClr val="000000"/>
                    </a:solidFill>
                  </a:rPr>
                  <a:t>Calculate the estimator </a:t>
                </a:r>
                <a14:m>
                  <m:oMath xmlns:m="http://schemas.openxmlformats.org/officeDocument/2006/math">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𝑖</m:t>
                            </m:r>
                          </m:sup>
                        </m:sSup>
                      </m:e>
                    </m:acc>
                  </m:oMath>
                </a14:m>
                <a:r>
                  <a:rPr lang="en" altLang="zh-TW" sz="3600">
                    <a:solidFill>
                      <a:srgbClr val="000000"/>
                    </a:solidFill>
                  </a:rPr>
                  <a:t> from dataset </a:t>
                </a:r>
                <a14:m>
                  <m:oMath xmlns:m="http://schemas.openxmlformats.org/officeDocument/2006/math">
                    <m:sSup>
                      <m:sSupPr>
                        <m:ctrlPr>
                          <a:rPr lang="en-US" altLang="zh-TW" sz="3600" i="1">
                            <a:solidFill>
                              <a:srgbClr val="000000"/>
                            </a:solidFill>
                            <a:latin typeface="Cambria Math" panose="02040503050406030204" pitchFamily="18" charset="0"/>
                          </a:rPr>
                        </m:ctrlPr>
                      </m:sSupPr>
                      <m:e>
                        <m:r>
                          <a:rPr lang="en-US" altLang="zh-TW" sz="3600" b="1" i="1">
                            <a:solidFill>
                              <a:srgbClr val="000000"/>
                            </a:solidFill>
                            <a:latin typeface="Cambria Math" panose="02040503050406030204" pitchFamily="18" charset="0"/>
                          </a:rPr>
                          <m:t>𝒙</m:t>
                        </m:r>
                      </m:e>
                      <m:sup>
                        <m:r>
                          <a:rPr lang="en-US" altLang="zh-TW" sz="3600" i="1">
                            <a:solidFill>
                              <a:srgbClr val="000000"/>
                            </a:solidFill>
                            <a:latin typeface="Cambria Math" panose="02040503050406030204" pitchFamily="18" charset="0"/>
                          </a:rPr>
                          <m:t>𝑖</m:t>
                        </m:r>
                      </m:sup>
                    </m:sSup>
                  </m:oMath>
                </a14:m>
                <a:r>
                  <a:rPr lang="en" altLang="zh-TW" sz="3600">
                    <a:solidFill>
                      <a:srgbClr val="000000"/>
                    </a:solidFill>
                  </a:rPr>
                  <a:t>.</a:t>
                </a:r>
              </a:p>
              <a:p>
                <a:pPr marL="514350" indent="-514350">
                  <a:buFont typeface="+mj-lt"/>
                  <a:buAutoNum type="arabicPeriod"/>
                </a:pPr>
                <a:endParaRPr lang="en" altLang="zh-TW" sz="3600">
                  <a:solidFill>
                    <a:srgbClr val="000000"/>
                  </a:solidFill>
                </a:endParaRPr>
              </a:p>
              <a:p>
                <a:pPr marL="514350" indent="-514350">
                  <a:buFont typeface="+mj-lt"/>
                  <a:buAutoNum type="arabicPeriod"/>
                </a:pPr>
                <a:r>
                  <a:rPr lang="en" altLang="zh-TW" sz="3600">
                    <a:solidFill>
                      <a:srgbClr val="000000"/>
                    </a:solidFill>
                  </a:rPr>
                  <a:t>Repeat step 1-2 B times</a:t>
                </a:r>
                <a:r>
                  <a:rPr lang="zh-TW" altLang="en-US" sz="3600">
                    <a:solidFill>
                      <a:srgbClr val="000000"/>
                    </a:solidFill>
                  </a:rPr>
                  <a:t> </a:t>
                </a:r>
                <a:r>
                  <a:rPr lang="en-US" altLang="zh-TW" sz="3600">
                    <a:solidFill>
                      <a:srgbClr val="000000"/>
                    </a:solidFill>
                  </a:rPr>
                  <a:t>to obtain </a:t>
                </a:r>
                <a14:m>
                  <m:oMath xmlns:m="http://schemas.openxmlformats.org/officeDocument/2006/math">
                    <m:d>
                      <m:dPr>
                        <m:begChr m:val="{"/>
                        <m:endChr m:val="}"/>
                        <m:ctrlPr>
                          <a:rPr lang="en-US" altLang="zh-TW" sz="3600" b="0" i="1" smtClean="0">
                            <a:solidFill>
                              <a:srgbClr val="000000"/>
                            </a:solidFill>
                            <a:latin typeface="Cambria Math" panose="02040503050406030204" pitchFamily="18" charset="0"/>
                          </a:rPr>
                        </m:ctrlPr>
                      </m:dPr>
                      <m:e>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1</m:t>
                                </m:r>
                              </m:sup>
                            </m:sSup>
                          </m:e>
                        </m:acc>
                        <m:r>
                          <a:rPr lang="en-US" altLang="zh-TW" sz="3600" b="0" i="1" smtClean="0">
                            <a:solidFill>
                              <a:srgbClr val="000000"/>
                            </a:solidFill>
                            <a:latin typeface="Cambria Math" panose="02040503050406030204" pitchFamily="18" charset="0"/>
                          </a:rPr>
                          <m:t>, ……</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m:rPr>
                                    <m:sty m:val="p"/>
                                  </m:rPr>
                                  <a:rPr lang="en-US" altLang="zh-TW" sz="3600" i="1">
                                    <a:solidFill>
                                      <a:srgbClr val="000000"/>
                                    </a:solidFill>
                                    <a:latin typeface="Cambria Math" panose="02040503050406030204" pitchFamily="18" charset="0"/>
                                  </a:rPr>
                                  <m:t>B</m:t>
                                </m:r>
                              </m:sup>
                            </m:sSup>
                          </m:e>
                        </m:acc>
                      </m:e>
                    </m:d>
                    <m:r>
                      <a:rPr lang="en-US" altLang="zh-TW" sz="3600" b="0" i="1" smtClean="0">
                        <a:solidFill>
                          <a:srgbClr val="000000"/>
                        </a:solidFill>
                        <a:latin typeface="Cambria Math" panose="02040503050406030204" pitchFamily="18" charset="0"/>
                      </a:rPr>
                      <m:t>.</m:t>
                    </m:r>
                  </m:oMath>
                </a14:m>
                <a:endParaRPr lang="en" altLang="zh-TW" sz="3600">
                  <a:solidFill>
                    <a:srgbClr val="000000"/>
                  </a:solidFill>
                </a:endParaRPr>
              </a:p>
              <a:p>
                <a:pPr marL="514350" indent="-514350">
                  <a:buFont typeface="+mj-lt"/>
                  <a:buAutoNum type="arabicPeriod"/>
                </a:pPr>
                <a:endParaRPr lang="en-US" altLang="zh-TW" sz="3600">
                  <a:solidFill>
                    <a:srgbClr val="000000"/>
                  </a:solidFill>
                </a:endParaRPr>
              </a:p>
              <a:p>
                <a:pPr marL="514350" indent="-514350">
                  <a:buFont typeface="+mj-lt"/>
                  <a:buAutoNum type="arabicPeriod"/>
                </a:pPr>
                <a:r>
                  <a:rPr lang="en-US" altLang="zh-TW" sz="3600">
                    <a:solidFill>
                      <a:srgbClr val="000000"/>
                    </a:solidFill>
                  </a:rPr>
                  <a:t>S</a:t>
                </a:r>
                <a:r>
                  <a:rPr lang="en" altLang="zh-TW" sz="3600">
                    <a:solidFill>
                      <a:srgbClr val="000000"/>
                    </a:solidFill>
                  </a:rPr>
                  <a:t>ort </a:t>
                </a:r>
                <a14:m>
                  <m:oMath xmlns:m="http://schemas.openxmlformats.org/officeDocument/2006/math">
                    <m:r>
                      <a:rPr lang="en-US" altLang="zh-TW" sz="3600" b="0" i="1" smtClean="0">
                        <a:solidFill>
                          <a:srgbClr val="000000"/>
                        </a:solidFill>
                        <a:latin typeface="Cambria Math" panose="02040503050406030204" pitchFamily="18" charset="0"/>
                      </a:rPr>
                      <m:t>{</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1</m:t>
                            </m:r>
                          </m:sup>
                        </m:sSup>
                      </m:e>
                    </m:acc>
                    <m:r>
                      <a:rPr lang="en-US" altLang="zh-TW" sz="3600" b="0" i="1" smtClean="0">
                        <a:solidFill>
                          <a:srgbClr val="000000"/>
                        </a:solidFill>
                        <a:latin typeface="Cambria Math" panose="02040503050406030204" pitchFamily="18" charset="0"/>
                      </a:rPr>
                      <m:t>, ……</m:t>
                    </m:r>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𝐵</m:t>
                            </m:r>
                          </m:sup>
                        </m:sSup>
                      </m:e>
                    </m:acc>
                    <m:r>
                      <a:rPr lang="en-US" altLang="zh-TW" sz="3600" b="0" i="1" smtClean="0">
                        <a:solidFill>
                          <a:srgbClr val="000000"/>
                        </a:solidFill>
                        <a:latin typeface="Cambria Math" panose="02040503050406030204" pitchFamily="18" charset="0"/>
                      </a:rPr>
                      <m:t>}</m:t>
                    </m:r>
                  </m:oMath>
                </a14:m>
                <a:r>
                  <a:rPr lang="en" altLang="zh-TW" sz="3600">
                    <a:solidFill>
                      <a:srgbClr val="000000"/>
                    </a:solidFill>
                  </a:rPr>
                  <a:t> to have </a:t>
                </a:r>
                <a14:m>
                  <m:oMath xmlns:m="http://schemas.openxmlformats.org/officeDocument/2006/math">
                    <m:r>
                      <a:rPr lang="en-US" altLang="zh-TW" sz="3600" i="1">
                        <a:solidFill>
                          <a:srgbClr val="000000"/>
                        </a:solidFill>
                        <a:latin typeface="Cambria Math" panose="02040503050406030204" pitchFamily="18" charset="0"/>
                      </a:rPr>
                      <m:t>{</m:t>
                    </m:r>
                    <m:acc>
                      <m:accPr>
                        <m:chr m:val="̂"/>
                        <m:ctrlPr>
                          <a:rPr lang="en-US" altLang="zh-TW" sz="3600" i="1">
                            <a:solidFill>
                              <a:srgbClr val="000000"/>
                            </a:solidFill>
                            <a:latin typeface="Cambria Math" panose="02040503050406030204" pitchFamily="18" charset="0"/>
                          </a:rPr>
                        </m:ctrlPr>
                      </m:accPr>
                      <m:e>
                        <m:sSup>
                          <m:sSupPr>
                            <m:ctrlPr>
                              <a:rPr lang="en-US" altLang="zh-TW" sz="3600" i="1">
                                <a:solidFill>
                                  <a:srgbClr val="000000"/>
                                </a:solidFill>
                                <a:latin typeface="Cambria Math" panose="02040503050406030204" pitchFamily="18" charset="0"/>
                              </a:rPr>
                            </m:ctrlPr>
                          </m:sSupPr>
                          <m:e>
                            <m:r>
                              <a:rPr lang="zh-TW" altLang="en-US" sz="3600" b="1" i="1">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(1)</m:t>
                            </m:r>
                          </m:sup>
                        </m:sSup>
                      </m:e>
                    </m:acc>
                    <m:r>
                      <a:rPr lang="en-US" altLang="zh-TW" sz="3600" i="1">
                        <a:solidFill>
                          <a:srgbClr val="000000"/>
                        </a:solidFill>
                        <a:latin typeface="Cambria Math" panose="02040503050406030204" pitchFamily="18" charset="0"/>
                      </a:rPr>
                      <m:t>, ……</m:t>
                    </m:r>
                    <m:acc>
                      <m:accPr>
                        <m:chr m:val="̂"/>
                        <m:ctrlPr>
                          <a:rPr lang="en-US" altLang="zh-TW" sz="3600" i="1">
                            <a:solidFill>
                              <a:srgbClr val="000000"/>
                            </a:solidFill>
                            <a:latin typeface="Cambria Math" panose="02040503050406030204" pitchFamily="18" charset="0"/>
                          </a:rPr>
                        </m:ctrlPr>
                      </m:accPr>
                      <m:e>
                        <m:sSup>
                          <m:sSupPr>
                            <m:ctrlPr>
                              <a:rPr lang="en-US" altLang="zh-TW" sz="3600" i="1" smtClean="0">
                                <a:solidFill>
                                  <a:srgbClr val="000000"/>
                                </a:solidFill>
                                <a:latin typeface="Cambria Math" panose="02040503050406030204" pitchFamily="18" charset="0"/>
                              </a:rPr>
                            </m:ctrlPr>
                          </m:sSupPr>
                          <m:e>
                            <m:r>
                              <a:rPr lang="zh-TW" altLang="en-US" sz="3600" b="1" i="1">
                                <a:solidFill>
                                  <a:srgbClr val="000000"/>
                                </a:solidFill>
                                <a:latin typeface="Cambria Math" panose="02040503050406030204" pitchFamily="18" charset="0"/>
                              </a:rPr>
                              <m:t>𝜽</m:t>
                            </m:r>
                          </m:e>
                          <m:sup>
                            <m:r>
                              <a:rPr lang="en-US" altLang="zh-TW" sz="3600" b="0" i="1" smtClean="0">
                                <a:solidFill>
                                  <a:srgbClr val="000000"/>
                                </a:solidFill>
                                <a:latin typeface="Cambria Math" panose="02040503050406030204" pitchFamily="18" charset="0"/>
                              </a:rPr>
                              <m:t>(</m:t>
                            </m:r>
                            <m:r>
                              <a:rPr lang="en-US" altLang="zh-TW" sz="3600" b="0" i="1" smtClean="0">
                                <a:solidFill>
                                  <a:srgbClr val="000000"/>
                                </a:solidFill>
                                <a:latin typeface="Cambria Math" panose="02040503050406030204" pitchFamily="18" charset="0"/>
                              </a:rPr>
                              <m:t>𝐵</m:t>
                            </m:r>
                            <m:r>
                              <a:rPr lang="en-US" altLang="zh-TW" sz="3600" b="0" i="1" smtClean="0">
                                <a:solidFill>
                                  <a:srgbClr val="000000"/>
                                </a:solidFill>
                                <a:latin typeface="Cambria Math" panose="02040503050406030204" pitchFamily="18" charset="0"/>
                              </a:rPr>
                              <m:t>)</m:t>
                            </m:r>
                          </m:sup>
                        </m:sSup>
                      </m:e>
                    </m:acc>
                    <m:r>
                      <a:rPr lang="en-US" altLang="zh-TW" sz="3600" i="1">
                        <a:solidFill>
                          <a:srgbClr val="000000"/>
                        </a:solidFill>
                        <a:latin typeface="Cambria Math" panose="02040503050406030204" pitchFamily="18" charset="0"/>
                      </a:rPr>
                      <m:t>}</m:t>
                    </m:r>
                  </m:oMath>
                </a14:m>
                <a:r>
                  <a:rPr lang="en" altLang="zh-TW" sz="3600">
                    <a:solidFill>
                      <a:srgbClr val="000000"/>
                    </a:solidFill>
                  </a:rPr>
                  <a:t> .</a:t>
                </a:r>
              </a:p>
              <a:p>
                <a:pPr marL="514350" indent="-514350">
                  <a:buFont typeface="+mj-lt"/>
                  <a:buAutoNum type="arabicPeriod"/>
                </a:pPr>
                <a:r>
                  <a:rPr lang="en" altLang="zh-TW" sz="3600">
                    <a:solidFill>
                      <a:srgbClr val="000000"/>
                    </a:solidFill>
                  </a:rPr>
                  <a:t>Construct a </a:t>
                </a:r>
                <a14:m>
                  <m:oMath xmlns:m="http://schemas.openxmlformats.org/officeDocument/2006/math">
                    <m:r>
                      <a:rPr lang="en-US" altLang="zh-TW" sz="3600" b="0" i="1" smtClean="0">
                        <a:solidFill>
                          <a:srgbClr val="000000"/>
                        </a:solidFill>
                        <a:latin typeface="Cambria Math" panose="02040503050406030204" pitchFamily="18" charset="0"/>
                      </a:rPr>
                      <m:t>100(1−</m:t>
                    </m:r>
                    <m:r>
                      <a:rPr lang="zh-TW" altLang="en-US" sz="3600" b="0" i="1" smtClean="0">
                        <a:solidFill>
                          <a:srgbClr val="000000"/>
                        </a:solidFill>
                        <a:latin typeface="Cambria Math" panose="02040503050406030204" pitchFamily="18" charset="0"/>
                      </a:rPr>
                      <m:t>𝛼</m:t>
                    </m:r>
                    <m:r>
                      <a:rPr lang="en-US" altLang="zh-TW" sz="3600" b="0" i="1" smtClean="0">
                        <a:solidFill>
                          <a:srgbClr val="000000"/>
                        </a:solidFill>
                        <a:latin typeface="Cambria Math" panose="02040503050406030204" pitchFamily="18" charset="0"/>
                      </a:rPr>
                      <m:t>)</m:t>
                    </m:r>
                  </m:oMath>
                </a14:m>
                <a:r>
                  <a:rPr lang="en" altLang="zh-TW" sz="3600">
                    <a:solidFill>
                      <a:srgbClr val="000000"/>
                    </a:solidFill>
                  </a:rPr>
                  <a:t>% bootstrap CI for </a:t>
                </a:r>
                <a14:m>
                  <m:oMath xmlns:m="http://schemas.openxmlformats.org/officeDocument/2006/math">
                    <m:r>
                      <a:rPr lang="zh-TW" altLang="en-US" sz="3600" b="1" i="1">
                        <a:solidFill>
                          <a:srgbClr val="000000"/>
                        </a:solidFill>
                        <a:latin typeface="Cambria Math" panose="02040503050406030204" pitchFamily="18" charset="0"/>
                      </a:rPr>
                      <m:t>𝜽</m:t>
                    </m:r>
                  </m:oMath>
                </a14:m>
                <a:r>
                  <a:rPr lang="en" altLang="zh-TW" sz="3600" b="1">
                    <a:solidFill>
                      <a:srgbClr val="000000"/>
                    </a:solidFill>
                  </a:rPr>
                  <a:t> </a:t>
                </a:r>
                <a:r>
                  <a:rPr lang="en" altLang="zh-TW" sz="3600">
                    <a:solidFill>
                      <a:srgbClr val="000000"/>
                    </a:solidFill>
                  </a:rPr>
                  <a:t>to be </a:t>
                </a:r>
                <a14:m>
                  <m:oMath xmlns:m="http://schemas.openxmlformats.org/officeDocument/2006/math">
                    <m:d>
                      <m:dPr>
                        <m:begChr m:val="["/>
                        <m:endChr m:val="]"/>
                        <m:ctrlPr>
                          <a:rPr lang="en-US" altLang="zh-TW" sz="3600" b="0" i="1" smtClean="0">
                            <a:solidFill>
                              <a:srgbClr val="000000"/>
                            </a:solidFill>
                            <a:latin typeface="Cambria Math" panose="02040503050406030204" pitchFamily="18" charset="0"/>
                          </a:rPr>
                        </m:ctrlPr>
                      </m:dPr>
                      <m:e>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𝐵</m:t>
                                    </m:r>
                                    <m:f>
                                      <m:fPr>
                                        <m:ctrlPr>
                                          <a:rPr lang="en-US" altLang="zh-TW" sz="3600" b="0" i="1" smtClean="0">
                                            <a:solidFill>
                                              <a:srgbClr val="000000"/>
                                            </a:solidFill>
                                            <a:latin typeface="Cambria Math" panose="02040503050406030204" pitchFamily="18" charset="0"/>
                                          </a:rPr>
                                        </m:ctrlPr>
                                      </m:fPr>
                                      <m:num>
                                        <m:r>
                                          <a:rPr lang="zh-TW" altLang="en-US" sz="3600" b="0" i="1" smtClean="0">
                                            <a:solidFill>
                                              <a:srgbClr val="000000"/>
                                            </a:solidFill>
                                            <a:latin typeface="Cambria Math" panose="02040503050406030204" pitchFamily="18" charset="0"/>
                                          </a:rPr>
                                          <m:t>𝛼</m:t>
                                        </m:r>
                                      </m:num>
                                      <m:den>
                                        <m:r>
                                          <a:rPr lang="en-US" altLang="zh-TW" sz="3600" b="0" i="1" smtClean="0">
                                            <a:solidFill>
                                              <a:srgbClr val="000000"/>
                                            </a:solidFill>
                                            <a:latin typeface="Cambria Math" panose="02040503050406030204" pitchFamily="18" charset="0"/>
                                          </a:rPr>
                                          <m:t>2</m:t>
                                        </m:r>
                                      </m:den>
                                    </m:f>
                                  </m:e>
                                </m:d>
                              </m:sup>
                            </m:sSup>
                            <m:r>
                              <a:rPr lang="en-US" altLang="zh-TW" sz="3600" b="0" i="1" smtClean="0">
                                <a:solidFill>
                                  <a:srgbClr val="000000"/>
                                </a:solidFill>
                                <a:latin typeface="Cambria Math" panose="02040503050406030204" pitchFamily="18" charset="0"/>
                              </a:rPr>
                              <m:t>,</m:t>
                            </m:r>
                          </m:e>
                        </m:acc>
                        <m:acc>
                          <m:accPr>
                            <m:chr m:val="̂"/>
                            <m:ctrlPr>
                              <a:rPr lang="en-US" altLang="zh-TW" sz="3600" b="0" i="1" smtClean="0">
                                <a:solidFill>
                                  <a:srgbClr val="000000"/>
                                </a:solidFill>
                                <a:latin typeface="Cambria Math" panose="02040503050406030204" pitchFamily="18" charset="0"/>
                              </a:rPr>
                            </m:ctrlPr>
                          </m:accPr>
                          <m:e>
                            <m:sSup>
                              <m:sSupPr>
                                <m:ctrlPr>
                                  <a:rPr lang="en-US" altLang="zh-TW" sz="3600" b="0" i="1" smtClean="0">
                                    <a:solidFill>
                                      <a:srgbClr val="000000"/>
                                    </a:solidFill>
                                    <a:latin typeface="Cambria Math" panose="02040503050406030204" pitchFamily="18" charset="0"/>
                                  </a:rPr>
                                </m:ctrlPr>
                              </m:sSupPr>
                              <m:e>
                                <m:r>
                                  <a:rPr lang="zh-TW" altLang="en-US" sz="3600" b="1" i="1" smtClean="0">
                                    <a:solidFill>
                                      <a:srgbClr val="000000"/>
                                    </a:solidFill>
                                    <a:latin typeface="Cambria Math" panose="02040503050406030204" pitchFamily="18" charset="0"/>
                                  </a:rPr>
                                  <m:t>𝜽</m:t>
                                </m:r>
                              </m:e>
                              <m:sup>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𝐵</m:t>
                                    </m:r>
                                    <m:d>
                                      <m:dPr>
                                        <m:ctrlPr>
                                          <a:rPr lang="en-US" altLang="zh-TW" sz="3600" b="0" i="1" smtClean="0">
                                            <a:solidFill>
                                              <a:srgbClr val="000000"/>
                                            </a:solidFill>
                                            <a:latin typeface="Cambria Math" panose="02040503050406030204" pitchFamily="18" charset="0"/>
                                          </a:rPr>
                                        </m:ctrlPr>
                                      </m:dPr>
                                      <m:e>
                                        <m:r>
                                          <a:rPr lang="en-US" altLang="zh-TW" sz="3600" b="0" i="1" smtClean="0">
                                            <a:solidFill>
                                              <a:srgbClr val="000000"/>
                                            </a:solidFill>
                                            <a:latin typeface="Cambria Math" panose="02040503050406030204" pitchFamily="18" charset="0"/>
                                          </a:rPr>
                                          <m:t>1−</m:t>
                                        </m:r>
                                        <m:f>
                                          <m:fPr>
                                            <m:ctrlPr>
                                              <a:rPr lang="en-US" altLang="zh-TW" sz="3600" b="0" i="1" smtClean="0">
                                                <a:solidFill>
                                                  <a:srgbClr val="000000"/>
                                                </a:solidFill>
                                                <a:latin typeface="Cambria Math" panose="02040503050406030204" pitchFamily="18" charset="0"/>
                                              </a:rPr>
                                            </m:ctrlPr>
                                          </m:fPr>
                                          <m:num>
                                            <m:r>
                                              <a:rPr lang="zh-TW" altLang="en-US" sz="3600" b="0" i="1" smtClean="0">
                                                <a:solidFill>
                                                  <a:srgbClr val="000000"/>
                                                </a:solidFill>
                                                <a:latin typeface="Cambria Math" panose="02040503050406030204" pitchFamily="18" charset="0"/>
                                              </a:rPr>
                                              <m:t>𝛼</m:t>
                                            </m:r>
                                          </m:num>
                                          <m:den>
                                            <m:r>
                                              <a:rPr lang="en-US" altLang="zh-TW" sz="3600" b="0" i="1" smtClean="0">
                                                <a:solidFill>
                                                  <a:srgbClr val="000000"/>
                                                </a:solidFill>
                                                <a:latin typeface="Cambria Math" panose="02040503050406030204" pitchFamily="18" charset="0"/>
                                              </a:rPr>
                                              <m:t>2</m:t>
                                            </m:r>
                                          </m:den>
                                        </m:f>
                                      </m:e>
                                    </m:d>
                                  </m:e>
                                </m:d>
                              </m:sup>
                            </m:sSup>
                          </m:e>
                        </m:acc>
                      </m:e>
                    </m:d>
                    <m:r>
                      <a:rPr lang="en-US" altLang="zh-TW" sz="3600" b="0" i="1" smtClean="0">
                        <a:solidFill>
                          <a:srgbClr val="000000"/>
                        </a:solidFill>
                        <a:latin typeface="Cambria Math" panose="02040503050406030204" pitchFamily="18" charset="0"/>
                      </a:rPr>
                      <m:t>.</m:t>
                    </m:r>
                  </m:oMath>
                </a14:m>
                <a:endParaRPr lang="en" altLang="zh-TW" sz="3600">
                  <a:solidFill>
                    <a:srgbClr val="000000"/>
                  </a:solidFill>
                </a:endParaRPr>
              </a:p>
              <a:p>
                <a:endParaRPr lang="en" altLang="zh-TW" sz="3200">
                  <a:solidFill>
                    <a:srgbClr val="000000"/>
                  </a:solidFill>
                </a:endParaRPr>
              </a:p>
            </p:txBody>
          </p:sp>
        </mc:Choice>
        <mc:Fallback xmlns="">
          <p:sp>
            <p:nvSpPr>
              <p:cNvPr id="2" name="文字方塊 1">
                <a:extLst>
                  <a:ext uri="{FF2B5EF4-FFF2-40B4-BE49-F238E27FC236}">
                    <a16:creationId xmlns:a16="http://schemas.microsoft.com/office/drawing/2014/main" id="{D3E2EBAE-73B2-4404-3BF5-8BD320636ABD}"/>
                  </a:ext>
                </a:extLst>
              </p:cNvPr>
              <p:cNvSpPr txBox="1">
                <a:spLocks noRot="1" noChangeAspect="1" noMove="1" noResize="1" noEditPoints="1" noAdjustHandles="1" noChangeArrowheads="1" noChangeShapeType="1" noTextEdit="1"/>
              </p:cNvSpPr>
              <p:nvPr/>
            </p:nvSpPr>
            <p:spPr>
              <a:xfrm>
                <a:off x="2573307" y="1251204"/>
                <a:ext cx="13981143" cy="8630248"/>
              </a:xfrm>
              <a:prstGeom prst="rect">
                <a:avLst/>
              </a:prstGeom>
              <a:blipFill>
                <a:blip r:embed="rId4"/>
                <a:stretch>
                  <a:fillRect l="-1395" t="-1271" r="-2005"/>
                </a:stretch>
              </a:blipFill>
            </p:spPr>
            <p:txBody>
              <a:bodyPr/>
              <a:lstStyle/>
              <a:p>
                <a:r>
                  <a:rPr lang="en-US">
                    <a:noFill/>
                  </a:rPr>
                  <a:t> </a:t>
                </a:r>
              </a:p>
            </p:txBody>
          </p:sp>
        </mc:Fallback>
      </mc:AlternateContent>
    </p:spTree>
    <p:extLst>
      <p:ext uri="{BB962C8B-B14F-4D97-AF65-F5344CB8AC3E}">
        <p14:creationId xmlns:p14="http://schemas.microsoft.com/office/powerpoint/2010/main" val="2923004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6934200" y="6972300"/>
            <a:ext cx="4437126" cy="1015663"/>
          </a:xfrm>
          <a:prstGeom prst="rect">
            <a:avLst/>
          </a:prstGeom>
        </p:spPr>
        <p:txBody>
          <a:bodyPr wrap="square" lIns="0" tIns="0" rIns="0" bIns="0" rtlCol="0" anchor="t">
            <a:spAutoFit/>
          </a:bodyPr>
          <a:lstStyle/>
          <a:p>
            <a:r>
              <a:rPr lang="en-US" altLang="zh-TW" sz="6600">
                <a:solidFill>
                  <a:srgbClr val="000000"/>
                </a:solidFill>
                <a:ea typeface="思源宋体 Bold"/>
              </a:rPr>
              <a:t>Degradation</a:t>
            </a:r>
            <a:endParaRPr lang="en-US" sz="6600">
              <a:solidFill>
                <a:srgbClr val="000000"/>
              </a:solidFill>
              <a:ea typeface="思源宋体 Bold"/>
            </a:endParaRP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299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5715000" y="6963370"/>
            <a:ext cx="6800850" cy="923330"/>
          </a:xfrm>
          <a:prstGeom prst="rect">
            <a:avLst/>
          </a:prstGeom>
        </p:spPr>
        <p:txBody>
          <a:bodyPr wrap="square" lIns="0" tIns="0" rIns="0" bIns="0" rtlCol="0" anchor="t">
            <a:spAutoFit/>
          </a:bodyPr>
          <a:lstStyle/>
          <a:p>
            <a:r>
              <a:rPr lang="en-US" sz="6000">
                <a:solidFill>
                  <a:srgbClr val="000000"/>
                </a:solidFill>
                <a:ea typeface="思源宋体 Bold"/>
              </a:rPr>
              <a:t>What is degradation ?</a:t>
            </a:r>
          </a:p>
        </p:txBody>
      </p:sp>
      <p:pic>
        <p:nvPicPr>
          <p:cNvPr id="5" name="圖片 4" descr="一張含有 足部穿著, 卡通, 服裝, 美工圖案 的圖片&#10;&#10;自動產生的描述">
            <a:extLst>
              <a:ext uri="{FF2B5EF4-FFF2-40B4-BE49-F238E27FC236}">
                <a16:creationId xmlns:a16="http://schemas.microsoft.com/office/drawing/2014/main" id="{42569B31-0E3D-4612-7E97-B457103AF7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7825" y="1562100"/>
            <a:ext cx="7372350" cy="5366018"/>
          </a:xfrm>
          <a:prstGeom prst="rect">
            <a:avLst/>
          </a:prstGeom>
        </p:spPr>
      </p:pic>
    </p:spTree>
    <p:extLst>
      <p:ext uri="{BB962C8B-B14F-4D97-AF65-F5344CB8AC3E}">
        <p14:creationId xmlns:p14="http://schemas.microsoft.com/office/powerpoint/2010/main" val="3385548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D3E2EBAE-73B2-4404-3BF5-8BD320636ABD}"/>
              </a:ext>
            </a:extLst>
          </p:cNvPr>
          <p:cNvSpPr txBox="1"/>
          <p:nvPr/>
        </p:nvSpPr>
        <p:spPr>
          <a:xfrm>
            <a:off x="1152939" y="2002363"/>
            <a:ext cx="14525211" cy="5016758"/>
          </a:xfrm>
          <a:prstGeom prst="rect">
            <a:avLst/>
          </a:prstGeom>
          <a:noFill/>
        </p:spPr>
        <p:txBody>
          <a:bodyPr wrap="square">
            <a:spAutoFit/>
          </a:bodyPr>
          <a:lstStyle/>
          <a:p>
            <a:pPr marL="457200" indent="-457200">
              <a:buFont typeface="Arial" panose="020B0604020202020204" pitchFamily="34" charset="0"/>
              <a:buChar char="•"/>
            </a:pPr>
            <a:r>
              <a:rPr lang="en" altLang="zh-TW" sz="4000">
                <a:solidFill>
                  <a:srgbClr val="000000"/>
                </a:solidFill>
              </a:rPr>
              <a:t>It is the difficulty in obtaining sufficient time-to-failure data to efficiently estimate a product’s life.</a:t>
            </a:r>
          </a:p>
          <a:p>
            <a:pPr marL="457200" indent="-457200">
              <a:buClr>
                <a:schemeClr val="tx1"/>
              </a:buClr>
              <a:buFont typeface="Arial" panose="020B0604020202020204" pitchFamily="34" charset="0"/>
              <a:buChar char="•"/>
            </a:pPr>
            <a:r>
              <a:rPr lang="en" altLang="zh-TW" sz="4000">
                <a:solidFill>
                  <a:srgbClr val="FF0000"/>
                </a:solidFill>
              </a:rPr>
              <a:t>Quality </a:t>
            </a:r>
            <a:r>
              <a:rPr lang="en" altLang="zh-TW" sz="4000" dirty="0">
                <a:solidFill>
                  <a:srgbClr val="FF0000"/>
                </a:solidFill>
              </a:rPr>
              <a:t>characteristic </a:t>
            </a:r>
            <a:r>
              <a:rPr lang="en" altLang="zh-TW" sz="4000">
                <a:solidFill>
                  <a:srgbClr val="FF0000"/>
                </a:solidFill>
              </a:rPr>
              <a:t>(QC)</a:t>
            </a:r>
            <a:r>
              <a:rPr lang="en" altLang="zh-TW" sz="4000"/>
              <a:t> : easily to be observed. (ex. </a:t>
            </a:r>
            <a:r>
              <a:rPr lang="en-US" altLang="zh-TW" sz="4000"/>
              <a:t>The operating current of the laser device, the voltage of the battery, etc.</a:t>
            </a:r>
            <a:r>
              <a:rPr lang="en" altLang="zh-TW" sz="4000"/>
              <a:t>)</a:t>
            </a:r>
          </a:p>
          <a:p>
            <a:pPr marL="457200" indent="-457200">
              <a:buFont typeface="Arial" panose="020B0604020202020204" pitchFamily="34" charset="0"/>
              <a:buChar char="•"/>
            </a:pPr>
            <a:r>
              <a:rPr lang="en" altLang="zh-TW" sz="4000">
                <a:solidFill>
                  <a:srgbClr val="000000"/>
                </a:solidFill>
                <a:effectLst/>
              </a:rPr>
              <a:t>If </a:t>
            </a:r>
            <a:r>
              <a:rPr lang="en" altLang="zh-TW" sz="4000">
                <a:solidFill>
                  <a:srgbClr val="FF0000"/>
                </a:solidFill>
                <a:effectLst/>
              </a:rPr>
              <a:t>quality </a:t>
            </a:r>
            <a:r>
              <a:rPr lang="en" altLang="zh-TW" sz="4000" dirty="0">
                <a:solidFill>
                  <a:srgbClr val="FF0000"/>
                </a:solidFill>
                <a:effectLst/>
              </a:rPr>
              <a:t>characteristic </a:t>
            </a:r>
            <a:r>
              <a:rPr lang="en" altLang="zh-TW" sz="4000">
                <a:solidFill>
                  <a:srgbClr val="FF0000"/>
                </a:solidFill>
                <a:effectLst/>
              </a:rPr>
              <a:t>(QC) </a:t>
            </a:r>
            <a:r>
              <a:rPr lang="en" altLang="zh-TW" sz="4000">
                <a:effectLst/>
              </a:rPr>
              <a:t> exist, whose degradation path can be related to reliability, an alternative approach can be used to collect the degradation data to predict a product’s </a:t>
            </a:r>
            <a:r>
              <a:rPr lang="en" altLang="zh-TW" sz="4000" dirty="0">
                <a:effectLst/>
              </a:rPr>
              <a:t>lifetime</a:t>
            </a:r>
            <a:r>
              <a:rPr lang="zh-TW" altLang="en-US" sz="4000" dirty="0">
                <a:effectLst/>
              </a:rPr>
              <a:t> </a:t>
            </a:r>
            <a:r>
              <a:rPr lang="en" altLang="zh-TW" sz="4000" dirty="0">
                <a:effectLst/>
              </a:rPr>
              <a:t>distribution</a:t>
            </a:r>
            <a:r>
              <a:rPr lang="en" altLang="zh-TW" sz="4000">
                <a:effectLst/>
              </a:rPr>
              <a:t>. </a:t>
            </a:r>
            <a:endParaRPr lang="en" altLang="zh-TW" sz="4000">
              <a:solidFill>
                <a:srgbClr val="000000"/>
              </a:solidFill>
              <a:effectLst/>
            </a:endParaRPr>
          </a:p>
        </p:txBody>
      </p:sp>
    </p:spTree>
    <p:extLst>
      <p:ext uri="{BB962C8B-B14F-4D97-AF65-F5344CB8AC3E}">
        <p14:creationId xmlns:p14="http://schemas.microsoft.com/office/powerpoint/2010/main" val="2185845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2115974" y="1528366"/>
                <a:ext cx="13612976" cy="8402300"/>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rPr>
                  <a:t> </a:t>
                </a:r>
                <a:r>
                  <a:rPr lang="en" altLang="zh-TW" sz="4000">
                    <a:solidFill>
                      <a:srgbClr val="000000"/>
                    </a:solidFill>
                    <a:effectLst/>
                  </a:rPr>
                  <a:t>Two well-known approaches in literature:</a:t>
                </a:r>
                <a:endParaRPr lang="en" altLang="zh-TW" sz="3200">
                  <a:solidFill>
                    <a:srgbClr val="000000"/>
                  </a:solidFill>
                  <a:effectLst/>
                </a:endParaRPr>
              </a:p>
              <a:p>
                <a:pPr marL="914400" lvl="1" indent="-457200">
                  <a:buFont typeface="Arial" panose="020B0604020202020204" pitchFamily="34" charset="0"/>
                  <a:buChar char="•"/>
                </a:pPr>
                <a:r>
                  <a:rPr lang="en" altLang="zh-TW" sz="3600">
                    <a:solidFill>
                      <a:srgbClr val="000000"/>
                    </a:solidFill>
                    <a:effectLst/>
                  </a:rPr>
                  <a:t>Mixed (or Random) effect :</a:t>
                </a:r>
              </a:p>
              <a:p>
                <a:pPr marL="1371600" lvl="2" indent="-457200">
                  <a:buFont typeface="Arial" panose="020B0604020202020204" pitchFamily="34" charset="0"/>
                  <a:buChar char="•"/>
                </a:pPr>
                <a:r>
                  <a:rPr lang="en" altLang="zh-TW" sz="3600">
                    <a:solidFill>
                      <a:srgbClr val="000000"/>
                    </a:solidFill>
                  </a:rPr>
                  <a:t>Linear degradation</a:t>
                </a:r>
              </a:p>
              <a:p>
                <a:pPr marL="1371600" lvl="2" indent="-457200">
                  <a:buFont typeface="Arial" panose="020B0604020202020204" pitchFamily="34" charset="0"/>
                  <a:buChar char="•"/>
                </a:pPr>
                <a:r>
                  <a:rPr lang="en-US" altLang="zh-TW" sz="3600">
                    <a:solidFill>
                      <a:srgbClr val="000000"/>
                    </a:solidFill>
                    <a:effectLst/>
                  </a:rPr>
                  <a:t>Convex degradation</a:t>
                </a:r>
              </a:p>
              <a:p>
                <a:pPr marL="1371600" lvl="2" indent="-457200">
                  <a:buFont typeface="Arial" panose="020B0604020202020204" pitchFamily="34" charset="0"/>
                  <a:buChar char="•"/>
                </a:pPr>
                <a:r>
                  <a:rPr lang="en-US" altLang="zh-TW" sz="3600">
                    <a:solidFill>
                      <a:srgbClr val="000000"/>
                    </a:solidFill>
                    <a:effectLst/>
                  </a:rPr>
                  <a:t>Concave degradation</a:t>
                </a:r>
              </a:p>
              <a:p>
                <a:pPr marL="1371600" lvl="2" indent="-457200">
                  <a:buFont typeface="Arial" panose="020B0604020202020204" pitchFamily="34" charset="0"/>
                  <a:buChar char="•"/>
                </a:pPr>
                <a:r>
                  <a:rPr lang="en-US" altLang="zh-TW" sz="3600">
                    <a:solidFill>
                      <a:srgbClr val="000000"/>
                    </a:solidFill>
                  </a:rPr>
                  <a:t>If there exist unit-to-unit variation, considering random effect.</a:t>
                </a:r>
                <a:endParaRPr lang="en" altLang="zh-TW" sz="3600">
                  <a:solidFill>
                    <a:srgbClr val="000000"/>
                  </a:solidFill>
                  <a:effectLst/>
                </a:endParaRPr>
              </a:p>
              <a:p>
                <a:pPr marL="914400" lvl="1" indent="-457200">
                  <a:buFont typeface="Arial" panose="020B0604020202020204" pitchFamily="34" charset="0"/>
                  <a:buChar char="•"/>
                </a:pPr>
                <a:r>
                  <a:rPr lang="en" altLang="zh-TW" sz="3600">
                    <a:solidFill>
                      <a:srgbClr val="000000"/>
                    </a:solidFill>
                    <a:effectLst/>
                  </a:rPr>
                  <a:t>Stochastic process : </a:t>
                </a:r>
              </a:p>
              <a:p>
                <a:pPr lvl="1"/>
                <a:r>
                  <a:rPr lang="en" altLang="zh-TW" sz="3600">
                    <a:solidFill>
                      <a:srgbClr val="000000"/>
                    </a:solidFill>
                  </a:rPr>
                  <a:t>     The degradation data which are mainly described by time-dependent   </a:t>
                </a:r>
              </a:p>
              <a:p>
                <a:pPr lvl="1"/>
                <a:r>
                  <a:rPr lang="en" altLang="zh-TW" sz="3600">
                    <a:solidFill>
                      <a:srgbClr val="000000"/>
                    </a:solidFill>
                  </a:rPr>
                  <a:t>     stochastic process.</a:t>
                </a:r>
              </a:p>
              <a:p>
                <a:pPr marL="1371600" lvl="2" indent="-457200">
                  <a:buFont typeface="Arial" panose="020B0604020202020204" pitchFamily="34" charset="0"/>
                  <a:buChar char="•"/>
                </a:pPr>
                <a:r>
                  <a:rPr lang="en" altLang="zh-TW" sz="3600">
                    <a:solidFill>
                      <a:srgbClr val="000000"/>
                    </a:solidFill>
                    <a:ea typeface="標楷體" panose="03000509000000000000" pitchFamily="65" charset="-120"/>
                  </a:rPr>
                  <a:t>Increment : </a:t>
                </a:r>
                <a14:m>
                  <m:oMath xmlns:m="http://schemas.openxmlformats.org/officeDocument/2006/math">
                    <m:r>
                      <m:rPr>
                        <m:sty m:val="p"/>
                      </m:rPr>
                      <a:rPr lang="en-US" altLang="zh-TW" sz="3600" b="0" i="0" smtClean="0">
                        <a:solidFill>
                          <a:srgbClr val="000000"/>
                        </a:solidFill>
                        <a:latin typeface="Cambria Math" panose="02040503050406030204" pitchFamily="18" charset="0"/>
                        <a:ea typeface="標楷體" panose="03000509000000000000" pitchFamily="65" charset="-120"/>
                      </a:rPr>
                      <m:t>X</m:t>
                    </m:r>
                    <m:d>
                      <m:dPr>
                        <m:ctrlPr>
                          <a:rPr lang="en-US" altLang="zh-TW" sz="3600" b="0" i="1" smtClean="0">
                            <a:solidFill>
                              <a:srgbClr val="000000"/>
                            </a:solidFill>
                            <a:latin typeface="Cambria Math" panose="02040503050406030204" pitchFamily="18" charset="0"/>
                            <a:ea typeface="標楷體" panose="03000509000000000000" pitchFamily="65" charset="-120"/>
                          </a:rPr>
                        </m:ctrlPr>
                      </m:dPr>
                      <m:e>
                        <m:sSub>
                          <m:sSubPr>
                            <m:ctrlPr>
                              <a:rPr lang="en-US" altLang="zh-TW" sz="3600" b="0" i="1" smtClean="0">
                                <a:solidFill>
                                  <a:srgbClr val="000000"/>
                                </a:solidFill>
                                <a:latin typeface="Cambria Math" panose="02040503050406030204" pitchFamily="18" charset="0"/>
                                <a:ea typeface="標楷體" panose="03000509000000000000" pitchFamily="65" charset="-120"/>
                              </a:rPr>
                            </m:ctrlPr>
                          </m:sSubPr>
                          <m:e>
                            <m:r>
                              <a:rPr lang="en-US" altLang="zh-TW" sz="3600" b="0" i="1" smtClean="0">
                                <a:solidFill>
                                  <a:srgbClr val="000000"/>
                                </a:solidFill>
                                <a:latin typeface="Cambria Math" panose="02040503050406030204" pitchFamily="18" charset="0"/>
                                <a:ea typeface="標楷體" panose="03000509000000000000" pitchFamily="65" charset="-120"/>
                              </a:rPr>
                              <m:t>𝑡</m:t>
                            </m:r>
                          </m:e>
                          <m:sub>
                            <m:r>
                              <a:rPr lang="en-US" altLang="zh-TW" sz="3600" b="0" i="1" smtClean="0">
                                <a:solidFill>
                                  <a:srgbClr val="000000"/>
                                </a:solidFill>
                                <a:latin typeface="Cambria Math" panose="02040503050406030204" pitchFamily="18" charset="0"/>
                                <a:ea typeface="標楷體" panose="03000509000000000000" pitchFamily="65" charset="-120"/>
                              </a:rPr>
                              <m:t>𝑖</m:t>
                            </m:r>
                          </m:sub>
                        </m:sSub>
                      </m:e>
                    </m:d>
                    <m:r>
                      <a:rPr lang="en-US" altLang="zh-TW" sz="3600" b="0" i="0" smtClean="0">
                        <a:solidFill>
                          <a:srgbClr val="000000"/>
                        </a:solidFill>
                        <a:latin typeface="Cambria Math" panose="02040503050406030204" pitchFamily="18" charset="0"/>
                        <a:ea typeface="標楷體" panose="03000509000000000000" pitchFamily="65" charset="-120"/>
                      </a:rPr>
                      <m:t>−</m:t>
                    </m:r>
                    <m:r>
                      <m:rPr>
                        <m:sty m:val="p"/>
                      </m:rPr>
                      <a:rPr lang="en-US" altLang="zh-TW" sz="3600" b="0" i="0" smtClean="0">
                        <a:solidFill>
                          <a:srgbClr val="000000"/>
                        </a:solidFill>
                        <a:latin typeface="Cambria Math" panose="02040503050406030204" pitchFamily="18" charset="0"/>
                        <a:ea typeface="標楷體" panose="03000509000000000000" pitchFamily="65" charset="-120"/>
                      </a:rPr>
                      <m:t>X</m:t>
                    </m:r>
                    <m:d>
                      <m:dPr>
                        <m:ctrlPr>
                          <a:rPr lang="en-US" altLang="zh-TW" sz="3600" b="0" i="1" smtClean="0">
                            <a:solidFill>
                              <a:srgbClr val="000000"/>
                            </a:solidFill>
                            <a:latin typeface="Cambria Math" panose="02040503050406030204" pitchFamily="18" charset="0"/>
                            <a:ea typeface="標楷體" panose="03000509000000000000" pitchFamily="65" charset="-120"/>
                          </a:rPr>
                        </m:ctrlPr>
                      </m:dPr>
                      <m:e>
                        <m:sSub>
                          <m:sSubPr>
                            <m:ctrlPr>
                              <a:rPr lang="en-US" altLang="zh-TW" sz="3600" b="0" i="1" smtClean="0">
                                <a:solidFill>
                                  <a:srgbClr val="000000"/>
                                </a:solidFill>
                                <a:latin typeface="Cambria Math" panose="02040503050406030204" pitchFamily="18" charset="0"/>
                                <a:ea typeface="標楷體" panose="03000509000000000000" pitchFamily="65" charset="-120"/>
                              </a:rPr>
                            </m:ctrlPr>
                          </m:sSubPr>
                          <m:e>
                            <m:r>
                              <a:rPr lang="en-US" altLang="zh-TW" sz="3600" b="0" i="1" smtClean="0">
                                <a:solidFill>
                                  <a:srgbClr val="000000"/>
                                </a:solidFill>
                                <a:latin typeface="Cambria Math" panose="02040503050406030204" pitchFamily="18" charset="0"/>
                                <a:ea typeface="標楷體" panose="03000509000000000000" pitchFamily="65" charset="-120"/>
                              </a:rPr>
                              <m:t>𝑡</m:t>
                            </m:r>
                          </m:e>
                          <m:sub>
                            <m:r>
                              <a:rPr lang="en-US" altLang="zh-TW" sz="3600" b="0" i="1" smtClean="0">
                                <a:solidFill>
                                  <a:srgbClr val="000000"/>
                                </a:solidFill>
                                <a:latin typeface="Cambria Math" panose="02040503050406030204" pitchFamily="18" charset="0"/>
                                <a:ea typeface="標楷體" panose="03000509000000000000" pitchFamily="65" charset="-120"/>
                              </a:rPr>
                              <m:t>𝑖</m:t>
                            </m:r>
                            <m:r>
                              <a:rPr lang="en-US" altLang="zh-TW" sz="3600" b="0" i="1" smtClean="0">
                                <a:solidFill>
                                  <a:srgbClr val="000000"/>
                                </a:solidFill>
                                <a:latin typeface="Cambria Math" panose="02040503050406030204" pitchFamily="18" charset="0"/>
                                <a:ea typeface="標楷體" panose="03000509000000000000" pitchFamily="65" charset="-120"/>
                              </a:rPr>
                              <m:t>−1</m:t>
                            </m:r>
                          </m:sub>
                        </m:sSub>
                      </m:e>
                    </m:d>
                  </m:oMath>
                </a14:m>
                <a:endParaRPr lang="en-US" altLang="zh-TW" sz="3600" b="0">
                  <a:solidFill>
                    <a:srgbClr val="000000"/>
                  </a:solidFill>
                  <a:ea typeface="標楷體" panose="03000509000000000000" pitchFamily="65" charset="-120"/>
                </a:endParaRPr>
              </a:p>
              <a:p>
                <a:pPr marL="1371600" lvl="2" indent="-457200">
                  <a:buFont typeface="Arial" panose="020B0604020202020204" pitchFamily="34" charset="0"/>
                  <a:buChar char="•"/>
                </a:pPr>
                <a:r>
                  <a:rPr lang="en" altLang="zh-TW" sz="3600">
                    <a:solidFill>
                      <a:srgbClr val="000000"/>
                    </a:solidFill>
                    <a:effectLst/>
                  </a:rPr>
                  <a:t>If increment </a:t>
                </a:r>
                <a14:m>
                  <m:oMath xmlns:m="http://schemas.openxmlformats.org/officeDocument/2006/math">
                    <m:r>
                      <a:rPr lang="en" altLang="zh-TW" sz="3600" i="1" smtClean="0">
                        <a:solidFill>
                          <a:srgbClr val="000000"/>
                        </a:solidFill>
                        <a:effectLst/>
                        <a:latin typeface="Cambria Math" panose="02040503050406030204" pitchFamily="18" charset="0"/>
                        <a:ea typeface="Cambria Math" panose="02040503050406030204" pitchFamily="18" charset="0"/>
                      </a:rPr>
                      <m:t>∈</m:t>
                    </m:r>
                  </m:oMath>
                </a14:m>
                <a:r>
                  <a:rPr lang="en" altLang="zh-TW" sz="3600">
                    <a:solidFill>
                      <a:srgbClr val="000000"/>
                    </a:solidFill>
                    <a:effectLst/>
                  </a:rPr>
                  <a:t> </a:t>
                </a:r>
                <a:r>
                  <a:rPr lang="en" altLang="zh-TW" sz="3600">
                    <a:solidFill>
                      <a:srgbClr val="000000"/>
                    </a:solidFill>
                    <a:effectLst/>
                    <a:latin typeface="Castellar" panose="020A0402060406010301" pitchFamily="18" charset="0"/>
                  </a:rPr>
                  <a:t>R </a:t>
                </a:r>
                <a14:m>
                  <m:oMath xmlns:m="http://schemas.openxmlformats.org/officeDocument/2006/math">
                    <m:r>
                      <a:rPr lang="en" altLang="zh-TW" sz="3600" i="1" smtClean="0">
                        <a:solidFill>
                          <a:srgbClr val="000000"/>
                        </a:solidFill>
                        <a:effectLst/>
                        <a:latin typeface="Cambria Math" panose="02040503050406030204" pitchFamily="18" charset="0"/>
                      </a:rPr>
                      <m:t>⇒</m:t>
                    </m:r>
                  </m:oMath>
                </a14:m>
                <a:r>
                  <a:rPr lang="en" altLang="zh-TW" sz="3600">
                    <a:solidFill>
                      <a:srgbClr val="000000"/>
                    </a:solidFill>
                    <a:effectLst/>
                    <a:latin typeface="Castellar" panose="020A0402060406010301" pitchFamily="18" charset="0"/>
                  </a:rPr>
                  <a:t> </a:t>
                </a:r>
                <a:r>
                  <a:rPr lang="en" altLang="zh-TW" sz="3600">
                    <a:solidFill>
                      <a:srgbClr val="000000"/>
                    </a:solidFill>
                    <a:effectLst/>
                  </a:rPr>
                  <a:t>consider wiener process</a:t>
                </a:r>
              </a:p>
              <a:p>
                <a:pPr marL="1371600" lvl="2" indent="-457200">
                  <a:buFont typeface="Arial" panose="020B0604020202020204" pitchFamily="34" charset="0"/>
                  <a:buChar char="•"/>
                </a:pPr>
                <a:r>
                  <a:rPr lang="en" altLang="zh-TW" sz="3600">
                    <a:solidFill>
                      <a:srgbClr val="000000"/>
                    </a:solidFill>
                    <a:effectLst/>
                  </a:rPr>
                  <a:t>If increment </a:t>
                </a:r>
                <a14:m>
                  <m:oMath xmlns:m="http://schemas.openxmlformats.org/officeDocument/2006/math">
                    <m:r>
                      <a:rPr lang="en" altLang="zh-TW" sz="3600" i="1" smtClean="0">
                        <a:solidFill>
                          <a:srgbClr val="000000"/>
                        </a:solidFill>
                        <a:effectLst/>
                        <a:latin typeface="Cambria Math" panose="02040503050406030204" pitchFamily="18" charset="0"/>
                        <a:ea typeface="Cambria Math" panose="02040503050406030204" pitchFamily="18" charset="0"/>
                      </a:rPr>
                      <m:t>∈</m:t>
                    </m:r>
                  </m:oMath>
                </a14:m>
                <a:r>
                  <a:rPr lang="en" altLang="zh-TW" sz="3600">
                    <a:solidFill>
                      <a:srgbClr val="000000"/>
                    </a:solidFill>
                    <a:effectLst/>
                  </a:rPr>
                  <a:t> </a:t>
                </a:r>
                <a:r>
                  <a:rPr lang="en" altLang="zh-TW" sz="3600">
                    <a:solidFill>
                      <a:srgbClr val="000000"/>
                    </a:solidFill>
                    <a:latin typeface="Castellar" panose="020A0402060406010301" pitchFamily="18" charset="0"/>
                  </a:rPr>
                  <a:t>N</a:t>
                </a:r>
                <a:r>
                  <a:rPr lang="en" altLang="zh-TW" sz="3600">
                    <a:solidFill>
                      <a:srgbClr val="000000"/>
                    </a:solidFill>
                    <a:effectLst/>
                    <a:latin typeface="Castellar" panose="020A0402060406010301" pitchFamily="18" charset="0"/>
                  </a:rPr>
                  <a:t> </a:t>
                </a:r>
                <a14:m>
                  <m:oMath xmlns:m="http://schemas.openxmlformats.org/officeDocument/2006/math">
                    <m:r>
                      <a:rPr lang="en" altLang="zh-TW" sz="3600" i="1" smtClean="0">
                        <a:solidFill>
                          <a:srgbClr val="000000"/>
                        </a:solidFill>
                        <a:effectLst/>
                        <a:latin typeface="Cambria Math" panose="02040503050406030204" pitchFamily="18" charset="0"/>
                      </a:rPr>
                      <m:t>⇒</m:t>
                    </m:r>
                  </m:oMath>
                </a14:m>
                <a:r>
                  <a:rPr lang="en" altLang="zh-TW" sz="3600">
                    <a:solidFill>
                      <a:srgbClr val="000000"/>
                    </a:solidFill>
                    <a:effectLst/>
                    <a:latin typeface="Castellar" panose="020A0402060406010301" pitchFamily="18" charset="0"/>
                  </a:rPr>
                  <a:t> </a:t>
                </a:r>
                <a:r>
                  <a:rPr lang="en" altLang="zh-TW" sz="3600">
                    <a:solidFill>
                      <a:srgbClr val="000000"/>
                    </a:solidFill>
                    <a:effectLst/>
                  </a:rPr>
                  <a:t>consider Gamma procee/inverse gaussian </a:t>
                </a:r>
                <a:endParaRPr lang="en" altLang="zh-TW" sz="3600">
                  <a:solidFill>
                    <a:srgbClr val="000000"/>
                  </a:solidFill>
                  <a:effectLst/>
                  <a:latin typeface="Castellar" panose="020A0402060406010301" pitchFamily="18" charset="0"/>
                </a:endParaRPr>
              </a:p>
              <a:p>
                <a:pPr marL="1371600" lvl="2" indent="-457200">
                  <a:buFont typeface="Arial" panose="020B0604020202020204" pitchFamily="34" charset="0"/>
                  <a:buChar char="•"/>
                </a:pPr>
                <a:endParaRPr lang="en" altLang="zh-TW" sz="3600">
                  <a:solidFill>
                    <a:srgbClr val="000000"/>
                  </a:solidFill>
                  <a:effectLst/>
                  <a:latin typeface="Castellar" panose="020A0402060406010301" pitchFamily="18" charset="0"/>
                </a:endParaRPr>
              </a:p>
              <a:p>
                <a:pPr marL="457200" indent="-457200">
                  <a:buFont typeface="Arial" panose="020B0604020202020204" pitchFamily="34" charset="0"/>
                  <a:buChar char="•"/>
                </a:pPr>
                <a:endParaRPr lang="en" altLang="zh-TW" sz="3200">
                  <a:solidFill>
                    <a:srgbClr val="000000"/>
                  </a:solidFill>
                  <a:effectLst/>
                </a:endParaRP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2115974" y="1528366"/>
                <a:ext cx="13612976" cy="8402300"/>
              </a:xfrm>
              <a:prstGeom prst="rect">
                <a:avLst/>
              </a:prstGeom>
              <a:blipFill>
                <a:blip r:embed="rId4"/>
                <a:stretch>
                  <a:fillRect l="-1030" t="-1306"/>
                </a:stretch>
              </a:blipFill>
            </p:spPr>
            <p:txBody>
              <a:bodyPr/>
              <a:lstStyle/>
              <a:p>
                <a:r>
                  <a:rPr lang="en-US">
                    <a:noFill/>
                  </a:rPr>
                  <a:t> </a:t>
                </a:r>
              </a:p>
            </p:txBody>
          </p:sp>
        </mc:Fallback>
      </mc:AlternateContent>
    </p:spTree>
    <p:extLst>
      <p:ext uri="{BB962C8B-B14F-4D97-AF65-F5344CB8AC3E}">
        <p14:creationId xmlns:p14="http://schemas.microsoft.com/office/powerpoint/2010/main" val="224083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547E1FC4-2190-119A-D656-4F2BA2F8F078}"/>
              </a:ext>
            </a:extLst>
          </p:cNvPr>
          <p:cNvSpPr txBox="1"/>
          <p:nvPr/>
        </p:nvSpPr>
        <p:spPr>
          <a:xfrm>
            <a:off x="2115974" y="1528366"/>
            <a:ext cx="13612976" cy="5139869"/>
          </a:xfrm>
          <a:prstGeom prst="rect">
            <a:avLst/>
          </a:prstGeom>
          <a:noFill/>
        </p:spPr>
        <p:txBody>
          <a:bodyPr wrap="square">
            <a:spAutoFit/>
          </a:bodyPr>
          <a:lstStyle/>
          <a:p>
            <a:pPr marL="457200" indent="-457200">
              <a:buFont typeface="Arial" panose="020B0604020202020204" pitchFamily="34" charset="0"/>
              <a:buChar char="•"/>
            </a:pPr>
            <a:r>
              <a:rPr lang="en-US" altLang="zh-TW" sz="4000">
                <a:solidFill>
                  <a:srgbClr val="000000"/>
                </a:solidFill>
                <a:effectLst/>
              </a:rPr>
              <a:t>Advantages and Disadvantages between two model</a:t>
            </a:r>
          </a:p>
          <a:p>
            <a:pPr marL="914400" lvl="1" indent="-457200">
              <a:buFont typeface="Arial" panose="020B0604020202020204" pitchFamily="34" charset="0"/>
              <a:buChar char="•"/>
            </a:pPr>
            <a:r>
              <a:rPr lang="en" altLang="zh-TW" sz="3600">
                <a:solidFill>
                  <a:srgbClr val="000000"/>
                </a:solidFill>
                <a:effectLst/>
              </a:rPr>
              <a:t>Mixed (or Random) effect</a:t>
            </a:r>
          </a:p>
          <a:p>
            <a:pPr marL="1371600" lvl="2" indent="-457200">
              <a:buFont typeface="Arial" panose="020B0604020202020204" pitchFamily="34" charset="0"/>
              <a:buChar char="•"/>
            </a:pPr>
            <a:r>
              <a:rPr lang="en-US" altLang="zh-TW" sz="3600">
                <a:solidFill>
                  <a:srgbClr val="000000"/>
                </a:solidFill>
                <a:effectLst/>
              </a:rPr>
              <a:t>Advantages : Easily to compute.</a:t>
            </a:r>
          </a:p>
          <a:p>
            <a:pPr marL="1371600" lvl="2" indent="-457200">
              <a:buFont typeface="Arial" panose="020B0604020202020204" pitchFamily="34" charset="0"/>
              <a:buChar char="•"/>
            </a:pPr>
            <a:r>
              <a:rPr lang="en-US" altLang="zh-TW" sz="3600">
                <a:solidFill>
                  <a:srgbClr val="000000"/>
                </a:solidFill>
                <a:effectLst/>
              </a:rPr>
              <a:t>Disadvantages : Not usually fit the dataset well.</a:t>
            </a:r>
          </a:p>
          <a:p>
            <a:pPr marL="914400" lvl="1" indent="-457200">
              <a:buFont typeface="Arial" panose="020B0604020202020204" pitchFamily="34" charset="0"/>
              <a:buChar char="•"/>
            </a:pPr>
            <a:r>
              <a:rPr lang="en" altLang="zh-TW" sz="3600">
                <a:solidFill>
                  <a:srgbClr val="000000"/>
                </a:solidFill>
                <a:effectLst/>
              </a:rPr>
              <a:t>Stochastic process </a:t>
            </a:r>
          </a:p>
          <a:p>
            <a:pPr marL="1371600" lvl="2" indent="-457200">
              <a:buFont typeface="Arial" panose="020B0604020202020204" pitchFamily="34" charset="0"/>
              <a:buChar char="•"/>
            </a:pPr>
            <a:r>
              <a:rPr lang="en-US" altLang="zh-TW" sz="3600">
                <a:solidFill>
                  <a:srgbClr val="000000"/>
                </a:solidFill>
                <a:effectLst/>
              </a:rPr>
              <a:t>Advantages :</a:t>
            </a:r>
            <a:r>
              <a:rPr lang="zh-TW" altLang="en-US" sz="3600">
                <a:solidFill>
                  <a:srgbClr val="000000"/>
                </a:solidFill>
                <a:effectLst/>
              </a:rPr>
              <a:t> </a:t>
            </a:r>
            <a:r>
              <a:rPr lang="en-US" altLang="zh-TW" sz="3600" b="0" i="0">
                <a:solidFill>
                  <a:srgbClr val="0D0D0D"/>
                </a:solidFill>
                <a:effectLst/>
                <a:highlight>
                  <a:srgbClr val="FFFFFF"/>
                </a:highlight>
                <a:latin typeface="Söhne"/>
              </a:rPr>
              <a:t>Simulating the uncertainty of the real data, different stochastic process can choose.</a:t>
            </a:r>
            <a:endParaRPr lang="en-US" altLang="zh-TW" sz="3600">
              <a:solidFill>
                <a:srgbClr val="000000"/>
              </a:solidFill>
              <a:effectLst/>
            </a:endParaRPr>
          </a:p>
          <a:p>
            <a:pPr marL="1371600" lvl="2" indent="-457200">
              <a:buFont typeface="Arial" panose="020B0604020202020204" pitchFamily="34" charset="0"/>
              <a:buChar char="•"/>
            </a:pPr>
            <a:r>
              <a:rPr lang="en-US" altLang="zh-TW" sz="3600">
                <a:solidFill>
                  <a:srgbClr val="000000"/>
                </a:solidFill>
                <a:effectLst/>
              </a:rPr>
              <a:t>Disadvantages</a:t>
            </a:r>
            <a:r>
              <a:rPr lang="zh-TW" altLang="en-US" sz="3600">
                <a:solidFill>
                  <a:srgbClr val="000000"/>
                </a:solidFill>
                <a:effectLst/>
              </a:rPr>
              <a:t> </a:t>
            </a:r>
            <a:r>
              <a:rPr lang="en-US" altLang="zh-TW" sz="3600">
                <a:solidFill>
                  <a:srgbClr val="000000"/>
                </a:solidFill>
                <a:effectLst/>
              </a:rPr>
              <a:t>:</a:t>
            </a:r>
            <a:r>
              <a:rPr lang="zh-TW" altLang="en-US" sz="3600">
                <a:solidFill>
                  <a:srgbClr val="000000"/>
                </a:solidFill>
                <a:effectLst/>
              </a:rPr>
              <a:t> </a:t>
            </a:r>
            <a:r>
              <a:rPr lang="en-US" altLang="zh-TW" sz="3600">
                <a:solidFill>
                  <a:srgbClr val="000000"/>
                </a:solidFill>
                <a:effectLst/>
              </a:rPr>
              <a:t>c</a:t>
            </a:r>
            <a:r>
              <a:rPr lang="en-US" altLang="zh-TW" sz="3600" b="0" i="0">
                <a:solidFill>
                  <a:srgbClr val="0D0D0D"/>
                </a:solidFill>
                <a:effectLst/>
                <a:highlight>
                  <a:srgbClr val="FFFFFF"/>
                </a:highlight>
                <a:latin typeface="Söhne"/>
              </a:rPr>
              <a:t>omputational complexity, model selection and interpretation.</a:t>
            </a:r>
            <a:endParaRPr lang="en" altLang="zh-TW" sz="3600">
              <a:solidFill>
                <a:srgbClr val="000000"/>
              </a:solidFill>
              <a:effectLst/>
            </a:endParaRPr>
          </a:p>
        </p:txBody>
      </p:sp>
    </p:spTree>
    <p:extLst>
      <p:ext uri="{BB962C8B-B14F-4D97-AF65-F5344CB8AC3E}">
        <p14:creationId xmlns:p14="http://schemas.microsoft.com/office/powerpoint/2010/main" val="2464993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2935124" y="2099866"/>
                <a:ext cx="13612976" cy="1815882"/>
              </a:xfrm>
              <a:prstGeom prst="rect">
                <a:avLst/>
              </a:prstGeom>
              <a:noFill/>
            </p:spPr>
            <p:txBody>
              <a:bodyPr wrap="square">
                <a:spAutoFit/>
              </a:bodyPr>
              <a:lstStyle/>
              <a:p>
                <a:pPr marL="457200" indent="-457200">
                  <a:buFont typeface="Arial" panose="020B0604020202020204" pitchFamily="34" charset="0"/>
                  <a:buChar char="•"/>
                </a:pPr>
                <a:r>
                  <a:rPr lang="en" altLang="zh-TW" sz="4000">
                    <a:solidFill>
                      <a:srgbClr val="000000"/>
                    </a:solidFill>
                    <a:effectLst/>
                  </a:rPr>
                  <a:t> Step1. Lifetime Distribution</a:t>
                </a:r>
              </a:p>
              <a:p>
                <a:pPr marL="1371600" lvl="2" indent="-457200">
                  <a:buFont typeface="Arial" panose="020B0604020202020204" pitchFamily="34" charset="0"/>
                  <a:buChar char="•"/>
                </a:pPr>
                <a14:m>
                  <m:oMath xmlns:m="http://schemas.openxmlformats.org/officeDocument/2006/math">
                    <m:r>
                      <m:rPr>
                        <m:sty m:val="p"/>
                      </m:rPr>
                      <a:rPr lang="el-GR" altLang="zh-TW" sz="3600" i="1" smtClean="0">
                        <a:solidFill>
                          <a:srgbClr val="000000"/>
                        </a:solidFill>
                        <a:effectLst/>
                        <a:latin typeface="Cambria Math" panose="02040503050406030204" pitchFamily="18" charset="0"/>
                      </a:rPr>
                      <m:t>Ω</m:t>
                    </m:r>
                  </m:oMath>
                </a14:m>
                <a:r>
                  <a:rPr lang="en" altLang="zh-TW" sz="3600">
                    <a:solidFill>
                      <a:srgbClr val="000000"/>
                    </a:solidFill>
                    <a:effectLst/>
                    <a:latin typeface="Castellar" panose="020A0402060406010301" pitchFamily="18" charset="0"/>
                  </a:rPr>
                  <a:t> </a:t>
                </a:r>
                <a:r>
                  <a:rPr lang="en" altLang="zh-TW" sz="3600">
                    <a:solidFill>
                      <a:srgbClr val="000000"/>
                    </a:solidFill>
                    <a:effectLst/>
                  </a:rPr>
                  <a:t>denoted the critical level for the degradation path.</a:t>
                </a:r>
              </a:p>
              <a:p>
                <a:pPr marL="1371600" lvl="2" indent="-457200">
                  <a:buFont typeface="Arial" panose="020B0604020202020204" pitchFamily="34" charset="0"/>
                  <a:buChar char="•"/>
                </a:pPr>
                <a:r>
                  <a:rPr lang="en" altLang="zh-TW" sz="3600">
                    <a:solidFill>
                      <a:srgbClr val="000000"/>
                    </a:solidFill>
                  </a:rPr>
                  <a:t>Y</a:t>
                </a:r>
                <a:r>
                  <a:rPr lang="en" altLang="zh-TW" sz="3600">
                    <a:solidFill>
                      <a:srgbClr val="000000"/>
                    </a:solidFill>
                    <a:effectLst/>
                  </a:rPr>
                  <a:t>(t) denoted the degradation path with time t</a:t>
                </a: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2935124" y="2099866"/>
                <a:ext cx="13612976" cy="1815882"/>
              </a:xfrm>
              <a:prstGeom prst="rect">
                <a:avLst/>
              </a:prstGeom>
              <a:blipFill>
                <a:blip r:embed="rId4"/>
                <a:stretch>
                  <a:fillRect l="-1432" t="-6040" b="-117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EF23DF0E-B986-9F82-E6CB-A10F6B2B4D6C}"/>
                  </a:ext>
                </a:extLst>
              </p:cNvPr>
              <p:cNvSpPr txBox="1"/>
              <p:nvPr/>
            </p:nvSpPr>
            <p:spPr>
              <a:xfrm>
                <a:off x="2758340" y="3915748"/>
                <a:ext cx="13612976" cy="646331"/>
              </a:xfrm>
              <a:prstGeom prst="rect">
                <a:avLst/>
              </a:prstGeom>
              <a:noFill/>
            </p:spPr>
            <p:txBody>
              <a:bodyPr wrap="square">
                <a:spAutoFit/>
              </a:bodyPr>
              <a:lstStyle/>
              <a:p>
                <a:pPr algn="ctr"/>
                <a14:m>
                  <m:oMath xmlns:m="http://schemas.openxmlformats.org/officeDocument/2006/math">
                    <m:r>
                      <m:rPr>
                        <m:sty m:val="p"/>
                      </m:rPr>
                      <a:rPr lang="en-US" altLang="zh-TW" sz="3600" i="1">
                        <a:solidFill>
                          <a:srgbClr val="000000"/>
                        </a:solidFill>
                        <a:latin typeface="Cambria Math" panose="02040503050406030204" pitchFamily="18" charset="0"/>
                      </a:rPr>
                      <m:t>T</m:t>
                    </m:r>
                  </m:oMath>
                </a14:m>
                <a:r>
                  <a:rPr lang="zh-TW" altLang="en-US" sz="3600">
                    <a:solidFill>
                      <a:srgbClr val="000000"/>
                    </a:solidFill>
                    <a:effectLst/>
                  </a:rPr>
                  <a:t> </a:t>
                </a:r>
                <a:r>
                  <a:rPr lang="en-US" altLang="zh-TW" sz="3600">
                    <a:solidFill>
                      <a:srgbClr val="000000"/>
                    </a:solidFill>
                    <a:effectLst/>
                  </a:rPr>
                  <a:t>=</a:t>
                </a:r>
                <a:r>
                  <a:rPr lang="zh-TW" altLang="en-US" sz="3600">
                    <a:solidFill>
                      <a:srgbClr val="000000"/>
                    </a:solidFill>
                    <a:effectLst/>
                  </a:rPr>
                  <a:t> </a:t>
                </a:r>
                <a:r>
                  <a:rPr lang="en-US" altLang="zh-TW" sz="3600">
                    <a:solidFill>
                      <a:srgbClr val="000000"/>
                    </a:solidFill>
                    <a:effectLst/>
                  </a:rPr>
                  <a:t>inf{ t | Y(t) &gt; </a:t>
                </a:r>
                <a:r>
                  <a:rPr lang="el-GR" altLang="zh-TW" sz="3600">
                    <a:solidFill>
                      <a:srgbClr val="000000"/>
                    </a:solidFill>
                    <a:effectLst/>
                  </a:rPr>
                  <a:t>ω</a:t>
                </a:r>
                <a:r>
                  <a:rPr lang="en-US" altLang="zh-TW" sz="3600">
                    <a:solidFill>
                      <a:srgbClr val="000000"/>
                    </a:solidFill>
                    <a:effectLst/>
                  </a:rPr>
                  <a:t> }</a:t>
                </a:r>
                <a:endParaRPr lang="en" altLang="zh-TW" sz="3600">
                  <a:solidFill>
                    <a:srgbClr val="000000"/>
                  </a:solidFill>
                  <a:effectLst/>
                </a:endParaRPr>
              </a:p>
            </p:txBody>
          </p:sp>
        </mc:Choice>
        <mc:Fallback xmlns="">
          <p:sp>
            <p:nvSpPr>
              <p:cNvPr id="6" name="文字方塊 5">
                <a:extLst>
                  <a:ext uri="{FF2B5EF4-FFF2-40B4-BE49-F238E27FC236}">
                    <a16:creationId xmlns:a16="http://schemas.microsoft.com/office/drawing/2014/main" id="{EF23DF0E-B986-9F82-E6CB-A10F6B2B4D6C}"/>
                  </a:ext>
                </a:extLst>
              </p:cNvPr>
              <p:cNvSpPr txBox="1">
                <a:spLocks noRot="1" noChangeAspect="1" noMove="1" noResize="1" noEditPoints="1" noAdjustHandles="1" noChangeArrowheads="1" noChangeShapeType="1" noTextEdit="1"/>
              </p:cNvSpPr>
              <p:nvPr/>
            </p:nvSpPr>
            <p:spPr>
              <a:xfrm>
                <a:off x="2758340" y="3915748"/>
                <a:ext cx="13612976" cy="646331"/>
              </a:xfrm>
              <a:prstGeom prst="rect">
                <a:avLst/>
              </a:prstGeom>
              <a:blipFill>
                <a:blip r:embed="rId5"/>
                <a:stretch>
                  <a:fillRect t="-14151" b="-34906"/>
                </a:stretch>
              </a:blipFill>
            </p:spPr>
            <p:txBody>
              <a:bodyPr/>
              <a:lstStyle/>
              <a:p>
                <a:r>
                  <a:rPr lang="zh-TW" altLang="en-US">
                    <a:noFill/>
                  </a:rPr>
                  <a:t> </a:t>
                </a:r>
              </a:p>
            </p:txBody>
          </p:sp>
        </mc:Fallback>
      </mc:AlternateContent>
      <p:pic>
        <p:nvPicPr>
          <p:cNvPr id="8" name="圖片 7">
            <a:extLst>
              <a:ext uri="{FF2B5EF4-FFF2-40B4-BE49-F238E27FC236}">
                <a16:creationId xmlns:a16="http://schemas.microsoft.com/office/drawing/2014/main" id="{ECC93A5C-384E-2947-3F4B-9628B6635258}"/>
              </a:ext>
            </a:extLst>
          </p:cNvPr>
          <p:cNvPicPr>
            <a:picLocks noChangeAspect="1"/>
          </p:cNvPicPr>
          <p:nvPr/>
        </p:nvPicPr>
        <p:blipFill>
          <a:blip r:embed="rId6"/>
          <a:stretch>
            <a:fillRect/>
          </a:stretch>
        </p:blipFill>
        <p:spPr>
          <a:xfrm>
            <a:off x="5869743" y="4589515"/>
            <a:ext cx="6293301" cy="5697485"/>
          </a:xfrm>
          <a:prstGeom prst="rect">
            <a:avLst/>
          </a:prstGeom>
        </p:spPr>
      </p:pic>
    </p:spTree>
    <p:extLst>
      <p:ext uri="{BB962C8B-B14F-4D97-AF65-F5344CB8AC3E}">
        <p14:creationId xmlns:p14="http://schemas.microsoft.com/office/powerpoint/2010/main" val="3236480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3258974" y="2099866"/>
                <a:ext cx="13612976" cy="5869299"/>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rPr>
                  <a:t> </a:t>
                </a:r>
                <a:r>
                  <a:rPr lang="en" altLang="zh-TW" sz="4000">
                    <a:solidFill>
                      <a:srgbClr val="000000"/>
                    </a:solidFill>
                    <a:effectLst/>
                  </a:rPr>
                  <a:t>Step2.</a:t>
                </a:r>
                <a:r>
                  <a:rPr lang="en" altLang="zh-TW" sz="3200">
                    <a:solidFill>
                      <a:srgbClr val="000000"/>
                    </a:solidFill>
                    <a:effectLst/>
                  </a:rPr>
                  <a:t> </a:t>
                </a:r>
                <a:r>
                  <a:rPr lang="en" altLang="zh-TW" sz="4000">
                    <a:solidFill>
                      <a:srgbClr val="000000"/>
                    </a:solidFill>
                    <a:effectLst/>
                  </a:rPr>
                  <a:t>Compute the estimator fot </a:t>
                </a:r>
                <a:r>
                  <a:rPr lang="el-GR" altLang="zh-TW" sz="4000" b="1" i="1">
                    <a:solidFill>
                      <a:srgbClr val="000000"/>
                    </a:solidFill>
                    <a:effectLst/>
                  </a:rPr>
                  <a:t>θ</a:t>
                </a:r>
                <a:r>
                  <a:rPr lang="en" altLang="zh-TW" sz="4000">
                    <a:solidFill>
                      <a:srgbClr val="000000"/>
                    </a:solidFill>
                    <a:effectLst/>
                  </a:rPr>
                  <a:t>, </a:t>
                </a:r>
                <a14:m>
                  <m:oMath xmlns:m="http://schemas.openxmlformats.org/officeDocument/2006/math">
                    <m:sSub>
                      <m:sSubPr>
                        <m:ctrlPr>
                          <a:rPr lang="en" altLang="zh-TW" sz="4000" i="1" smtClean="0">
                            <a:solidFill>
                              <a:srgbClr val="000000"/>
                            </a:solidFill>
                            <a:effectLst/>
                            <a:latin typeface="Cambria Math" panose="02040503050406030204" pitchFamily="18" charset="0"/>
                          </a:rPr>
                        </m:ctrlPr>
                      </m:sSubPr>
                      <m:e>
                        <m:r>
                          <a:rPr lang="en-US" altLang="zh-TW" sz="4000" b="0" i="1" smtClean="0">
                            <a:solidFill>
                              <a:srgbClr val="000000"/>
                            </a:solidFill>
                            <a:effectLst/>
                            <a:latin typeface="Cambria Math" panose="02040503050406030204" pitchFamily="18" charset="0"/>
                          </a:rPr>
                          <m:t>𝑡</m:t>
                        </m:r>
                      </m:e>
                      <m:sub>
                        <m:r>
                          <a:rPr lang="en-US" altLang="zh-TW" sz="4000" b="0" i="1" smtClean="0">
                            <a:solidFill>
                              <a:srgbClr val="000000"/>
                            </a:solidFill>
                            <a:effectLst/>
                            <a:latin typeface="Cambria Math" panose="02040503050406030204" pitchFamily="18" charset="0"/>
                          </a:rPr>
                          <m:t>𝑝</m:t>
                        </m:r>
                      </m:sub>
                    </m:sSub>
                  </m:oMath>
                </a14:m>
                <a:r>
                  <a:rPr lang="en" altLang="zh-TW" sz="4000">
                    <a:solidFill>
                      <a:srgbClr val="000000"/>
                    </a:solidFill>
                    <a:effectLst/>
                  </a:rPr>
                  <a:t>, MTTF </a:t>
                </a:r>
                <a:endParaRPr lang="en" altLang="zh-TW" sz="4000">
                  <a:solidFill>
                    <a:srgbClr val="000000"/>
                  </a:solidFill>
                </a:endParaRPr>
              </a:p>
              <a:p>
                <a:pPr marL="914400" lvl="1" indent="-457200">
                  <a:buFont typeface="Arial" panose="020B0604020202020204" pitchFamily="34" charset="0"/>
                  <a:buChar char="•"/>
                </a:pPr>
                <a:r>
                  <a:rPr lang="en" altLang="zh-TW" sz="3600">
                    <a:solidFill>
                      <a:srgbClr val="000000"/>
                    </a:solidFill>
                  </a:rPr>
                  <a:t>For </a:t>
                </a:r>
                <a:r>
                  <a:rPr lang="el-GR" altLang="zh-TW" sz="3600" b="1" i="1">
                    <a:solidFill>
                      <a:srgbClr val="000000"/>
                    </a:solidFill>
                    <a:effectLst/>
                  </a:rPr>
                  <a:t>θ</a:t>
                </a:r>
                <a:endParaRPr lang="en-US" altLang="zh-TW" sz="3600" b="1" i="1">
                  <a:solidFill>
                    <a:srgbClr val="000000"/>
                  </a:solidFill>
                  <a:effectLst/>
                </a:endParaRPr>
              </a:p>
              <a:p>
                <a:pPr marL="1371600" lvl="2" indent="-457200">
                  <a:buFont typeface="Arial" panose="020B0604020202020204" pitchFamily="34" charset="0"/>
                  <a:buChar char="•"/>
                </a:pPr>
                <a:r>
                  <a:rPr lang="en-US" altLang="zh-TW" sz="3600">
                    <a:solidFill>
                      <a:srgbClr val="000000"/>
                    </a:solidFill>
                  </a:rPr>
                  <a:t>MLE, EM-algorithm</a:t>
                </a:r>
              </a:p>
              <a:p>
                <a:pPr marL="1371600" lvl="2" indent="-457200">
                  <a:buFont typeface="Arial" panose="020B0604020202020204" pitchFamily="34" charset="0"/>
                  <a:buChar char="•"/>
                </a:pPr>
                <a:r>
                  <a:rPr lang="en-US" altLang="zh-TW" sz="3600">
                    <a:solidFill>
                      <a:srgbClr val="000000"/>
                    </a:solidFill>
                  </a:rPr>
                  <a:t>Using Bootstrap find the confidence interval</a:t>
                </a:r>
                <a:endParaRPr lang="en-US" altLang="zh-TW" sz="3600">
                  <a:solidFill>
                    <a:srgbClr val="000000"/>
                  </a:solidFill>
                  <a:effectLst/>
                </a:endParaRPr>
              </a:p>
              <a:p>
                <a:pPr marL="914400" lvl="1" indent="-457200">
                  <a:buFont typeface="Arial" panose="020B0604020202020204" pitchFamily="34" charset="0"/>
                  <a:buChar char="•"/>
                </a:pPr>
                <a:r>
                  <a:rPr lang="en-US" altLang="zh-TW" sz="3600">
                    <a:solidFill>
                      <a:srgbClr val="000000"/>
                    </a:solidFill>
                    <a:effectLst/>
                  </a:rPr>
                  <a:t>For </a:t>
                </a:r>
                <a14:m>
                  <m:oMath xmlns:m="http://schemas.openxmlformats.org/officeDocument/2006/math">
                    <m:sSub>
                      <m:sSubPr>
                        <m:ctrlPr>
                          <a:rPr lang="en" altLang="zh-TW" sz="3600" i="1" smtClean="0">
                            <a:solidFill>
                              <a:srgbClr val="000000"/>
                            </a:solidFill>
                            <a:effectLst/>
                            <a:latin typeface="Cambria Math" panose="02040503050406030204" pitchFamily="18" charset="0"/>
                          </a:rPr>
                        </m:ctrlPr>
                      </m:sSubPr>
                      <m:e>
                        <m:r>
                          <a:rPr lang="en-US" altLang="zh-TW" sz="3600" b="0" i="1" smtClean="0">
                            <a:solidFill>
                              <a:srgbClr val="000000"/>
                            </a:solidFill>
                            <a:effectLst/>
                            <a:latin typeface="Cambria Math" panose="02040503050406030204" pitchFamily="18" charset="0"/>
                          </a:rPr>
                          <m:t>𝑡</m:t>
                        </m:r>
                      </m:e>
                      <m:sub>
                        <m:r>
                          <a:rPr lang="en-US" altLang="zh-TW" sz="3600" b="0" i="1" smtClean="0">
                            <a:solidFill>
                              <a:srgbClr val="000000"/>
                            </a:solidFill>
                            <a:effectLst/>
                            <a:latin typeface="Cambria Math" panose="02040503050406030204" pitchFamily="18" charset="0"/>
                          </a:rPr>
                          <m:t>𝑝</m:t>
                        </m:r>
                      </m:sub>
                    </m:sSub>
                    <m:r>
                      <a:rPr lang="en-US" altLang="zh-TW" sz="3600" b="0" i="1" smtClean="0">
                        <a:solidFill>
                          <a:srgbClr val="000000"/>
                        </a:solidFill>
                        <a:effectLst/>
                        <a:latin typeface="Cambria Math" panose="02040503050406030204" pitchFamily="18" charset="0"/>
                      </a:rPr>
                      <m:t> </m:t>
                    </m:r>
                  </m:oMath>
                </a14:m>
                <a:r>
                  <a:rPr lang="en-US" altLang="zh-TW" sz="3600" b="0">
                    <a:solidFill>
                      <a:srgbClr val="000000"/>
                    </a:solidFill>
                    <a:effectLst/>
                  </a:rPr>
                  <a:t>( p usually equal to 0.01, 0.05, 0.1, 0.5 )</a:t>
                </a:r>
              </a:p>
              <a:p>
                <a:pPr marL="1371600" lvl="2" indent="-457200">
                  <a:buFont typeface="Arial" panose="020B0604020202020204" pitchFamily="34" charset="0"/>
                  <a:buChar char="•"/>
                </a:pPr>
                <a14:m>
                  <m:oMath xmlns:m="http://schemas.openxmlformats.org/officeDocument/2006/math">
                    <m:acc>
                      <m:accPr>
                        <m:chr m:val="̂"/>
                        <m:ctrlPr>
                          <a:rPr lang="en-US" altLang="zh-TW" sz="3600" b="0" i="1" smtClean="0">
                            <a:solidFill>
                              <a:srgbClr val="000000"/>
                            </a:solidFill>
                            <a:effectLst/>
                            <a:latin typeface="Cambria Math" panose="02040503050406030204" pitchFamily="18" charset="0"/>
                          </a:rPr>
                        </m:ctrlPr>
                      </m:accPr>
                      <m:e>
                        <m:sSub>
                          <m:sSubPr>
                            <m:ctrlPr>
                              <a:rPr lang="en-US" altLang="zh-TW" sz="3600" b="0" i="1" smtClean="0">
                                <a:solidFill>
                                  <a:srgbClr val="000000"/>
                                </a:solidFill>
                                <a:effectLst/>
                                <a:latin typeface="Cambria Math" panose="02040503050406030204" pitchFamily="18" charset="0"/>
                              </a:rPr>
                            </m:ctrlPr>
                          </m:sSubPr>
                          <m:e>
                            <m:r>
                              <a:rPr lang="en-US" altLang="zh-TW" sz="3600" b="0" i="1" smtClean="0">
                                <a:solidFill>
                                  <a:srgbClr val="000000"/>
                                </a:solidFill>
                                <a:effectLst/>
                                <a:latin typeface="Cambria Math" panose="02040503050406030204" pitchFamily="18" charset="0"/>
                              </a:rPr>
                              <m:t>𝑡</m:t>
                            </m:r>
                          </m:e>
                          <m:sub>
                            <m:r>
                              <a:rPr lang="en-US" altLang="zh-TW" sz="3600" b="0" i="1" smtClean="0">
                                <a:solidFill>
                                  <a:srgbClr val="000000"/>
                                </a:solidFill>
                                <a:effectLst/>
                                <a:latin typeface="Cambria Math" panose="02040503050406030204" pitchFamily="18" charset="0"/>
                              </a:rPr>
                              <m:t>𝑝</m:t>
                            </m:r>
                          </m:sub>
                        </m:sSub>
                      </m:e>
                    </m:acc>
                    <m:r>
                      <a:rPr lang="en-US" altLang="zh-TW" sz="3600" b="0" i="0" smtClean="0">
                        <a:solidFill>
                          <a:srgbClr val="000000"/>
                        </a:solidFill>
                        <a:effectLst/>
                        <a:latin typeface="Cambria Math" panose="02040503050406030204" pitchFamily="18" charset="0"/>
                      </a:rPr>
                      <m:t>=</m:t>
                    </m:r>
                    <m:sSubSup>
                      <m:sSubSupPr>
                        <m:ctrlPr>
                          <a:rPr lang="en-US" altLang="zh-TW" sz="3600" b="0" i="1" smtClean="0">
                            <a:solidFill>
                              <a:srgbClr val="000000"/>
                            </a:solidFill>
                            <a:effectLst/>
                            <a:latin typeface="Cambria Math" panose="02040503050406030204" pitchFamily="18" charset="0"/>
                          </a:rPr>
                        </m:ctrlPr>
                      </m:sSubSupPr>
                      <m:e>
                        <m:r>
                          <a:rPr lang="en-US" altLang="zh-TW" sz="3600" b="0" i="1" smtClean="0">
                            <a:solidFill>
                              <a:srgbClr val="000000"/>
                            </a:solidFill>
                            <a:effectLst/>
                            <a:latin typeface="Cambria Math" panose="02040503050406030204" pitchFamily="18" charset="0"/>
                          </a:rPr>
                          <m:t>𝐹</m:t>
                        </m:r>
                      </m:e>
                      <m:sub>
                        <m:r>
                          <a:rPr lang="en-US" altLang="zh-TW" sz="3600" b="0" i="1" smtClean="0">
                            <a:solidFill>
                              <a:srgbClr val="000000"/>
                            </a:solidFill>
                            <a:effectLst/>
                            <a:latin typeface="Cambria Math" panose="02040503050406030204" pitchFamily="18" charset="0"/>
                          </a:rPr>
                          <m:t>𝑇</m:t>
                        </m:r>
                      </m:sub>
                      <m:sup>
                        <m:r>
                          <a:rPr lang="en-US" altLang="zh-TW" sz="3600" b="0" i="1" smtClean="0">
                            <a:solidFill>
                              <a:srgbClr val="000000"/>
                            </a:solidFill>
                            <a:effectLst/>
                            <a:latin typeface="Cambria Math" panose="02040503050406030204" pitchFamily="18" charset="0"/>
                          </a:rPr>
                          <m:t>−1</m:t>
                        </m:r>
                      </m:sup>
                    </m:sSubSup>
                    <m:r>
                      <a:rPr lang="en-US" altLang="zh-TW" sz="3600" b="0" i="1" smtClean="0">
                        <a:solidFill>
                          <a:srgbClr val="000000"/>
                        </a:solidFill>
                        <a:effectLst/>
                        <a:latin typeface="Cambria Math" panose="02040503050406030204" pitchFamily="18" charset="0"/>
                      </a:rPr>
                      <m:t> (</m:t>
                    </m:r>
                    <m:r>
                      <a:rPr lang="en-US" altLang="zh-TW" sz="3600" b="0" i="1" smtClean="0">
                        <a:solidFill>
                          <a:srgbClr val="000000"/>
                        </a:solidFill>
                        <a:effectLst/>
                        <a:latin typeface="Cambria Math" panose="02040503050406030204" pitchFamily="18" charset="0"/>
                      </a:rPr>
                      <m:t>𝑝</m:t>
                    </m:r>
                    <m:r>
                      <a:rPr lang="en-US" altLang="zh-TW" sz="3600" b="0" i="1" smtClean="0">
                        <a:solidFill>
                          <a:srgbClr val="000000"/>
                        </a:solidFill>
                        <a:effectLst/>
                        <a:latin typeface="Cambria Math" panose="02040503050406030204" pitchFamily="18" charset="0"/>
                      </a:rPr>
                      <m:t>)</m:t>
                    </m:r>
                  </m:oMath>
                </a14:m>
                <a:r>
                  <a:rPr lang="en" altLang="zh-TW" sz="3600">
                    <a:solidFill>
                      <a:srgbClr val="000000"/>
                    </a:solidFill>
                    <a:effectLst/>
                  </a:rPr>
                  <a:t> </a:t>
                </a:r>
                <a:r>
                  <a:rPr lang="en-US" altLang="zh-TW" sz="3600">
                    <a:solidFill>
                      <a:srgbClr val="000000"/>
                    </a:solidFill>
                  </a:rPr>
                  <a:t>substitute </a:t>
                </a:r>
                <a14:m>
                  <m:oMath xmlns:m="http://schemas.openxmlformats.org/officeDocument/2006/math">
                    <m:acc>
                      <m:accPr>
                        <m:chr m:val="̂"/>
                        <m:ctrlPr>
                          <a:rPr lang="en-US" altLang="zh-TW" sz="3600" b="1" i="1" smtClean="0">
                            <a:solidFill>
                              <a:srgbClr val="000000"/>
                            </a:solidFill>
                            <a:latin typeface="Cambria Math" panose="02040503050406030204" pitchFamily="18" charset="0"/>
                          </a:rPr>
                        </m:ctrlPr>
                      </m:accPr>
                      <m:e>
                        <m:r>
                          <a:rPr lang="zh-TW" altLang="en-US" sz="3600" b="1" i="1" smtClean="0">
                            <a:solidFill>
                              <a:srgbClr val="000000"/>
                            </a:solidFill>
                            <a:latin typeface="Cambria Math" panose="02040503050406030204" pitchFamily="18" charset="0"/>
                          </a:rPr>
                          <m:t>𝜽</m:t>
                        </m:r>
                      </m:e>
                    </m:acc>
                  </m:oMath>
                </a14:m>
                <a:r>
                  <a:rPr lang="en" altLang="zh-TW" sz="3600" b="1">
                    <a:solidFill>
                      <a:srgbClr val="000000"/>
                    </a:solidFill>
                    <a:effectLst/>
                  </a:rPr>
                  <a:t> </a:t>
                </a:r>
                <a:r>
                  <a:rPr lang="en" altLang="zh-TW" sz="3600">
                    <a:solidFill>
                      <a:srgbClr val="000000"/>
                    </a:solidFill>
                    <a:effectLst/>
                  </a:rPr>
                  <a:t>into </a:t>
                </a:r>
                <a14:m>
                  <m:oMath xmlns:m="http://schemas.openxmlformats.org/officeDocument/2006/math">
                    <m:sSubSup>
                      <m:sSubSupPr>
                        <m:ctrlPr>
                          <a:rPr lang="en-US" altLang="zh-TW" sz="3600" i="1">
                            <a:solidFill>
                              <a:srgbClr val="000000"/>
                            </a:solidFill>
                            <a:latin typeface="Cambria Math" panose="02040503050406030204" pitchFamily="18" charset="0"/>
                          </a:rPr>
                        </m:ctrlPr>
                      </m:sSubSupPr>
                      <m:e>
                        <m:r>
                          <a:rPr lang="en-US" altLang="zh-TW" sz="3600" i="1">
                            <a:solidFill>
                              <a:srgbClr val="000000"/>
                            </a:solidFill>
                            <a:latin typeface="Cambria Math" panose="02040503050406030204" pitchFamily="18" charset="0"/>
                          </a:rPr>
                          <m:t>𝐹</m:t>
                        </m:r>
                      </m:e>
                      <m:sub>
                        <m:r>
                          <a:rPr lang="en-US" altLang="zh-TW" sz="3600" i="1">
                            <a:solidFill>
                              <a:srgbClr val="000000"/>
                            </a:solidFill>
                            <a:latin typeface="Cambria Math" panose="02040503050406030204" pitchFamily="18" charset="0"/>
                          </a:rPr>
                          <m:t>𝑇</m:t>
                        </m:r>
                      </m:sub>
                      <m:sup>
                        <m:r>
                          <a:rPr lang="en-US" altLang="zh-TW" sz="3600" i="1">
                            <a:solidFill>
                              <a:srgbClr val="000000"/>
                            </a:solidFill>
                            <a:latin typeface="Cambria Math" panose="02040503050406030204" pitchFamily="18" charset="0"/>
                          </a:rPr>
                          <m:t>−1</m:t>
                        </m:r>
                      </m:sup>
                    </m:sSubSup>
                    <m:r>
                      <a:rPr lang="en-US" altLang="zh-TW" sz="3600" i="1">
                        <a:solidFill>
                          <a:srgbClr val="000000"/>
                        </a:solidFill>
                        <a:latin typeface="Cambria Math" panose="02040503050406030204" pitchFamily="18" charset="0"/>
                      </a:rPr>
                      <m:t> (</m:t>
                    </m:r>
                    <m:r>
                      <a:rPr lang="en-US" altLang="zh-TW" sz="3600" i="1">
                        <a:solidFill>
                          <a:srgbClr val="000000"/>
                        </a:solidFill>
                        <a:latin typeface="Cambria Math" panose="02040503050406030204" pitchFamily="18" charset="0"/>
                      </a:rPr>
                      <m:t>𝑝</m:t>
                    </m:r>
                    <m:r>
                      <a:rPr lang="en-US" altLang="zh-TW" sz="3600" i="1">
                        <a:solidFill>
                          <a:srgbClr val="000000"/>
                        </a:solidFill>
                        <a:latin typeface="Cambria Math" panose="02040503050406030204" pitchFamily="18" charset="0"/>
                      </a:rPr>
                      <m:t>)</m:t>
                    </m:r>
                  </m:oMath>
                </a14:m>
                <a:r>
                  <a:rPr lang="en" altLang="zh-TW" sz="3600">
                    <a:solidFill>
                      <a:srgbClr val="000000"/>
                    </a:solidFill>
                  </a:rPr>
                  <a:t> </a:t>
                </a:r>
              </a:p>
              <a:p>
                <a:pPr marL="1371600" lvl="2" indent="-457200">
                  <a:buFont typeface="Arial" panose="020B0604020202020204" pitchFamily="34" charset="0"/>
                  <a:buChar char="•"/>
                </a:pPr>
                <a:r>
                  <a:rPr lang="en-US" altLang="zh-TW" sz="3600">
                    <a:solidFill>
                      <a:srgbClr val="000000"/>
                    </a:solidFill>
                  </a:rPr>
                  <a:t>Using Bootstrap find the confidence interval</a:t>
                </a:r>
                <a:endParaRPr lang="en-US" altLang="zh-TW" sz="3600" b="0">
                  <a:solidFill>
                    <a:srgbClr val="000000"/>
                  </a:solidFill>
                  <a:effectLst/>
                </a:endParaRPr>
              </a:p>
              <a:p>
                <a:pPr marL="914400" lvl="1" indent="-457200">
                  <a:buFont typeface="Arial" panose="020B0604020202020204" pitchFamily="34" charset="0"/>
                  <a:buChar char="•"/>
                </a:pPr>
                <a:r>
                  <a:rPr lang="en-US" altLang="zh-TW" sz="3600">
                    <a:solidFill>
                      <a:srgbClr val="000000"/>
                    </a:solidFill>
                  </a:rPr>
                  <a:t>For MTTF</a:t>
                </a:r>
              </a:p>
              <a:p>
                <a:pPr marL="1371600" lvl="2" indent="-457200">
                  <a:buFont typeface="Arial" panose="020B0604020202020204" pitchFamily="34" charset="0"/>
                  <a:buChar char="•"/>
                </a:pPr>
                <a14:m>
                  <m:oMath xmlns:m="http://schemas.openxmlformats.org/officeDocument/2006/math">
                    <m:acc>
                      <m:accPr>
                        <m:chr m:val="̂"/>
                        <m:ctrlPr>
                          <a:rPr lang="en-US" altLang="zh-TW" sz="3600" b="0" i="1" smtClean="0">
                            <a:solidFill>
                              <a:srgbClr val="000000"/>
                            </a:solidFill>
                            <a:effectLst/>
                            <a:latin typeface="Cambria Math" panose="02040503050406030204" pitchFamily="18" charset="0"/>
                          </a:rPr>
                        </m:ctrlPr>
                      </m:accPr>
                      <m:e>
                        <m:r>
                          <a:rPr lang="en-US" altLang="zh-TW" sz="3600" i="1">
                            <a:solidFill>
                              <a:srgbClr val="000000"/>
                            </a:solidFill>
                            <a:latin typeface="Cambria Math" panose="02040503050406030204" pitchFamily="18" charset="0"/>
                          </a:rPr>
                          <m:t>𝑀𝑇𝑇𝐹</m:t>
                        </m:r>
                      </m:e>
                    </m:acc>
                    <m:r>
                      <a:rPr lang="en-US" altLang="zh-TW" sz="3600" b="0" i="1" smtClean="0">
                        <a:solidFill>
                          <a:srgbClr val="000000"/>
                        </a:solidFill>
                        <a:effectLst/>
                        <a:latin typeface="Cambria Math" panose="02040503050406030204" pitchFamily="18" charset="0"/>
                      </a:rPr>
                      <m:t>=</m:t>
                    </m:r>
                    <m:r>
                      <a:rPr lang="zh-TW" altLang="en-US" sz="3600" i="1">
                        <a:solidFill>
                          <a:srgbClr val="000000"/>
                        </a:solidFill>
                        <a:latin typeface="Cambria Math" panose="02040503050406030204" pitchFamily="18" charset="0"/>
                      </a:rPr>
                      <m:t> </m:t>
                    </m:r>
                    <m:r>
                      <m:rPr>
                        <m:sty m:val="p"/>
                      </m:rPr>
                      <a:rPr lang="en-US" altLang="zh-TW" sz="3600" i="1" smtClean="0">
                        <a:solidFill>
                          <a:srgbClr val="000000"/>
                        </a:solidFill>
                        <a:latin typeface="Cambria Math" panose="02040503050406030204" pitchFamily="18" charset="0"/>
                      </a:rPr>
                      <m:t>E</m:t>
                    </m:r>
                    <m:r>
                      <a:rPr lang="en-US" altLang="zh-TW" sz="3600" i="1">
                        <a:solidFill>
                          <a:srgbClr val="000000"/>
                        </a:solidFill>
                        <a:latin typeface="Cambria Math" panose="02040503050406030204" pitchFamily="18" charset="0"/>
                      </a:rPr>
                      <m:t>(</m:t>
                    </m:r>
                    <m:r>
                      <m:rPr>
                        <m:sty m:val="p"/>
                      </m:rPr>
                      <a:rPr lang="en-US" altLang="zh-TW" sz="3600" i="1" smtClean="0">
                        <a:solidFill>
                          <a:srgbClr val="000000"/>
                        </a:solidFill>
                        <a:latin typeface="Cambria Math" panose="02040503050406030204" pitchFamily="18" charset="0"/>
                      </a:rPr>
                      <m:t>T</m:t>
                    </m:r>
                    <m:r>
                      <a:rPr lang="en-US" altLang="zh-TW" sz="3600" i="1">
                        <a:solidFill>
                          <a:srgbClr val="000000"/>
                        </a:solidFill>
                        <a:latin typeface="Cambria Math" panose="02040503050406030204" pitchFamily="18" charset="0"/>
                      </a:rPr>
                      <m:t>)</m:t>
                    </m:r>
                  </m:oMath>
                </a14:m>
                <a:r>
                  <a:rPr lang="en-US" altLang="zh-TW" sz="3600">
                    <a:solidFill>
                      <a:srgbClr val="000000"/>
                    </a:solidFill>
                  </a:rPr>
                  <a:t> substitute </a:t>
                </a:r>
                <a14:m>
                  <m:oMath xmlns:m="http://schemas.openxmlformats.org/officeDocument/2006/math">
                    <m:acc>
                      <m:accPr>
                        <m:chr m:val="̂"/>
                        <m:ctrlPr>
                          <a:rPr lang="en-US" altLang="zh-TW" sz="3600" b="1" i="1">
                            <a:solidFill>
                              <a:srgbClr val="000000"/>
                            </a:solidFill>
                            <a:latin typeface="Cambria Math" panose="02040503050406030204" pitchFamily="18" charset="0"/>
                          </a:rPr>
                        </m:ctrlPr>
                      </m:accPr>
                      <m:e>
                        <m:r>
                          <a:rPr lang="zh-TW" altLang="en-US" sz="3600" b="1" i="1">
                            <a:solidFill>
                              <a:srgbClr val="000000"/>
                            </a:solidFill>
                            <a:latin typeface="Cambria Math" panose="02040503050406030204" pitchFamily="18" charset="0"/>
                          </a:rPr>
                          <m:t>𝜽</m:t>
                        </m:r>
                      </m:e>
                    </m:acc>
                  </m:oMath>
                </a14:m>
                <a:r>
                  <a:rPr lang="en" altLang="zh-TW" sz="3600" b="1">
                    <a:solidFill>
                      <a:srgbClr val="000000"/>
                    </a:solidFill>
                  </a:rPr>
                  <a:t> </a:t>
                </a:r>
                <a:r>
                  <a:rPr lang="en" altLang="zh-TW" sz="3600">
                    <a:solidFill>
                      <a:srgbClr val="000000"/>
                    </a:solidFill>
                  </a:rPr>
                  <a:t>into </a:t>
                </a:r>
                <a14:m>
                  <m:oMath xmlns:m="http://schemas.openxmlformats.org/officeDocument/2006/math">
                    <m:r>
                      <m:rPr>
                        <m:sty m:val="p"/>
                      </m:rPr>
                      <a:rPr lang="en-US" altLang="zh-TW" sz="3600" i="1">
                        <a:solidFill>
                          <a:srgbClr val="000000"/>
                        </a:solidFill>
                        <a:latin typeface="Cambria Math" panose="02040503050406030204" pitchFamily="18" charset="0"/>
                      </a:rPr>
                      <m:t>E</m:t>
                    </m:r>
                    <m:d>
                      <m:dPr>
                        <m:ctrlPr>
                          <a:rPr lang="en-US" altLang="zh-TW" sz="3600" i="1">
                            <a:solidFill>
                              <a:srgbClr val="000000"/>
                            </a:solidFill>
                            <a:latin typeface="Cambria Math" panose="02040503050406030204" pitchFamily="18" charset="0"/>
                          </a:rPr>
                        </m:ctrlPr>
                      </m:dPr>
                      <m:e>
                        <m:r>
                          <m:rPr>
                            <m:sty m:val="p"/>
                          </m:rPr>
                          <a:rPr lang="en-US" altLang="zh-TW" sz="3600" i="1">
                            <a:solidFill>
                              <a:srgbClr val="000000"/>
                            </a:solidFill>
                            <a:latin typeface="Cambria Math" panose="02040503050406030204" pitchFamily="18" charset="0"/>
                          </a:rPr>
                          <m:t>T</m:t>
                        </m:r>
                      </m:e>
                    </m:d>
                  </m:oMath>
                </a14:m>
                <a:endParaRPr lang="en-US" altLang="zh-TW" sz="3600">
                  <a:solidFill>
                    <a:srgbClr val="000000"/>
                  </a:solidFill>
                </a:endParaRPr>
              </a:p>
              <a:p>
                <a:pPr marL="1371600" lvl="2" indent="-457200">
                  <a:buFont typeface="Arial" panose="020B0604020202020204" pitchFamily="34" charset="0"/>
                  <a:buChar char="•"/>
                </a:pPr>
                <a:r>
                  <a:rPr lang="en-US" altLang="zh-TW" sz="3600">
                    <a:solidFill>
                      <a:srgbClr val="000000"/>
                    </a:solidFill>
                  </a:rPr>
                  <a:t>Using Bootstrap find the confidence interval</a:t>
                </a:r>
                <a:endParaRPr lang="en-US" altLang="zh-TW" sz="3600">
                  <a:solidFill>
                    <a:srgbClr val="000000"/>
                  </a:solidFill>
                  <a:effectLst/>
                </a:endParaRP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3258974" y="2099866"/>
                <a:ext cx="13612976" cy="5869299"/>
              </a:xfrm>
              <a:prstGeom prst="rect">
                <a:avLst/>
              </a:prstGeom>
              <a:blipFill>
                <a:blip r:embed="rId4"/>
                <a:stretch>
                  <a:fillRect l="-1030" t="-1765" b="-30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310043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47E1FC4-2190-119A-D656-4F2BA2F8F078}"/>
                  </a:ext>
                </a:extLst>
              </p:cNvPr>
              <p:cNvSpPr txBox="1"/>
              <p:nvPr/>
            </p:nvSpPr>
            <p:spPr>
              <a:xfrm>
                <a:off x="2954174" y="2118916"/>
                <a:ext cx="13612976" cy="5230599"/>
              </a:xfrm>
              <a:prstGeom prst="rect">
                <a:avLst/>
              </a:prstGeom>
              <a:noFill/>
            </p:spPr>
            <p:txBody>
              <a:bodyPr wrap="square">
                <a:spAutoFit/>
              </a:bodyPr>
              <a:lstStyle/>
              <a:p>
                <a:pPr marL="457200" indent="-457200">
                  <a:buFont typeface="Arial" panose="020B0604020202020204" pitchFamily="34" charset="0"/>
                  <a:buChar char="•"/>
                </a:pPr>
                <a:r>
                  <a:rPr lang="en" altLang="zh-TW" sz="3200">
                    <a:solidFill>
                      <a:srgbClr val="000000"/>
                    </a:solidFill>
                    <a:effectLst/>
                  </a:rPr>
                  <a:t> </a:t>
                </a:r>
                <a:r>
                  <a:rPr lang="en" altLang="zh-TW" sz="4000">
                    <a:solidFill>
                      <a:srgbClr val="000000"/>
                    </a:solidFill>
                    <a:effectLst/>
                  </a:rPr>
                  <a:t>Step3. </a:t>
                </a:r>
                <a:r>
                  <a:rPr lang="en-US" altLang="zh-TW" sz="4000">
                    <a:solidFill>
                      <a:srgbClr val="000000"/>
                    </a:solidFill>
                    <a:effectLst/>
                  </a:rPr>
                  <a:t>Choosing the proper Model and diagnose the Model </a:t>
                </a:r>
              </a:p>
              <a:p>
                <a:pPr marL="914400" lvl="1" indent="-457200">
                  <a:buFont typeface="Arial" panose="020B0604020202020204" pitchFamily="34" charset="0"/>
                  <a:buChar char="•"/>
                </a:pPr>
                <a:r>
                  <a:rPr lang="en-US" altLang="zh-TW" sz="3600">
                    <a:solidFill>
                      <a:srgbClr val="000000"/>
                    </a:solidFill>
                  </a:rPr>
                  <a:t>AIC (Akaike information criterion)</a:t>
                </a:r>
              </a:p>
              <a:p>
                <a:pPr marL="1371600" lvl="2" indent="-457200">
                  <a:buFont typeface="Arial" panose="020B0604020202020204" pitchFamily="34" charset="0"/>
                  <a:buChar char="•"/>
                </a:pPr>
                <a:r>
                  <a:rPr lang="en-US" altLang="zh-TW" sz="3600">
                    <a:solidFill>
                      <a:srgbClr val="000000"/>
                    </a:solidFill>
                  </a:rPr>
                  <a:t>AIC = </a:t>
                </a:r>
                <a14:m>
                  <m:oMath xmlns:m="http://schemas.openxmlformats.org/officeDocument/2006/math">
                    <m:r>
                      <a:rPr lang="en-US" altLang="zh-TW" sz="3600" b="0" i="1" smtClean="0">
                        <a:solidFill>
                          <a:srgbClr val="000000"/>
                        </a:solidFill>
                        <a:latin typeface="Cambria Math" panose="02040503050406030204" pitchFamily="18" charset="0"/>
                      </a:rPr>
                      <m:t>−2</m:t>
                    </m:r>
                    <m:r>
                      <a:rPr lang="en-US" altLang="zh-TW" sz="3600" b="0" i="1" smtClean="0">
                        <a:solidFill>
                          <a:srgbClr val="000000"/>
                        </a:solidFill>
                        <a:latin typeface="Cambria Math" panose="02040503050406030204" pitchFamily="18" charset="0"/>
                      </a:rPr>
                      <m:t>𝐿</m:t>
                    </m:r>
                    <m:d>
                      <m:dPr>
                        <m:ctrlPr>
                          <a:rPr lang="en-US" altLang="zh-TW" sz="3600" b="0" i="1" smtClean="0">
                            <a:solidFill>
                              <a:srgbClr val="000000"/>
                            </a:solidFill>
                            <a:latin typeface="Cambria Math" panose="02040503050406030204" pitchFamily="18" charset="0"/>
                          </a:rPr>
                        </m:ctrlPr>
                      </m:dPr>
                      <m:e>
                        <m:acc>
                          <m:accPr>
                            <m:chr m:val="̂"/>
                            <m:ctrlPr>
                              <a:rPr lang="en-US" altLang="zh-TW" sz="3600" b="0" i="1" smtClean="0">
                                <a:solidFill>
                                  <a:srgbClr val="000000"/>
                                </a:solidFill>
                                <a:latin typeface="Cambria Math" panose="02040503050406030204" pitchFamily="18" charset="0"/>
                              </a:rPr>
                            </m:ctrlPr>
                          </m:accPr>
                          <m:e>
                            <m:r>
                              <a:rPr lang="zh-TW" altLang="en-US" sz="3600" b="0" i="1" smtClean="0">
                                <a:solidFill>
                                  <a:srgbClr val="000000"/>
                                </a:solidFill>
                                <a:latin typeface="Cambria Math" panose="02040503050406030204" pitchFamily="18" charset="0"/>
                              </a:rPr>
                              <m:t>𝜃</m:t>
                            </m:r>
                          </m:e>
                        </m:acc>
                      </m:e>
                    </m:d>
                    <m:r>
                      <a:rPr lang="en-US" altLang="zh-TW" sz="3600" b="0" i="1" smtClean="0">
                        <a:solidFill>
                          <a:srgbClr val="000000"/>
                        </a:solidFill>
                        <a:latin typeface="Cambria Math" panose="02040503050406030204" pitchFamily="18" charset="0"/>
                      </a:rPr>
                      <m:t>+2</m:t>
                    </m:r>
                    <m:r>
                      <a:rPr lang="en-US" altLang="zh-TW" sz="3600" b="0" i="1" smtClean="0">
                        <a:solidFill>
                          <a:srgbClr val="000000"/>
                        </a:solidFill>
                        <a:latin typeface="Cambria Math" panose="02040503050406030204" pitchFamily="18" charset="0"/>
                      </a:rPr>
                      <m:t>𝑟</m:t>
                    </m:r>
                  </m:oMath>
                </a14:m>
                <a:r>
                  <a:rPr lang="en-US" altLang="zh-TW" sz="3600">
                    <a:solidFill>
                      <a:srgbClr val="000000"/>
                    </a:solidFill>
                  </a:rPr>
                  <a:t> r is the number if the parameter</a:t>
                </a:r>
              </a:p>
              <a:p>
                <a:pPr marL="1371600" lvl="2" indent="-457200">
                  <a:buFont typeface="Arial" panose="020B0604020202020204" pitchFamily="34" charset="0"/>
                  <a:buChar char="•"/>
                </a:pPr>
                <a:r>
                  <a:rPr lang="en-US" altLang="zh-TW" sz="3600">
                    <a:solidFill>
                      <a:srgbClr val="000000"/>
                    </a:solidFill>
                  </a:rPr>
                  <a:t>Smallest AIC has been chosen as a good model </a:t>
                </a:r>
              </a:p>
              <a:p>
                <a:pPr marL="914400" lvl="1" indent="-457200">
                  <a:buFont typeface="Arial" panose="020B0604020202020204" pitchFamily="34" charset="0"/>
                  <a:buChar char="•"/>
                </a:pPr>
                <a:r>
                  <a:rPr lang="en-US" altLang="zh-TW" sz="3600">
                    <a:solidFill>
                      <a:srgbClr val="000000"/>
                    </a:solidFill>
                    <a:effectLst/>
                  </a:rPr>
                  <a:t>RMSE</a:t>
                </a:r>
                <a:r>
                  <a:rPr lang="en-US" altLang="zh-TW" sz="3600">
                    <a:solidFill>
                      <a:srgbClr val="000000"/>
                    </a:solidFill>
                  </a:rPr>
                  <a:t> (</a:t>
                </a:r>
                <a:r>
                  <a:rPr lang="en-US" altLang="zh-TW" sz="3600" b="0" i="0">
                    <a:effectLst/>
                    <a:highlight>
                      <a:srgbClr val="FFFFFF"/>
                    </a:highlight>
                  </a:rPr>
                  <a:t>Root  Mean Square Error</a:t>
                </a:r>
                <a:r>
                  <a:rPr lang="en-US" altLang="zh-TW" sz="3600">
                    <a:solidFill>
                      <a:srgbClr val="000000"/>
                    </a:solidFill>
                  </a:rPr>
                  <a:t>)</a:t>
                </a:r>
                <a:r>
                  <a:rPr lang="en-US" altLang="zh-TW" sz="3600">
                    <a:solidFill>
                      <a:srgbClr val="000000"/>
                    </a:solidFill>
                    <a:effectLst/>
                  </a:rPr>
                  <a:t> </a:t>
                </a:r>
              </a:p>
              <a:p>
                <a:pPr marL="1371600" lvl="2" indent="-457200">
                  <a:buFont typeface="Arial" panose="020B0604020202020204" pitchFamily="34" charset="0"/>
                  <a:buChar char="•"/>
                </a:pPr>
                <a:r>
                  <a:rPr lang="en" altLang="zh-TW" sz="3600">
                    <a:solidFill>
                      <a:srgbClr val="000000"/>
                    </a:solidFill>
                  </a:rPr>
                  <a:t>RMSE = </a:t>
                </a:r>
                <a14:m>
                  <m:oMath xmlns:m="http://schemas.openxmlformats.org/officeDocument/2006/math">
                    <m:rad>
                      <m:radPr>
                        <m:degHide m:val="on"/>
                        <m:ctrlPr>
                          <a:rPr lang="en" altLang="zh-TW" sz="3600" i="1" smtClean="0">
                            <a:solidFill>
                              <a:srgbClr val="000000"/>
                            </a:solidFill>
                            <a:latin typeface="Cambria Math" panose="02040503050406030204" pitchFamily="18" charset="0"/>
                          </a:rPr>
                        </m:ctrlPr>
                      </m:radPr>
                      <m:deg/>
                      <m:e>
                        <m:f>
                          <m:fPr>
                            <m:ctrlPr>
                              <a:rPr lang="en" altLang="zh-TW" sz="3600" i="1" smtClean="0">
                                <a:solidFill>
                                  <a:srgbClr val="000000"/>
                                </a:solidFill>
                                <a:latin typeface="Cambria Math" panose="02040503050406030204" pitchFamily="18" charset="0"/>
                              </a:rPr>
                            </m:ctrlPr>
                          </m:fPr>
                          <m:num>
                            <m:r>
                              <a:rPr lang="en-US" altLang="zh-TW" sz="3600" b="0" i="1" smtClean="0">
                                <a:solidFill>
                                  <a:srgbClr val="000000"/>
                                </a:solidFill>
                                <a:latin typeface="Cambria Math" panose="02040503050406030204" pitchFamily="18" charset="0"/>
                              </a:rPr>
                              <m:t>1</m:t>
                            </m:r>
                          </m:num>
                          <m:den>
                            <m:r>
                              <a:rPr lang="en-US" altLang="zh-TW" sz="3600" b="0" i="1" smtClean="0">
                                <a:solidFill>
                                  <a:srgbClr val="000000"/>
                                </a:solidFill>
                                <a:latin typeface="Cambria Math" panose="02040503050406030204" pitchFamily="18" charset="0"/>
                              </a:rPr>
                              <m:t>𝑛</m:t>
                            </m:r>
                          </m:den>
                        </m:f>
                        <m:nary>
                          <m:naryPr>
                            <m:chr m:val="∑"/>
                            <m:ctrlPr>
                              <a:rPr lang="en" altLang="zh-TW" sz="3600" i="1" smtClean="0">
                                <a:solidFill>
                                  <a:srgbClr val="000000"/>
                                </a:solidFill>
                                <a:latin typeface="Cambria Math" panose="02040503050406030204" pitchFamily="18" charset="0"/>
                              </a:rPr>
                            </m:ctrlPr>
                          </m:naryPr>
                          <m:sub>
                            <m:r>
                              <m:rPr>
                                <m:brk m:alnAt="23"/>
                              </m:rPr>
                              <a:rPr lang="en-US" altLang="zh-TW" sz="3600" b="0" i="1" smtClean="0">
                                <a:solidFill>
                                  <a:srgbClr val="000000"/>
                                </a:solidFill>
                                <a:latin typeface="Cambria Math" panose="02040503050406030204" pitchFamily="18" charset="0"/>
                              </a:rPr>
                              <m:t>𝑖</m:t>
                            </m:r>
                            <m:r>
                              <a:rPr lang="en-US" altLang="zh-TW" sz="3600" b="0" i="1" smtClean="0">
                                <a:solidFill>
                                  <a:srgbClr val="000000"/>
                                </a:solidFill>
                                <a:latin typeface="Cambria Math" panose="02040503050406030204" pitchFamily="18" charset="0"/>
                              </a:rPr>
                              <m:t>=1</m:t>
                            </m:r>
                          </m:sub>
                          <m:sup>
                            <m:r>
                              <a:rPr lang="en-US" altLang="zh-TW" sz="3600" b="0" i="1" smtClean="0">
                                <a:solidFill>
                                  <a:srgbClr val="000000"/>
                                </a:solidFill>
                                <a:latin typeface="Cambria Math" panose="02040503050406030204" pitchFamily="18" charset="0"/>
                              </a:rPr>
                              <m:t>𝑛</m:t>
                            </m:r>
                          </m:sup>
                          <m:e>
                            <m:sSup>
                              <m:sSupPr>
                                <m:ctrlPr>
                                  <a:rPr lang="en" altLang="zh-TW" sz="3600" i="1" smtClean="0">
                                    <a:solidFill>
                                      <a:srgbClr val="000000"/>
                                    </a:solidFill>
                                    <a:latin typeface="Cambria Math" panose="02040503050406030204" pitchFamily="18" charset="0"/>
                                  </a:rPr>
                                </m:ctrlPr>
                              </m:sSupPr>
                              <m:e>
                                <m:r>
                                  <a:rPr lang="en-US" altLang="zh-TW" sz="3600" b="0" i="1" smtClean="0">
                                    <a:solidFill>
                                      <a:srgbClr val="000000"/>
                                    </a:solidFill>
                                    <a:latin typeface="Cambria Math" panose="02040503050406030204" pitchFamily="18" charset="0"/>
                                  </a:rPr>
                                  <m:t>(</m:t>
                                </m:r>
                                <m:acc>
                                  <m:accPr>
                                    <m:chr m:val="̂"/>
                                    <m:ctrlPr>
                                      <a:rPr lang="en-US" altLang="zh-TW" sz="3600" i="1">
                                        <a:solidFill>
                                          <a:srgbClr val="000000"/>
                                        </a:solidFill>
                                        <a:latin typeface="Cambria Math" panose="02040503050406030204" pitchFamily="18" charset="0"/>
                                      </a:rPr>
                                    </m:ctrlPr>
                                  </m:accPr>
                                  <m:e>
                                    <m:r>
                                      <a:rPr lang="en-US" altLang="zh-TW" sz="3600" i="1">
                                        <a:solidFill>
                                          <a:srgbClr val="000000"/>
                                        </a:solidFill>
                                        <a:latin typeface="Cambria Math" panose="02040503050406030204" pitchFamily="18" charset="0"/>
                                      </a:rPr>
                                      <m:t>𝐹</m:t>
                                    </m:r>
                                    <m:d>
                                      <m:dPr>
                                        <m:ctrlPr>
                                          <a:rPr lang="en-US" altLang="zh-TW" sz="3600" i="1">
                                            <a:solidFill>
                                              <a:srgbClr val="000000"/>
                                            </a:solidFill>
                                            <a:latin typeface="Cambria Math" panose="02040503050406030204" pitchFamily="18" charset="0"/>
                                          </a:rPr>
                                        </m:ctrlPr>
                                      </m:dPr>
                                      <m:e>
                                        <m:sSub>
                                          <m:sSubPr>
                                            <m:ctrlPr>
                                              <a:rPr lang="en-US" altLang="zh-TW" sz="3600" i="1">
                                                <a:solidFill>
                                                  <a:srgbClr val="000000"/>
                                                </a:solidFill>
                                                <a:latin typeface="Cambria Math" panose="02040503050406030204" pitchFamily="18" charset="0"/>
                                              </a:rPr>
                                            </m:ctrlPr>
                                          </m:sSubPr>
                                          <m:e>
                                            <m:r>
                                              <a:rPr lang="en-US" altLang="zh-TW" sz="3600" i="1">
                                                <a:solidFill>
                                                  <a:srgbClr val="000000"/>
                                                </a:solidFill>
                                                <a:latin typeface="Cambria Math" panose="02040503050406030204" pitchFamily="18" charset="0"/>
                                              </a:rPr>
                                              <m:t>𝑡</m:t>
                                            </m:r>
                                          </m:e>
                                          <m:sub>
                                            <m:r>
                                              <a:rPr lang="en-US" altLang="zh-TW" sz="3600" i="1">
                                                <a:solidFill>
                                                  <a:srgbClr val="000000"/>
                                                </a:solidFill>
                                                <a:latin typeface="Cambria Math" panose="02040503050406030204" pitchFamily="18" charset="0"/>
                                              </a:rPr>
                                              <m:t>𝑖</m:t>
                                            </m:r>
                                          </m:sub>
                                        </m:sSub>
                                      </m:e>
                                    </m:d>
                                  </m:e>
                                </m:acc>
                                <m:r>
                                  <a:rPr lang="en-US" altLang="zh-TW" sz="3600" b="0" i="1" smtClean="0">
                                    <a:solidFill>
                                      <a:srgbClr val="000000"/>
                                    </a:solidFill>
                                    <a:latin typeface="Cambria Math" panose="02040503050406030204" pitchFamily="18" charset="0"/>
                                  </a:rPr>
                                  <m:t>−</m:t>
                                </m:r>
                                <m:r>
                                  <a:rPr lang="en-US" altLang="zh-TW" sz="3600" i="1">
                                    <a:solidFill>
                                      <a:srgbClr val="000000"/>
                                    </a:solidFill>
                                    <a:latin typeface="Cambria Math" panose="02040503050406030204" pitchFamily="18" charset="0"/>
                                  </a:rPr>
                                  <m:t>𝐹</m:t>
                                </m:r>
                                <m:d>
                                  <m:dPr>
                                    <m:ctrlPr>
                                      <a:rPr lang="en-US" altLang="zh-TW" sz="3600" i="1">
                                        <a:solidFill>
                                          <a:srgbClr val="000000"/>
                                        </a:solidFill>
                                        <a:latin typeface="Cambria Math" panose="02040503050406030204" pitchFamily="18" charset="0"/>
                                      </a:rPr>
                                    </m:ctrlPr>
                                  </m:dPr>
                                  <m:e>
                                    <m:sSub>
                                      <m:sSubPr>
                                        <m:ctrlPr>
                                          <a:rPr lang="en-US" altLang="zh-TW" sz="3600" i="1">
                                            <a:solidFill>
                                              <a:srgbClr val="000000"/>
                                            </a:solidFill>
                                            <a:latin typeface="Cambria Math" panose="02040503050406030204" pitchFamily="18" charset="0"/>
                                          </a:rPr>
                                        </m:ctrlPr>
                                      </m:sSubPr>
                                      <m:e>
                                        <m:r>
                                          <a:rPr lang="en-US" altLang="zh-TW" sz="3600" i="1">
                                            <a:solidFill>
                                              <a:srgbClr val="000000"/>
                                            </a:solidFill>
                                            <a:latin typeface="Cambria Math" panose="02040503050406030204" pitchFamily="18" charset="0"/>
                                          </a:rPr>
                                          <m:t>𝑡</m:t>
                                        </m:r>
                                      </m:e>
                                      <m:sub>
                                        <m:r>
                                          <a:rPr lang="en-US" altLang="zh-TW" sz="3600" i="1">
                                            <a:solidFill>
                                              <a:srgbClr val="000000"/>
                                            </a:solidFill>
                                            <a:latin typeface="Cambria Math" panose="02040503050406030204" pitchFamily="18" charset="0"/>
                                          </a:rPr>
                                          <m:t>𝑖</m:t>
                                        </m:r>
                                      </m:sub>
                                    </m:sSub>
                                  </m:e>
                                </m:d>
                                <m:r>
                                  <a:rPr lang="en-US" altLang="zh-TW" sz="3600" b="0" i="1" smtClean="0">
                                    <a:solidFill>
                                      <a:srgbClr val="000000"/>
                                    </a:solidFill>
                                    <a:latin typeface="Cambria Math" panose="02040503050406030204" pitchFamily="18" charset="0"/>
                                  </a:rPr>
                                  <m:t>)</m:t>
                                </m:r>
                              </m:e>
                              <m:sup>
                                <m:r>
                                  <a:rPr lang="en-US" altLang="zh-TW" sz="3600" b="0" i="1" smtClean="0">
                                    <a:solidFill>
                                      <a:srgbClr val="000000"/>
                                    </a:solidFill>
                                    <a:latin typeface="Cambria Math" panose="02040503050406030204" pitchFamily="18" charset="0"/>
                                  </a:rPr>
                                  <m:t>2</m:t>
                                </m:r>
                              </m:sup>
                            </m:sSup>
                          </m:e>
                        </m:nary>
                      </m:e>
                    </m:rad>
                  </m:oMath>
                </a14:m>
                <a:endParaRPr lang="en" altLang="zh-TW" sz="3600">
                  <a:solidFill>
                    <a:srgbClr val="000000"/>
                  </a:solidFill>
                </a:endParaRPr>
              </a:p>
              <a:p>
                <a:pPr marL="1371600" lvl="2" indent="-457200">
                  <a:buFont typeface="Arial" panose="020B0604020202020204" pitchFamily="34" charset="0"/>
                  <a:buChar char="•"/>
                </a:pPr>
                <a:r>
                  <a:rPr lang="en-US" altLang="zh-TW" sz="3600">
                    <a:solidFill>
                      <a:srgbClr val="000000"/>
                    </a:solidFill>
                  </a:rPr>
                  <a:t>Smallest RMSE has been chosen as a good model </a:t>
                </a:r>
              </a:p>
              <a:p>
                <a:pPr marL="914400" lvl="1" indent="-457200">
                  <a:buFont typeface="Arial" panose="020B0604020202020204" pitchFamily="34" charset="0"/>
                  <a:buChar char="•"/>
                </a:pPr>
                <a:r>
                  <a:rPr lang="en-US" altLang="zh-TW" sz="3600" b="0" i="0">
                    <a:effectLst/>
                    <a:highlight>
                      <a:srgbClr val="FFFFFF"/>
                    </a:highlight>
                  </a:rPr>
                  <a:t>Using the Anderson-Darling to diagnose the model</a:t>
                </a:r>
                <a:endParaRPr lang="en-US" altLang="zh-TW" sz="3600">
                  <a:solidFill>
                    <a:srgbClr val="000000"/>
                  </a:solidFill>
                </a:endParaRPr>
              </a:p>
            </p:txBody>
          </p:sp>
        </mc:Choice>
        <mc:Fallback xmlns="">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2954174" y="2118916"/>
                <a:ext cx="13612976" cy="5230599"/>
              </a:xfrm>
              <a:prstGeom prst="rect">
                <a:avLst/>
              </a:prstGeom>
              <a:blipFill>
                <a:blip r:embed="rId4"/>
                <a:stretch>
                  <a:fillRect l="-1030" t="-2098" b="-349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83875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50820" y="5773766"/>
            <a:ext cx="9042909" cy="9026468"/>
          </a:xfrm>
          <a:custGeom>
            <a:avLst/>
            <a:gdLst/>
            <a:ahLst/>
            <a:cxnLst/>
            <a:rect l="l" t="t" r="r" b="b"/>
            <a:pathLst>
              <a:path w="9042909" h="9026468">
                <a:moveTo>
                  <a:pt x="0" y="0"/>
                </a:moveTo>
                <a:lnTo>
                  <a:pt x="9042909" y="0"/>
                </a:lnTo>
                <a:lnTo>
                  <a:pt x="9042909" y="9026468"/>
                </a:lnTo>
                <a:lnTo>
                  <a:pt x="0" y="9026468"/>
                </a:lnTo>
                <a:lnTo>
                  <a:pt x="0" y="0"/>
                </a:lnTo>
                <a:close/>
              </a:path>
            </a:pathLst>
          </a:custGeom>
          <a:blipFill>
            <a:blip r:embed="rId2">
              <a:alphaModFix amt="70000"/>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4374934" y="-3845014"/>
            <a:ext cx="9042909" cy="9026468"/>
          </a:xfrm>
          <a:custGeom>
            <a:avLst/>
            <a:gdLst/>
            <a:ahLst/>
            <a:cxnLst/>
            <a:rect l="l" t="t" r="r" b="b"/>
            <a:pathLst>
              <a:path w="9042909" h="9026468">
                <a:moveTo>
                  <a:pt x="0" y="0"/>
                </a:moveTo>
                <a:lnTo>
                  <a:pt x="9042910" y="0"/>
                </a:lnTo>
                <a:lnTo>
                  <a:pt x="9042910" y="9026467"/>
                </a:lnTo>
                <a:lnTo>
                  <a:pt x="0" y="9026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7" name="TextBox 7"/>
          <p:cNvSpPr txBox="1"/>
          <p:nvPr/>
        </p:nvSpPr>
        <p:spPr>
          <a:xfrm>
            <a:off x="7696200" y="6972300"/>
            <a:ext cx="2895600" cy="1015663"/>
          </a:xfrm>
          <a:prstGeom prst="rect">
            <a:avLst/>
          </a:prstGeom>
        </p:spPr>
        <p:txBody>
          <a:bodyPr wrap="square" lIns="0" tIns="0" rIns="0" bIns="0" rtlCol="0" anchor="t">
            <a:spAutoFit/>
          </a:bodyPr>
          <a:lstStyle/>
          <a:p>
            <a:r>
              <a:rPr lang="en-US" altLang="zh-TW" sz="6600">
                <a:solidFill>
                  <a:srgbClr val="000000"/>
                </a:solidFill>
                <a:ea typeface="思源宋体 Bold"/>
              </a:rPr>
              <a:t>Example</a:t>
            </a:r>
            <a:endParaRPr lang="en-US" sz="6600">
              <a:solidFill>
                <a:srgbClr val="000000"/>
              </a:solidFill>
              <a:ea typeface="思源宋体 Bold"/>
            </a:endParaRPr>
          </a:p>
        </p:txBody>
      </p:sp>
      <p:pic>
        <p:nvPicPr>
          <p:cNvPr id="2050" name="Picture 2" descr="Data Reliability: Do you Trust Your Data? | Ectobox">
            <a:extLst>
              <a:ext uri="{FF2B5EF4-FFF2-40B4-BE49-F238E27FC236}">
                <a16:creationId xmlns:a16="http://schemas.microsoft.com/office/drawing/2014/main" id="{9F47CCA3-1973-79DC-5D75-9C41456207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705100"/>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3326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547E1FC4-2190-119A-D656-4F2BA2F8F078}"/>
              </a:ext>
            </a:extLst>
          </p:cNvPr>
          <p:cNvSpPr txBox="1"/>
          <p:nvPr/>
        </p:nvSpPr>
        <p:spPr>
          <a:xfrm>
            <a:off x="977529" y="1480959"/>
            <a:ext cx="13612976" cy="4031873"/>
          </a:xfrm>
          <a:prstGeom prst="rect">
            <a:avLst/>
          </a:prstGeom>
          <a:noFill/>
        </p:spPr>
        <p:txBody>
          <a:bodyPr wrap="square">
            <a:spAutoFit/>
          </a:bodyPr>
          <a:lstStyle/>
          <a:p>
            <a:pPr marL="457200" indent="-457200">
              <a:buFont typeface="Arial" panose="020B0604020202020204" pitchFamily="34" charset="0"/>
              <a:buChar char="•"/>
            </a:pPr>
            <a:r>
              <a:rPr lang="en" altLang="zh-TW" sz="4000">
                <a:solidFill>
                  <a:srgbClr val="000000"/>
                </a:solidFill>
              </a:rPr>
              <a:t>We use the Laser data in Meeker &amp; Escobar </a:t>
            </a:r>
            <a:endParaRPr lang="en" altLang="zh-TW" sz="4000">
              <a:solidFill>
                <a:srgbClr val="000000"/>
              </a:solidFill>
              <a:effectLst/>
            </a:endParaRPr>
          </a:p>
          <a:p>
            <a:pPr marL="1371600" lvl="2" indent="-457200">
              <a:buFont typeface="Arial" panose="020B0604020202020204" pitchFamily="34" charset="0"/>
              <a:buChar char="•"/>
            </a:pPr>
            <a:r>
              <a:rPr lang="en" altLang="zh-TW" sz="3600">
                <a:solidFill>
                  <a:srgbClr val="000000"/>
                </a:solidFill>
              </a:rPr>
              <a:t>QC : the operating current of laser device.</a:t>
            </a:r>
          </a:p>
          <a:p>
            <a:pPr marL="1371600" lvl="2" indent="-457200">
              <a:buFont typeface="Arial" panose="020B0604020202020204" pitchFamily="34" charset="0"/>
              <a:buChar char="•"/>
            </a:pPr>
            <a:r>
              <a:rPr lang="en-US" altLang="zh-TW" sz="3600">
                <a:solidFill>
                  <a:srgbClr val="000000"/>
                </a:solidFill>
              </a:rPr>
              <a:t>15 units in the experiment.</a:t>
            </a:r>
          </a:p>
          <a:p>
            <a:pPr marL="1371600" lvl="2" indent="-457200">
              <a:buFont typeface="Arial" panose="020B0604020202020204" pitchFamily="34" charset="0"/>
              <a:buChar char="•"/>
            </a:pPr>
            <a:r>
              <a:rPr lang="en-US" altLang="zh-TW" sz="3600">
                <a:solidFill>
                  <a:srgbClr val="000000"/>
                </a:solidFill>
              </a:rPr>
              <a:t>Threshold : If the percent increasing in operating current reach 10%, this device is consider to be failure.</a:t>
            </a:r>
          </a:p>
          <a:p>
            <a:pPr marL="1371600" lvl="2" indent="-457200">
              <a:buFont typeface="Arial" panose="020B0604020202020204" pitchFamily="34" charset="0"/>
              <a:buChar char="•"/>
            </a:pPr>
            <a:r>
              <a:rPr lang="en-US" altLang="zh-TW" sz="3600">
                <a:solidFill>
                  <a:srgbClr val="000000"/>
                </a:solidFill>
                <a:effectLst/>
              </a:rPr>
              <a:t>Measured frequency of its current is 250 hours.</a:t>
            </a:r>
            <a:endParaRPr lang="en" altLang="zh-TW" sz="3600">
              <a:solidFill>
                <a:srgbClr val="000000"/>
              </a:solidFill>
              <a:effectLst/>
            </a:endParaRPr>
          </a:p>
          <a:p>
            <a:pPr marL="1371600" lvl="2" indent="-457200">
              <a:buFont typeface="Arial" panose="020B0604020202020204" pitchFamily="34" charset="0"/>
              <a:buChar char="•"/>
            </a:pPr>
            <a:r>
              <a:rPr lang="en" altLang="zh-TW" sz="3600">
                <a:solidFill>
                  <a:srgbClr val="000000"/>
                </a:solidFill>
                <a:effectLst/>
              </a:rPr>
              <a:t>The experiment was terminated at 400 hours.</a:t>
            </a:r>
          </a:p>
        </p:txBody>
      </p:sp>
      <p:pic>
        <p:nvPicPr>
          <p:cNvPr id="5" name="圖片 4">
            <a:extLst>
              <a:ext uri="{FF2B5EF4-FFF2-40B4-BE49-F238E27FC236}">
                <a16:creationId xmlns:a16="http://schemas.microsoft.com/office/drawing/2014/main" id="{21B4DD6A-54E2-9A40-2E3A-EA68C3B528CC}"/>
              </a:ext>
            </a:extLst>
          </p:cNvPr>
          <p:cNvPicPr>
            <a:picLocks noChangeAspect="1"/>
          </p:cNvPicPr>
          <p:nvPr/>
        </p:nvPicPr>
        <p:blipFill>
          <a:blip r:embed="rId4"/>
          <a:stretch>
            <a:fillRect/>
          </a:stretch>
        </p:blipFill>
        <p:spPr>
          <a:xfrm>
            <a:off x="11387329" y="3981450"/>
            <a:ext cx="6900671" cy="6096000"/>
          </a:xfrm>
          <a:prstGeom prst="rect">
            <a:avLst/>
          </a:prstGeom>
        </p:spPr>
      </p:pic>
    </p:spTree>
    <p:extLst>
      <p:ext uri="{BB962C8B-B14F-4D97-AF65-F5344CB8AC3E}">
        <p14:creationId xmlns:p14="http://schemas.microsoft.com/office/powerpoint/2010/main" val="20566565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mc:Choice xmlns:a14="http://schemas.microsoft.com/office/drawing/2010/main" Requires="a14">
          <p:sp>
            <p:nvSpPr>
              <p:cNvPr id="4" name="文字方塊 3">
                <a:extLst>
                  <a:ext uri="{FF2B5EF4-FFF2-40B4-BE49-F238E27FC236}">
                    <a16:creationId xmlns:a16="http://schemas.microsoft.com/office/drawing/2014/main" id="{547E1FC4-2190-119A-D656-4F2BA2F8F078}"/>
                  </a:ext>
                </a:extLst>
              </p:cNvPr>
              <p:cNvSpPr txBox="1"/>
              <p:nvPr/>
            </p:nvSpPr>
            <p:spPr>
              <a:xfrm>
                <a:off x="2337512" y="1314779"/>
                <a:ext cx="13612976" cy="706860"/>
              </a:xfrm>
              <a:prstGeom prst="rect">
                <a:avLst/>
              </a:prstGeom>
              <a:noFill/>
            </p:spPr>
            <p:txBody>
              <a:bodyPr wrap="square">
                <a:spAutoFit/>
              </a:bodyPr>
              <a:lstStyle/>
              <a:p>
                <a:pPr marL="457200" indent="-457200">
                  <a:buFont typeface="Arial" panose="020B0604020202020204" pitchFamily="34" charset="0"/>
                  <a:buChar char="•"/>
                </a:pPr>
                <a:r>
                  <a:rPr lang="en-US" altLang="zh-TW" sz="3600">
                    <a:solidFill>
                      <a:srgbClr val="000000"/>
                    </a:solidFill>
                    <a:effectLst/>
                  </a:rPr>
                  <a:t>Model 1 : </a:t>
                </a:r>
                <a14:m>
                  <m:oMath xmlns:m="http://schemas.openxmlformats.org/officeDocument/2006/math">
                    <m:r>
                      <a:rPr lang="en-US" altLang="zh-TW" sz="3600" b="0" i="1" smtClean="0">
                        <a:solidFill>
                          <a:srgbClr val="000000"/>
                        </a:solidFill>
                        <a:effectLst/>
                        <a:latin typeface="Cambria Math" panose="02040503050406030204" pitchFamily="18" charset="0"/>
                      </a:rPr>
                      <m:t>𝑌</m:t>
                    </m:r>
                    <m:d>
                      <m:dPr>
                        <m:ctrlPr>
                          <a:rPr lang="en-US" altLang="zh-TW" sz="3600" b="0" i="1" smtClean="0">
                            <a:solidFill>
                              <a:srgbClr val="000000"/>
                            </a:solidFill>
                            <a:effectLst/>
                            <a:latin typeface="Cambria Math" panose="02040503050406030204" pitchFamily="18" charset="0"/>
                          </a:rPr>
                        </m:ctrlPr>
                      </m:dPr>
                      <m:e>
                        <m:r>
                          <a:rPr lang="en-US" altLang="zh-TW" sz="3600" b="0" i="1" smtClean="0">
                            <a:solidFill>
                              <a:srgbClr val="000000"/>
                            </a:solidFill>
                            <a:effectLst/>
                            <a:latin typeface="Cambria Math" panose="02040503050406030204" pitchFamily="18" charset="0"/>
                          </a:rPr>
                          <m:t>𝑡</m:t>
                        </m:r>
                      </m:e>
                    </m:d>
                    <m:r>
                      <a:rPr lang="en-US" altLang="zh-TW" sz="3600" b="0" i="1" smtClean="0">
                        <a:solidFill>
                          <a:srgbClr val="000000"/>
                        </a:solidFill>
                        <a:effectLst/>
                        <a:latin typeface="Cambria Math" panose="02040503050406030204" pitchFamily="18" charset="0"/>
                      </a:rPr>
                      <m:t>= </m:t>
                    </m:r>
                    <m:r>
                      <m:rPr>
                        <m:sty m:val="p"/>
                      </m:rPr>
                      <a:rPr lang="el-GR" altLang="zh-TW" sz="3600" b="0" i="1" smtClean="0">
                        <a:solidFill>
                          <a:srgbClr val="000000"/>
                        </a:solidFill>
                        <a:effectLst/>
                        <a:latin typeface="Cambria Math" panose="02040503050406030204" pitchFamily="18" charset="0"/>
                      </a:rPr>
                      <m:t>Θ</m:t>
                    </m:r>
                    <m:r>
                      <a:rPr lang="en-US" altLang="zh-TW" sz="3600" b="0" i="1" smtClean="0">
                        <a:solidFill>
                          <a:srgbClr val="000000"/>
                        </a:solidFill>
                        <a:effectLst/>
                        <a:latin typeface="Cambria Math" panose="02040503050406030204" pitchFamily="18" charset="0"/>
                      </a:rPr>
                      <m:t>𝑡</m:t>
                    </m:r>
                    <m:r>
                      <a:rPr lang="en-US" altLang="zh-TW" sz="3600" b="0" i="1" smtClean="0">
                        <a:solidFill>
                          <a:srgbClr val="000000"/>
                        </a:solidFill>
                        <a:effectLst/>
                        <a:latin typeface="Cambria Math" panose="02040503050406030204" pitchFamily="18" charset="0"/>
                      </a:rPr>
                      <m:t>+</m:t>
                    </m:r>
                    <m:r>
                      <m:rPr>
                        <m:sty m:val="p"/>
                      </m:rPr>
                      <a:rPr lang="el-GR" altLang="zh-TW" sz="3600" b="0" i="1" smtClean="0">
                        <a:solidFill>
                          <a:srgbClr val="000000"/>
                        </a:solidFill>
                        <a:effectLst/>
                        <a:latin typeface="Cambria Math" panose="02040503050406030204" pitchFamily="18" charset="0"/>
                      </a:rPr>
                      <m:t>ε</m:t>
                    </m:r>
                  </m:oMath>
                </a14:m>
                <a:r>
                  <a:rPr lang="en-US" altLang="zh-TW" sz="3600">
                    <a:solidFill>
                      <a:srgbClr val="000000"/>
                    </a:solidFill>
                    <a:effectLst/>
                  </a:rPr>
                  <a:t> , assume  </a:t>
                </a:r>
                <a14:m>
                  <m:oMath xmlns:m="http://schemas.openxmlformats.org/officeDocument/2006/math">
                    <m:r>
                      <m:rPr>
                        <m:sty m:val="p"/>
                      </m:rPr>
                      <a:rPr lang="el-GR" altLang="zh-TW" sz="3600" i="0" dirty="0" smtClean="0">
                        <a:solidFill>
                          <a:srgbClr val="000000"/>
                        </a:solidFill>
                        <a:effectLst/>
                        <a:latin typeface="Cambria Math" panose="02040503050406030204" pitchFamily="18" charset="0"/>
                        <a:ea typeface="標楷體" panose="03000509000000000000" pitchFamily="65" charset="-120"/>
                      </a:rPr>
                      <m:t>Θ</m:t>
                    </m:r>
                    <m:r>
                      <a:rPr lang="el-GR" altLang="zh-TW" sz="3600" i="1" dirty="0" smtClean="0">
                        <a:solidFill>
                          <a:srgbClr val="000000"/>
                        </a:solidFill>
                        <a:effectLst/>
                        <a:latin typeface="Cambria Math" panose="02040503050406030204" pitchFamily="18" charset="0"/>
                        <a:ea typeface="Cambria Math" panose="02040503050406030204" pitchFamily="18" charset="0"/>
                      </a:rPr>
                      <m:t>~</m:t>
                    </m:r>
                    <m:r>
                      <a:rPr lang="en-US" altLang="zh-TW" sz="3600" b="0" i="1" dirty="0" smtClean="0">
                        <a:solidFill>
                          <a:srgbClr val="000000"/>
                        </a:solidFill>
                        <a:effectLst/>
                        <a:latin typeface="Cambria Math" panose="02040503050406030204" pitchFamily="18" charset="0"/>
                        <a:ea typeface="Cambria Math" panose="02040503050406030204" pitchFamily="18" charset="0"/>
                      </a:rPr>
                      <m:t>𝑁</m:t>
                    </m:r>
                    <m:r>
                      <a:rPr lang="en-US" altLang="zh-TW" sz="3600" b="0" i="1" dirty="0" smtClean="0">
                        <a:solidFill>
                          <a:srgbClr val="000000"/>
                        </a:solidFill>
                        <a:effectLst/>
                        <a:latin typeface="Cambria Math" panose="02040503050406030204" pitchFamily="18" charset="0"/>
                        <a:ea typeface="Cambria Math" panose="02040503050406030204" pitchFamily="18" charset="0"/>
                      </a:rPr>
                      <m:t>(</m:t>
                    </m:r>
                    <m:r>
                      <m:rPr>
                        <m:sty m:val="p"/>
                      </m:rPr>
                      <a:rPr lang="el-GR" altLang="zh-TW" sz="3600" b="0" i="1" dirty="0" smtClean="0">
                        <a:solidFill>
                          <a:srgbClr val="000000"/>
                        </a:solidFill>
                        <a:effectLst/>
                        <a:latin typeface="Cambria Math" panose="02040503050406030204" pitchFamily="18" charset="0"/>
                        <a:ea typeface="Cambria Math" panose="02040503050406030204" pitchFamily="18" charset="0"/>
                      </a:rPr>
                      <m:t>η</m:t>
                    </m:r>
                    <m:r>
                      <a:rPr lang="en-US" altLang="zh-TW" sz="3600" b="0" i="1" dirty="0" smtClean="0">
                        <a:solidFill>
                          <a:srgbClr val="000000"/>
                        </a:solidFill>
                        <a:effectLst/>
                        <a:latin typeface="Cambria Math" panose="02040503050406030204" pitchFamily="18" charset="0"/>
                        <a:ea typeface="Cambria Math" panose="02040503050406030204" pitchFamily="18" charset="0"/>
                      </a:rPr>
                      <m:t>,</m:t>
                    </m:r>
                    <m:sSubSup>
                      <m:sSubSupPr>
                        <m:ctrlPr>
                          <a:rPr lang="en-US" altLang="zh-TW" sz="3600" b="0" i="1" dirty="0" smtClean="0">
                            <a:solidFill>
                              <a:srgbClr val="000000"/>
                            </a:solidFill>
                            <a:effectLst/>
                            <a:latin typeface="Cambria Math" panose="02040503050406030204" pitchFamily="18" charset="0"/>
                            <a:ea typeface="Cambria Math" panose="02040503050406030204" pitchFamily="18" charset="0"/>
                          </a:rPr>
                        </m:ctrlPr>
                      </m:sSubSupPr>
                      <m:e>
                        <m:r>
                          <a:rPr lang="zh-TW" altLang="en-US" sz="3600" b="0" i="1" dirty="0" smtClean="0">
                            <a:solidFill>
                              <a:srgbClr val="000000"/>
                            </a:solidFill>
                            <a:effectLst/>
                            <a:latin typeface="Cambria Math" panose="02040503050406030204" pitchFamily="18" charset="0"/>
                            <a:ea typeface="Cambria Math" panose="02040503050406030204" pitchFamily="18" charset="0"/>
                          </a:rPr>
                          <m:t>𝜎</m:t>
                        </m:r>
                      </m:e>
                      <m:sub>
                        <m:r>
                          <m:rPr>
                            <m:sty m:val="p"/>
                          </m:rPr>
                          <a:rPr lang="el-GR" altLang="zh-TW" sz="3600" b="0" i="1" dirty="0" smtClean="0">
                            <a:solidFill>
                              <a:srgbClr val="000000"/>
                            </a:solidFill>
                            <a:effectLst/>
                            <a:latin typeface="Cambria Math" panose="02040503050406030204" pitchFamily="18" charset="0"/>
                            <a:ea typeface="Cambria Math" panose="02040503050406030204" pitchFamily="18" charset="0"/>
                          </a:rPr>
                          <m:t>η</m:t>
                        </m:r>
                      </m:sub>
                      <m:sup>
                        <m:r>
                          <a:rPr lang="en-US" altLang="zh-TW" sz="3600" b="0" i="1" dirty="0" smtClean="0">
                            <a:solidFill>
                              <a:srgbClr val="000000"/>
                            </a:solidFill>
                            <a:effectLst/>
                            <a:latin typeface="Cambria Math" panose="02040503050406030204" pitchFamily="18" charset="0"/>
                            <a:ea typeface="Cambria Math" panose="02040503050406030204" pitchFamily="18" charset="0"/>
                          </a:rPr>
                          <m:t>2</m:t>
                        </m:r>
                      </m:sup>
                    </m:sSubSup>
                    <m:r>
                      <a:rPr lang="en-US" altLang="zh-TW" sz="3600" b="0" i="1" dirty="0" smtClean="0">
                        <a:solidFill>
                          <a:srgbClr val="000000"/>
                        </a:solidFill>
                        <a:effectLst/>
                        <a:latin typeface="Cambria Math" panose="02040503050406030204" pitchFamily="18" charset="0"/>
                        <a:ea typeface="Cambria Math" panose="02040503050406030204" pitchFamily="18" charset="0"/>
                      </a:rPr>
                      <m:t>)</m:t>
                    </m:r>
                  </m:oMath>
                </a14:m>
                <a:r>
                  <a:rPr lang="en-US" altLang="zh-TW" sz="3600">
                    <a:solidFill>
                      <a:srgbClr val="000000"/>
                    </a:solidFill>
                    <a:effectLst/>
                  </a:rPr>
                  <a:t> and </a:t>
                </a:r>
                <a14:m>
                  <m:oMath xmlns:m="http://schemas.openxmlformats.org/officeDocument/2006/math">
                    <m:r>
                      <m:rPr>
                        <m:sty m:val="p"/>
                      </m:rPr>
                      <a:rPr lang="el-GR" altLang="zh-TW" sz="3600" i="1" dirty="0" smtClean="0">
                        <a:solidFill>
                          <a:srgbClr val="000000"/>
                        </a:solidFill>
                        <a:latin typeface="Cambria Math" panose="02040503050406030204" pitchFamily="18" charset="0"/>
                        <a:ea typeface="標楷體" panose="03000509000000000000" pitchFamily="65" charset="-120"/>
                      </a:rPr>
                      <m:t>ε</m:t>
                    </m:r>
                    <m:r>
                      <a:rPr lang="el-GR" altLang="zh-TW" sz="3600" i="1" dirty="0">
                        <a:solidFill>
                          <a:srgbClr val="000000"/>
                        </a:solidFill>
                        <a:latin typeface="Cambria Math" panose="02040503050406030204" pitchFamily="18" charset="0"/>
                        <a:ea typeface="Cambria Math" panose="02040503050406030204" pitchFamily="18" charset="0"/>
                      </a:rPr>
                      <m:t>~</m:t>
                    </m:r>
                    <m:r>
                      <a:rPr lang="en-US" altLang="zh-TW" sz="3600" i="1" dirty="0">
                        <a:solidFill>
                          <a:srgbClr val="000000"/>
                        </a:solidFill>
                        <a:latin typeface="Cambria Math" panose="02040503050406030204" pitchFamily="18" charset="0"/>
                        <a:ea typeface="Cambria Math" panose="02040503050406030204" pitchFamily="18" charset="0"/>
                      </a:rPr>
                      <m:t>𝑁</m:t>
                    </m:r>
                    <m:r>
                      <a:rPr lang="en-US" altLang="zh-TW" sz="3600" i="1" dirty="0">
                        <a:solidFill>
                          <a:srgbClr val="000000"/>
                        </a:solidFill>
                        <a:latin typeface="Cambria Math" panose="02040503050406030204" pitchFamily="18" charset="0"/>
                        <a:ea typeface="Cambria Math" panose="02040503050406030204" pitchFamily="18" charset="0"/>
                      </a:rPr>
                      <m:t>(0,</m:t>
                    </m:r>
                    <m:sSubSup>
                      <m:sSubSupPr>
                        <m:ctrlPr>
                          <a:rPr lang="en-US" altLang="zh-TW" sz="3600" i="1" dirty="0">
                            <a:solidFill>
                              <a:srgbClr val="000000"/>
                            </a:solidFill>
                            <a:latin typeface="Cambria Math" panose="02040503050406030204" pitchFamily="18" charset="0"/>
                            <a:ea typeface="Cambria Math" panose="02040503050406030204" pitchFamily="18" charset="0"/>
                          </a:rPr>
                        </m:ctrlPr>
                      </m:sSubSupPr>
                      <m:e>
                        <m:r>
                          <a:rPr lang="zh-TW" altLang="en-US" sz="3600" i="1" dirty="0">
                            <a:solidFill>
                              <a:srgbClr val="000000"/>
                            </a:solidFill>
                            <a:latin typeface="Cambria Math" panose="02040503050406030204" pitchFamily="18" charset="0"/>
                            <a:ea typeface="Cambria Math" panose="02040503050406030204" pitchFamily="18" charset="0"/>
                          </a:rPr>
                          <m:t>𝜎</m:t>
                        </m:r>
                      </m:e>
                      <m:sub>
                        <m:r>
                          <m:rPr>
                            <m:sty m:val="p"/>
                          </m:rPr>
                          <a:rPr lang="el-GR" altLang="zh-TW" sz="3600" i="1" dirty="0" smtClean="0">
                            <a:solidFill>
                              <a:srgbClr val="000000"/>
                            </a:solidFill>
                            <a:latin typeface="Cambria Math" panose="02040503050406030204" pitchFamily="18" charset="0"/>
                            <a:ea typeface="Cambria Math" panose="02040503050406030204" pitchFamily="18" charset="0"/>
                          </a:rPr>
                          <m:t>ε</m:t>
                        </m:r>
                      </m:sub>
                      <m:sup>
                        <m:r>
                          <a:rPr lang="en-US" altLang="zh-TW" sz="3600" i="1" dirty="0">
                            <a:solidFill>
                              <a:srgbClr val="000000"/>
                            </a:solidFill>
                            <a:latin typeface="Cambria Math" panose="02040503050406030204" pitchFamily="18" charset="0"/>
                            <a:ea typeface="Cambria Math" panose="02040503050406030204" pitchFamily="18" charset="0"/>
                          </a:rPr>
                          <m:t>2</m:t>
                        </m:r>
                      </m:sup>
                    </m:sSubSup>
                    <m:r>
                      <a:rPr lang="en-US" altLang="zh-TW" sz="3600" i="1" dirty="0">
                        <a:solidFill>
                          <a:srgbClr val="000000"/>
                        </a:solidFill>
                        <a:latin typeface="Cambria Math" panose="02040503050406030204" pitchFamily="18" charset="0"/>
                        <a:ea typeface="Cambria Math" panose="02040503050406030204" pitchFamily="18" charset="0"/>
                      </a:rPr>
                      <m:t>)</m:t>
                    </m:r>
                  </m:oMath>
                </a14:m>
                <a:r>
                  <a:rPr lang="en-US" altLang="zh-TW" sz="3600">
                    <a:solidFill>
                      <a:srgbClr val="000000"/>
                    </a:solidFill>
                    <a:effectLst/>
                  </a:rPr>
                  <a:t>  </a:t>
                </a:r>
                <a:endParaRPr lang="en" altLang="zh-TW" sz="3600">
                  <a:solidFill>
                    <a:srgbClr val="000000"/>
                  </a:solidFill>
                  <a:effectLst/>
                </a:endParaRPr>
              </a:p>
            </p:txBody>
          </p:sp>
        </mc:Choice>
        <mc:Fallback>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2337512" y="1314779"/>
                <a:ext cx="13612976" cy="706860"/>
              </a:xfrm>
              <a:prstGeom prst="rect">
                <a:avLst/>
              </a:prstGeom>
              <a:blipFill>
                <a:blip r:embed="rId4"/>
                <a:stretch>
                  <a:fillRect l="-1210" t="-12281" b="-2280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graphicFrame>
            <p:nvGraphicFramePr>
              <p:cNvPr id="3" name="表格 2">
                <a:extLst>
                  <a:ext uri="{FF2B5EF4-FFF2-40B4-BE49-F238E27FC236}">
                    <a16:creationId xmlns:a16="http://schemas.microsoft.com/office/drawing/2014/main" id="{37E10DB8-4260-0459-3ABD-247336616479}"/>
                  </a:ext>
                </a:extLst>
              </p:cNvPr>
              <p:cNvGraphicFramePr>
                <a:graphicFrameLocks noGrp="1"/>
              </p:cNvGraphicFramePr>
              <p:nvPr>
                <p:extLst>
                  <p:ext uri="{D42A27DB-BD31-4B8C-83A1-F6EECF244321}">
                    <p14:modId xmlns:p14="http://schemas.microsoft.com/office/powerpoint/2010/main" val="2118718928"/>
                  </p:ext>
                </p:extLst>
              </p:nvPr>
            </p:nvGraphicFramePr>
            <p:xfrm>
              <a:off x="420624" y="2172517"/>
              <a:ext cx="16751807" cy="2681796"/>
            </p:xfrm>
            <a:graphic>
              <a:graphicData uri="http://schemas.openxmlformats.org/drawingml/2006/table">
                <a:tbl>
                  <a:tblPr firstRow="1" bandRow="1">
                    <a:tableStyleId>{5C22544A-7EE6-4342-B048-85BDC9FD1C3A}</a:tableStyleId>
                  </a:tblPr>
                  <a:tblGrid>
                    <a:gridCol w="2409181">
                      <a:extLst>
                        <a:ext uri="{9D8B030D-6E8A-4147-A177-3AD203B41FA5}">
                          <a16:colId xmlns:a16="http://schemas.microsoft.com/office/drawing/2014/main" val="3837273161"/>
                        </a:ext>
                      </a:extLst>
                    </a:gridCol>
                    <a:gridCol w="3052076">
                      <a:extLst>
                        <a:ext uri="{9D8B030D-6E8A-4147-A177-3AD203B41FA5}">
                          <a16:colId xmlns:a16="http://schemas.microsoft.com/office/drawing/2014/main" val="2596329255"/>
                        </a:ext>
                      </a:extLst>
                    </a:gridCol>
                    <a:gridCol w="3180136">
                      <a:extLst>
                        <a:ext uri="{9D8B030D-6E8A-4147-A177-3AD203B41FA5}">
                          <a16:colId xmlns:a16="http://schemas.microsoft.com/office/drawing/2014/main" val="1259817469"/>
                        </a:ext>
                      </a:extLst>
                    </a:gridCol>
                    <a:gridCol w="3500284">
                      <a:extLst>
                        <a:ext uri="{9D8B030D-6E8A-4147-A177-3AD203B41FA5}">
                          <a16:colId xmlns:a16="http://schemas.microsoft.com/office/drawing/2014/main" val="3166997928"/>
                        </a:ext>
                      </a:extLst>
                    </a:gridCol>
                    <a:gridCol w="4610130">
                      <a:extLst>
                        <a:ext uri="{9D8B030D-6E8A-4147-A177-3AD203B41FA5}">
                          <a16:colId xmlns:a16="http://schemas.microsoft.com/office/drawing/2014/main" val="3864609307"/>
                        </a:ext>
                      </a:extLst>
                    </a:gridCol>
                  </a:tblGrid>
                  <a:tr h="607758">
                    <a:tc>
                      <a:txBody>
                        <a:bodyPr/>
                        <a:lstStyle/>
                        <a:p>
                          <a:pPr algn="ctr">
                            <a:lnSpc>
                              <a:spcPct val="150000"/>
                            </a:lnSpc>
                          </a:pPr>
                          <a:r>
                            <a:rPr lang="en-US" altLang="zh-TW" sz="3600"/>
                            <a:t>Estimator</a:t>
                          </a:r>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r>
                                      <m:rPr>
                                        <m:sty m:val="p"/>
                                      </m:rPr>
                                      <a:rPr lang="el-GR" altLang="zh-TW" sz="3600" b="0" i="1" dirty="0" smtClean="0">
                                        <a:solidFill>
                                          <a:schemeClr val="bg1"/>
                                        </a:solidFill>
                                        <a:effectLst/>
                                        <a:latin typeface="Cambria Math" panose="02040503050406030204" pitchFamily="18" charset="0"/>
                                        <a:ea typeface="Cambria Math" panose="02040503050406030204" pitchFamily="18" charset="0"/>
                                      </a:rPr>
                                      <m:t>η</m:t>
                                    </m:r>
                                  </m:e>
                                </m:acc>
                                <m:r>
                                  <a:rPr lang="en-US" altLang="zh-TW" sz="3600" b="1" i="1" smtClean="0">
                                    <a:solidFill>
                                      <a:schemeClr val="bg1"/>
                                    </a:solidFill>
                                    <a:latin typeface="Cambria Math" panose="02040503050406030204" pitchFamily="18" charset="0"/>
                                    <a:ea typeface="Cambria Math" panose="02040503050406030204" pitchFamily="18" charset="0"/>
                                  </a:rPr>
                                  <m:t>×</m:t>
                                </m:r>
                                <m:sSup>
                                  <m:sSupPr>
                                    <m:ctrlPr>
                                      <a:rPr lang="en-US" altLang="zh-TW" sz="3600" b="1" i="1" smtClean="0">
                                        <a:solidFill>
                                          <a:schemeClr val="bg1"/>
                                        </a:solidFill>
                                        <a:latin typeface="Cambria Math" panose="02040503050406030204" pitchFamily="18" charset="0"/>
                                        <a:ea typeface="Cambria Math" panose="02040503050406030204" pitchFamily="18" charset="0"/>
                                      </a:rPr>
                                    </m:ctrlPr>
                                  </m:sSupPr>
                                  <m:e>
                                    <m:r>
                                      <a:rPr lang="en-US" altLang="zh-TW" sz="3600" b="1" i="1" smtClean="0">
                                        <a:solidFill>
                                          <a:schemeClr val="bg1"/>
                                        </a:solidFill>
                                        <a:latin typeface="Cambria Math" panose="02040503050406030204" pitchFamily="18" charset="0"/>
                                        <a:ea typeface="Cambria Math" panose="02040503050406030204" pitchFamily="18" charset="0"/>
                                      </a:rPr>
                                      <m:t>𝟏𝟎</m:t>
                                    </m:r>
                                  </m:e>
                                  <m:sup>
                                    <m:r>
                                      <a:rPr lang="en-US" altLang="zh-TW" sz="3600" b="1" i="1" smtClean="0">
                                        <a:solidFill>
                                          <a:schemeClr val="bg1"/>
                                        </a:solidFill>
                                        <a:latin typeface="Cambria Math" panose="02040503050406030204" pitchFamily="18" charset="0"/>
                                        <a:ea typeface="Cambria Math" panose="02040503050406030204" pitchFamily="18" charset="0"/>
                                      </a:rPr>
                                      <m:t>−</m:t>
                                    </m:r>
                                    <m:r>
                                      <a:rPr lang="en-US" altLang="zh-TW" sz="3600" b="1" i="1" smtClean="0">
                                        <a:solidFill>
                                          <a:schemeClr val="bg1"/>
                                        </a:solidFill>
                                        <a:latin typeface="Cambria Math" panose="02040503050406030204" pitchFamily="18" charset="0"/>
                                        <a:ea typeface="Cambria Math" panose="02040503050406030204" pitchFamily="18" charset="0"/>
                                      </a:rPr>
                                      <m:t>𝟑</m:t>
                                    </m:r>
                                  </m:sup>
                                </m:sSup>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sSub>
                                      <m:sSubPr>
                                        <m:ctrlPr>
                                          <a:rPr lang="en-US" altLang="zh-TW" sz="3600" i="1" smtClean="0">
                                            <a:solidFill>
                                              <a:schemeClr val="bg1"/>
                                            </a:solidFill>
                                            <a:latin typeface="Cambria Math" panose="02040503050406030204" pitchFamily="18" charset="0"/>
                                          </a:rPr>
                                        </m:ctrlPr>
                                      </m:sSubPr>
                                      <m:e>
                                        <m:r>
                                          <a:rPr lang="zh-TW" altLang="en-US" sz="3600" i="1" smtClean="0">
                                            <a:solidFill>
                                              <a:schemeClr val="bg1"/>
                                            </a:solidFill>
                                            <a:latin typeface="Cambria Math" panose="02040503050406030204" pitchFamily="18" charset="0"/>
                                          </a:rPr>
                                          <m:t>𝝈</m:t>
                                        </m:r>
                                      </m:e>
                                      <m:sub>
                                        <m:r>
                                          <m:rPr>
                                            <m:sty m:val="p"/>
                                          </m:rPr>
                                          <a:rPr lang="el-GR" altLang="zh-TW" sz="3600" b="0" i="1" dirty="0" smtClean="0">
                                            <a:solidFill>
                                              <a:schemeClr val="bg1"/>
                                            </a:solidFill>
                                            <a:effectLst/>
                                            <a:latin typeface="Cambria Math" panose="02040503050406030204" pitchFamily="18" charset="0"/>
                                            <a:ea typeface="Cambria Math" panose="02040503050406030204" pitchFamily="18" charset="0"/>
                                          </a:rPr>
                                          <m:t>η</m:t>
                                        </m:r>
                                      </m:sub>
                                    </m:sSub>
                                  </m:e>
                                </m:acc>
                                <m:r>
                                  <a:rPr lang="en-US" altLang="zh-TW" sz="3600" b="1" i="1" smtClean="0">
                                    <a:solidFill>
                                      <a:schemeClr val="bg1"/>
                                    </a:solidFill>
                                    <a:latin typeface="Cambria Math" panose="02040503050406030204" pitchFamily="18" charset="0"/>
                                    <a:ea typeface="Cambria Math" panose="02040503050406030204" pitchFamily="18" charset="0"/>
                                  </a:rPr>
                                  <m:t>×</m:t>
                                </m:r>
                                <m:sSup>
                                  <m:sSupPr>
                                    <m:ctrlPr>
                                      <a:rPr lang="en-US" altLang="zh-TW" sz="3600" b="1" i="1" smtClean="0">
                                        <a:solidFill>
                                          <a:schemeClr val="bg1"/>
                                        </a:solidFill>
                                        <a:latin typeface="Cambria Math" panose="02040503050406030204" pitchFamily="18" charset="0"/>
                                        <a:ea typeface="Cambria Math" panose="02040503050406030204" pitchFamily="18" charset="0"/>
                                      </a:rPr>
                                    </m:ctrlPr>
                                  </m:sSupPr>
                                  <m:e>
                                    <m:r>
                                      <a:rPr lang="en-US" altLang="zh-TW" sz="3600" b="1" i="1" smtClean="0">
                                        <a:solidFill>
                                          <a:schemeClr val="bg1"/>
                                        </a:solidFill>
                                        <a:latin typeface="Cambria Math" panose="02040503050406030204" pitchFamily="18" charset="0"/>
                                        <a:ea typeface="Cambria Math" panose="02040503050406030204" pitchFamily="18" charset="0"/>
                                      </a:rPr>
                                      <m:t>𝟏𝟎</m:t>
                                    </m:r>
                                  </m:e>
                                  <m:sup>
                                    <m:r>
                                      <a:rPr lang="en-US" altLang="zh-TW" sz="3600" b="1" i="1" smtClean="0">
                                        <a:solidFill>
                                          <a:schemeClr val="bg1"/>
                                        </a:solidFill>
                                        <a:latin typeface="Cambria Math" panose="02040503050406030204" pitchFamily="18" charset="0"/>
                                        <a:ea typeface="Cambria Math" panose="02040503050406030204" pitchFamily="18" charset="0"/>
                                      </a:rPr>
                                      <m:t>−</m:t>
                                    </m:r>
                                    <m:r>
                                      <a:rPr lang="en-US" altLang="zh-TW" sz="3600" b="1" i="1" smtClean="0">
                                        <a:solidFill>
                                          <a:schemeClr val="bg1"/>
                                        </a:solidFill>
                                        <a:latin typeface="Cambria Math" panose="02040503050406030204" pitchFamily="18" charset="0"/>
                                        <a:ea typeface="Cambria Math" panose="02040503050406030204" pitchFamily="18" charset="0"/>
                                      </a:rPr>
                                      <m:t>𝟒</m:t>
                                    </m:r>
                                  </m:sup>
                                </m:sSup>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sSub>
                                      <m:sSubPr>
                                        <m:ctrlPr>
                                          <a:rPr lang="en-US" altLang="zh-TW" sz="3600" i="1" smtClean="0">
                                            <a:solidFill>
                                              <a:schemeClr val="bg1"/>
                                            </a:solidFill>
                                            <a:latin typeface="Cambria Math" panose="02040503050406030204" pitchFamily="18" charset="0"/>
                                          </a:rPr>
                                        </m:ctrlPr>
                                      </m:sSubPr>
                                      <m:e>
                                        <m:r>
                                          <a:rPr lang="zh-TW" altLang="en-US" sz="3600" i="1" smtClean="0">
                                            <a:solidFill>
                                              <a:schemeClr val="bg1"/>
                                            </a:solidFill>
                                            <a:latin typeface="Cambria Math" panose="02040503050406030204" pitchFamily="18" charset="0"/>
                                          </a:rPr>
                                          <m:t>𝝈</m:t>
                                        </m:r>
                                      </m:e>
                                      <m:sub>
                                        <m:r>
                                          <a:rPr lang="el-GR" altLang="zh-TW" sz="3600" b="0" i="1" dirty="0" smtClean="0">
                                            <a:solidFill>
                                              <a:schemeClr val="bg1"/>
                                            </a:solidFill>
                                            <a:effectLst/>
                                            <a:latin typeface="Cambria Math" panose="02040503050406030204" pitchFamily="18" charset="0"/>
                                            <a:ea typeface="Cambria Math" panose="02040503050406030204" pitchFamily="18" charset="0"/>
                                          </a:rPr>
                                          <m:t>𝜀</m:t>
                                        </m:r>
                                      </m:sub>
                                    </m:sSub>
                                  </m:e>
                                </m:acc>
                                <m:r>
                                  <a:rPr lang="en-US" altLang="zh-TW" sz="3600" b="1" i="1" smtClean="0">
                                    <a:solidFill>
                                      <a:schemeClr val="bg1"/>
                                    </a:solidFill>
                                    <a:latin typeface="Cambria Math" panose="02040503050406030204" pitchFamily="18" charset="0"/>
                                    <a:ea typeface="Cambria Math" panose="02040503050406030204" pitchFamily="18" charset="0"/>
                                  </a:rPr>
                                  <m:t>×</m:t>
                                </m:r>
                                <m:sSup>
                                  <m:sSupPr>
                                    <m:ctrlPr>
                                      <a:rPr lang="en-US" altLang="zh-TW" sz="3600" b="1" i="1" smtClean="0">
                                        <a:solidFill>
                                          <a:schemeClr val="bg1"/>
                                        </a:solidFill>
                                        <a:latin typeface="Cambria Math" panose="02040503050406030204" pitchFamily="18" charset="0"/>
                                        <a:ea typeface="Cambria Math" panose="02040503050406030204" pitchFamily="18" charset="0"/>
                                      </a:rPr>
                                    </m:ctrlPr>
                                  </m:sSupPr>
                                  <m:e>
                                    <m:r>
                                      <a:rPr lang="en-US" altLang="zh-TW" sz="3600" b="1" i="1" smtClean="0">
                                        <a:solidFill>
                                          <a:schemeClr val="bg1"/>
                                        </a:solidFill>
                                        <a:latin typeface="Cambria Math" panose="02040503050406030204" pitchFamily="18" charset="0"/>
                                        <a:ea typeface="Cambria Math" panose="02040503050406030204" pitchFamily="18" charset="0"/>
                                      </a:rPr>
                                      <m:t>𝟏𝟎</m:t>
                                    </m:r>
                                  </m:e>
                                  <m:sup>
                                    <m:r>
                                      <a:rPr lang="en-US" altLang="zh-TW" sz="3600" b="1" i="1" smtClean="0">
                                        <a:solidFill>
                                          <a:schemeClr val="bg1"/>
                                        </a:solidFill>
                                        <a:latin typeface="Cambria Math" panose="02040503050406030204" pitchFamily="18" charset="0"/>
                                        <a:ea typeface="Cambria Math" panose="02040503050406030204" pitchFamily="18" charset="0"/>
                                      </a:rPr>
                                      <m:t>−</m:t>
                                    </m:r>
                                    <m:r>
                                      <a:rPr lang="en-US" altLang="zh-TW" sz="3600" b="1" i="1" smtClean="0">
                                        <a:solidFill>
                                          <a:schemeClr val="bg1"/>
                                        </a:solidFill>
                                        <a:latin typeface="Cambria Math" panose="02040503050406030204" pitchFamily="18" charset="0"/>
                                        <a:ea typeface="Cambria Math" panose="02040503050406030204" pitchFamily="18" charset="0"/>
                                      </a:rPr>
                                      <m:t>𝟐</m:t>
                                    </m:r>
                                  </m:sup>
                                </m:sSup>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r>
                                      <a:rPr lang="en-US" altLang="zh-TW" sz="3600" b="1" i="1" smtClean="0">
                                        <a:solidFill>
                                          <a:schemeClr val="bg1"/>
                                        </a:solidFill>
                                        <a:latin typeface="Cambria Math" panose="02040503050406030204" pitchFamily="18" charset="0"/>
                                      </a:rPr>
                                      <m:t>𝑴𝑻𝑻𝑭</m:t>
                                    </m:r>
                                  </m:e>
                                </m:acc>
                              </m:oMath>
                            </m:oMathPara>
                          </a14:m>
                          <a:endParaRPr lang="zh-TW" altLang="en-US" sz="3600"/>
                        </a:p>
                      </a:txBody>
                      <a:tcPr/>
                    </a:tc>
                    <a:extLst>
                      <a:ext uri="{0D108BD9-81ED-4DB2-BD59-A6C34878D82A}">
                        <a16:rowId xmlns:a16="http://schemas.microsoft.com/office/drawing/2014/main" val="383531440"/>
                      </a:ext>
                    </a:extLst>
                  </a:tr>
                  <a:tr h="600820">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2.046</a:t>
                          </a:r>
                          <a:endParaRPr lang="zh-TW" altLang="en-US" sz="3600"/>
                        </a:p>
                      </a:txBody>
                      <a:tcPr/>
                    </a:tc>
                    <a:tc>
                      <a:txBody>
                        <a:bodyPr/>
                        <a:lstStyle/>
                        <a:p>
                          <a:pPr algn="ctr">
                            <a:lnSpc>
                              <a:spcPct val="150000"/>
                            </a:lnSpc>
                          </a:pPr>
                          <a:r>
                            <a:rPr lang="en-US" altLang="zh-TW" sz="3600"/>
                            <a:t>4.464</a:t>
                          </a:r>
                          <a:endParaRPr lang="zh-TW" altLang="en-US" sz="3600"/>
                        </a:p>
                      </a:txBody>
                      <a:tcPr/>
                    </a:tc>
                    <a:tc>
                      <a:txBody>
                        <a:bodyPr/>
                        <a:lstStyle/>
                        <a:p>
                          <a:pPr algn="ctr">
                            <a:lnSpc>
                              <a:spcPct val="150000"/>
                            </a:lnSpc>
                          </a:pPr>
                          <a:r>
                            <a:rPr lang="en-US" altLang="zh-TW" sz="3600"/>
                            <a:t>20.599</a:t>
                          </a:r>
                          <a:endParaRPr lang="zh-TW" altLang="en-US" sz="3600"/>
                        </a:p>
                      </a:txBody>
                      <a:tcPr/>
                    </a:tc>
                    <a:tc>
                      <a:txBody>
                        <a:bodyPr/>
                        <a:lstStyle/>
                        <a:p>
                          <a:pPr algn="ctr">
                            <a:lnSpc>
                              <a:spcPct val="150000"/>
                            </a:lnSpc>
                          </a:pPr>
                          <a:r>
                            <a:rPr lang="en-US" altLang="zh-TW" sz="3600"/>
                            <a:t>4886.147</a:t>
                          </a:r>
                          <a:endParaRPr lang="zh-TW" altLang="en-US" sz="3600"/>
                        </a:p>
                      </a:txBody>
                      <a:tcPr/>
                    </a:tc>
                    <a:extLst>
                      <a:ext uri="{0D108BD9-81ED-4DB2-BD59-A6C34878D82A}">
                        <a16:rowId xmlns:a16="http://schemas.microsoft.com/office/drawing/2014/main" val="1159809619"/>
                      </a:ext>
                    </a:extLst>
                  </a:tr>
                  <a:tr h="600820">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[1.868,2.287]</a:t>
                          </a:r>
                          <a:endParaRPr lang="zh-TW" altLang="en-US" sz="3600"/>
                        </a:p>
                      </a:txBody>
                      <a:tcPr/>
                    </a:tc>
                    <a:tc>
                      <a:txBody>
                        <a:bodyPr/>
                        <a:lstStyle/>
                        <a:p>
                          <a:pPr algn="ctr">
                            <a:lnSpc>
                              <a:spcPct val="150000"/>
                            </a:lnSpc>
                          </a:pPr>
                          <a:r>
                            <a:rPr lang="en-US" altLang="zh-TW" sz="3600"/>
                            <a:t>[2.588,5.504]</a:t>
                          </a:r>
                          <a:endParaRPr lang="zh-TW" altLang="en-US" sz="3600"/>
                        </a:p>
                      </a:txBody>
                      <a:tcPr/>
                    </a:tc>
                    <a:tc>
                      <a:txBody>
                        <a:bodyPr/>
                        <a:lstStyle/>
                        <a:p>
                          <a:pPr algn="ctr">
                            <a:lnSpc>
                              <a:spcPct val="150000"/>
                            </a:lnSpc>
                          </a:pPr>
                          <a:r>
                            <a:rPr lang="en-US" altLang="zh-TW" sz="3600"/>
                            <a:t>[17.552,23.540]</a:t>
                          </a:r>
                          <a:endParaRPr lang="zh-TW" altLang="en-US" sz="3600"/>
                        </a:p>
                      </a:txBody>
                      <a:tcPr/>
                    </a:tc>
                    <a:tc>
                      <a:txBody>
                        <a:bodyPr/>
                        <a:lstStyle/>
                        <a:p>
                          <a:pPr algn="ctr">
                            <a:lnSpc>
                              <a:spcPct val="150000"/>
                            </a:lnSpc>
                          </a:pPr>
                          <a:r>
                            <a:rPr lang="en-US" altLang="zh-TW" sz="3600"/>
                            <a:t>[4373.086,5439.473]</a:t>
                          </a:r>
                          <a:endParaRPr lang="zh-TW" altLang="en-US" sz="3600"/>
                        </a:p>
                      </a:txBody>
                      <a:tcPr/>
                    </a:tc>
                    <a:extLst>
                      <a:ext uri="{0D108BD9-81ED-4DB2-BD59-A6C34878D82A}">
                        <a16:rowId xmlns:a16="http://schemas.microsoft.com/office/drawing/2014/main" val="4069418435"/>
                      </a:ext>
                    </a:extLst>
                  </a:tr>
                </a:tbl>
              </a:graphicData>
            </a:graphic>
          </p:graphicFrame>
        </mc:Choice>
        <mc:Fallback>
          <p:graphicFrame>
            <p:nvGraphicFramePr>
              <p:cNvPr id="3" name="表格 2">
                <a:extLst>
                  <a:ext uri="{FF2B5EF4-FFF2-40B4-BE49-F238E27FC236}">
                    <a16:creationId xmlns:a16="http://schemas.microsoft.com/office/drawing/2014/main" id="{37E10DB8-4260-0459-3ABD-247336616479}"/>
                  </a:ext>
                </a:extLst>
              </p:cNvPr>
              <p:cNvGraphicFramePr>
                <a:graphicFrameLocks noGrp="1"/>
              </p:cNvGraphicFramePr>
              <p:nvPr>
                <p:extLst>
                  <p:ext uri="{D42A27DB-BD31-4B8C-83A1-F6EECF244321}">
                    <p14:modId xmlns:p14="http://schemas.microsoft.com/office/powerpoint/2010/main" val="2118718928"/>
                  </p:ext>
                </p:extLst>
              </p:nvPr>
            </p:nvGraphicFramePr>
            <p:xfrm>
              <a:off x="420624" y="2172517"/>
              <a:ext cx="16751807" cy="2681796"/>
            </p:xfrm>
            <a:graphic>
              <a:graphicData uri="http://schemas.openxmlformats.org/drawingml/2006/table">
                <a:tbl>
                  <a:tblPr firstRow="1" bandRow="1">
                    <a:tableStyleId>{5C22544A-7EE6-4342-B048-85BDC9FD1C3A}</a:tableStyleId>
                  </a:tblPr>
                  <a:tblGrid>
                    <a:gridCol w="2409181">
                      <a:extLst>
                        <a:ext uri="{9D8B030D-6E8A-4147-A177-3AD203B41FA5}">
                          <a16:colId xmlns:a16="http://schemas.microsoft.com/office/drawing/2014/main" val="3837273161"/>
                        </a:ext>
                      </a:extLst>
                    </a:gridCol>
                    <a:gridCol w="3052076">
                      <a:extLst>
                        <a:ext uri="{9D8B030D-6E8A-4147-A177-3AD203B41FA5}">
                          <a16:colId xmlns:a16="http://schemas.microsoft.com/office/drawing/2014/main" val="2596329255"/>
                        </a:ext>
                      </a:extLst>
                    </a:gridCol>
                    <a:gridCol w="3180136">
                      <a:extLst>
                        <a:ext uri="{9D8B030D-6E8A-4147-A177-3AD203B41FA5}">
                          <a16:colId xmlns:a16="http://schemas.microsoft.com/office/drawing/2014/main" val="1259817469"/>
                        </a:ext>
                      </a:extLst>
                    </a:gridCol>
                    <a:gridCol w="3500284">
                      <a:extLst>
                        <a:ext uri="{9D8B030D-6E8A-4147-A177-3AD203B41FA5}">
                          <a16:colId xmlns:a16="http://schemas.microsoft.com/office/drawing/2014/main" val="3166997928"/>
                        </a:ext>
                      </a:extLst>
                    </a:gridCol>
                    <a:gridCol w="4610130">
                      <a:extLst>
                        <a:ext uri="{9D8B030D-6E8A-4147-A177-3AD203B41FA5}">
                          <a16:colId xmlns:a16="http://schemas.microsoft.com/office/drawing/2014/main" val="3864609307"/>
                        </a:ext>
                      </a:extLst>
                    </a:gridCol>
                  </a:tblGrid>
                  <a:tr h="1023176">
                    <a:tc>
                      <a:txBody>
                        <a:bodyPr/>
                        <a:lstStyle/>
                        <a:p>
                          <a:pPr algn="ctr">
                            <a:lnSpc>
                              <a:spcPct val="150000"/>
                            </a:lnSpc>
                          </a:pPr>
                          <a:r>
                            <a:rPr lang="en-US" altLang="zh-TW" sz="3600"/>
                            <a:t>Estimator</a:t>
                          </a:r>
                          <a:endParaRPr lang="zh-TW" altLang="en-US" sz="3600"/>
                        </a:p>
                      </a:txBody>
                      <a:tcPr/>
                    </a:tc>
                    <a:tc>
                      <a:txBody>
                        <a:bodyPr/>
                        <a:lstStyle/>
                        <a:p>
                          <a:endParaRPr lang="zh-TW"/>
                        </a:p>
                      </a:txBody>
                      <a:tcPr>
                        <a:blipFill>
                          <a:blip r:embed="rId5"/>
                          <a:stretch>
                            <a:fillRect l="-79583" t="-1235" r="-371667" b="-183951"/>
                          </a:stretch>
                        </a:blipFill>
                      </a:tcPr>
                    </a:tc>
                    <a:tc>
                      <a:txBody>
                        <a:bodyPr/>
                        <a:lstStyle/>
                        <a:p>
                          <a:endParaRPr lang="zh-TW"/>
                        </a:p>
                      </a:txBody>
                      <a:tcPr>
                        <a:blipFill>
                          <a:blip r:embed="rId5"/>
                          <a:stretch>
                            <a:fillRect l="-171713" t="-1235" r="-255378" b="-183951"/>
                          </a:stretch>
                        </a:blipFill>
                      </a:tcPr>
                    </a:tc>
                    <a:tc>
                      <a:txBody>
                        <a:bodyPr/>
                        <a:lstStyle/>
                        <a:p>
                          <a:endParaRPr lang="zh-TW"/>
                        </a:p>
                      </a:txBody>
                      <a:tcPr>
                        <a:blipFill>
                          <a:blip r:embed="rId5"/>
                          <a:stretch>
                            <a:fillRect l="-247101" t="-1235" r="-132246" b="-183951"/>
                          </a:stretch>
                        </a:blipFill>
                      </a:tcPr>
                    </a:tc>
                    <a:tc>
                      <a:txBody>
                        <a:bodyPr/>
                        <a:lstStyle/>
                        <a:p>
                          <a:endParaRPr lang="zh-TW"/>
                        </a:p>
                      </a:txBody>
                      <a:tcPr>
                        <a:blipFill>
                          <a:blip r:embed="rId5"/>
                          <a:stretch>
                            <a:fillRect l="-263912" t="-1235" r="-551" b="-183951"/>
                          </a:stretch>
                        </a:blipFill>
                      </a:tcPr>
                    </a:tc>
                    <a:extLst>
                      <a:ext uri="{0D108BD9-81ED-4DB2-BD59-A6C34878D82A}">
                        <a16:rowId xmlns:a16="http://schemas.microsoft.com/office/drawing/2014/main" val="383531440"/>
                      </a:ext>
                    </a:extLst>
                  </a:tr>
                  <a:tr h="829310">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2.046</a:t>
                          </a:r>
                          <a:endParaRPr lang="zh-TW" altLang="en-US" sz="3600"/>
                        </a:p>
                      </a:txBody>
                      <a:tcPr/>
                    </a:tc>
                    <a:tc>
                      <a:txBody>
                        <a:bodyPr/>
                        <a:lstStyle/>
                        <a:p>
                          <a:pPr algn="ctr">
                            <a:lnSpc>
                              <a:spcPct val="150000"/>
                            </a:lnSpc>
                          </a:pPr>
                          <a:r>
                            <a:rPr lang="en-US" altLang="zh-TW" sz="3600"/>
                            <a:t>4.464</a:t>
                          </a:r>
                          <a:endParaRPr lang="zh-TW" altLang="en-US" sz="3600"/>
                        </a:p>
                      </a:txBody>
                      <a:tcPr/>
                    </a:tc>
                    <a:tc>
                      <a:txBody>
                        <a:bodyPr/>
                        <a:lstStyle/>
                        <a:p>
                          <a:pPr algn="ctr">
                            <a:lnSpc>
                              <a:spcPct val="150000"/>
                            </a:lnSpc>
                          </a:pPr>
                          <a:r>
                            <a:rPr lang="en-US" altLang="zh-TW" sz="3600"/>
                            <a:t>20.599</a:t>
                          </a:r>
                          <a:endParaRPr lang="zh-TW" altLang="en-US" sz="3600"/>
                        </a:p>
                      </a:txBody>
                      <a:tcPr/>
                    </a:tc>
                    <a:tc>
                      <a:txBody>
                        <a:bodyPr/>
                        <a:lstStyle/>
                        <a:p>
                          <a:pPr algn="ctr">
                            <a:lnSpc>
                              <a:spcPct val="150000"/>
                            </a:lnSpc>
                          </a:pPr>
                          <a:r>
                            <a:rPr lang="en-US" altLang="zh-TW" sz="3600"/>
                            <a:t>4886.147</a:t>
                          </a:r>
                          <a:endParaRPr lang="zh-TW" altLang="en-US" sz="3600"/>
                        </a:p>
                      </a:txBody>
                      <a:tcPr/>
                    </a:tc>
                    <a:extLst>
                      <a:ext uri="{0D108BD9-81ED-4DB2-BD59-A6C34878D82A}">
                        <a16:rowId xmlns:a16="http://schemas.microsoft.com/office/drawing/2014/main" val="1159809619"/>
                      </a:ext>
                    </a:extLst>
                  </a:tr>
                  <a:tr h="829310">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[1.868,2.287]</a:t>
                          </a:r>
                          <a:endParaRPr lang="zh-TW" altLang="en-US" sz="3600"/>
                        </a:p>
                      </a:txBody>
                      <a:tcPr/>
                    </a:tc>
                    <a:tc>
                      <a:txBody>
                        <a:bodyPr/>
                        <a:lstStyle/>
                        <a:p>
                          <a:pPr algn="ctr">
                            <a:lnSpc>
                              <a:spcPct val="150000"/>
                            </a:lnSpc>
                          </a:pPr>
                          <a:r>
                            <a:rPr lang="en-US" altLang="zh-TW" sz="3600"/>
                            <a:t>[2.588,5.504]</a:t>
                          </a:r>
                          <a:endParaRPr lang="zh-TW" altLang="en-US" sz="3600"/>
                        </a:p>
                      </a:txBody>
                      <a:tcPr/>
                    </a:tc>
                    <a:tc>
                      <a:txBody>
                        <a:bodyPr/>
                        <a:lstStyle/>
                        <a:p>
                          <a:pPr algn="ctr">
                            <a:lnSpc>
                              <a:spcPct val="150000"/>
                            </a:lnSpc>
                          </a:pPr>
                          <a:r>
                            <a:rPr lang="en-US" altLang="zh-TW" sz="3600"/>
                            <a:t>[17.552,23.540]</a:t>
                          </a:r>
                          <a:endParaRPr lang="zh-TW" altLang="en-US" sz="3600"/>
                        </a:p>
                      </a:txBody>
                      <a:tcPr/>
                    </a:tc>
                    <a:tc>
                      <a:txBody>
                        <a:bodyPr/>
                        <a:lstStyle/>
                        <a:p>
                          <a:pPr algn="ctr">
                            <a:lnSpc>
                              <a:spcPct val="150000"/>
                            </a:lnSpc>
                          </a:pPr>
                          <a:r>
                            <a:rPr lang="en-US" altLang="zh-TW" sz="3600"/>
                            <a:t>[4373.086,5439.473]</a:t>
                          </a:r>
                          <a:endParaRPr lang="zh-TW" altLang="en-US" sz="3600"/>
                        </a:p>
                      </a:txBody>
                      <a:tcPr/>
                    </a:tc>
                    <a:extLst>
                      <a:ext uri="{0D108BD9-81ED-4DB2-BD59-A6C34878D82A}">
                        <a16:rowId xmlns:a16="http://schemas.microsoft.com/office/drawing/2014/main" val="4069418435"/>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5" name="表格 4">
                <a:extLst>
                  <a:ext uri="{FF2B5EF4-FFF2-40B4-BE49-F238E27FC236}">
                    <a16:creationId xmlns:a16="http://schemas.microsoft.com/office/drawing/2014/main" id="{6AA713AF-130C-81BF-124F-8AFFFD5DD27C}"/>
                  </a:ext>
                </a:extLst>
              </p:cNvPr>
              <p:cNvGraphicFramePr>
                <a:graphicFrameLocks noGrp="1"/>
              </p:cNvGraphicFramePr>
              <p:nvPr>
                <p:extLst>
                  <p:ext uri="{D42A27DB-BD31-4B8C-83A1-F6EECF244321}">
                    <p14:modId xmlns:p14="http://schemas.microsoft.com/office/powerpoint/2010/main" val="3029671301"/>
                  </p:ext>
                </p:extLst>
              </p:nvPr>
            </p:nvGraphicFramePr>
            <p:xfrm>
              <a:off x="420624" y="4877096"/>
              <a:ext cx="16751807" cy="2576957"/>
            </p:xfrm>
            <a:graphic>
              <a:graphicData uri="http://schemas.openxmlformats.org/drawingml/2006/table">
                <a:tbl>
                  <a:tblPr firstRow="1" bandRow="1">
                    <a:tableStyleId>{5C22544A-7EE6-4342-B048-85BDC9FD1C3A}</a:tableStyleId>
                  </a:tblPr>
                  <a:tblGrid>
                    <a:gridCol w="2409181">
                      <a:extLst>
                        <a:ext uri="{9D8B030D-6E8A-4147-A177-3AD203B41FA5}">
                          <a16:colId xmlns:a16="http://schemas.microsoft.com/office/drawing/2014/main" val="3837273161"/>
                        </a:ext>
                      </a:extLst>
                    </a:gridCol>
                    <a:gridCol w="3052076">
                      <a:extLst>
                        <a:ext uri="{9D8B030D-6E8A-4147-A177-3AD203B41FA5}">
                          <a16:colId xmlns:a16="http://schemas.microsoft.com/office/drawing/2014/main" val="2596329255"/>
                        </a:ext>
                      </a:extLst>
                    </a:gridCol>
                    <a:gridCol w="3180136">
                      <a:extLst>
                        <a:ext uri="{9D8B030D-6E8A-4147-A177-3AD203B41FA5}">
                          <a16:colId xmlns:a16="http://schemas.microsoft.com/office/drawing/2014/main" val="1259817469"/>
                        </a:ext>
                      </a:extLst>
                    </a:gridCol>
                    <a:gridCol w="3500284">
                      <a:extLst>
                        <a:ext uri="{9D8B030D-6E8A-4147-A177-3AD203B41FA5}">
                          <a16:colId xmlns:a16="http://schemas.microsoft.com/office/drawing/2014/main" val="3166997928"/>
                        </a:ext>
                      </a:extLst>
                    </a:gridCol>
                    <a:gridCol w="4610130">
                      <a:extLst>
                        <a:ext uri="{9D8B030D-6E8A-4147-A177-3AD203B41FA5}">
                          <a16:colId xmlns:a16="http://schemas.microsoft.com/office/drawing/2014/main" val="3864609307"/>
                        </a:ext>
                      </a:extLst>
                    </a:gridCol>
                  </a:tblGrid>
                  <a:tr h="607758">
                    <a:tc>
                      <a:txBody>
                        <a:bodyPr/>
                        <a:lstStyle/>
                        <a:p>
                          <a:pPr algn="ctr">
                            <a:lnSpc>
                              <a:spcPct val="150000"/>
                            </a:lnSpc>
                          </a:pPr>
                          <a:r>
                            <a:rPr lang="en-US" altLang="zh-TW" sz="3600"/>
                            <a:t>Estimator</a:t>
                          </a:r>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𝟎𝟏</m:t>
                                        </m:r>
                                      </m:sub>
                                    </m:sSub>
                                  </m:e>
                                </m:acc>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𝟎𝟓</m:t>
                                        </m:r>
                                      </m:sub>
                                    </m:sSub>
                                  </m:e>
                                </m:acc>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b>
                                    </m:sSub>
                                  </m:e>
                                </m:acc>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𝟓</m:t>
                                        </m:r>
                                      </m:sub>
                                    </m:sSub>
                                  </m:e>
                                </m:acc>
                              </m:oMath>
                            </m:oMathPara>
                          </a14:m>
                          <a:endParaRPr lang="zh-TW" altLang="en-US" sz="3600"/>
                        </a:p>
                      </a:txBody>
                      <a:tcPr/>
                    </a:tc>
                    <a:extLst>
                      <a:ext uri="{0D108BD9-81ED-4DB2-BD59-A6C34878D82A}">
                        <a16:rowId xmlns:a16="http://schemas.microsoft.com/office/drawing/2014/main" val="383531440"/>
                      </a:ext>
                    </a:extLst>
                  </a:tr>
                  <a:tr h="600820">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3230.2711</a:t>
                          </a:r>
                          <a:endParaRPr lang="zh-TW" altLang="en-US" sz="3600"/>
                        </a:p>
                      </a:txBody>
                      <a:tcPr/>
                    </a:tc>
                    <a:tc>
                      <a:txBody>
                        <a:bodyPr/>
                        <a:lstStyle/>
                        <a:p>
                          <a:pPr algn="ctr">
                            <a:lnSpc>
                              <a:spcPct val="150000"/>
                            </a:lnSpc>
                          </a:pPr>
                          <a:r>
                            <a:rPr lang="en-US" altLang="zh-TW" sz="3600"/>
                            <a:t>3588.1197</a:t>
                          </a:r>
                          <a:endParaRPr lang="zh-TW" altLang="en-US" sz="3600"/>
                        </a:p>
                      </a:txBody>
                      <a:tcPr/>
                    </a:tc>
                    <a:tc>
                      <a:txBody>
                        <a:bodyPr/>
                        <a:lstStyle/>
                        <a:p>
                          <a:pPr algn="ctr">
                            <a:lnSpc>
                              <a:spcPct val="150000"/>
                            </a:lnSpc>
                          </a:pPr>
                          <a:r>
                            <a:rPr lang="en-US" altLang="zh-TW" sz="3600"/>
                            <a:t>3812.5578</a:t>
                          </a:r>
                          <a:endParaRPr lang="zh-TW" altLang="en-US" sz="3600"/>
                        </a:p>
                      </a:txBody>
                      <a:tcPr/>
                    </a:tc>
                    <a:tc>
                      <a:txBody>
                        <a:bodyPr/>
                        <a:lstStyle/>
                        <a:p>
                          <a:pPr algn="ctr">
                            <a:lnSpc>
                              <a:spcPct val="150000"/>
                            </a:lnSpc>
                          </a:pPr>
                          <a:r>
                            <a:rPr lang="en-US" altLang="zh-TW" sz="3600"/>
                            <a:t>4886.1467</a:t>
                          </a:r>
                          <a:endParaRPr lang="zh-TW" altLang="en-US" sz="3600"/>
                        </a:p>
                      </a:txBody>
                      <a:tcPr/>
                    </a:tc>
                    <a:extLst>
                      <a:ext uri="{0D108BD9-81ED-4DB2-BD59-A6C34878D82A}">
                        <a16:rowId xmlns:a16="http://schemas.microsoft.com/office/drawing/2014/main" val="1159809619"/>
                      </a:ext>
                    </a:extLst>
                  </a:tr>
                  <a:tr h="600820">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[3479,3893]</a:t>
                          </a:r>
                          <a:endParaRPr lang="zh-TW" altLang="en-US" sz="3600"/>
                        </a:p>
                      </a:txBody>
                      <a:tcPr/>
                    </a:tc>
                    <a:tc>
                      <a:txBody>
                        <a:bodyPr/>
                        <a:lstStyle/>
                        <a:p>
                          <a:pPr algn="ctr">
                            <a:lnSpc>
                              <a:spcPct val="150000"/>
                            </a:lnSpc>
                          </a:pPr>
                          <a:r>
                            <a:rPr lang="en-US" altLang="zh-TW" sz="3600"/>
                            <a:t>[3851,4231]</a:t>
                          </a:r>
                          <a:endParaRPr lang="zh-TW" altLang="en-US" sz="3600"/>
                        </a:p>
                      </a:txBody>
                      <a:tcPr/>
                    </a:tc>
                    <a:tc>
                      <a:txBody>
                        <a:bodyPr/>
                        <a:lstStyle/>
                        <a:p>
                          <a:pPr algn="ctr">
                            <a:lnSpc>
                              <a:spcPct val="150000"/>
                            </a:lnSpc>
                          </a:pPr>
                          <a:r>
                            <a:rPr lang="en-US" altLang="zh-TW" sz="3600"/>
                            <a:t>[4049,4408]</a:t>
                          </a:r>
                          <a:endParaRPr lang="zh-TW" altLang="en-US" sz="3600"/>
                        </a:p>
                      </a:txBody>
                      <a:tcPr/>
                    </a:tc>
                    <a:tc>
                      <a:txBody>
                        <a:bodyPr/>
                        <a:lstStyle/>
                        <a:p>
                          <a:pPr algn="ctr">
                            <a:lnSpc>
                              <a:spcPct val="150000"/>
                            </a:lnSpc>
                          </a:pPr>
                          <a:r>
                            <a:rPr lang="en-US" altLang="zh-TW" sz="3600"/>
                            <a:t>[4736,5094]</a:t>
                          </a:r>
                          <a:endParaRPr lang="zh-TW" altLang="en-US" sz="3600"/>
                        </a:p>
                      </a:txBody>
                      <a:tcPr/>
                    </a:tc>
                    <a:extLst>
                      <a:ext uri="{0D108BD9-81ED-4DB2-BD59-A6C34878D82A}">
                        <a16:rowId xmlns:a16="http://schemas.microsoft.com/office/drawing/2014/main" val="4069418435"/>
                      </a:ext>
                    </a:extLst>
                  </a:tr>
                </a:tbl>
              </a:graphicData>
            </a:graphic>
          </p:graphicFrame>
        </mc:Choice>
        <mc:Fallback>
          <p:graphicFrame>
            <p:nvGraphicFramePr>
              <p:cNvPr id="5" name="表格 4">
                <a:extLst>
                  <a:ext uri="{FF2B5EF4-FFF2-40B4-BE49-F238E27FC236}">
                    <a16:creationId xmlns:a16="http://schemas.microsoft.com/office/drawing/2014/main" id="{6AA713AF-130C-81BF-124F-8AFFFD5DD27C}"/>
                  </a:ext>
                </a:extLst>
              </p:cNvPr>
              <p:cNvGraphicFramePr>
                <a:graphicFrameLocks noGrp="1"/>
              </p:cNvGraphicFramePr>
              <p:nvPr>
                <p:extLst>
                  <p:ext uri="{D42A27DB-BD31-4B8C-83A1-F6EECF244321}">
                    <p14:modId xmlns:p14="http://schemas.microsoft.com/office/powerpoint/2010/main" val="3029671301"/>
                  </p:ext>
                </p:extLst>
              </p:nvPr>
            </p:nvGraphicFramePr>
            <p:xfrm>
              <a:off x="420624" y="4877096"/>
              <a:ext cx="16751807" cy="2576957"/>
            </p:xfrm>
            <a:graphic>
              <a:graphicData uri="http://schemas.openxmlformats.org/drawingml/2006/table">
                <a:tbl>
                  <a:tblPr firstRow="1" bandRow="1">
                    <a:tableStyleId>{5C22544A-7EE6-4342-B048-85BDC9FD1C3A}</a:tableStyleId>
                  </a:tblPr>
                  <a:tblGrid>
                    <a:gridCol w="2409181">
                      <a:extLst>
                        <a:ext uri="{9D8B030D-6E8A-4147-A177-3AD203B41FA5}">
                          <a16:colId xmlns:a16="http://schemas.microsoft.com/office/drawing/2014/main" val="3837273161"/>
                        </a:ext>
                      </a:extLst>
                    </a:gridCol>
                    <a:gridCol w="3052076">
                      <a:extLst>
                        <a:ext uri="{9D8B030D-6E8A-4147-A177-3AD203B41FA5}">
                          <a16:colId xmlns:a16="http://schemas.microsoft.com/office/drawing/2014/main" val="2596329255"/>
                        </a:ext>
                      </a:extLst>
                    </a:gridCol>
                    <a:gridCol w="3180136">
                      <a:extLst>
                        <a:ext uri="{9D8B030D-6E8A-4147-A177-3AD203B41FA5}">
                          <a16:colId xmlns:a16="http://schemas.microsoft.com/office/drawing/2014/main" val="1259817469"/>
                        </a:ext>
                      </a:extLst>
                    </a:gridCol>
                    <a:gridCol w="3500284">
                      <a:extLst>
                        <a:ext uri="{9D8B030D-6E8A-4147-A177-3AD203B41FA5}">
                          <a16:colId xmlns:a16="http://schemas.microsoft.com/office/drawing/2014/main" val="3166997928"/>
                        </a:ext>
                      </a:extLst>
                    </a:gridCol>
                    <a:gridCol w="4610130">
                      <a:extLst>
                        <a:ext uri="{9D8B030D-6E8A-4147-A177-3AD203B41FA5}">
                          <a16:colId xmlns:a16="http://schemas.microsoft.com/office/drawing/2014/main" val="3864609307"/>
                        </a:ext>
                      </a:extLst>
                    </a:gridCol>
                  </a:tblGrid>
                  <a:tr h="918337">
                    <a:tc>
                      <a:txBody>
                        <a:bodyPr/>
                        <a:lstStyle/>
                        <a:p>
                          <a:pPr algn="ctr">
                            <a:lnSpc>
                              <a:spcPct val="150000"/>
                            </a:lnSpc>
                          </a:pPr>
                          <a:r>
                            <a:rPr lang="en-US" altLang="zh-TW" sz="3600"/>
                            <a:t>Estimator</a:t>
                          </a:r>
                          <a:endParaRPr lang="zh-TW" altLang="en-US" sz="3600"/>
                        </a:p>
                      </a:txBody>
                      <a:tcPr/>
                    </a:tc>
                    <a:tc>
                      <a:txBody>
                        <a:bodyPr/>
                        <a:lstStyle/>
                        <a:p>
                          <a:endParaRPr lang="zh-TW"/>
                        </a:p>
                      </a:txBody>
                      <a:tcPr>
                        <a:blipFill>
                          <a:blip r:embed="rId6"/>
                          <a:stretch>
                            <a:fillRect l="-79583" t="-1389" r="-371667" b="-206944"/>
                          </a:stretch>
                        </a:blipFill>
                      </a:tcPr>
                    </a:tc>
                    <a:tc>
                      <a:txBody>
                        <a:bodyPr/>
                        <a:lstStyle/>
                        <a:p>
                          <a:endParaRPr lang="zh-TW"/>
                        </a:p>
                      </a:txBody>
                      <a:tcPr>
                        <a:blipFill>
                          <a:blip r:embed="rId6"/>
                          <a:stretch>
                            <a:fillRect l="-171713" t="-1389" r="-255378" b="-206944"/>
                          </a:stretch>
                        </a:blipFill>
                      </a:tcPr>
                    </a:tc>
                    <a:tc>
                      <a:txBody>
                        <a:bodyPr/>
                        <a:lstStyle/>
                        <a:p>
                          <a:endParaRPr lang="zh-TW"/>
                        </a:p>
                      </a:txBody>
                      <a:tcPr>
                        <a:blipFill>
                          <a:blip r:embed="rId6"/>
                          <a:stretch>
                            <a:fillRect l="-247101" t="-1389" r="-132246" b="-206944"/>
                          </a:stretch>
                        </a:blipFill>
                      </a:tcPr>
                    </a:tc>
                    <a:tc>
                      <a:txBody>
                        <a:bodyPr/>
                        <a:lstStyle/>
                        <a:p>
                          <a:endParaRPr lang="zh-TW"/>
                        </a:p>
                      </a:txBody>
                      <a:tcPr>
                        <a:blipFill>
                          <a:blip r:embed="rId6"/>
                          <a:stretch>
                            <a:fillRect l="-263912" t="-1389" r="-551" b="-206944"/>
                          </a:stretch>
                        </a:blipFill>
                      </a:tcPr>
                    </a:tc>
                    <a:extLst>
                      <a:ext uri="{0D108BD9-81ED-4DB2-BD59-A6C34878D82A}">
                        <a16:rowId xmlns:a16="http://schemas.microsoft.com/office/drawing/2014/main" val="383531440"/>
                      </a:ext>
                    </a:extLst>
                  </a:tr>
                  <a:tr h="829310">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3230.2711</a:t>
                          </a:r>
                          <a:endParaRPr lang="zh-TW" altLang="en-US" sz="3600"/>
                        </a:p>
                      </a:txBody>
                      <a:tcPr/>
                    </a:tc>
                    <a:tc>
                      <a:txBody>
                        <a:bodyPr/>
                        <a:lstStyle/>
                        <a:p>
                          <a:pPr algn="ctr">
                            <a:lnSpc>
                              <a:spcPct val="150000"/>
                            </a:lnSpc>
                          </a:pPr>
                          <a:r>
                            <a:rPr lang="en-US" altLang="zh-TW" sz="3600"/>
                            <a:t>3588.1197</a:t>
                          </a:r>
                          <a:endParaRPr lang="zh-TW" altLang="en-US" sz="3600"/>
                        </a:p>
                      </a:txBody>
                      <a:tcPr/>
                    </a:tc>
                    <a:tc>
                      <a:txBody>
                        <a:bodyPr/>
                        <a:lstStyle/>
                        <a:p>
                          <a:pPr algn="ctr">
                            <a:lnSpc>
                              <a:spcPct val="150000"/>
                            </a:lnSpc>
                          </a:pPr>
                          <a:r>
                            <a:rPr lang="en-US" altLang="zh-TW" sz="3600"/>
                            <a:t>3812.5578</a:t>
                          </a:r>
                          <a:endParaRPr lang="zh-TW" altLang="en-US" sz="3600"/>
                        </a:p>
                      </a:txBody>
                      <a:tcPr/>
                    </a:tc>
                    <a:tc>
                      <a:txBody>
                        <a:bodyPr/>
                        <a:lstStyle/>
                        <a:p>
                          <a:pPr algn="ctr">
                            <a:lnSpc>
                              <a:spcPct val="150000"/>
                            </a:lnSpc>
                          </a:pPr>
                          <a:r>
                            <a:rPr lang="en-US" altLang="zh-TW" sz="3600"/>
                            <a:t>4886.1467</a:t>
                          </a:r>
                          <a:endParaRPr lang="zh-TW" altLang="en-US" sz="3600"/>
                        </a:p>
                      </a:txBody>
                      <a:tcPr/>
                    </a:tc>
                    <a:extLst>
                      <a:ext uri="{0D108BD9-81ED-4DB2-BD59-A6C34878D82A}">
                        <a16:rowId xmlns:a16="http://schemas.microsoft.com/office/drawing/2014/main" val="1159809619"/>
                      </a:ext>
                    </a:extLst>
                  </a:tr>
                  <a:tr h="829310">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[3479,3893]</a:t>
                          </a:r>
                          <a:endParaRPr lang="zh-TW" altLang="en-US" sz="3600"/>
                        </a:p>
                      </a:txBody>
                      <a:tcPr/>
                    </a:tc>
                    <a:tc>
                      <a:txBody>
                        <a:bodyPr/>
                        <a:lstStyle/>
                        <a:p>
                          <a:pPr algn="ctr">
                            <a:lnSpc>
                              <a:spcPct val="150000"/>
                            </a:lnSpc>
                          </a:pPr>
                          <a:r>
                            <a:rPr lang="en-US" altLang="zh-TW" sz="3600"/>
                            <a:t>[3851,4231]</a:t>
                          </a:r>
                          <a:endParaRPr lang="zh-TW" altLang="en-US" sz="3600"/>
                        </a:p>
                      </a:txBody>
                      <a:tcPr/>
                    </a:tc>
                    <a:tc>
                      <a:txBody>
                        <a:bodyPr/>
                        <a:lstStyle/>
                        <a:p>
                          <a:pPr algn="ctr">
                            <a:lnSpc>
                              <a:spcPct val="150000"/>
                            </a:lnSpc>
                          </a:pPr>
                          <a:r>
                            <a:rPr lang="en-US" altLang="zh-TW" sz="3600"/>
                            <a:t>[4049,4408]</a:t>
                          </a:r>
                          <a:endParaRPr lang="zh-TW" altLang="en-US" sz="3600"/>
                        </a:p>
                      </a:txBody>
                      <a:tcPr/>
                    </a:tc>
                    <a:tc>
                      <a:txBody>
                        <a:bodyPr/>
                        <a:lstStyle/>
                        <a:p>
                          <a:pPr algn="ctr">
                            <a:lnSpc>
                              <a:spcPct val="150000"/>
                            </a:lnSpc>
                          </a:pPr>
                          <a:r>
                            <a:rPr lang="en-US" altLang="zh-TW" sz="3600"/>
                            <a:t>[4736,5094]</a:t>
                          </a:r>
                          <a:endParaRPr lang="zh-TW" altLang="en-US" sz="3600"/>
                        </a:p>
                      </a:txBody>
                      <a:tcPr/>
                    </a:tc>
                    <a:extLst>
                      <a:ext uri="{0D108BD9-81ED-4DB2-BD59-A6C34878D82A}">
                        <a16:rowId xmlns:a16="http://schemas.microsoft.com/office/drawing/2014/main" val="4069418435"/>
                      </a:ext>
                    </a:extLst>
                  </a:tr>
                </a:tbl>
              </a:graphicData>
            </a:graphic>
          </p:graphicFrame>
        </mc:Fallback>
      </mc:AlternateContent>
      <p:graphicFrame>
        <p:nvGraphicFramePr>
          <p:cNvPr id="7" name="表格 6">
            <a:extLst>
              <a:ext uri="{FF2B5EF4-FFF2-40B4-BE49-F238E27FC236}">
                <a16:creationId xmlns:a16="http://schemas.microsoft.com/office/drawing/2014/main" id="{2CC5DA3E-5F48-32D2-9977-2B18C39FFA96}"/>
              </a:ext>
            </a:extLst>
          </p:cNvPr>
          <p:cNvGraphicFramePr>
            <a:graphicFrameLocks noGrp="1"/>
          </p:cNvGraphicFramePr>
          <p:nvPr>
            <p:extLst>
              <p:ext uri="{D42A27DB-BD31-4B8C-83A1-F6EECF244321}">
                <p14:modId xmlns:p14="http://schemas.microsoft.com/office/powerpoint/2010/main" val="4038905008"/>
              </p:ext>
            </p:extLst>
          </p:nvPr>
        </p:nvGraphicFramePr>
        <p:xfrm>
          <a:off x="420622" y="7453658"/>
          <a:ext cx="16751808" cy="1481414"/>
        </p:xfrm>
        <a:graphic>
          <a:graphicData uri="http://schemas.openxmlformats.org/drawingml/2006/table">
            <a:tbl>
              <a:tblPr firstRow="1" bandRow="1">
                <a:tableStyleId>{5C22544A-7EE6-4342-B048-85BDC9FD1C3A}</a:tableStyleId>
              </a:tblPr>
              <a:tblGrid>
                <a:gridCol w="8375904">
                  <a:extLst>
                    <a:ext uri="{9D8B030D-6E8A-4147-A177-3AD203B41FA5}">
                      <a16:colId xmlns:a16="http://schemas.microsoft.com/office/drawing/2014/main" val="284106209"/>
                    </a:ext>
                  </a:extLst>
                </a:gridCol>
                <a:gridCol w="8375904">
                  <a:extLst>
                    <a:ext uri="{9D8B030D-6E8A-4147-A177-3AD203B41FA5}">
                      <a16:colId xmlns:a16="http://schemas.microsoft.com/office/drawing/2014/main" val="2932910458"/>
                    </a:ext>
                  </a:extLst>
                </a:gridCol>
              </a:tblGrid>
              <a:tr h="740707">
                <a:tc>
                  <a:txBody>
                    <a:bodyPr/>
                    <a:lstStyle/>
                    <a:p>
                      <a:pPr algn="ctr"/>
                      <a:r>
                        <a:rPr lang="en-US" altLang="zh-TW" sz="3600"/>
                        <a:t>RMSE</a:t>
                      </a:r>
                      <a:endParaRPr lang="zh-TW" altLang="en-US" sz="3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3600"/>
                        <a:t>AD Test</a:t>
                      </a:r>
                      <a:endParaRPr lang="zh-TW" altLang="en-US" sz="3600"/>
                    </a:p>
                  </a:txBody>
                  <a:tcPr/>
                </a:tc>
                <a:extLst>
                  <a:ext uri="{0D108BD9-81ED-4DB2-BD59-A6C34878D82A}">
                    <a16:rowId xmlns:a16="http://schemas.microsoft.com/office/drawing/2014/main" val="2332893137"/>
                  </a:ext>
                </a:extLst>
              </a:tr>
              <a:tr h="740707">
                <a:tc>
                  <a:txBody>
                    <a:bodyPr/>
                    <a:lstStyle/>
                    <a:p>
                      <a:pPr algn="ctr"/>
                      <a:r>
                        <a:rPr lang="en-US" altLang="zh-TW" sz="3600"/>
                        <a:t>0.0905</a:t>
                      </a:r>
                      <a:endParaRPr lang="zh-TW" altLang="en-US" sz="36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3600"/>
                        <a:t>0.814</a:t>
                      </a:r>
                      <a:endParaRPr lang="zh-TW" altLang="en-US" sz="3600"/>
                    </a:p>
                  </a:txBody>
                  <a:tcPr/>
                </a:tc>
                <a:extLst>
                  <a:ext uri="{0D108BD9-81ED-4DB2-BD59-A6C34878D82A}">
                    <a16:rowId xmlns:a16="http://schemas.microsoft.com/office/drawing/2014/main" val="3486205923"/>
                  </a:ext>
                </a:extLst>
              </a:tr>
            </a:tbl>
          </a:graphicData>
        </a:graphic>
      </p:graphicFrame>
    </p:spTree>
    <p:extLst>
      <p:ext uri="{BB962C8B-B14F-4D97-AF65-F5344CB8AC3E}">
        <p14:creationId xmlns:p14="http://schemas.microsoft.com/office/powerpoint/2010/main" val="13224274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mc:AlternateContent xmlns:mc="http://schemas.openxmlformats.org/markup-compatibility/2006">
        <mc:Choice xmlns:a14="http://schemas.microsoft.com/office/drawing/2010/main" Requires="a14">
          <p:sp>
            <p:nvSpPr>
              <p:cNvPr id="4" name="文字方塊 3">
                <a:extLst>
                  <a:ext uri="{FF2B5EF4-FFF2-40B4-BE49-F238E27FC236}">
                    <a16:creationId xmlns:a16="http://schemas.microsoft.com/office/drawing/2014/main" id="{547E1FC4-2190-119A-D656-4F2BA2F8F078}"/>
                  </a:ext>
                </a:extLst>
              </p:cNvPr>
              <p:cNvSpPr txBox="1"/>
              <p:nvPr/>
            </p:nvSpPr>
            <p:spPr>
              <a:xfrm>
                <a:off x="1414596" y="1106629"/>
                <a:ext cx="15044603" cy="1200329"/>
              </a:xfrm>
              <a:prstGeom prst="rect">
                <a:avLst/>
              </a:prstGeom>
              <a:noFill/>
            </p:spPr>
            <p:txBody>
              <a:bodyPr wrap="square">
                <a:spAutoFit/>
              </a:bodyPr>
              <a:lstStyle/>
              <a:p>
                <a:pPr marL="457200" indent="-457200">
                  <a:buFont typeface="Arial" panose="020B0604020202020204" pitchFamily="34" charset="0"/>
                  <a:buChar char="•"/>
                </a:pPr>
                <a:r>
                  <a:rPr lang="en-US" altLang="zh-TW" sz="3600">
                    <a:solidFill>
                      <a:srgbClr val="000000"/>
                    </a:solidFill>
                    <a:effectLst/>
                  </a:rPr>
                  <a:t>Model 2: </a:t>
                </a:r>
                <a14:m>
                  <m:oMath xmlns:m="http://schemas.openxmlformats.org/officeDocument/2006/math">
                    <m:r>
                      <a:rPr lang="en-US" altLang="zh-TW" sz="3600" b="0" i="1" smtClean="0">
                        <a:solidFill>
                          <a:srgbClr val="000000"/>
                        </a:solidFill>
                        <a:effectLst/>
                        <a:latin typeface="Cambria Math" panose="02040503050406030204" pitchFamily="18" charset="0"/>
                      </a:rPr>
                      <m:t>𝑌</m:t>
                    </m:r>
                    <m:d>
                      <m:dPr>
                        <m:ctrlPr>
                          <a:rPr lang="en-US" altLang="zh-TW" sz="3600" b="0" i="1" smtClean="0">
                            <a:solidFill>
                              <a:srgbClr val="000000"/>
                            </a:solidFill>
                            <a:effectLst/>
                            <a:latin typeface="Cambria Math" panose="02040503050406030204" pitchFamily="18" charset="0"/>
                          </a:rPr>
                        </m:ctrlPr>
                      </m:dPr>
                      <m:e>
                        <m:r>
                          <a:rPr lang="en-US" altLang="zh-TW" sz="3600" b="0" i="1" smtClean="0">
                            <a:solidFill>
                              <a:srgbClr val="000000"/>
                            </a:solidFill>
                            <a:effectLst/>
                            <a:latin typeface="Cambria Math" panose="02040503050406030204" pitchFamily="18" charset="0"/>
                          </a:rPr>
                          <m:t>𝑡</m:t>
                        </m:r>
                      </m:e>
                    </m:d>
                    <m:r>
                      <a:rPr lang="en-US" altLang="zh-TW" sz="3600" b="0" i="1" smtClean="0">
                        <a:solidFill>
                          <a:srgbClr val="000000"/>
                        </a:solidFill>
                        <a:effectLst/>
                        <a:latin typeface="Cambria Math" panose="02040503050406030204" pitchFamily="18" charset="0"/>
                      </a:rPr>
                      <m:t>= </m:t>
                    </m:r>
                    <m:r>
                      <m:rPr>
                        <m:sty m:val="p"/>
                      </m:rPr>
                      <a:rPr lang="el-GR" altLang="zh-TW" sz="3600" b="0" i="1" smtClean="0">
                        <a:solidFill>
                          <a:srgbClr val="000000"/>
                        </a:solidFill>
                        <a:effectLst/>
                        <a:latin typeface="Cambria Math" panose="02040503050406030204" pitchFamily="18" charset="0"/>
                      </a:rPr>
                      <m:t>Θ</m:t>
                    </m:r>
                    <m:r>
                      <a:rPr lang="en-US" altLang="zh-TW" sz="3600" b="0" i="1" smtClean="0">
                        <a:solidFill>
                          <a:srgbClr val="000000"/>
                        </a:solidFill>
                        <a:effectLst/>
                        <a:latin typeface="Cambria Math" panose="02040503050406030204" pitchFamily="18" charset="0"/>
                      </a:rPr>
                      <m:t>𝑡</m:t>
                    </m:r>
                    <m:r>
                      <a:rPr lang="en-US" altLang="zh-TW" sz="3600" b="0" i="1" smtClean="0">
                        <a:solidFill>
                          <a:srgbClr val="000000"/>
                        </a:solidFill>
                        <a:effectLst/>
                        <a:latin typeface="Cambria Math" panose="02040503050406030204" pitchFamily="18" charset="0"/>
                      </a:rPr>
                      <m:t>+</m:t>
                    </m:r>
                    <m:sSub>
                      <m:sSubPr>
                        <m:ctrlPr>
                          <a:rPr lang="en-US" altLang="zh-TW" sz="3600" b="0" i="1" smtClean="0">
                            <a:solidFill>
                              <a:srgbClr val="000000"/>
                            </a:solidFill>
                            <a:effectLst/>
                            <a:latin typeface="Cambria Math" panose="02040503050406030204" pitchFamily="18" charset="0"/>
                          </a:rPr>
                        </m:ctrlPr>
                      </m:sSubPr>
                      <m:e>
                        <m:r>
                          <a:rPr lang="zh-TW" altLang="en-US" sz="3600" b="0" i="1" smtClean="0">
                            <a:solidFill>
                              <a:srgbClr val="000000"/>
                            </a:solidFill>
                            <a:effectLst/>
                            <a:latin typeface="Cambria Math" panose="02040503050406030204" pitchFamily="18" charset="0"/>
                          </a:rPr>
                          <m:t>𝜎</m:t>
                        </m:r>
                      </m:e>
                      <m:sub>
                        <m:r>
                          <a:rPr lang="en-US" altLang="zh-TW" sz="3600" b="0" i="1" smtClean="0">
                            <a:solidFill>
                              <a:srgbClr val="000000"/>
                            </a:solidFill>
                            <a:effectLst/>
                            <a:latin typeface="Cambria Math" panose="02040503050406030204" pitchFamily="18" charset="0"/>
                          </a:rPr>
                          <m:t>𝐵</m:t>
                        </m:r>
                      </m:sub>
                    </m:sSub>
                    <m:r>
                      <a:rPr lang="en-US" altLang="zh-TW" sz="3600" b="0" i="1" smtClean="0">
                        <a:solidFill>
                          <a:srgbClr val="000000"/>
                        </a:solidFill>
                        <a:effectLst/>
                        <a:latin typeface="Cambria Math" panose="02040503050406030204" pitchFamily="18" charset="0"/>
                      </a:rPr>
                      <m:t>𝐵</m:t>
                    </m:r>
                    <m:r>
                      <a:rPr lang="en-US" altLang="zh-TW" sz="3600" b="0" i="1" smtClean="0">
                        <a:solidFill>
                          <a:srgbClr val="000000"/>
                        </a:solidFill>
                        <a:effectLst/>
                        <a:latin typeface="Cambria Math" panose="02040503050406030204" pitchFamily="18" charset="0"/>
                      </a:rPr>
                      <m:t>(</m:t>
                    </m:r>
                    <m:r>
                      <a:rPr lang="en-US" altLang="zh-TW" sz="3600" b="0" i="1" smtClean="0">
                        <a:solidFill>
                          <a:srgbClr val="000000"/>
                        </a:solidFill>
                        <a:effectLst/>
                        <a:latin typeface="Cambria Math" panose="02040503050406030204" pitchFamily="18" charset="0"/>
                      </a:rPr>
                      <m:t>𝑡</m:t>
                    </m:r>
                    <m:r>
                      <a:rPr lang="en-US" altLang="zh-TW" sz="3600" b="0" i="1" smtClean="0">
                        <a:solidFill>
                          <a:srgbClr val="000000"/>
                        </a:solidFill>
                        <a:effectLst/>
                        <a:latin typeface="Cambria Math" panose="02040503050406030204" pitchFamily="18" charset="0"/>
                      </a:rPr>
                      <m:t>)</m:t>
                    </m:r>
                  </m:oMath>
                </a14:m>
                <a:r>
                  <a:rPr lang="en-US" altLang="zh-TW" sz="3600">
                    <a:solidFill>
                      <a:srgbClr val="000000"/>
                    </a:solidFill>
                    <a:effectLst/>
                  </a:rPr>
                  <a:t> , assume </a:t>
                </a:r>
                <a14:m>
                  <m:oMath xmlns:m="http://schemas.openxmlformats.org/officeDocument/2006/math">
                    <m:r>
                      <m:rPr>
                        <m:sty m:val="p"/>
                      </m:rPr>
                      <a:rPr lang="el-GR" altLang="zh-TW" sz="3600" i="1">
                        <a:solidFill>
                          <a:srgbClr val="000000"/>
                        </a:solidFill>
                        <a:latin typeface="Cambria Math" panose="02040503050406030204" pitchFamily="18" charset="0"/>
                      </a:rPr>
                      <m:t>Θ</m:t>
                    </m:r>
                  </m:oMath>
                </a14:m>
                <a:r>
                  <a:rPr lang="en-US" altLang="zh-TW" sz="3600">
                    <a:solidFill>
                      <a:srgbClr val="000000"/>
                    </a:solidFill>
                    <a:effectLst/>
                  </a:rPr>
                  <a:t> is fixed and </a:t>
                </a:r>
                <a14:m>
                  <m:oMath xmlns:m="http://schemas.openxmlformats.org/officeDocument/2006/math">
                    <m:r>
                      <a:rPr lang="en-US" altLang="zh-TW" sz="3600" i="1" dirty="0" smtClean="0">
                        <a:solidFill>
                          <a:srgbClr val="000000"/>
                        </a:solidFill>
                        <a:effectLst/>
                        <a:latin typeface="Cambria Math" panose="02040503050406030204" pitchFamily="18" charset="0"/>
                        <a:ea typeface="標楷體" panose="03000509000000000000" pitchFamily="65" charset="-120"/>
                      </a:rPr>
                      <m:t>𝐵</m:t>
                    </m:r>
                    <m:d>
                      <m:dPr>
                        <m:ctrlPr>
                          <a:rPr lang="en-US" altLang="zh-TW" sz="3600" b="0" i="1" dirty="0" smtClean="0">
                            <a:solidFill>
                              <a:srgbClr val="000000"/>
                            </a:solidFill>
                            <a:effectLst/>
                            <a:latin typeface="Cambria Math" panose="02040503050406030204" pitchFamily="18" charset="0"/>
                            <a:ea typeface="標楷體" panose="03000509000000000000" pitchFamily="65" charset="-120"/>
                          </a:rPr>
                        </m:ctrlPr>
                      </m:dPr>
                      <m:e>
                        <m:r>
                          <a:rPr lang="en-US" altLang="zh-TW" sz="3600" b="0" i="1" dirty="0" smtClean="0">
                            <a:solidFill>
                              <a:srgbClr val="000000"/>
                            </a:solidFill>
                            <a:effectLst/>
                            <a:latin typeface="Cambria Math" panose="02040503050406030204" pitchFamily="18" charset="0"/>
                            <a:ea typeface="標楷體" panose="03000509000000000000" pitchFamily="65" charset="-120"/>
                          </a:rPr>
                          <m:t>𝑡</m:t>
                        </m:r>
                      </m:e>
                    </m:d>
                  </m:oMath>
                </a14:m>
                <a:r>
                  <a:rPr lang="en" altLang="zh-TW" sz="3600">
                    <a:solidFill>
                      <a:srgbClr val="000000"/>
                    </a:solidFill>
                    <a:effectLst/>
                  </a:rPr>
                  <a:t> is a standard Brownian motion, where standard Brownaian motion </a:t>
                </a:r>
                <a14:m>
                  <m:oMath xmlns:m="http://schemas.openxmlformats.org/officeDocument/2006/math">
                    <m:r>
                      <a:rPr lang="en" altLang="zh-TW" sz="3600" i="1" smtClean="0">
                        <a:solidFill>
                          <a:srgbClr val="000000"/>
                        </a:solidFill>
                        <a:effectLst/>
                        <a:latin typeface="Cambria Math" panose="02040503050406030204" pitchFamily="18" charset="0"/>
                      </a:rPr>
                      <m:t>⇒</m:t>
                    </m:r>
                  </m:oMath>
                </a14:m>
                <a:r>
                  <a:rPr lang="en" altLang="zh-TW" sz="3600">
                    <a:solidFill>
                      <a:srgbClr val="000000"/>
                    </a:solidFill>
                    <a:effectLst/>
                  </a:rPr>
                  <a:t> increment </a:t>
                </a:r>
                <a14:m>
                  <m:oMath xmlns:m="http://schemas.openxmlformats.org/officeDocument/2006/math">
                    <m:r>
                      <a:rPr lang="en" altLang="zh-TW" sz="3600" i="1" smtClean="0">
                        <a:solidFill>
                          <a:srgbClr val="000000"/>
                        </a:solidFill>
                        <a:effectLst/>
                        <a:latin typeface="Cambria Math" panose="02040503050406030204" pitchFamily="18" charset="0"/>
                        <a:ea typeface="Cambria Math" panose="02040503050406030204" pitchFamily="18" charset="0"/>
                      </a:rPr>
                      <m:t>~</m:t>
                    </m:r>
                    <m:r>
                      <a:rPr lang="en-US" altLang="zh-TW" sz="3600" b="0" i="1" smtClean="0">
                        <a:solidFill>
                          <a:srgbClr val="000000"/>
                        </a:solidFill>
                        <a:effectLst/>
                        <a:latin typeface="Cambria Math" panose="02040503050406030204" pitchFamily="18" charset="0"/>
                        <a:ea typeface="Cambria Math" panose="02040503050406030204" pitchFamily="18" charset="0"/>
                      </a:rPr>
                      <m:t>𝑁</m:t>
                    </m:r>
                    <m:r>
                      <a:rPr lang="en-US" altLang="zh-TW" sz="3600" b="0" i="1" smtClean="0">
                        <a:solidFill>
                          <a:srgbClr val="000000"/>
                        </a:solidFill>
                        <a:effectLst/>
                        <a:latin typeface="Cambria Math" panose="02040503050406030204" pitchFamily="18" charset="0"/>
                        <a:ea typeface="Cambria Math" panose="02040503050406030204" pitchFamily="18" charset="0"/>
                      </a:rPr>
                      <m:t>(0,1)</m:t>
                    </m:r>
                  </m:oMath>
                </a14:m>
                <a:r>
                  <a:rPr lang="en" altLang="zh-TW" sz="3600">
                    <a:solidFill>
                      <a:srgbClr val="000000"/>
                    </a:solidFill>
                    <a:effectLst/>
                  </a:rPr>
                  <a:t>)</a:t>
                </a:r>
              </a:p>
            </p:txBody>
          </p:sp>
        </mc:Choice>
        <mc:Fallback>
          <p:sp>
            <p:nvSpPr>
              <p:cNvPr id="4" name="文字方塊 3">
                <a:extLst>
                  <a:ext uri="{FF2B5EF4-FFF2-40B4-BE49-F238E27FC236}">
                    <a16:creationId xmlns:a16="http://schemas.microsoft.com/office/drawing/2014/main" id="{547E1FC4-2190-119A-D656-4F2BA2F8F078}"/>
                  </a:ext>
                </a:extLst>
              </p:cNvPr>
              <p:cNvSpPr txBox="1">
                <a:spLocks noRot="1" noChangeAspect="1" noMove="1" noResize="1" noEditPoints="1" noAdjustHandles="1" noChangeArrowheads="1" noChangeShapeType="1" noTextEdit="1"/>
              </p:cNvSpPr>
              <p:nvPr/>
            </p:nvSpPr>
            <p:spPr>
              <a:xfrm>
                <a:off x="1414596" y="1106629"/>
                <a:ext cx="15044603" cy="1200329"/>
              </a:xfrm>
              <a:prstGeom prst="rect">
                <a:avLst/>
              </a:prstGeom>
              <a:blipFill>
                <a:blip r:embed="rId4"/>
                <a:stretch>
                  <a:fillRect l="-1097" t="-8421" r="-422" b="-1789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graphicFrame>
            <p:nvGraphicFramePr>
              <p:cNvPr id="3" name="表格 2">
                <a:extLst>
                  <a:ext uri="{FF2B5EF4-FFF2-40B4-BE49-F238E27FC236}">
                    <a16:creationId xmlns:a16="http://schemas.microsoft.com/office/drawing/2014/main" id="{37E10DB8-4260-0459-3ABD-247336616479}"/>
                  </a:ext>
                </a:extLst>
              </p:cNvPr>
              <p:cNvGraphicFramePr>
                <a:graphicFrameLocks noGrp="1"/>
              </p:cNvGraphicFramePr>
              <p:nvPr>
                <p:extLst>
                  <p:ext uri="{D42A27DB-BD31-4B8C-83A1-F6EECF244321}">
                    <p14:modId xmlns:p14="http://schemas.microsoft.com/office/powerpoint/2010/main" val="2341422739"/>
                  </p:ext>
                </p:extLst>
              </p:nvPr>
            </p:nvGraphicFramePr>
            <p:xfrm>
              <a:off x="420622" y="2291182"/>
              <a:ext cx="16751809" cy="2762990"/>
            </p:xfrm>
            <a:graphic>
              <a:graphicData uri="http://schemas.openxmlformats.org/drawingml/2006/table">
                <a:tbl>
                  <a:tblPr firstRow="1" bandRow="1">
                    <a:tableStyleId>{5C22544A-7EE6-4342-B048-85BDC9FD1C3A}</a:tableStyleId>
                  </a:tblPr>
                  <a:tblGrid>
                    <a:gridCol w="3231440">
                      <a:extLst>
                        <a:ext uri="{9D8B030D-6E8A-4147-A177-3AD203B41FA5}">
                          <a16:colId xmlns:a16="http://schemas.microsoft.com/office/drawing/2014/main" val="3837273161"/>
                        </a:ext>
                      </a:extLst>
                    </a:gridCol>
                    <a:gridCol w="4463034">
                      <a:extLst>
                        <a:ext uri="{9D8B030D-6E8A-4147-A177-3AD203B41FA5}">
                          <a16:colId xmlns:a16="http://schemas.microsoft.com/office/drawing/2014/main" val="2596329255"/>
                        </a:ext>
                      </a:extLst>
                    </a:gridCol>
                    <a:gridCol w="4047359">
                      <a:extLst>
                        <a:ext uri="{9D8B030D-6E8A-4147-A177-3AD203B41FA5}">
                          <a16:colId xmlns:a16="http://schemas.microsoft.com/office/drawing/2014/main" val="3166997928"/>
                        </a:ext>
                      </a:extLst>
                    </a:gridCol>
                    <a:gridCol w="5009976">
                      <a:extLst>
                        <a:ext uri="{9D8B030D-6E8A-4147-A177-3AD203B41FA5}">
                          <a16:colId xmlns:a16="http://schemas.microsoft.com/office/drawing/2014/main" val="3864609307"/>
                        </a:ext>
                      </a:extLst>
                    </a:gridCol>
                  </a:tblGrid>
                  <a:tr h="845672">
                    <a:tc>
                      <a:txBody>
                        <a:bodyPr/>
                        <a:lstStyle/>
                        <a:p>
                          <a:pPr algn="ctr">
                            <a:lnSpc>
                              <a:spcPct val="150000"/>
                            </a:lnSpc>
                          </a:pPr>
                          <a:r>
                            <a:rPr lang="en-US" altLang="zh-TW" sz="3600"/>
                            <a:t>Estimator</a:t>
                          </a:r>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r>
                                      <m:rPr>
                                        <m:sty m:val="p"/>
                                      </m:rPr>
                                      <a:rPr lang="el-GR" altLang="zh-TW" sz="3600" b="0" i="1" dirty="0" smtClean="0">
                                        <a:solidFill>
                                          <a:schemeClr val="bg1"/>
                                        </a:solidFill>
                                        <a:effectLst/>
                                        <a:latin typeface="Cambria Math" panose="02040503050406030204" pitchFamily="18" charset="0"/>
                                        <a:ea typeface="Cambria Math" panose="02040503050406030204" pitchFamily="18" charset="0"/>
                                      </a:rPr>
                                      <m:t>η</m:t>
                                    </m:r>
                                  </m:e>
                                </m:acc>
                                <m:r>
                                  <a:rPr lang="en-US" altLang="zh-TW" sz="3600" b="1" i="1" smtClean="0">
                                    <a:solidFill>
                                      <a:schemeClr val="bg1"/>
                                    </a:solidFill>
                                    <a:latin typeface="Cambria Math" panose="02040503050406030204" pitchFamily="18" charset="0"/>
                                    <a:ea typeface="Cambria Math" panose="02040503050406030204" pitchFamily="18" charset="0"/>
                                  </a:rPr>
                                  <m:t>×</m:t>
                                </m:r>
                                <m:sSup>
                                  <m:sSupPr>
                                    <m:ctrlPr>
                                      <a:rPr lang="en-US" altLang="zh-TW" sz="3600" b="1" i="1" smtClean="0">
                                        <a:solidFill>
                                          <a:schemeClr val="bg1"/>
                                        </a:solidFill>
                                        <a:latin typeface="Cambria Math" panose="02040503050406030204" pitchFamily="18" charset="0"/>
                                        <a:ea typeface="Cambria Math" panose="02040503050406030204" pitchFamily="18" charset="0"/>
                                      </a:rPr>
                                    </m:ctrlPr>
                                  </m:sSupPr>
                                  <m:e>
                                    <m:r>
                                      <a:rPr lang="en-US" altLang="zh-TW" sz="3600" b="1" i="1" smtClean="0">
                                        <a:solidFill>
                                          <a:schemeClr val="bg1"/>
                                        </a:solidFill>
                                        <a:latin typeface="Cambria Math" panose="02040503050406030204" pitchFamily="18" charset="0"/>
                                        <a:ea typeface="Cambria Math" panose="02040503050406030204" pitchFamily="18" charset="0"/>
                                      </a:rPr>
                                      <m:t>𝟏𝟎</m:t>
                                    </m:r>
                                  </m:e>
                                  <m:sup>
                                    <m:r>
                                      <a:rPr lang="en-US" altLang="zh-TW" sz="3600" b="1" i="1" smtClean="0">
                                        <a:solidFill>
                                          <a:schemeClr val="bg1"/>
                                        </a:solidFill>
                                        <a:latin typeface="Cambria Math" panose="02040503050406030204" pitchFamily="18" charset="0"/>
                                        <a:ea typeface="Cambria Math" panose="02040503050406030204" pitchFamily="18" charset="0"/>
                                      </a:rPr>
                                      <m:t>−</m:t>
                                    </m:r>
                                    <m:r>
                                      <a:rPr lang="en-US" altLang="zh-TW" sz="3600" b="1" i="1" smtClean="0">
                                        <a:solidFill>
                                          <a:schemeClr val="bg1"/>
                                        </a:solidFill>
                                        <a:latin typeface="Cambria Math" panose="02040503050406030204" pitchFamily="18" charset="0"/>
                                        <a:ea typeface="Cambria Math" panose="02040503050406030204" pitchFamily="18" charset="0"/>
                                      </a:rPr>
                                      <m:t>𝟑</m:t>
                                    </m:r>
                                  </m:sup>
                                </m:sSup>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sSub>
                                      <m:sSubPr>
                                        <m:ctrlPr>
                                          <a:rPr lang="en-US" altLang="zh-TW" sz="3600" i="1" smtClean="0">
                                            <a:solidFill>
                                              <a:schemeClr val="bg1"/>
                                            </a:solidFill>
                                            <a:latin typeface="Cambria Math" panose="02040503050406030204" pitchFamily="18" charset="0"/>
                                          </a:rPr>
                                        </m:ctrlPr>
                                      </m:sSubPr>
                                      <m:e>
                                        <m:r>
                                          <a:rPr lang="zh-TW" altLang="en-US" sz="3600" i="1" smtClean="0">
                                            <a:solidFill>
                                              <a:schemeClr val="bg1"/>
                                            </a:solidFill>
                                            <a:latin typeface="Cambria Math" panose="02040503050406030204" pitchFamily="18" charset="0"/>
                                          </a:rPr>
                                          <m:t>𝝈</m:t>
                                        </m:r>
                                      </m:e>
                                      <m:sub>
                                        <m:r>
                                          <a:rPr lang="en-US" altLang="zh-TW" sz="3600" b="0" i="1" smtClean="0">
                                            <a:solidFill>
                                              <a:schemeClr val="bg1"/>
                                            </a:solidFill>
                                            <a:latin typeface="Cambria Math" panose="02040503050406030204" pitchFamily="18" charset="0"/>
                                          </a:rPr>
                                          <m:t>𝐵</m:t>
                                        </m:r>
                                      </m:sub>
                                    </m:sSub>
                                  </m:e>
                                </m:acc>
                                <m:r>
                                  <a:rPr lang="en-US" altLang="zh-TW" sz="3600" b="1" i="1" smtClean="0">
                                    <a:solidFill>
                                      <a:schemeClr val="bg1"/>
                                    </a:solidFill>
                                    <a:latin typeface="Cambria Math" panose="02040503050406030204" pitchFamily="18" charset="0"/>
                                    <a:ea typeface="Cambria Math" panose="02040503050406030204" pitchFamily="18" charset="0"/>
                                  </a:rPr>
                                  <m:t>×</m:t>
                                </m:r>
                                <m:sSup>
                                  <m:sSupPr>
                                    <m:ctrlPr>
                                      <a:rPr lang="en-US" altLang="zh-TW" sz="3600" b="1" i="1" smtClean="0">
                                        <a:solidFill>
                                          <a:schemeClr val="bg1"/>
                                        </a:solidFill>
                                        <a:latin typeface="Cambria Math" panose="02040503050406030204" pitchFamily="18" charset="0"/>
                                        <a:ea typeface="Cambria Math" panose="02040503050406030204" pitchFamily="18" charset="0"/>
                                      </a:rPr>
                                    </m:ctrlPr>
                                  </m:sSupPr>
                                  <m:e>
                                    <m:r>
                                      <a:rPr lang="en-US" altLang="zh-TW" sz="3600" b="1" i="1" smtClean="0">
                                        <a:solidFill>
                                          <a:schemeClr val="bg1"/>
                                        </a:solidFill>
                                        <a:latin typeface="Cambria Math" panose="02040503050406030204" pitchFamily="18" charset="0"/>
                                        <a:ea typeface="Cambria Math" panose="02040503050406030204" pitchFamily="18" charset="0"/>
                                      </a:rPr>
                                      <m:t>𝟏𝟎</m:t>
                                    </m:r>
                                  </m:e>
                                  <m:sup>
                                    <m:r>
                                      <a:rPr lang="en-US" altLang="zh-TW" sz="3600" b="1" i="1" smtClean="0">
                                        <a:solidFill>
                                          <a:schemeClr val="bg1"/>
                                        </a:solidFill>
                                        <a:latin typeface="Cambria Math" panose="02040503050406030204" pitchFamily="18" charset="0"/>
                                        <a:ea typeface="Cambria Math" panose="02040503050406030204" pitchFamily="18" charset="0"/>
                                      </a:rPr>
                                      <m:t>−</m:t>
                                    </m:r>
                                    <m:r>
                                      <a:rPr lang="en-US" altLang="zh-TW" sz="3600" b="1" i="1" smtClean="0">
                                        <a:solidFill>
                                          <a:schemeClr val="bg1"/>
                                        </a:solidFill>
                                        <a:latin typeface="Cambria Math" panose="02040503050406030204" pitchFamily="18" charset="0"/>
                                        <a:ea typeface="Cambria Math" panose="02040503050406030204" pitchFamily="18" charset="0"/>
                                      </a:rPr>
                                      <m:t>𝟐</m:t>
                                    </m:r>
                                  </m:sup>
                                </m:sSup>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solidFill>
                                          <a:schemeClr val="bg1"/>
                                        </a:solidFill>
                                        <a:latin typeface="Cambria Math" panose="02040503050406030204" pitchFamily="18" charset="0"/>
                                      </a:rPr>
                                    </m:ctrlPr>
                                  </m:accPr>
                                  <m:e>
                                    <m:r>
                                      <a:rPr lang="en-US" altLang="zh-TW" sz="3600" b="1" i="1" smtClean="0">
                                        <a:solidFill>
                                          <a:schemeClr val="bg1"/>
                                        </a:solidFill>
                                        <a:latin typeface="Cambria Math" panose="02040503050406030204" pitchFamily="18" charset="0"/>
                                      </a:rPr>
                                      <m:t>𝑴𝑻𝑻𝑭</m:t>
                                    </m:r>
                                  </m:e>
                                </m:acc>
                              </m:oMath>
                            </m:oMathPara>
                          </a14:m>
                          <a:endParaRPr lang="zh-TW" altLang="en-US" sz="3600"/>
                        </a:p>
                      </a:txBody>
                      <a:tcPr/>
                    </a:tc>
                    <a:extLst>
                      <a:ext uri="{0D108BD9-81ED-4DB2-BD59-A6C34878D82A}">
                        <a16:rowId xmlns:a16="http://schemas.microsoft.com/office/drawing/2014/main" val="383531440"/>
                      </a:ext>
                    </a:extLst>
                  </a:tr>
                  <a:tr h="913087">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2.037</a:t>
                          </a:r>
                          <a:endParaRPr lang="zh-TW" altLang="en-US" sz="3600"/>
                        </a:p>
                      </a:txBody>
                      <a:tcPr/>
                    </a:tc>
                    <a:tc>
                      <a:txBody>
                        <a:bodyPr/>
                        <a:lstStyle/>
                        <a:p>
                          <a:pPr algn="ctr">
                            <a:lnSpc>
                              <a:spcPct val="150000"/>
                            </a:lnSpc>
                          </a:pPr>
                          <a:r>
                            <a:rPr lang="en-US" altLang="zh-TW" sz="3600"/>
                            <a:t>1.266</a:t>
                          </a:r>
                          <a:endParaRPr lang="zh-TW" altLang="en-US" sz="3600"/>
                        </a:p>
                      </a:txBody>
                      <a:tcPr/>
                    </a:tc>
                    <a:tc>
                      <a:txBody>
                        <a:bodyPr/>
                        <a:lstStyle/>
                        <a:p>
                          <a:pPr algn="ctr">
                            <a:lnSpc>
                              <a:spcPct val="150000"/>
                            </a:lnSpc>
                          </a:pPr>
                          <a:r>
                            <a:rPr lang="en-US" altLang="zh-TW" sz="3600"/>
                            <a:t>4909.476</a:t>
                          </a:r>
                          <a:endParaRPr lang="zh-TW" altLang="en-US" sz="3600"/>
                        </a:p>
                      </a:txBody>
                      <a:tcPr/>
                    </a:tc>
                    <a:extLst>
                      <a:ext uri="{0D108BD9-81ED-4DB2-BD59-A6C34878D82A}">
                        <a16:rowId xmlns:a16="http://schemas.microsoft.com/office/drawing/2014/main" val="1159809619"/>
                      </a:ext>
                    </a:extLst>
                  </a:tr>
                  <a:tr h="913087">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[1.824,2.276]</a:t>
                          </a:r>
                          <a:endParaRPr lang="zh-TW" altLang="en-US" sz="3600"/>
                        </a:p>
                      </a:txBody>
                      <a:tcPr/>
                    </a:tc>
                    <a:tc>
                      <a:txBody>
                        <a:bodyPr/>
                        <a:lstStyle/>
                        <a:p>
                          <a:pPr algn="ctr">
                            <a:lnSpc>
                              <a:spcPct val="150000"/>
                            </a:lnSpc>
                          </a:pPr>
                          <a:r>
                            <a:rPr lang="en-US" altLang="zh-TW" sz="3600"/>
                            <a:t>[1.029,1.429]</a:t>
                          </a:r>
                          <a:endParaRPr lang="zh-TW" altLang="en-US" sz="3600"/>
                        </a:p>
                      </a:txBody>
                      <a:tcPr/>
                    </a:tc>
                    <a:tc>
                      <a:txBody>
                        <a:bodyPr/>
                        <a:lstStyle/>
                        <a:p>
                          <a:pPr algn="ctr">
                            <a:lnSpc>
                              <a:spcPct val="150000"/>
                            </a:lnSpc>
                          </a:pPr>
                          <a:r>
                            <a:rPr lang="en-US" altLang="zh-TW" sz="3600"/>
                            <a:t>[4393.861,5483.432]</a:t>
                          </a:r>
                          <a:endParaRPr lang="zh-TW" altLang="en-US" sz="3600"/>
                        </a:p>
                      </a:txBody>
                      <a:tcPr/>
                    </a:tc>
                    <a:extLst>
                      <a:ext uri="{0D108BD9-81ED-4DB2-BD59-A6C34878D82A}">
                        <a16:rowId xmlns:a16="http://schemas.microsoft.com/office/drawing/2014/main" val="4069418435"/>
                      </a:ext>
                    </a:extLst>
                  </a:tr>
                </a:tbl>
              </a:graphicData>
            </a:graphic>
          </p:graphicFrame>
        </mc:Choice>
        <mc:Fallback>
          <p:graphicFrame>
            <p:nvGraphicFramePr>
              <p:cNvPr id="3" name="表格 2">
                <a:extLst>
                  <a:ext uri="{FF2B5EF4-FFF2-40B4-BE49-F238E27FC236}">
                    <a16:creationId xmlns:a16="http://schemas.microsoft.com/office/drawing/2014/main" id="{37E10DB8-4260-0459-3ABD-247336616479}"/>
                  </a:ext>
                </a:extLst>
              </p:cNvPr>
              <p:cNvGraphicFramePr>
                <a:graphicFrameLocks noGrp="1"/>
              </p:cNvGraphicFramePr>
              <p:nvPr>
                <p:extLst>
                  <p:ext uri="{D42A27DB-BD31-4B8C-83A1-F6EECF244321}">
                    <p14:modId xmlns:p14="http://schemas.microsoft.com/office/powerpoint/2010/main" val="2341422739"/>
                  </p:ext>
                </p:extLst>
              </p:nvPr>
            </p:nvGraphicFramePr>
            <p:xfrm>
              <a:off x="420622" y="2291182"/>
              <a:ext cx="16751809" cy="2762990"/>
            </p:xfrm>
            <a:graphic>
              <a:graphicData uri="http://schemas.openxmlformats.org/drawingml/2006/table">
                <a:tbl>
                  <a:tblPr firstRow="1" bandRow="1">
                    <a:tableStyleId>{5C22544A-7EE6-4342-B048-85BDC9FD1C3A}</a:tableStyleId>
                  </a:tblPr>
                  <a:tblGrid>
                    <a:gridCol w="3231440">
                      <a:extLst>
                        <a:ext uri="{9D8B030D-6E8A-4147-A177-3AD203B41FA5}">
                          <a16:colId xmlns:a16="http://schemas.microsoft.com/office/drawing/2014/main" val="3837273161"/>
                        </a:ext>
                      </a:extLst>
                    </a:gridCol>
                    <a:gridCol w="4463034">
                      <a:extLst>
                        <a:ext uri="{9D8B030D-6E8A-4147-A177-3AD203B41FA5}">
                          <a16:colId xmlns:a16="http://schemas.microsoft.com/office/drawing/2014/main" val="2596329255"/>
                        </a:ext>
                      </a:extLst>
                    </a:gridCol>
                    <a:gridCol w="4047359">
                      <a:extLst>
                        <a:ext uri="{9D8B030D-6E8A-4147-A177-3AD203B41FA5}">
                          <a16:colId xmlns:a16="http://schemas.microsoft.com/office/drawing/2014/main" val="3166997928"/>
                        </a:ext>
                      </a:extLst>
                    </a:gridCol>
                    <a:gridCol w="5009976">
                      <a:extLst>
                        <a:ext uri="{9D8B030D-6E8A-4147-A177-3AD203B41FA5}">
                          <a16:colId xmlns:a16="http://schemas.microsoft.com/office/drawing/2014/main" val="3864609307"/>
                        </a:ext>
                      </a:extLst>
                    </a:gridCol>
                  </a:tblGrid>
                  <a:tr h="936816">
                    <a:tc>
                      <a:txBody>
                        <a:bodyPr/>
                        <a:lstStyle/>
                        <a:p>
                          <a:pPr algn="ctr">
                            <a:lnSpc>
                              <a:spcPct val="150000"/>
                            </a:lnSpc>
                          </a:pPr>
                          <a:r>
                            <a:rPr lang="en-US" altLang="zh-TW" sz="3600"/>
                            <a:t>Estimator</a:t>
                          </a:r>
                          <a:endParaRPr lang="zh-TW" altLang="en-US" sz="3600"/>
                        </a:p>
                      </a:txBody>
                      <a:tcPr/>
                    </a:tc>
                    <a:tc>
                      <a:txBody>
                        <a:bodyPr/>
                        <a:lstStyle/>
                        <a:p>
                          <a:endParaRPr lang="zh-TW"/>
                        </a:p>
                      </a:txBody>
                      <a:tcPr>
                        <a:blipFill>
                          <a:blip r:embed="rId5"/>
                          <a:stretch>
                            <a:fillRect l="-72934" t="-1351" r="-203989" b="-210811"/>
                          </a:stretch>
                        </a:blipFill>
                      </a:tcPr>
                    </a:tc>
                    <a:tc>
                      <a:txBody>
                        <a:bodyPr/>
                        <a:lstStyle/>
                        <a:p>
                          <a:endParaRPr lang="zh-TW"/>
                        </a:p>
                      </a:txBody>
                      <a:tcPr>
                        <a:blipFill>
                          <a:blip r:embed="rId5"/>
                          <a:stretch>
                            <a:fillRect l="-190282" t="-1351" r="-124451" b="-210811"/>
                          </a:stretch>
                        </a:blipFill>
                      </a:tcPr>
                    </a:tc>
                    <a:tc>
                      <a:txBody>
                        <a:bodyPr/>
                        <a:lstStyle/>
                        <a:p>
                          <a:endParaRPr lang="zh-TW"/>
                        </a:p>
                      </a:txBody>
                      <a:tcPr>
                        <a:blipFill>
                          <a:blip r:embed="rId5"/>
                          <a:stretch>
                            <a:fillRect l="-234430" t="-1351" r="-506" b="-210811"/>
                          </a:stretch>
                        </a:blipFill>
                      </a:tcPr>
                    </a:tc>
                    <a:extLst>
                      <a:ext uri="{0D108BD9-81ED-4DB2-BD59-A6C34878D82A}">
                        <a16:rowId xmlns:a16="http://schemas.microsoft.com/office/drawing/2014/main" val="383531440"/>
                      </a:ext>
                    </a:extLst>
                  </a:tr>
                  <a:tr h="913087">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2.037</a:t>
                          </a:r>
                          <a:endParaRPr lang="zh-TW" altLang="en-US" sz="3600"/>
                        </a:p>
                      </a:txBody>
                      <a:tcPr/>
                    </a:tc>
                    <a:tc>
                      <a:txBody>
                        <a:bodyPr/>
                        <a:lstStyle/>
                        <a:p>
                          <a:pPr algn="ctr">
                            <a:lnSpc>
                              <a:spcPct val="150000"/>
                            </a:lnSpc>
                          </a:pPr>
                          <a:r>
                            <a:rPr lang="en-US" altLang="zh-TW" sz="3600"/>
                            <a:t>1.266</a:t>
                          </a:r>
                          <a:endParaRPr lang="zh-TW" altLang="en-US" sz="3600"/>
                        </a:p>
                      </a:txBody>
                      <a:tcPr/>
                    </a:tc>
                    <a:tc>
                      <a:txBody>
                        <a:bodyPr/>
                        <a:lstStyle/>
                        <a:p>
                          <a:pPr algn="ctr">
                            <a:lnSpc>
                              <a:spcPct val="150000"/>
                            </a:lnSpc>
                          </a:pPr>
                          <a:r>
                            <a:rPr lang="en-US" altLang="zh-TW" sz="3600"/>
                            <a:t>4909.476</a:t>
                          </a:r>
                          <a:endParaRPr lang="zh-TW" altLang="en-US" sz="3600"/>
                        </a:p>
                      </a:txBody>
                      <a:tcPr/>
                    </a:tc>
                    <a:extLst>
                      <a:ext uri="{0D108BD9-81ED-4DB2-BD59-A6C34878D82A}">
                        <a16:rowId xmlns:a16="http://schemas.microsoft.com/office/drawing/2014/main" val="1159809619"/>
                      </a:ext>
                    </a:extLst>
                  </a:tr>
                  <a:tr h="913087">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[1.824,2.276]</a:t>
                          </a:r>
                          <a:endParaRPr lang="zh-TW" altLang="en-US" sz="3600"/>
                        </a:p>
                      </a:txBody>
                      <a:tcPr/>
                    </a:tc>
                    <a:tc>
                      <a:txBody>
                        <a:bodyPr/>
                        <a:lstStyle/>
                        <a:p>
                          <a:pPr algn="ctr">
                            <a:lnSpc>
                              <a:spcPct val="150000"/>
                            </a:lnSpc>
                          </a:pPr>
                          <a:r>
                            <a:rPr lang="en-US" altLang="zh-TW" sz="3600"/>
                            <a:t>[1.029,1.429]</a:t>
                          </a:r>
                          <a:endParaRPr lang="zh-TW" altLang="en-US" sz="3600"/>
                        </a:p>
                      </a:txBody>
                      <a:tcPr/>
                    </a:tc>
                    <a:tc>
                      <a:txBody>
                        <a:bodyPr/>
                        <a:lstStyle/>
                        <a:p>
                          <a:pPr algn="ctr">
                            <a:lnSpc>
                              <a:spcPct val="150000"/>
                            </a:lnSpc>
                          </a:pPr>
                          <a:r>
                            <a:rPr lang="en-US" altLang="zh-TW" sz="3600"/>
                            <a:t>[4393.861,5483.432]</a:t>
                          </a:r>
                          <a:endParaRPr lang="zh-TW" altLang="en-US" sz="3600"/>
                        </a:p>
                      </a:txBody>
                      <a:tcPr/>
                    </a:tc>
                    <a:extLst>
                      <a:ext uri="{0D108BD9-81ED-4DB2-BD59-A6C34878D82A}">
                        <a16:rowId xmlns:a16="http://schemas.microsoft.com/office/drawing/2014/main" val="4069418435"/>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5" name="表格 4">
                <a:extLst>
                  <a:ext uri="{FF2B5EF4-FFF2-40B4-BE49-F238E27FC236}">
                    <a16:creationId xmlns:a16="http://schemas.microsoft.com/office/drawing/2014/main" id="{CB73A5EF-AD45-78B6-DA43-46E7D6A48BC3}"/>
                  </a:ext>
                </a:extLst>
              </p:cNvPr>
              <p:cNvGraphicFramePr>
                <a:graphicFrameLocks noGrp="1"/>
              </p:cNvGraphicFramePr>
              <p:nvPr>
                <p:extLst>
                  <p:ext uri="{D42A27DB-BD31-4B8C-83A1-F6EECF244321}">
                    <p14:modId xmlns:p14="http://schemas.microsoft.com/office/powerpoint/2010/main" val="988105662"/>
                  </p:ext>
                </p:extLst>
              </p:nvPr>
            </p:nvGraphicFramePr>
            <p:xfrm>
              <a:off x="420622" y="5054172"/>
              <a:ext cx="16751807" cy="2576957"/>
            </p:xfrm>
            <a:graphic>
              <a:graphicData uri="http://schemas.openxmlformats.org/drawingml/2006/table">
                <a:tbl>
                  <a:tblPr firstRow="1" bandRow="1">
                    <a:tableStyleId>{5C22544A-7EE6-4342-B048-85BDC9FD1C3A}</a:tableStyleId>
                  </a:tblPr>
                  <a:tblGrid>
                    <a:gridCol w="2409181">
                      <a:extLst>
                        <a:ext uri="{9D8B030D-6E8A-4147-A177-3AD203B41FA5}">
                          <a16:colId xmlns:a16="http://schemas.microsoft.com/office/drawing/2014/main" val="3837273161"/>
                        </a:ext>
                      </a:extLst>
                    </a:gridCol>
                    <a:gridCol w="3052076">
                      <a:extLst>
                        <a:ext uri="{9D8B030D-6E8A-4147-A177-3AD203B41FA5}">
                          <a16:colId xmlns:a16="http://schemas.microsoft.com/office/drawing/2014/main" val="2596329255"/>
                        </a:ext>
                      </a:extLst>
                    </a:gridCol>
                    <a:gridCol w="3180136">
                      <a:extLst>
                        <a:ext uri="{9D8B030D-6E8A-4147-A177-3AD203B41FA5}">
                          <a16:colId xmlns:a16="http://schemas.microsoft.com/office/drawing/2014/main" val="1259817469"/>
                        </a:ext>
                      </a:extLst>
                    </a:gridCol>
                    <a:gridCol w="3500284">
                      <a:extLst>
                        <a:ext uri="{9D8B030D-6E8A-4147-A177-3AD203B41FA5}">
                          <a16:colId xmlns:a16="http://schemas.microsoft.com/office/drawing/2014/main" val="3166997928"/>
                        </a:ext>
                      </a:extLst>
                    </a:gridCol>
                    <a:gridCol w="4610130">
                      <a:extLst>
                        <a:ext uri="{9D8B030D-6E8A-4147-A177-3AD203B41FA5}">
                          <a16:colId xmlns:a16="http://schemas.microsoft.com/office/drawing/2014/main" val="3864609307"/>
                        </a:ext>
                      </a:extLst>
                    </a:gridCol>
                  </a:tblGrid>
                  <a:tr h="607758">
                    <a:tc>
                      <a:txBody>
                        <a:bodyPr/>
                        <a:lstStyle/>
                        <a:p>
                          <a:pPr algn="ctr">
                            <a:lnSpc>
                              <a:spcPct val="150000"/>
                            </a:lnSpc>
                          </a:pPr>
                          <a:r>
                            <a:rPr lang="en-US" altLang="zh-TW" sz="3600"/>
                            <a:t>Estimator</a:t>
                          </a:r>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𝟎𝟏</m:t>
                                        </m:r>
                                      </m:sub>
                                    </m:sSub>
                                  </m:e>
                                </m:acc>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𝟎𝟓</m:t>
                                        </m:r>
                                      </m:sub>
                                    </m:sSub>
                                  </m:e>
                                </m:acc>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𝟏</m:t>
                                        </m:r>
                                      </m:sub>
                                    </m:sSub>
                                  </m:e>
                                </m:acc>
                              </m:oMath>
                            </m:oMathPara>
                          </a14:m>
                          <a:endParaRPr lang="zh-TW" altLang="en-US" sz="3600"/>
                        </a:p>
                      </a:txBody>
                      <a:tcPr/>
                    </a:tc>
                    <a:tc>
                      <a:txBody>
                        <a:bodyP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zh-TW" altLang="en-US" sz="3600" i="1" smtClean="0">
                                        <a:latin typeface="Cambria Math" panose="02040503050406030204" pitchFamily="18" charset="0"/>
                                      </a:rPr>
                                    </m:ctrlPr>
                                  </m:accPr>
                                  <m:e>
                                    <m:sSub>
                                      <m:sSubPr>
                                        <m:ctrlPr>
                                          <a:rPr lang="en-US" altLang="zh-TW" sz="3600" i="1" smtClean="0">
                                            <a:latin typeface="Cambria Math" panose="02040503050406030204" pitchFamily="18" charset="0"/>
                                          </a:rPr>
                                        </m:ctrlPr>
                                      </m:sSubPr>
                                      <m:e>
                                        <m:r>
                                          <a:rPr lang="en-US" altLang="zh-TW" sz="3600" b="1" i="1" smtClean="0">
                                            <a:latin typeface="Cambria Math" panose="02040503050406030204" pitchFamily="18" charset="0"/>
                                          </a:rPr>
                                          <m:t>𝒕</m:t>
                                        </m:r>
                                      </m:e>
                                      <m:sub>
                                        <m:r>
                                          <a:rPr lang="en-US" altLang="zh-TW" sz="3600" b="1" i="1" smtClean="0">
                                            <a:latin typeface="Cambria Math" panose="02040503050406030204" pitchFamily="18" charset="0"/>
                                          </a:rPr>
                                          <m:t>𝟎</m:t>
                                        </m:r>
                                        <m:r>
                                          <a:rPr lang="en-US" altLang="zh-TW" sz="3600" b="1" i="1" smtClean="0">
                                            <a:latin typeface="Cambria Math" panose="02040503050406030204" pitchFamily="18" charset="0"/>
                                          </a:rPr>
                                          <m:t>.</m:t>
                                        </m:r>
                                        <m:r>
                                          <a:rPr lang="en-US" altLang="zh-TW" sz="3600" b="1" i="1" smtClean="0">
                                            <a:latin typeface="Cambria Math" panose="02040503050406030204" pitchFamily="18" charset="0"/>
                                          </a:rPr>
                                          <m:t>𝟓</m:t>
                                        </m:r>
                                      </m:sub>
                                    </m:sSub>
                                  </m:e>
                                </m:acc>
                              </m:oMath>
                            </m:oMathPara>
                          </a14:m>
                          <a:endParaRPr lang="zh-TW" altLang="en-US" sz="3600"/>
                        </a:p>
                      </a:txBody>
                      <a:tcPr/>
                    </a:tc>
                    <a:extLst>
                      <a:ext uri="{0D108BD9-81ED-4DB2-BD59-A6C34878D82A}">
                        <a16:rowId xmlns:a16="http://schemas.microsoft.com/office/drawing/2014/main" val="383531440"/>
                      </a:ext>
                    </a:extLst>
                  </a:tr>
                  <a:tr h="600820">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3980.67</a:t>
                          </a:r>
                          <a:endParaRPr lang="zh-TW" altLang="en-US" sz="3600"/>
                        </a:p>
                      </a:txBody>
                      <a:tcPr/>
                    </a:tc>
                    <a:tc>
                      <a:txBody>
                        <a:bodyPr/>
                        <a:lstStyle/>
                        <a:p>
                          <a:pPr algn="ctr">
                            <a:lnSpc>
                              <a:spcPct val="150000"/>
                            </a:lnSpc>
                          </a:pPr>
                          <a:r>
                            <a:rPr lang="en-US" altLang="zh-TW" sz="3600"/>
                            <a:t>4227.465</a:t>
                          </a:r>
                          <a:endParaRPr lang="zh-TW" altLang="en-US" sz="3600"/>
                        </a:p>
                      </a:txBody>
                      <a:tcPr/>
                    </a:tc>
                    <a:tc>
                      <a:txBody>
                        <a:bodyPr/>
                        <a:lstStyle/>
                        <a:p>
                          <a:pPr algn="ctr">
                            <a:lnSpc>
                              <a:spcPct val="150000"/>
                            </a:lnSpc>
                          </a:pPr>
                          <a:r>
                            <a:rPr lang="en-US" altLang="zh-TW" sz="3600"/>
                            <a:t>4356.482</a:t>
                          </a:r>
                          <a:endParaRPr lang="zh-TW" altLang="en-US" sz="3600"/>
                        </a:p>
                      </a:txBody>
                      <a:tcPr/>
                    </a:tc>
                    <a:tc>
                      <a:txBody>
                        <a:bodyPr/>
                        <a:lstStyle/>
                        <a:p>
                          <a:pPr algn="ctr">
                            <a:lnSpc>
                              <a:spcPct val="150000"/>
                            </a:lnSpc>
                          </a:pPr>
                          <a:r>
                            <a:rPr lang="en-US" altLang="zh-TW" sz="3600"/>
                            <a:t>4890.244</a:t>
                          </a:r>
                          <a:endParaRPr lang="zh-TW" altLang="en-US" sz="3600"/>
                        </a:p>
                      </a:txBody>
                      <a:tcPr/>
                    </a:tc>
                    <a:extLst>
                      <a:ext uri="{0D108BD9-81ED-4DB2-BD59-A6C34878D82A}">
                        <a16:rowId xmlns:a16="http://schemas.microsoft.com/office/drawing/2014/main" val="1159809619"/>
                      </a:ext>
                    </a:extLst>
                  </a:tr>
                  <a:tr h="600820">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[3527,4553]</a:t>
                          </a:r>
                          <a:endParaRPr lang="zh-TW" altLang="en-US" sz="3600"/>
                        </a:p>
                      </a:txBody>
                      <a:tcPr/>
                    </a:tc>
                    <a:tc>
                      <a:txBody>
                        <a:bodyPr/>
                        <a:lstStyle/>
                        <a:p>
                          <a:pPr algn="ctr">
                            <a:lnSpc>
                              <a:spcPct val="150000"/>
                            </a:lnSpc>
                          </a:pPr>
                          <a:r>
                            <a:rPr lang="en-US" altLang="zh-TW" sz="3600"/>
                            <a:t>[3754,4798]</a:t>
                          </a:r>
                          <a:endParaRPr lang="zh-TW" altLang="en-US" sz="3600"/>
                        </a:p>
                      </a:txBody>
                      <a:tcPr/>
                    </a:tc>
                    <a:tc>
                      <a:txBody>
                        <a:bodyPr/>
                        <a:lstStyle/>
                        <a:p>
                          <a:pPr algn="ctr">
                            <a:lnSpc>
                              <a:spcPct val="150000"/>
                            </a:lnSpc>
                          </a:pPr>
                          <a:r>
                            <a:rPr lang="en-US" altLang="zh-TW" sz="3600"/>
                            <a:t>[3885,4941]</a:t>
                          </a:r>
                          <a:endParaRPr lang="zh-TW" altLang="en-US" sz="3600"/>
                        </a:p>
                      </a:txBody>
                      <a:tcPr/>
                    </a:tc>
                    <a:tc>
                      <a:txBody>
                        <a:bodyPr/>
                        <a:lstStyle/>
                        <a:p>
                          <a:pPr algn="ctr">
                            <a:lnSpc>
                              <a:spcPct val="150000"/>
                            </a:lnSpc>
                          </a:pPr>
                          <a:r>
                            <a:rPr lang="en-US" altLang="zh-TW" sz="3600"/>
                            <a:t>[4375,5464]</a:t>
                          </a:r>
                          <a:endParaRPr lang="zh-TW" altLang="en-US" sz="3600"/>
                        </a:p>
                      </a:txBody>
                      <a:tcPr/>
                    </a:tc>
                    <a:extLst>
                      <a:ext uri="{0D108BD9-81ED-4DB2-BD59-A6C34878D82A}">
                        <a16:rowId xmlns:a16="http://schemas.microsoft.com/office/drawing/2014/main" val="4069418435"/>
                      </a:ext>
                    </a:extLst>
                  </a:tr>
                </a:tbl>
              </a:graphicData>
            </a:graphic>
          </p:graphicFrame>
        </mc:Choice>
        <mc:Fallback>
          <p:graphicFrame>
            <p:nvGraphicFramePr>
              <p:cNvPr id="5" name="表格 4">
                <a:extLst>
                  <a:ext uri="{FF2B5EF4-FFF2-40B4-BE49-F238E27FC236}">
                    <a16:creationId xmlns:a16="http://schemas.microsoft.com/office/drawing/2014/main" id="{CB73A5EF-AD45-78B6-DA43-46E7D6A48BC3}"/>
                  </a:ext>
                </a:extLst>
              </p:cNvPr>
              <p:cNvGraphicFramePr>
                <a:graphicFrameLocks noGrp="1"/>
              </p:cNvGraphicFramePr>
              <p:nvPr>
                <p:extLst>
                  <p:ext uri="{D42A27DB-BD31-4B8C-83A1-F6EECF244321}">
                    <p14:modId xmlns:p14="http://schemas.microsoft.com/office/powerpoint/2010/main" val="988105662"/>
                  </p:ext>
                </p:extLst>
              </p:nvPr>
            </p:nvGraphicFramePr>
            <p:xfrm>
              <a:off x="420622" y="5054172"/>
              <a:ext cx="16751807" cy="2576957"/>
            </p:xfrm>
            <a:graphic>
              <a:graphicData uri="http://schemas.openxmlformats.org/drawingml/2006/table">
                <a:tbl>
                  <a:tblPr firstRow="1" bandRow="1">
                    <a:tableStyleId>{5C22544A-7EE6-4342-B048-85BDC9FD1C3A}</a:tableStyleId>
                  </a:tblPr>
                  <a:tblGrid>
                    <a:gridCol w="2409181">
                      <a:extLst>
                        <a:ext uri="{9D8B030D-6E8A-4147-A177-3AD203B41FA5}">
                          <a16:colId xmlns:a16="http://schemas.microsoft.com/office/drawing/2014/main" val="3837273161"/>
                        </a:ext>
                      </a:extLst>
                    </a:gridCol>
                    <a:gridCol w="3052076">
                      <a:extLst>
                        <a:ext uri="{9D8B030D-6E8A-4147-A177-3AD203B41FA5}">
                          <a16:colId xmlns:a16="http://schemas.microsoft.com/office/drawing/2014/main" val="2596329255"/>
                        </a:ext>
                      </a:extLst>
                    </a:gridCol>
                    <a:gridCol w="3180136">
                      <a:extLst>
                        <a:ext uri="{9D8B030D-6E8A-4147-A177-3AD203B41FA5}">
                          <a16:colId xmlns:a16="http://schemas.microsoft.com/office/drawing/2014/main" val="1259817469"/>
                        </a:ext>
                      </a:extLst>
                    </a:gridCol>
                    <a:gridCol w="3500284">
                      <a:extLst>
                        <a:ext uri="{9D8B030D-6E8A-4147-A177-3AD203B41FA5}">
                          <a16:colId xmlns:a16="http://schemas.microsoft.com/office/drawing/2014/main" val="3166997928"/>
                        </a:ext>
                      </a:extLst>
                    </a:gridCol>
                    <a:gridCol w="4610130">
                      <a:extLst>
                        <a:ext uri="{9D8B030D-6E8A-4147-A177-3AD203B41FA5}">
                          <a16:colId xmlns:a16="http://schemas.microsoft.com/office/drawing/2014/main" val="3864609307"/>
                        </a:ext>
                      </a:extLst>
                    </a:gridCol>
                  </a:tblGrid>
                  <a:tr h="918337">
                    <a:tc>
                      <a:txBody>
                        <a:bodyPr/>
                        <a:lstStyle/>
                        <a:p>
                          <a:pPr algn="ctr">
                            <a:lnSpc>
                              <a:spcPct val="150000"/>
                            </a:lnSpc>
                          </a:pPr>
                          <a:r>
                            <a:rPr lang="en-US" altLang="zh-TW" sz="3600"/>
                            <a:t>Estimator</a:t>
                          </a:r>
                          <a:endParaRPr lang="zh-TW" altLang="en-US" sz="3600"/>
                        </a:p>
                      </a:txBody>
                      <a:tcPr/>
                    </a:tc>
                    <a:tc>
                      <a:txBody>
                        <a:bodyPr/>
                        <a:lstStyle/>
                        <a:p>
                          <a:endParaRPr lang="zh-TW"/>
                        </a:p>
                      </a:txBody>
                      <a:tcPr>
                        <a:blipFill>
                          <a:blip r:embed="rId6"/>
                          <a:stretch>
                            <a:fillRect l="-79583" r="-371667" b="-204110"/>
                          </a:stretch>
                        </a:blipFill>
                      </a:tcPr>
                    </a:tc>
                    <a:tc>
                      <a:txBody>
                        <a:bodyPr/>
                        <a:lstStyle/>
                        <a:p>
                          <a:endParaRPr lang="zh-TW"/>
                        </a:p>
                      </a:txBody>
                      <a:tcPr>
                        <a:blipFill>
                          <a:blip r:embed="rId6"/>
                          <a:stretch>
                            <a:fillRect l="-171713" r="-255378" b="-204110"/>
                          </a:stretch>
                        </a:blipFill>
                      </a:tcPr>
                    </a:tc>
                    <a:tc>
                      <a:txBody>
                        <a:bodyPr/>
                        <a:lstStyle/>
                        <a:p>
                          <a:endParaRPr lang="zh-TW"/>
                        </a:p>
                      </a:txBody>
                      <a:tcPr>
                        <a:blipFill>
                          <a:blip r:embed="rId6"/>
                          <a:stretch>
                            <a:fillRect l="-247101" r="-132246" b="-204110"/>
                          </a:stretch>
                        </a:blipFill>
                      </a:tcPr>
                    </a:tc>
                    <a:tc>
                      <a:txBody>
                        <a:bodyPr/>
                        <a:lstStyle/>
                        <a:p>
                          <a:endParaRPr lang="zh-TW"/>
                        </a:p>
                      </a:txBody>
                      <a:tcPr>
                        <a:blipFill>
                          <a:blip r:embed="rId6"/>
                          <a:stretch>
                            <a:fillRect l="-263912" r="-551" b="-204110"/>
                          </a:stretch>
                        </a:blipFill>
                      </a:tcPr>
                    </a:tc>
                    <a:extLst>
                      <a:ext uri="{0D108BD9-81ED-4DB2-BD59-A6C34878D82A}">
                        <a16:rowId xmlns:a16="http://schemas.microsoft.com/office/drawing/2014/main" val="383531440"/>
                      </a:ext>
                    </a:extLst>
                  </a:tr>
                  <a:tr h="829310">
                    <a:tc>
                      <a:txBody>
                        <a:bodyPr/>
                        <a:lstStyle/>
                        <a:p>
                          <a:pPr algn="ctr">
                            <a:lnSpc>
                              <a:spcPct val="150000"/>
                            </a:lnSpc>
                          </a:pPr>
                          <a:r>
                            <a:rPr lang="en-US" altLang="zh-TW" sz="3600"/>
                            <a:t>MLE</a:t>
                          </a:r>
                          <a:endParaRPr lang="zh-TW" altLang="en-US" sz="3600"/>
                        </a:p>
                      </a:txBody>
                      <a:tcPr/>
                    </a:tc>
                    <a:tc>
                      <a:txBody>
                        <a:bodyPr/>
                        <a:lstStyle/>
                        <a:p>
                          <a:pPr algn="ctr">
                            <a:lnSpc>
                              <a:spcPct val="150000"/>
                            </a:lnSpc>
                          </a:pPr>
                          <a:r>
                            <a:rPr lang="en-US" altLang="zh-TW" sz="3600"/>
                            <a:t>3980.67</a:t>
                          </a:r>
                          <a:endParaRPr lang="zh-TW" altLang="en-US" sz="3600"/>
                        </a:p>
                      </a:txBody>
                      <a:tcPr/>
                    </a:tc>
                    <a:tc>
                      <a:txBody>
                        <a:bodyPr/>
                        <a:lstStyle/>
                        <a:p>
                          <a:pPr algn="ctr">
                            <a:lnSpc>
                              <a:spcPct val="150000"/>
                            </a:lnSpc>
                          </a:pPr>
                          <a:r>
                            <a:rPr lang="en-US" altLang="zh-TW" sz="3600"/>
                            <a:t>4227.465</a:t>
                          </a:r>
                          <a:endParaRPr lang="zh-TW" altLang="en-US" sz="3600"/>
                        </a:p>
                      </a:txBody>
                      <a:tcPr/>
                    </a:tc>
                    <a:tc>
                      <a:txBody>
                        <a:bodyPr/>
                        <a:lstStyle/>
                        <a:p>
                          <a:pPr algn="ctr">
                            <a:lnSpc>
                              <a:spcPct val="150000"/>
                            </a:lnSpc>
                          </a:pPr>
                          <a:r>
                            <a:rPr lang="en-US" altLang="zh-TW" sz="3600"/>
                            <a:t>4356.482</a:t>
                          </a:r>
                          <a:endParaRPr lang="zh-TW" altLang="en-US" sz="3600"/>
                        </a:p>
                      </a:txBody>
                      <a:tcPr/>
                    </a:tc>
                    <a:tc>
                      <a:txBody>
                        <a:bodyPr/>
                        <a:lstStyle/>
                        <a:p>
                          <a:pPr algn="ctr">
                            <a:lnSpc>
                              <a:spcPct val="150000"/>
                            </a:lnSpc>
                          </a:pPr>
                          <a:r>
                            <a:rPr lang="en-US" altLang="zh-TW" sz="3600"/>
                            <a:t>4890.244</a:t>
                          </a:r>
                          <a:endParaRPr lang="zh-TW" altLang="en-US" sz="3600"/>
                        </a:p>
                      </a:txBody>
                      <a:tcPr/>
                    </a:tc>
                    <a:extLst>
                      <a:ext uri="{0D108BD9-81ED-4DB2-BD59-A6C34878D82A}">
                        <a16:rowId xmlns:a16="http://schemas.microsoft.com/office/drawing/2014/main" val="1159809619"/>
                      </a:ext>
                    </a:extLst>
                  </a:tr>
                  <a:tr h="829310">
                    <a:tc>
                      <a:txBody>
                        <a:bodyPr/>
                        <a:lstStyle/>
                        <a:p>
                          <a:pPr algn="ctr">
                            <a:lnSpc>
                              <a:spcPct val="150000"/>
                            </a:lnSpc>
                          </a:pPr>
                          <a:r>
                            <a:rPr lang="en-US" altLang="zh-TW" sz="3600"/>
                            <a:t>95% CI</a:t>
                          </a:r>
                          <a:endParaRPr lang="zh-TW" altLang="en-US" sz="3600"/>
                        </a:p>
                      </a:txBody>
                      <a:tcPr/>
                    </a:tc>
                    <a:tc>
                      <a:txBody>
                        <a:bodyPr/>
                        <a:lstStyle/>
                        <a:p>
                          <a:pPr algn="ctr">
                            <a:lnSpc>
                              <a:spcPct val="150000"/>
                            </a:lnSpc>
                          </a:pPr>
                          <a:r>
                            <a:rPr lang="en-US" altLang="zh-TW" sz="3600"/>
                            <a:t>[3527,4553]</a:t>
                          </a:r>
                          <a:endParaRPr lang="zh-TW" altLang="en-US" sz="3600"/>
                        </a:p>
                      </a:txBody>
                      <a:tcPr/>
                    </a:tc>
                    <a:tc>
                      <a:txBody>
                        <a:bodyPr/>
                        <a:lstStyle/>
                        <a:p>
                          <a:pPr algn="ctr">
                            <a:lnSpc>
                              <a:spcPct val="150000"/>
                            </a:lnSpc>
                          </a:pPr>
                          <a:r>
                            <a:rPr lang="en-US" altLang="zh-TW" sz="3600"/>
                            <a:t>[3754,4798]</a:t>
                          </a:r>
                          <a:endParaRPr lang="zh-TW" altLang="en-US" sz="3600"/>
                        </a:p>
                      </a:txBody>
                      <a:tcPr/>
                    </a:tc>
                    <a:tc>
                      <a:txBody>
                        <a:bodyPr/>
                        <a:lstStyle/>
                        <a:p>
                          <a:pPr algn="ctr">
                            <a:lnSpc>
                              <a:spcPct val="150000"/>
                            </a:lnSpc>
                          </a:pPr>
                          <a:r>
                            <a:rPr lang="en-US" altLang="zh-TW" sz="3600"/>
                            <a:t>[3885,4941]</a:t>
                          </a:r>
                          <a:endParaRPr lang="zh-TW" altLang="en-US" sz="3600"/>
                        </a:p>
                      </a:txBody>
                      <a:tcPr/>
                    </a:tc>
                    <a:tc>
                      <a:txBody>
                        <a:bodyPr/>
                        <a:lstStyle/>
                        <a:p>
                          <a:pPr algn="ctr">
                            <a:lnSpc>
                              <a:spcPct val="150000"/>
                            </a:lnSpc>
                          </a:pPr>
                          <a:r>
                            <a:rPr lang="en-US" altLang="zh-TW" sz="3600"/>
                            <a:t>[4375,5464]</a:t>
                          </a:r>
                          <a:endParaRPr lang="zh-TW" altLang="en-US" sz="3600"/>
                        </a:p>
                      </a:txBody>
                      <a:tcPr/>
                    </a:tc>
                    <a:extLst>
                      <a:ext uri="{0D108BD9-81ED-4DB2-BD59-A6C34878D82A}">
                        <a16:rowId xmlns:a16="http://schemas.microsoft.com/office/drawing/2014/main" val="4069418435"/>
                      </a:ext>
                    </a:extLst>
                  </a:tr>
                </a:tbl>
              </a:graphicData>
            </a:graphic>
          </p:graphicFrame>
        </mc:Fallback>
      </mc:AlternateContent>
      <p:graphicFrame>
        <p:nvGraphicFramePr>
          <p:cNvPr id="6" name="表格 5">
            <a:extLst>
              <a:ext uri="{FF2B5EF4-FFF2-40B4-BE49-F238E27FC236}">
                <a16:creationId xmlns:a16="http://schemas.microsoft.com/office/drawing/2014/main" id="{EEB6BC58-6983-733F-E33F-53EBA68968A3}"/>
              </a:ext>
            </a:extLst>
          </p:cNvPr>
          <p:cNvGraphicFramePr>
            <a:graphicFrameLocks noGrp="1"/>
          </p:cNvGraphicFramePr>
          <p:nvPr>
            <p:extLst>
              <p:ext uri="{D42A27DB-BD31-4B8C-83A1-F6EECF244321}">
                <p14:modId xmlns:p14="http://schemas.microsoft.com/office/powerpoint/2010/main" val="2426653754"/>
              </p:ext>
            </p:extLst>
          </p:nvPr>
        </p:nvGraphicFramePr>
        <p:xfrm>
          <a:off x="420620" y="7630734"/>
          <a:ext cx="16751808" cy="1481414"/>
        </p:xfrm>
        <a:graphic>
          <a:graphicData uri="http://schemas.openxmlformats.org/drawingml/2006/table">
            <a:tbl>
              <a:tblPr firstRow="1" bandRow="1">
                <a:tableStyleId>{5C22544A-7EE6-4342-B048-85BDC9FD1C3A}</a:tableStyleId>
              </a:tblPr>
              <a:tblGrid>
                <a:gridCol w="8375904">
                  <a:extLst>
                    <a:ext uri="{9D8B030D-6E8A-4147-A177-3AD203B41FA5}">
                      <a16:colId xmlns:a16="http://schemas.microsoft.com/office/drawing/2014/main" val="284106209"/>
                    </a:ext>
                  </a:extLst>
                </a:gridCol>
                <a:gridCol w="8375904">
                  <a:extLst>
                    <a:ext uri="{9D8B030D-6E8A-4147-A177-3AD203B41FA5}">
                      <a16:colId xmlns:a16="http://schemas.microsoft.com/office/drawing/2014/main" val="2983315810"/>
                    </a:ext>
                  </a:extLst>
                </a:gridCol>
              </a:tblGrid>
              <a:tr h="740707">
                <a:tc>
                  <a:txBody>
                    <a:bodyPr/>
                    <a:lstStyle/>
                    <a:p>
                      <a:pPr algn="ctr"/>
                      <a:r>
                        <a:rPr lang="en-US" altLang="zh-TW" sz="3600"/>
                        <a:t>RMSE</a:t>
                      </a:r>
                      <a:endParaRPr lang="zh-TW" altLang="en-US" sz="3600"/>
                    </a:p>
                  </a:txBody>
                  <a:tcPr/>
                </a:tc>
                <a:tc>
                  <a:txBody>
                    <a:bodyPr/>
                    <a:lstStyle/>
                    <a:p>
                      <a:pPr algn="ctr"/>
                      <a:r>
                        <a:rPr lang="en-US" altLang="zh-TW" sz="3600"/>
                        <a:t>AD Test</a:t>
                      </a:r>
                      <a:endParaRPr lang="zh-TW" altLang="en-US" sz="3600"/>
                    </a:p>
                  </a:txBody>
                  <a:tcPr/>
                </a:tc>
                <a:extLst>
                  <a:ext uri="{0D108BD9-81ED-4DB2-BD59-A6C34878D82A}">
                    <a16:rowId xmlns:a16="http://schemas.microsoft.com/office/drawing/2014/main" val="2332893137"/>
                  </a:ext>
                </a:extLst>
              </a:tr>
              <a:tr h="740707">
                <a:tc>
                  <a:txBody>
                    <a:bodyPr/>
                    <a:lstStyle/>
                    <a:p>
                      <a:pPr algn="ctr"/>
                      <a:r>
                        <a:rPr lang="en-US" altLang="zh-TW" sz="3600"/>
                        <a:t> 0.2078</a:t>
                      </a:r>
                      <a:endParaRPr lang="zh-TW" altLang="en-US" sz="3600"/>
                    </a:p>
                  </a:txBody>
                  <a:tcPr/>
                </a:tc>
                <a:tc>
                  <a:txBody>
                    <a:bodyPr/>
                    <a:lstStyle/>
                    <a:p>
                      <a:pPr algn="ctr"/>
                      <a:r>
                        <a:rPr lang="en-US" altLang="zh-TW" sz="3600"/>
                        <a:t>0.0740</a:t>
                      </a:r>
                      <a:endParaRPr lang="zh-TW" altLang="en-US" sz="3600"/>
                    </a:p>
                  </a:txBody>
                  <a:tcPr/>
                </a:tc>
                <a:extLst>
                  <a:ext uri="{0D108BD9-81ED-4DB2-BD59-A6C34878D82A}">
                    <a16:rowId xmlns:a16="http://schemas.microsoft.com/office/drawing/2014/main" val="3486205923"/>
                  </a:ext>
                </a:extLst>
              </a:tr>
            </a:tbl>
          </a:graphicData>
        </a:graphic>
      </p:graphicFrame>
    </p:spTree>
    <p:extLst>
      <p:ext uri="{BB962C8B-B14F-4D97-AF65-F5344CB8AC3E}">
        <p14:creationId xmlns:p14="http://schemas.microsoft.com/office/powerpoint/2010/main" val="33876052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pic>
        <p:nvPicPr>
          <p:cNvPr id="8" name="圖片 7">
            <a:extLst>
              <a:ext uri="{FF2B5EF4-FFF2-40B4-BE49-F238E27FC236}">
                <a16:creationId xmlns:a16="http://schemas.microsoft.com/office/drawing/2014/main" id="{F24BFCF3-08CC-E073-0B4A-CBFBCC01FA80}"/>
              </a:ext>
            </a:extLst>
          </p:cNvPr>
          <p:cNvPicPr>
            <a:picLocks noChangeAspect="1"/>
          </p:cNvPicPr>
          <p:nvPr/>
        </p:nvPicPr>
        <p:blipFill>
          <a:blip r:embed="rId4"/>
          <a:stretch>
            <a:fillRect/>
          </a:stretch>
        </p:blipFill>
        <p:spPr>
          <a:xfrm>
            <a:off x="4520943" y="4532171"/>
            <a:ext cx="7789201" cy="5308197"/>
          </a:xfrm>
          <a:prstGeom prst="rect">
            <a:avLst/>
          </a:prstGeom>
        </p:spPr>
      </p:pic>
      <p:sp>
        <p:nvSpPr>
          <p:cNvPr id="9" name="文字方塊 8">
            <a:extLst>
              <a:ext uri="{FF2B5EF4-FFF2-40B4-BE49-F238E27FC236}">
                <a16:creationId xmlns:a16="http://schemas.microsoft.com/office/drawing/2014/main" id="{70F77028-6AF7-EC84-007A-E070D710ADDE}"/>
              </a:ext>
            </a:extLst>
          </p:cNvPr>
          <p:cNvSpPr txBox="1"/>
          <p:nvPr/>
        </p:nvSpPr>
        <p:spPr>
          <a:xfrm>
            <a:off x="1152939" y="2002363"/>
            <a:ext cx="14525211" cy="2554545"/>
          </a:xfrm>
          <a:prstGeom prst="rect">
            <a:avLst/>
          </a:prstGeom>
          <a:noFill/>
        </p:spPr>
        <p:txBody>
          <a:bodyPr wrap="square">
            <a:spAutoFit/>
          </a:bodyPr>
          <a:lstStyle/>
          <a:p>
            <a:pPr marL="457200" indent="-457200">
              <a:buFont typeface="Arial" panose="020B0604020202020204" pitchFamily="34" charset="0"/>
              <a:buChar char="•"/>
            </a:pPr>
            <a:r>
              <a:rPr lang="en" altLang="zh-TW" sz="4000">
                <a:solidFill>
                  <a:srgbClr val="000000"/>
                </a:solidFill>
                <a:effectLst/>
              </a:rPr>
              <a:t>M1 is fitted better than M2</a:t>
            </a:r>
            <a:r>
              <a:rPr lang="en" altLang="zh-TW" sz="4000">
                <a:solidFill>
                  <a:srgbClr val="000000"/>
                </a:solidFill>
              </a:rPr>
              <a:t>, but is not adequately.</a:t>
            </a:r>
          </a:p>
          <a:p>
            <a:pPr marL="457200" indent="-457200">
              <a:buFont typeface="Arial" panose="020B0604020202020204" pitchFamily="34" charset="0"/>
              <a:buChar char="•"/>
            </a:pPr>
            <a:r>
              <a:rPr lang="en" altLang="zh-TW" sz="4000">
                <a:solidFill>
                  <a:srgbClr val="000000"/>
                </a:solidFill>
                <a:effectLst/>
              </a:rPr>
              <a:t>Since the </a:t>
            </a:r>
            <a:r>
              <a:rPr lang="en" altLang="zh-TW" sz="4000">
                <a:solidFill>
                  <a:srgbClr val="000000"/>
                </a:solidFill>
              </a:rPr>
              <a:t>increment in the laser data is positive, maybe we can try to use the Gamma process to fit the model or take both stochastic process and random effect into consideration.</a:t>
            </a:r>
            <a:endParaRPr lang="en" altLang="zh-TW" sz="4000">
              <a:solidFill>
                <a:srgbClr val="000000"/>
              </a:solidFill>
              <a:effectLst/>
            </a:endParaRPr>
          </a:p>
        </p:txBody>
      </p:sp>
    </p:spTree>
    <p:extLst>
      <p:ext uri="{BB962C8B-B14F-4D97-AF65-F5344CB8AC3E}">
        <p14:creationId xmlns:p14="http://schemas.microsoft.com/office/powerpoint/2010/main" val="9964344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14938847" y="-5577476"/>
            <a:ext cx="9279264" cy="9262392"/>
          </a:xfrm>
          <a:custGeom>
            <a:avLst/>
            <a:gdLst/>
            <a:ahLst/>
            <a:cxnLst/>
            <a:rect l="l" t="t" r="r" b="b"/>
            <a:pathLst>
              <a:path w="9279264" h="9262392">
                <a:moveTo>
                  <a:pt x="0" y="0"/>
                </a:moveTo>
                <a:lnTo>
                  <a:pt x="9279264" y="0"/>
                </a:lnTo>
                <a:lnTo>
                  <a:pt x="9279264" y="9262392"/>
                </a:lnTo>
                <a:lnTo>
                  <a:pt x="0" y="9262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7" name="Freeform 17"/>
          <p:cNvSpPr/>
          <p:nvPr/>
        </p:nvSpPr>
        <p:spPr>
          <a:xfrm>
            <a:off x="-6187549" y="7481501"/>
            <a:ext cx="9279264" cy="9262392"/>
          </a:xfrm>
          <a:custGeom>
            <a:avLst/>
            <a:gdLst/>
            <a:ahLst/>
            <a:cxnLst/>
            <a:rect l="l" t="t" r="r" b="b"/>
            <a:pathLst>
              <a:path w="9279264" h="9262392">
                <a:moveTo>
                  <a:pt x="0" y="0"/>
                </a:moveTo>
                <a:lnTo>
                  <a:pt x="9279263" y="0"/>
                </a:lnTo>
                <a:lnTo>
                  <a:pt x="9279263" y="9262393"/>
                </a:lnTo>
                <a:lnTo>
                  <a:pt x="0" y="9262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2" name="文字方塊 1">
            <a:extLst>
              <a:ext uri="{FF2B5EF4-FFF2-40B4-BE49-F238E27FC236}">
                <a16:creationId xmlns:a16="http://schemas.microsoft.com/office/drawing/2014/main" id="{41460E1E-4129-1853-9C1C-288FB4CB703E}"/>
              </a:ext>
            </a:extLst>
          </p:cNvPr>
          <p:cNvSpPr txBox="1"/>
          <p:nvPr/>
        </p:nvSpPr>
        <p:spPr>
          <a:xfrm>
            <a:off x="2385391" y="2981739"/>
            <a:ext cx="184731" cy="369332"/>
          </a:xfrm>
          <a:prstGeom prst="rect">
            <a:avLst/>
          </a:prstGeom>
          <a:noFill/>
        </p:spPr>
        <p:txBody>
          <a:bodyPr wrap="none" rtlCol="0">
            <a:spAutoFit/>
          </a:bodyPr>
          <a:lstStyle/>
          <a:p>
            <a:endParaRPr kumimoji="1" lang="zh-TW" altLang="en-US"/>
          </a:p>
        </p:txBody>
      </p:sp>
      <p:sp>
        <p:nvSpPr>
          <p:cNvPr id="4" name="文字方塊 3">
            <a:extLst>
              <a:ext uri="{FF2B5EF4-FFF2-40B4-BE49-F238E27FC236}">
                <a16:creationId xmlns:a16="http://schemas.microsoft.com/office/drawing/2014/main" id="{547E1FC4-2190-119A-D656-4F2BA2F8F078}"/>
              </a:ext>
            </a:extLst>
          </p:cNvPr>
          <p:cNvSpPr txBox="1"/>
          <p:nvPr/>
        </p:nvSpPr>
        <p:spPr>
          <a:xfrm>
            <a:off x="977529" y="1480959"/>
            <a:ext cx="13612976" cy="4585871"/>
          </a:xfrm>
          <a:prstGeom prst="rect">
            <a:avLst/>
          </a:prstGeom>
          <a:noFill/>
        </p:spPr>
        <p:txBody>
          <a:bodyPr wrap="square">
            <a:spAutoFit/>
          </a:bodyPr>
          <a:lstStyle/>
          <a:p>
            <a:pPr marL="457200" indent="-457200">
              <a:buFont typeface="Arial" panose="020B0604020202020204" pitchFamily="34" charset="0"/>
              <a:buChar char="•"/>
            </a:pPr>
            <a:r>
              <a:rPr lang="en-US" altLang="zh-TW" sz="4000" dirty="0">
                <a:solidFill>
                  <a:srgbClr val="000000"/>
                </a:solidFill>
                <a:effectLst/>
              </a:rPr>
              <a:t>References</a:t>
            </a:r>
          </a:p>
          <a:p>
            <a:pPr marL="914400" lvl="1" indent="-457200">
              <a:buFont typeface="Arial" panose="020B0604020202020204" pitchFamily="34" charset="0"/>
              <a:buChar char="•"/>
            </a:pPr>
            <a:r>
              <a:rPr lang="en-US" altLang="zh-TW" sz="3600" dirty="0">
                <a:solidFill>
                  <a:srgbClr val="000000"/>
                </a:solidFill>
                <a:effectLst/>
                <a:hlinkClick r:id="rId4"/>
              </a:rPr>
              <a:t>https://www.itl.nist.gov/div898/handbook/index.htm</a:t>
            </a:r>
            <a:endParaRPr lang="en-US" altLang="zh-TW" sz="3600" dirty="0">
              <a:solidFill>
                <a:srgbClr val="000000"/>
              </a:solidFill>
              <a:effectLst/>
            </a:endParaRPr>
          </a:p>
          <a:p>
            <a:pPr marL="914400" lvl="1" indent="-457200">
              <a:buFont typeface="Arial" panose="020B0604020202020204" pitchFamily="34" charset="0"/>
              <a:buChar char="•"/>
            </a:pPr>
            <a:r>
              <a:rPr lang="en-US" altLang="zh-TW" sz="3600" dirty="0">
                <a:solidFill>
                  <a:srgbClr val="000000"/>
                </a:solidFill>
                <a:effectLst/>
              </a:rPr>
              <a:t>Meeker WQ, Escobar LA. “Statistical Methods for Reliability Data”.</a:t>
            </a:r>
          </a:p>
          <a:p>
            <a:pPr marL="914400" lvl="1" indent="-457200">
              <a:buFont typeface="Arial" panose="020B0604020202020204" pitchFamily="34" charset="0"/>
              <a:buChar char="•"/>
            </a:pPr>
            <a:r>
              <a:rPr lang="en-US" altLang="zh-TW" sz="3600" dirty="0">
                <a:solidFill>
                  <a:srgbClr val="000000"/>
                </a:solidFill>
                <a:effectLst/>
              </a:rPr>
              <a:t>C. Y. Peng and S. T. Tseng, “Mis-specification analysis of linear degradation models”.</a:t>
            </a:r>
          </a:p>
          <a:p>
            <a:pPr marL="914400" lvl="1" indent="-457200">
              <a:buFont typeface="Arial" panose="020B0604020202020204" pitchFamily="34" charset="0"/>
              <a:buChar char="•"/>
            </a:pPr>
            <a:r>
              <a:rPr lang="en" altLang="zh-TW" sz="3600" dirty="0">
                <a:solidFill>
                  <a:srgbClr val="000000"/>
                </a:solidFill>
                <a:effectLst/>
              </a:rPr>
              <a:t>Y. F. Wang, Y. F. Huang and W. C. Liao, “</a:t>
            </a:r>
            <a:r>
              <a:rPr lang="en-US" altLang="zh-TW" sz="3600" dirty="0">
                <a:solidFill>
                  <a:srgbClr val="000000"/>
                </a:solidFill>
                <a:effectLst/>
              </a:rPr>
              <a:t>Degradation analysis on trend gamma process”.</a:t>
            </a:r>
          </a:p>
          <a:p>
            <a:pPr marL="914400" lvl="1" indent="-457200">
              <a:buFont typeface="Arial" panose="020B0604020202020204" pitchFamily="34" charset="0"/>
              <a:buChar char="•"/>
            </a:pPr>
            <a:r>
              <a:rPr lang="zh-TW" altLang="en-US" sz="3600" dirty="0">
                <a:solidFill>
                  <a:srgbClr val="000000"/>
                </a:solidFill>
              </a:rPr>
              <a:t>資工系 許書涵老師</a:t>
            </a:r>
            <a:r>
              <a:rPr lang="en-US" altLang="zh-TW" sz="3600" dirty="0">
                <a:solidFill>
                  <a:srgbClr val="000000"/>
                </a:solidFill>
              </a:rPr>
              <a:t>—</a:t>
            </a:r>
            <a:r>
              <a:rPr lang="zh-TW" altLang="en-US" sz="3600" dirty="0">
                <a:solidFill>
                  <a:srgbClr val="000000"/>
                </a:solidFill>
              </a:rPr>
              <a:t>可靠度資料分析</a:t>
            </a:r>
            <a:endParaRPr lang="en" altLang="zh-TW" sz="3600" dirty="0">
              <a:solidFill>
                <a:srgbClr val="000000"/>
              </a:solidFill>
              <a:effectLst/>
            </a:endParaRPr>
          </a:p>
        </p:txBody>
      </p:sp>
    </p:spTree>
    <p:extLst>
      <p:ext uri="{BB962C8B-B14F-4D97-AF65-F5344CB8AC3E}">
        <p14:creationId xmlns:p14="http://schemas.microsoft.com/office/powerpoint/2010/main" val="2697826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0</TotalTime>
  <Words>1647</Words>
  <Application>Microsoft Macintosh PowerPoint</Application>
  <PresentationFormat>自訂</PresentationFormat>
  <Paragraphs>239</Paragraphs>
  <Slides>36</Slides>
  <Notes>5</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36</vt:i4>
      </vt:variant>
    </vt:vector>
  </HeadingPairs>
  <TitlesOfParts>
    <vt:vector size="48" baseType="lpstr">
      <vt:lpstr>思源宋体 Bold</vt:lpstr>
      <vt:lpstr>標楷體</vt:lpstr>
      <vt:lpstr>Söhne</vt:lpstr>
      <vt:lpstr>Songti SC</vt:lpstr>
      <vt:lpstr>Aptos</vt:lpstr>
      <vt:lpstr>Arial</vt:lpstr>
      <vt:lpstr>Calibri</vt:lpstr>
      <vt:lpstr>Cambria Math</vt:lpstr>
      <vt:lpstr>Castellar</vt:lpstr>
      <vt:lpstr>Helvetica</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cp:lastModifiedBy>李易庭</cp:lastModifiedBy>
  <cp:revision>1</cp:revision>
  <dcterms:created xsi:type="dcterms:W3CDTF">2006-08-16T00:00:00Z</dcterms:created>
  <dcterms:modified xsi:type="dcterms:W3CDTF">2024-04-29T12:58:33Z</dcterms:modified>
  <dc:identifier>DAGDJonF_os</dc:identifier>
</cp:coreProperties>
</file>