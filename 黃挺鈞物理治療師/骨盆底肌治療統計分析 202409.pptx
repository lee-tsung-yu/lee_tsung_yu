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7"/>
  </p:notesMasterIdLst>
  <p:sldIdLst>
    <p:sldId id="436" r:id="rId2"/>
    <p:sldId id="461" r:id="rId3"/>
    <p:sldId id="592" r:id="rId4"/>
    <p:sldId id="11609" r:id="rId5"/>
    <p:sldId id="11610" r:id="rId6"/>
    <p:sldId id="11611" r:id="rId7"/>
    <p:sldId id="11612" r:id="rId8"/>
    <p:sldId id="11614" r:id="rId9"/>
    <p:sldId id="11615" r:id="rId10"/>
    <p:sldId id="11616" r:id="rId11"/>
    <p:sldId id="11617" r:id="rId12"/>
    <p:sldId id="11618" r:id="rId13"/>
    <p:sldId id="11619" r:id="rId14"/>
    <p:sldId id="11620" r:id="rId15"/>
    <p:sldId id="11621" r:id="rId16"/>
    <p:sldId id="11622" r:id="rId17"/>
    <p:sldId id="11623" r:id="rId18"/>
    <p:sldId id="11624" r:id="rId19"/>
    <p:sldId id="11625" r:id="rId20"/>
    <p:sldId id="11626" r:id="rId21"/>
    <p:sldId id="11627" r:id="rId22"/>
    <p:sldId id="11632" r:id="rId23"/>
    <p:sldId id="11633" r:id="rId24"/>
    <p:sldId id="11628" r:id="rId25"/>
    <p:sldId id="11629" r:id="rId26"/>
    <p:sldId id="11634" r:id="rId27"/>
    <p:sldId id="11635" r:id="rId28"/>
    <p:sldId id="11638" r:id="rId29"/>
    <p:sldId id="11639" r:id="rId30"/>
    <p:sldId id="11630" r:id="rId31"/>
    <p:sldId id="11631" r:id="rId32"/>
    <p:sldId id="11636" r:id="rId33"/>
    <p:sldId id="11637" r:id="rId34"/>
    <p:sldId id="11640" r:id="rId35"/>
    <p:sldId id="11641" r:id="rId36"/>
  </p:sldIdLst>
  <p:sldSz cx="12192000" cy="6858000"/>
  <p:notesSz cx="6858000" cy="9144000"/>
  <p:custDataLst>
    <p:tags r:id="rId3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816" autoAdjust="0"/>
    <p:restoredTop sz="89136" autoAdjust="0"/>
  </p:normalViewPr>
  <p:slideViewPr>
    <p:cSldViewPr snapToGrid="0" showGuides="1">
      <p:cViewPr varScale="1">
        <p:scale>
          <a:sx n="73" d="100"/>
          <a:sy n="73" d="100"/>
        </p:scale>
        <p:origin x="941" y="91"/>
      </p:cViewPr>
      <p:guideLst>
        <p:guide orient="horz" pos="2183"/>
        <p:guide pos="3840"/>
      </p:guideLst>
    </p:cSldViewPr>
  </p:slideViewPr>
  <p:notesTextViewPr>
    <p:cViewPr>
      <p:scale>
        <a:sx n="1" d="1"/>
        <a:sy n="1" d="1"/>
      </p:scale>
      <p:origin x="0" y="0"/>
    </p:cViewPr>
  </p:notesTextViewPr>
  <p:sorterViewPr>
    <p:cViewPr varScale="1">
      <p:scale>
        <a:sx n="1" d="1"/>
        <a:sy n="1" d="1"/>
      </p:scale>
      <p:origin x="0" y="0"/>
    </p:cViewPr>
  </p:sorter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黑体 CN Medium" panose="020B0600000000000000" pitchFamily="34" charset="-122"/>
                <a:ea typeface="思源黑体 CN Medium" panose="020B0600000000000000" pitchFamily="3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黑体 CN Medium" panose="020B0600000000000000" pitchFamily="34" charset="-122"/>
                <a:ea typeface="思源黑体 CN Medium" panose="020B0600000000000000" pitchFamily="34" charset="-122"/>
              </a:defRPr>
            </a:lvl1pPr>
          </a:lstStyle>
          <a:p>
            <a:fld id="{42DB6BBA-35AC-4C23-AAF0-9ABB5E4986B6}" type="datetimeFigureOut">
              <a:rPr lang="zh-CN" altLang="en-US" smtClean="0"/>
              <a:t>2024/9/9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黑体 CN Medium" panose="020B0600000000000000" pitchFamily="34" charset="-122"/>
                <a:ea typeface="思源黑体 CN Medium" panose="020B0600000000000000" pitchFamily="3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黑体 CN Medium" panose="020B0600000000000000" pitchFamily="34" charset="-122"/>
                <a:ea typeface="思源黑体 CN Medium" panose="020B0600000000000000" pitchFamily="34" charset="-122"/>
              </a:defRPr>
            </a:lvl1pPr>
          </a:lstStyle>
          <a:p>
            <a:fld id="{64D26F9E-6EDA-4219-86D3-A755607105A4}" type="slidenum">
              <a:rPr lang="zh-CN" altLang="en-US" smtClean="0"/>
              <a:t>‹#›</a:t>
            </a:fld>
            <a:endParaRPr lang="zh-CN" altLang="en-US"/>
          </a:p>
        </p:txBody>
      </p:sp>
    </p:spTree>
    <p:extLst>
      <p:ext uri="{BB962C8B-B14F-4D97-AF65-F5344CB8AC3E}">
        <p14:creationId xmlns:p14="http://schemas.microsoft.com/office/powerpoint/2010/main" val="3985012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黑体 CN Medium" panose="020B0600000000000000" pitchFamily="34" charset="-122"/>
        <a:ea typeface="思源黑体 CN Medium" panose="020B0600000000000000" pitchFamily="34" charset="-122"/>
        <a:cs typeface="+mn-cs"/>
      </a:defRPr>
    </a:lvl1pPr>
    <a:lvl2pPr marL="457200" algn="l" defTabSz="914400" rtl="0" eaLnBrk="1" latinLnBrk="0" hangingPunct="1">
      <a:defRPr sz="1200" kern="1200">
        <a:solidFill>
          <a:schemeClr val="tx1"/>
        </a:solidFill>
        <a:latin typeface="思源黑体 CN Medium" panose="020B0600000000000000" pitchFamily="34" charset="-122"/>
        <a:ea typeface="思源黑体 CN Medium" panose="020B0600000000000000" pitchFamily="34" charset="-122"/>
        <a:cs typeface="+mn-cs"/>
      </a:defRPr>
    </a:lvl2pPr>
    <a:lvl3pPr marL="914400" algn="l" defTabSz="914400" rtl="0" eaLnBrk="1" latinLnBrk="0" hangingPunct="1">
      <a:defRPr sz="1200" kern="1200">
        <a:solidFill>
          <a:schemeClr val="tx1"/>
        </a:solidFill>
        <a:latin typeface="思源黑体 CN Medium" panose="020B0600000000000000" pitchFamily="34" charset="-122"/>
        <a:ea typeface="思源黑体 CN Medium" panose="020B0600000000000000" pitchFamily="34" charset="-122"/>
        <a:cs typeface="+mn-cs"/>
      </a:defRPr>
    </a:lvl3pPr>
    <a:lvl4pPr marL="1371600" algn="l" defTabSz="914400" rtl="0" eaLnBrk="1" latinLnBrk="0" hangingPunct="1">
      <a:defRPr sz="1200" kern="1200">
        <a:solidFill>
          <a:schemeClr val="tx1"/>
        </a:solidFill>
        <a:latin typeface="思源黑体 CN Medium" panose="020B0600000000000000" pitchFamily="34" charset="-122"/>
        <a:ea typeface="思源黑体 CN Medium" panose="020B0600000000000000" pitchFamily="34" charset="-122"/>
        <a:cs typeface="+mn-cs"/>
      </a:defRPr>
    </a:lvl4pPr>
    <a:lvl5pPr marL="1828800" algn="l" defTabSz="914400" rtl="0" eaLnBrk="1" latinLnBrk="0" hangingPunct="1">
      <a:defRPr sz="1200" kern="1200">
        <a:solidFill>
          <a:schemeClr val="tx1"/>
        </a:solidFill>
        <a:latin typeface="思源黑体 CN Medium" panose="020B0600000000000000" pitchFamily="34" charset="-122"/>
        <a:ea typeface="思源黑体 CN Medium" panose="020B0600000000000000"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7392B679-AE23-4750-8FB0-6513430B8953}" type="slidenum">
              <a:rPr kumimoji="0" lang="zh-CN" altLang="en-US" sz="1200" b="0" i="0" u="none" strike="noStrike" kern="1200" cap="none" spc="0" normalizeH="0" baseline="0" noProof="0" smtClean="0">
                <a:ln>
                  <a:noFill/>
                </a:ln>
                <a:solidFill>
                  <a:prstClr val="black"/>
                </a:solidFill>
                <a:effectLst/>
                <a:uLnTx/>
                <a:uFillTx/>
                <a:ea typeface="宋体" panose="02010600030101010101" pitchFamily="2" charset="-122"/>
                <a:cs typeface="+mn-cs"/>
              </a:rPr>
              <a:pPr marL="0" marR="0" lvl="0" indent="0" algn="r" defTabSz="914400" rtl="0" eaLnBrk="1" fontAlgn="auto" latinLnBrk="0" hangingPunct="1">
                <a:lnSpc>
                  <a:spcPct val="100000"/>
                </a:lnSpc>
                <a:spcBef>
                  <a:spcPct val="0"/>
                </a:spcBef>
                <a:spcAft>
                  <a:spcPct val="0"/>
                </a:spcAft>
                <a:buClrTx/>
                <a:buSzTx/>
                <a:buFontTx/>
                <a:buNone/>
                <a:defRPr/>
              </a:pPr>
              <a:t>1</a:t>
            </a:fld>
            <a:endParaRPr kumimoji="0" lang="zh-CN" altLang="en-US" sz="1200" b="0" i="0" u="none" strike="noStrike" kern="1200" cap="none" spc="0" normalizeH="0" baseline="0" noProof="0">
              <a:ln>
                <a:noFill/>
              </a:ln>
              <a:solidFill>
                <a:prstClr val="black"/>
              </a:solidFill>
              <a:effectLst/>
              <a:uLnTx/>
              <a:uFillTx/>
              <a:ea typeface="宋体" panose="02010600030101010101" pitchFamily="2" charset="-122"/>
              <a:cs typeface="+mn-cs"/>
            </a:endParaRPr>
          </a:p>
        </p:txBody>
      </p:sp>
    </p:spTree>
    <p:extLst>
      <p:ext uri="{BB962C8B-B14F-4D97-AF65-F5344CB8AC3E}">
        <p14:creationId xmlns:p14="http://schemas.microsoft.com/office/powerpoint/2010/main" val="2205149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7392B679-AE23-4750-8FB0-6513430B8953}" type="slidenum">
              <a:rPr kumimoji="0" lang="zh-CN" altLang="en-US" sz="1200" b="0" i="0" u="none" strike="noStrike" kern="1200" cap="none" spc="0" normalizeH="0" baseline="0" noProof="0" smtClean="0">
                <a:ln>
                  <a:noFill/>
                </a:ln>
                <a:solidFill>
                  <a:prstClr val="black"/>
                </a:solidFill>
                <a:effectLst/>
                <a:uLnTx/>
                <a:uFillTx/>
                <a:ea typeface="宋体" panose="02010600030101010101" pitchFamily="2" charset="-122"/>
                <a:cs typeface="+mn-cs"/>
              </a:rPr>
              <a:pPr marL="0" marR="0" lvl="0" indent="0" algn="r" defTabSz="914400" rtl="0" eaLnBrk="1" fontAlgn="auto" latinLnBrk="0" hangingPunct="1">
                <a:lnSpc>
                  <a:spcPct val="100000"/>
                </a:lnSpc>
                <a:spcBef>
                  <a:spcPct val="0"/>
                </a:spcBef>
                <a:spcAft>
                  <a:spcPct val="0"/>
                </a:spcAft>
                <a:buClrTx/>
                <a:buSzTx/>
                <a:buFontTx/>
                <a:buNone/>
                <a:defRPr/>
              </a:pPr>
              <a:t>2</a:t>
            </a:fld>
            <a:endParaRPr kumimoji="0" lang="zh-CN" altLang="en-US" sz="1200" b="0" i="0" u="none" strike="noStrike" kern="1200" cap="none" spc="0" normalizeH="0" baseline="0" noProof="0">
              <a:ln>
                <a:noFill/>
              </a:ln>
              <a:solidFill>
                <a:prstClr val="black"/>
              </a:solidFill>
              <a:effectLst/>
              <a:uLnTx/>
              <a:uFillTx/>
              <a:ea typeface="宋体" panose="02010600030101010101" pitchFamily="2" charset="-122"/>
              <a:cs typeface="+mn-cs"/>
            </a:endParaRPr>
          </a:p>
        </p:txBody>
      </p:sp>
    </p:spTree>
    <p:extLst>
      <p:ext uri="{BB962C8B-B14F-4D97-AF65-F5344CB8AC3E}">
        <p14:creationId xmlns:p14="http://schemas.microsoft.com/office/powerpoint/2010/main" val="28375233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4D26F9E-6EDA-4219-86D3-A755607105A4}" type="slidenum">
              <a:rPr lang="zh-CN" altLang="en-US" smtClean="0"/>
              <a:t>3</a:t>
            </a:fld>
            <a:endParaRPr lang="zh-CN" altLang="en-US"/>
          </a:p>
        </p:txBody>
      </p:sp>
    </p:spTree>
    <p:extLst>
      <p:ext uri="{BB962C8B-B14F-4D97-AF65-F5344CB8AC3E}">
        <p14:creationId xmlns:p14="http://schemas.microsoft.com/office/powerpoint/2010/main" val="39312929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4D26F9E-6EDA-4219-86D3-A755607105A4}" type="slidenum">
              <a:rPr lang="zh-CN" altLang="en-US" smtClean="0"/>
              <a:t>4</a:t>
            </a:fld>
            <a:endParaRPr lang="zh-CN" altLang="en-US"/>
          </a:p>
        </p:txBody>
      </p:sp>
    </p:spTree>
    <p:extLst>
      <p:ext uri="{BB962C8B-B14F-4D97-AF65-F5344CB8AC3E}">
        <p14:creationId xmlns:p14="http://schemas.microsoft.com/office/powerpoint/2010/main" val="32666657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4D26F9E-6EDA-4219-86D3-A755607105A4}" type="slidenum">
              <a:rPr lang="zh-CN" altLang="en-US" smtClean="0"/>
              <a:t>5</a:t>
            </a:fld>
            <a:endParaRPr lang="zh-CN" altLang="en-US"/>
          </a:p>
        </p:txBody>
      </p:sp>
    </p:spTree>
    <p:extLst>
      <p:ext uri="{BB962C8B-B14F-4D97-AF65-F5344CB8AC3E}">
        <p14:creationId xmlns:p14="http://schemas.microsoft.com/office/powerpoint/2010/main" val="3972607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4D26F9E-6EDA-4219-86D3-A755607105A4}" type="slidenum">
              <a:rPr lang="zh-CN" altLang="en-US" smtClean="0"/>
              <a:t>6</a:t>
            </a:fld>
            <a:endParaRPr lang="zh-CN" altLang="en-US"/>
          </a:p>
        </p:txBody>
      </p:sp>
    </p:spTree>
    <p:extLst>
      <p:ext uri="{BB962C8B-B14F-4D97-AF65-F5344CB8AC3E}">
        <p14:creationId xmlns:p14="http://schemas.microsoft.com/office/powerpoint/2010/main" val="7379947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tabLst/>
              <a:defRPr/>
            </a:pPr>
            <a:fld id="{7392B679-AE23-4750-8FB0-6513430B8953}" type="slidenum">
              <a:rPr kumimoji="0" lang="zh-CN" altLang="en-US" sz="1200" b="0" i="0" u="none" strike="noStrike" kern="1200" cap="none" spc="0" normalizeH="0" baseline="0" noProof="0" smtClean="0">
                <a:ln>
                  <a:noFill/>
                </a:ln>
                <a:solidFill>
                  <a:prstClr val="black"/>
                </a:solidFill>
                <a:effectLst/>
                <a:uLnTx/>
                <a:uFillTx/>
                <a:ea typeface="宋体" panose="02010600030101010101" pitchFamily="2" charset="-122"/>
                <a:cs typeface="Arial"/>
              </a:rPr>
              <a:pPr marL="0" marR="0" lvl="0" indent="0" algn="r" defTabSz="914400" rtl="0" eaLnBrk="1" fontAlgn="auto" latinLnBrk="0" hangingPunct="1">
                <a:lnSpc>
                  <a:spcPct val="100000"/>
                </a:lnSpc>
                <a:spcBef>
                  <a:spcPct val="0"/>
                </a:spcBef>
                <a:spcAft>
                  <a:spcPct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ea typeface="宋体" panose="02010600030101010101" pitchFamily="2" charset="-122"/>
              <a:cs typeface="Arial"/>
            </a:endParaRPr>
          </a:p>
        </p:txBody>
      </p:sp>
    </p:spTree>
    <p:extLst>
      <p:ext uri="{BB962C8B-B14F-4D97-AF65-F5344CB8AC3E}">
        <p14:creationId xmlns:p14="http://schemas.microsoft.com/office/powerpoint/2010/main" val="32356278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AutoNum type="arabicPeriod"/>
            </a:pPr>
            <a:r>
              <a:rPr lang="zh-TW" altLang="en-US" dirty="0"/>
              <a:t>為什麼要使用</a:t>
            </a:r>
            <a:r>
              <a:rPr lang="zh-TW" altLang="en-US" sz="1200" dirty="0">
                <a:solidFill>
                  <a:schemeClr val="tx1">
                    <a:lumMod val="75000"/>
                    <a:lumOff val="25000"/>
                  </a:schemeClr>
                </a:solidFill>
                <a:latin typeface="微軟正黑體" panose="020B0604030504040204" pitchFamily="34" charset="-120"/>
                <a:ea typeface="微軟正黑體" panose="020B0604030504040204" pitchFamily="34" charset="-120"/>
              </a:rPr>
              <a:t>威爾科克森符號秩檢驗 </a:t>
            </a:r>
            <a:endParaRPr lang="en-US" altLang="zh-TW" sz="1200"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228600" indent="-228600">
              <a:buAutoNum type="arabicPeriod"/>
            </a:pPr>
            <a:endParaRPr lang="en-US" altLang="zh-TW" dirty="0"/>
          </a:p>
          <a:p>
            <a:r>
              <a:rPr lang="zh-TW" altLang="en-US" dirty="0"/>
              <a:t>一般來說，當我們的資料夠多的時候，我們可以透過中央級限定理，假設我們收集的資料之間是相互獨立的，平均數的極限分佈會跑到常態，因此當 </a:t>
            </a:r>
            <a:r>
              <a:rPr lang="en-US" altLang="zh-TW" dirty="0"/>
              <a:t>n &gt; 30</a:t>
            </a:r>
            <a:r>
              <a:rPr lang="zh-TW" altLang="en-US" dirty="0"/>
              <a:t> 時，大部分的研究都會直接使用 </a:t>
            </a:r>
            <a:r>
              <a:rPr lang="en-US" altLang="zh-TW" dirty="0"/>
              <a:t>t </a:t>
            </a:r>
            <a:r>
              <a:rPr lang="zh-TW" altLang="en-US" dirty="0"/>
              <a:t>檢定而不會去考慮資料是否符合常態，但因為我們的資料筆數很少，因此我們無法套用中央極限定理，而必須要假設資料具有常態性，才有辦法導出 </a:t>
            </a:r>
            <a:r>
              <a:rPr lang="en-US" altLang="zh-TW" dirty="0"/>
              <a:t>t </a:t>
            </a:r>
            <a:r>
              <a:rPr lang="zh-TW" altLang="en-US" dirty="0"/>
              <a:t>分佈，這也是為什麼我們會同時考量吳母數的方法進來 </a:t>
            </a:r>
            <a:r>
              <a:rPr lang="en-US" altLang="zh-TW" dirty="0"/>
              <a:t>(</a:t>
            </a:r>
            <a:r>
              <a:rPr lang="zh-TW" altLang="en-US" sz="1200" dirty="0">
                <a:solidFill>
                  <a:schemeClr val="tx1">
                    <a:lumMod val="75000"/>
                    <a:lumOff val="25000"/>
                  </a:schemeClr>
                </a:solidFill>
                <a:latin typeface="微軟正黑體" panose="020B0604030504040204" pitchFamily="34" charset="-120"/>
                <a:ea typeface="微軟正黑體" panose="020B0604030504040204" pitchFamily="34" charset="-120"/>
              </a:rPr>
              <a:t>威爾科克森符號秩檢驗</a:t>
            </a:r>
            <a:r>
              <a:rPr lang="en-US" altLang="zh-TW" sz="1200"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sz="1200" dirty="0">
                <a:solidFill>
                  <a:schemeClr val="tx1">
                    <a:lumMod val="75000"/>
                    <a:lumOff val="25000"/>
                  </a:schemeClr>
                </a:solidFill>
                <a:latin typeface="微軟正黑體" panose="020B0604030504040204" pitchFamily="34" charset="-120"/>
                <a:ea typeface="微軟正黑體" panose="020B0604030504040204" pitchFamily="34" charset="-120"/>
              </a:rPr>
              <a:t> </a:t>
            </a:r>
            <a:endParaRPr lang="en-US" altLang="zh-TW" sz="1200" dirty="0">
              <a:solidFill>
                <a:schemeClr val="tx1">
                  <a:lumMod val="75000"/>
                  <a:lumOff val="25000"/>
                </a:schemeClr>
              </a:solidFill>
              <a:latin typeface="微軟正黑體" panose="020B0604030504040204" pitchFamily="34" charset="-120"/>
              <a:ea typeface="微軟正黑體" panose="020B0604030504040204" pitchFamily="34" charset="-120"/>
            </a:endParaRPr>
          </a:p>
          <a:p>
            <a:endParaRPr lang="en-US" altLang="zh-CN" sz="12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en-US" altLang="zh-TW" sz="1200" dirty="0">
                <a:solidFill>
                  <a:schemeClr val="tx1">
                    <a:lumMod val="75000"/>
                    <a:lumOff val="25000"/>
                  </a:schemeClr>
                </a:solidFill>
                <a:latin typeface="微軟正黑體" panose="020B0604030504040204" pitchFamily="34" charset="-120"/>
                <a:ea typeface="微軟正黑體" panose="020B0604030504040204" pitchFamily="34" charset="-120"/>
              </a:rPr>
              <a:t>2.</a:t>
            </a:r>
            <a:r>
              <a:rPr lang="zh-TW" altLang="en-US" sz="1200" dirty="0">
                <a:solidFill>
                  <a:schemeClr val="tx1">
                    <a:lumMod val="75000"/>
                    <a:lumOff val="25000"/>
                  </a:schemeClr>
                </a:solidFill>
                <a:latin typeface="微軟正黑體" panose="020B0604030504040204" pitchFamily="34" charset="-120"/>
                <a:ea typeface="微軟正黑體" panose="020B0604030504040204" pitchFamily="34" charset="-120"/>
              </a:rPr>
              <a:t>威爾科克森符號秩檢驗的介紹 </a:t>
            </a:r>
            <a:r>
              <a:rPr lang="en-US" altLang="zh-TW" sz="1200"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sz="1200" dirty="0">
                <a:solidFill>
                  <a:schemeClr val="tx1">
                    <a:lumMod val="75000"/>
                    <a:lumOff val="25000"/>
                  </a:schemeClr>
                </a:solidFill>
                <a:latin typeface="微軟正黑體" panose="020B0604030504040204" pitchFamily="34" charset="-120"/>
                <a:ea typeface="微軟正黑體" panose="020B0604030504040204" pitchFamily="34" charset="-120"/>
              </a:rPr>
              <a:t> </a:t>
            </a:r>
            <a:r>
              <a:rPr lang="en-US" altLang="zh-TW" sz="1200" dirty="0">
                <a:solidFill>
                  <a:schemeClr val="tx1">
                    <a:lumMod val="75000"/>
                    <a:lumOff val="25000"/>
                  </a:schemeClr>
                </a:solidFill>
                <a:latin typeface="微軟正黑體" panose="020B0604030504040204" pitchFamily="34" charset="-120"/>
                <a:ea typeface="微軟正黑體" panose="020B0604030504040204" pitchFamily="34" charset="-120"/>
              </a:rPr>
              <a:t>https://wiki.mbalib.com/zh-tw/%E5%A8%81%E5%B0%94%E7%A7%91%E5%85%8B%E6%A3%AE%E7%AC%A6%E5%8F%B7%E7%A7%A9%E6%A3%80%E9%AA%8C</a:t>
            </a:r>
          </a:p>
          <a:p>
            <a:endParaRPr lang="en-US" altLang="zh-CN" sz="12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1200" dirty="0">
                <a:solidFill>
                  <a:schemeClr val="tx1">
                    <a:lumMod val="75000"/>
                    <a:lumOff val="25000"/>
                  </a:schemeClr>
                </a:solidFill>
                <a:latin typeface="微軟正黑體" panose="020B0604030504040204" pitchFamily="34" charset="-120"/>
                <a:ea typeface="微軟正黑體" panose="020B0604030504040204" pitchFamily="34" charset="-120"/>
              </a:rPr>
              <a:t>當然威爾科克森符號秩檢驗 也不是完美的 </a:t>
            </a:r>
            <a:r>
              <a:rPr lang="en-US" altLang="zh-TW" sz="1200"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sz="1200" dirty="0">
                <a:solidFill>
                  <a:schemeClr val="tx1">
                    <a:lumMod val="75000"/>
                    <a:lumOff val="25000"/>
                  </a:schemeClr>
                </a:solidFill>
                <a:latin typeface="微軟正黑體" panose="020B0604030504040204" pitchFamily="34" charset="-120"/>
                <a:ea typeface="微軟正黑體" panose="020B0604030504040204" pitchFamily="34" charset="-120"/>
              </a:rPr>
              <a:t> 不然我們就不需要 </a:t>
            </a:r>
            <a:r>
              <a:rPr lang="en-US" altLang="zh-TW" sz="1200" dirty="0">
                <a:solidFill>
                  <a:schemeClr val="tx1">
                    <a:lumMod val="75000"/>
                    <a:lumOff val="25000"/>
                  </a:schemeClr>
                </a:solidFill>
                <a:latin typeface="微軟正黑體" panose="020B0604030504040204" pitchFamily="34" charset="-120"/>
                <a:ea typeface="微軟正黑體" panose="020B0604030504040204" pitchFamily="34" charset="-120"/>
              </a:rPr>
              <a:t>t </a:t>
            </a:r>
            <a:r>
              <a:rPr lang="zh-TW" altLang="en-US" sz="1200" dirty="0">
                <a:solidFill>
                  <a:schemeClr val="tx1">
                    <a:lumMod val="75000"/>
                    <a:lumOff val="25000"/>
                  </a:schemeClr>
                </a:solidFill>
                <a:latin typeface="微軟正黑體" panose="020B0604030504040204" pitchFamily="34" charset="-120"/>
                <a:ea typeface="微軟正黑體" panose="020B0604030504040204" pitchFamily="34" charset="-120"/>
              </a:rPr>
              <a:t>檢定了 </a:t>
            </a:r>
            <a:r>
              <a:rPr lang="en-US" altLang="zh-TW" sz="1200" dirty="0">
                <a:solidFill>
                  <a:schemeClr val="tx1">
                    <a:lumMod val="75000"/>
                    <a:lumOff val="25000"/>
                  </a:schemeClr>
                </a:solidFill>
                <a:latin typeface="微軟正黑體" panose="020B0604030504040204" pitchFamily="34" charset="-120"/>
                <a:ea typeface="微軟正黑體" panose="020B0604030504040204" pitchFamily="34" charset="-120"/>
              </a:rPr>
              <a:t>XD</a:t>
            </a:r>
            <a:r>
              <a:rPr lang="zh-TW" altLang="en-US" sz="1200" dirty="0">
                <a:solidFill>
                  <a:schemeClr val="tx1">
                    <a:lumMod val="75000"/>
                    <a:lumOff val="25000"/>
                  </a:schemeClr>
                </a:solidFill>
                <a:latin typeface="微軟正黑體" panose="020B0604030504040204" pitchFamily="34" charset="-120"/>
                <a:ea typeface="微軟正黑體" panose="020B0604030504040204" pitchFamily="34" charset="-120"/>
              </a:rPr>
              <a:t> ，他的缺點其實也很明顯，就是他的檢定力會相對較弱，直白來說就是如果你的研究真的是有顯著差異的，你的資料要具有很大的差距才能使得該檢定拒絕 </a:t>
            </a:r>
            <a:r>
              <a:rPr lang="en-US" altLang="zh-TW" sz="1200" dirty="0">
                <a:solidFill>
                  <a:schemeClr val="tx1">
                    <a:lumMod val="75000"/>
                    <a:lumOff val="25000"/>
                  </a:schemeClr>
                </a:solidFill>
                <a:latin typeface="微軟正黑體" panose="020B0604030504040204" pitchFamily="34" charset="-120"/>
                <a:ea typeface="微軟正黑體" panose="020B0604030504040204" pitchFamily="34" charset="-120"/>
              </a:rPr>
              <a:t>H0 (</a:t>
            </a:r>
            <a:r>
              <a:rPr lang="zh-TW" altLang="en-US" sz="1200" dirty="0">
                <a:solidFill>
                  <a:schemeClr val="tx1">
                    <a:lumMod val="75000"/>
                    <a:lumOff val="25000"/>
                  </a:schemeClr>
                </a:solidFill>
                <a:latin typeface="微軟正黑體" panose="020B0604030504040204" pitchFamily="34" charset="-120"/>
                <a:ea typeface="微軟正黑體" panose="020B0604030504040204" pitchFamily="34" charset="-120"/>
              </a:rPr>
              <a:t>沒有差異的假設</a:t>
            </a:r>
            <a:r>
              <a:rPr lang="en-US" altLang="zh-TW" sz="1200"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sz="1200" dirty="0">
                <a:solidFill>
                  <a:schemeClr val="tx1">
                    <a:lumMod val="75000"/>
                    <a:lumOff val="25000"/>
                  </a:schemeClr>
                </a:solidFill>
                <a:latin typeface="微軟正黑體" panose="020B0604030504040204" pitchFamily="34" charset="-120"/>
                <a:ea typeface="微軟正黑體" panose="020B0604030504040204" pitchFamily="34" charset="-120"/>
              </a:rPr>
              <a:t>，因此當你的資料來自常態且資料筆數只有 </a:t>
            </a:r>
            <a:r>
              <a:rPr lang="en-US" altLang="zh-TW" sz="1200" dirty="0">
                <a:solidFill>
                  <a:schemeClr val="tx1">
                    <a:lumMod val="75000"/>
                    <a:lumOff val="25000"/>
                  </a:schemeClr>
                </a:solidFill>
                <a:latin typeface="微軟正黑體" panose="020B0604030504040204" pitchFamily="34" charset="-120"/>
                <a:ea typeface="微軟正黑體" panose="020B0604030504040204" pitchFamily="34" charset="-120"/>
              </a:rPr>
              <a:t>4 </a:t>
            </a:r>
            <a:r>
              <a:rPr lang="zh-TW" altLang="en-US" sz="1200" dirty="0">
                <a:solidFill>
                  <a:schemeClr val="tx1">
                    <a:lumMod val="75000"/>
                    <a:lumOff val="25000"/>
                  </a:schemeClr>
                </a:solidFill>
                <a:latin typeface="微軟正黑體" panose="020B0604030504040204" pitchFamily="34" charset="-120"/>
                <a:ea typeface="微軟正黑體" panose="020B0604030504040204" pitchFamily="34" charset="-120"/>
              </a:rPr>
              <a:t>筆時，使用 </a:t>
            </a:r>
            <a:r>
              <a:rPr lang="en-US" altLang="zh-TW" sz="1200" dirty="0">
                <a:solidFill>
                  <a:schemeClr val="tx1">
                    <a:lumMod val="75000"/>
                    <a:lumOff val="25000"/>
                  </a:schemeClr>
                </a:solidFill>
                <a:latin typeface="微軟正黑體" panose="020B0604030504040204" pitchFamily="34" charset="-120"/>
                <a:ea typeface="微軟正黑體" panose="020B0604030504040204" pitchFamily="34" charset="-120"/>
              </a:rPr>
              <a:t>t </a:t>
            </a:r>
            <a:r>
              <a:rPr lang="zh-TW" altLang="en-US" sz="1200" dirty="0">
                <a:solidFill>
                  <a:schemeClr val="tx1">
                    <a:lumMod val="75000"/>
                    <a:lumOff val="25000"/>
                  </a:schemeClr>
                </a:solidFill>
                <a:latin typeface="微軟正黑體" panose="020B0604030504040204" pitchFamily="34" charset="-120"/>
                <a:ea typeface="微軟正黑體" panose="020B0604030504040204" pitchFamily="34" charset="-120"/>
              </a:rPr>
              <a:t>檢定反而會比使用威爾科克森符號秩檢驗 還要更好，但問題是我們今天無法得知你的資料是否來自常態所以才會考慮兩個不同的情形。</a:t>
            </a:r>
            <a:endParaRPr lang="en-US" altLang="zh-CN" sz="1200" dirty="0">
              <a:solidFill>
                <a:schemeClr val="tx1">
                  <a:lumMod val="75000"/>
                  <a:lumOff val="25000"/>
                </a:schemeClr>
              </a:solidFill>
              <a:latin typeface="微軟正黑體" panose="020B0604030504040204" pitchFamily="34" charset="-120"/>
              <a:ea typeface="微軟正黑體" panose="020B0604030504040204" pitchFamily="34" charset="-120"/>
            </a:endParaRPr>
          </a:p>
          <a:p>
            <a:endParaRPr lang="zh-CN" altLang="en-US" dirty="0"/>
          </a:p>
        </p:txBody>
      </p:sp>
      <p:sp>
        <p:nvSpPr>
          <p:cNvPr id="4" name="灯片编号占位符 3"/>
          <p:cNvSpPr>
            <a:spLocks noGrp="1"/>
          </p:cNvSpPr>
          <p:nvPr>
            <p:ph type="sldNum" sz="quarter" idx="5"/>
          </p:nvPr>
        </p:nvSpPr>
        <p:spPr/>
        <p:txBody>
          <a:bodyPr/>
          <a:lstStyle/>
          <a:p>
            <a:fld id="{64D26F9E-6EDA-4219-86D3-A755607105A4}" type="slidenum">
              <a:rPr lang="zh-CN" altLang="en-US" smtClean="0"/>
              <a:t>8</a:t>
            </a:fld>
            <a:endParaRPr lang="zh-CN" altLang="en-US"/>
          </a:p>
        </p:txBody>
      </p:sp>
    </p:spTree>
    <p:extLst>
      <p:ext uri="{BB962C8B-B14F-4D97-AF65-F5344CB8AC3E}">
        <p14:creationId xmlns:p14="http://schemas.microsoft.com/office/powerpoint/2010/main" val="8691158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4D26F9E-6EDA-4219-86D3-A755607105A4}" type="slidenum">
              <a:rPr lang="zh-CN" altLang="en-US" smtClean="0"/>
              <a:t>9</a:t>
            </a:fld>
            <a:endParaRPr lang="zh-CN" altLang="en-US"/>
          </a:p>
        </p:txBody>
      </p:sp>
    </p:spTree>
    <p:extLst>
      <p:ext uri="{BB962C8B-B14F-4D97-AF65-F5344CB8AC3E}">
        <p14:creationId xmlns:p14="http://schemas.microsoft.com/office/powerpoint/2010/main" val="14257138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4D26F9E-6EDA-4219-86D3-A755607105A4}" type="slidenum">
              <a:rPr lang="zh-CN" altLang="en-US" smtClean="0"/>
              <a:t>10</a:t>
            </a:fld>
            <a:endParaRPr lang="zh-CN" altLang="en-US"/>
          </a:p>
        </p:txBody>
      </p:sp>
    </p:spTree>
    <p:extLst>
      <p:ext uri="{BB962C8B-B14F-4D97-AF65-F5344CB8AC3E}">
        <p14:creationId xmlns:p14="http://schemas.microsoft.com/office/powerpoint/2010/main" val="6656580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TW" altLang="en-US" dirty="0"/>
              <a:t>過度配適 </a:t>
            </a:r>
            <a:r>
              <a:rPr lang="en-US" altLang="zh-TW" dirty="0"/>
              <a:t>(over-fitting) </a:t>
            </a:r>
            <a:r>
              <a:rPr lang="zh-TW" altLang="en-US" dirty="0"/>
              <a:t>是一個機器學習上常常使用的詞，用來表示模型在訓練資料上有良好的表現，但在預測資料上的表現卻很差，因此我們稱該現象為過度配適。</a:t>
            </a:r>
            <a:endParaRPr lang="en-US" altLang="zh-TW" dirty="0"/>
          </a:p>
          <a:p>
            <a:r>
              <a:rPr lang="zh-TW" altLang="en-US" dirty="0"/>
              <a:t>以本次要分析的資料來舉例，如果我們建立一個模型用來預測治療的成效，在目前已經收集的資料上表現得很好，但對於未來新收進來的資料在表現上卻很差，這我們稱之為過度配適</a:t>
            </a:r>
            <a:endParaRPr lang="zh-CN" altLang="en-US" dirty="0"/>
          </a:p>
        </p:txBody>
      </p:sp>
      <p:sp>
        <p:nvSpPr>
          <p:cNvPr id="4" name="灯片编号占位符 3"/>
          <p:cNvSpPr>
            <a:spLocks noGrp="1"/>
          </p:cNvSpPr>
          <p:nvPr>
            <p:ph type="sldNum" sz="quarter" idx="5"/>
          </p:nvPr>
        </p:nvSpPr>
        <p:spPr/>
        <p:txBody>
          <a:bodyPr/>
          <a:lstStyle/>
          <a:p>
            <a:fld id="{64D26F9E-6EDA-4219-86D3-A755607105A4}" type="slidenum">
              <a:rPr lang="zh-CN" altLang="en-US" smtClean="0"/>
              <a:t>11</a:t>
            </a:fld>
            <a:endParaRPr lang="zh-CN" altLang="en-US"/>
          </a:p>
        </p:txBody>
      </p:sp>
    </p:spTree>
    <p:extLst>
      <p:ext uri="{BB962C8B-B14F-4D97-AF65-F5344CB8AC3E}">
        <p14:creationId xmlns:p14="http://schemas.microsoft.com/office/powerpoint/2010/main" val="9026788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TW" altLang="en-US" dirty="0"/>
              <a:t>由檢定結果我們可以明顯看出，補值後的結果更顯著地拒絕虛無假設，因此對於便秘的患者而言，在補值前後在檢定上都呈現有顯著地改善。</a:t>
            </a:r>
            <a:endParaRPr lang="zh-CN" altLang="en-US" dirty="0"/>
          </a:p>
        </p:txBody>
      </p:sp>
      <p:sp>
        <p:nvSpPr>
          <p:cNvPr id="4" name="灯片编号占位符 3"/>
          <p:cNvSpPr>
            <a:spLocks noGrp="1"/>
          </p:cNvSpPr>
          <p:nvPr>
            <p:ph type="sldNum" sz="quarter" idx="5"/>
          </p:nvPr>
        </p:nvSpPr>
        <p:spPr/>
        <p:txBody>
          <a:bodyPr/>
          <a:lstStyle/>
          <a:p>
            <a:fld id="{64D26F9E-6EDA-4219-86D3-A755607105A4}" type="slidenum">
              <a:rPr lang="zh-CN" altLang="en-US" smtClean="0"/>
              <a:t>12</a:t>
            </a:fld>
            <a:endParaRPr lang="zh-CN" altLang="en-US"/>
          </a:p>
        </p:txBody>
      </p:sp>
    </p:spTree>
    <p:extLst>
      <p:ext uri="{BB962C8B-B14F-4D97-AF65-F5344CB8AC3E}">
        <p14:creationId xmlns:p14="http://schemas.microsoft.com/office/powerpoint/2010/main" val="32765702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4D26F9E-6EDA-4219-86D3-A755607105A4}" type="slidenum">
              <a:rPr lang="zh-CN" altLang="en-US" smtClean="0"/>
              <a:t>13</a:t>
            </a:fld>
            <a:endParaRPr lang="zh-CN" altLang="en-US"/>
          </a:p>
        </p:txBody>
      </p:sp>
    </p:spTree>
    <p:extLst>
      <p:ext uri="{BB962C8B-B14F-4D97-AF65-F5344CB8AC3E}">
        <p14:creationId xmlns:p14="http://schemas.microsoft.com/office/powerpoint/2010/main" val="1759708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和便祕的結果相同，由檢定結果我們可以明顯看出，補值後的結果更顯著地拒絕虛無假設，因此對於肛失禁的患者而言，在補值前後在檢定上都呈現有顯著地改善。</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4D26F9E-6EDA-4219-86D3-A755607105A4}" type="slidenum">
              <a:rPr lang="zh-CN" altLang="en-US" smtClean="0"/>
              <a:t>14</a:t>
            </a:fld>
            <a:endParaRPr lang="zh-CN" altLang="en-US"/>
          </a:p>
        </p:txBody>
      </p:sp>
    </p:spTree>
    <p:extLst>
      <p:ext uri="{BB962C8B-B14F-4D97-AF65-F5344CB8AC3E}">
        <p14:creationId xmlns:p14="http://schemas.microsoft.com/office/powerpoint/2010/main" val="17287006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TW" altLang="zh-TW" sz="1800" kern="0" dirty="0">
                <a:effectLst/>
                <a:ea typeface="標楷體" panose="03000509000000000000" pitchFamily="65" charset="-120"/>
                <a:cs typeface="新細明體" panose="02020500000000000000" pitchFamily="18" charset="-120"/>
              </a:rPr>
              <a:t>本次我採用的方式為</a:t>
            </a:r>
            <a:r>
              <a:rPr lang="en-US" altLang="zh-TW" sz="1800" kern="0" dirty="0">
                <a:effectLst/>
                <a:ea typeface="標楷體" panose="03000509000000000000" pitchFamily="65" charset="-120"/>
                <a:cs typeface="新細明體" panose="02020500000000000000" pitchFamily="18" charset="-120"/>
              </a:rPr>
              <a:t> random forest </a:t>
            </a:r>
            <a:r>
              <a:rPr lang="zh-TW" altLang="zh-TW" sz="1800" kern="0" dirty="0">
                <a:effectLst/>
                <a:ea typeface="標楷體" panose="03000509000000000000" pitchFamily="65" charset="-120"/>
                <a:cs typeface="新細明體" panose="02020500000000000000" pitchFamily="18" charset="-120"/>
              </a:rPr>
              <a:t>其中決策樹的數量為</a:t>
            </a:r>
            <a:r>
              <a:rPr lang="en-US" altLang="zh-TW" sz="1800" kern="0" dirty="0">
                <a:effectLst/>
                <a:ea typeface="標楷體" panose="03000509000000000000" pitchFamily="65" charset="-120"/>
                <a:cs typeface="新細明體" panose="02020500000000000000" pitchFamily="18" charset="-120"/>
              </a:rPr>
              <a:t> 100</a:t>
            </a:r>
            <a:r>
              <a:rPr lang="zh-TW" altLang="zh-TW" sz="1800" kern="0" dirty="0">
                <a:effectLst/>
                <a:ea typeface="標楷體" panose="03000509000000000000" pitchFamily="65" charset="-120"/>
                <a:cs typeface="新細明體" panose="02020500000000000000" pitchFamily="18" charset="-120"/>
              </a:rPr>
              <a:t>，使用</a:t>
            </a:r>
            <a:r>
              <a:rPr lang="en-US" altLang="zh-TW" sz="1800" kern="0" dirty="0">
                <a:effectLst/>
                <a:ea typeface="標楷體" panose="03000509000000000000" pitchFamily="65" charset="-120"/>
                <a:cs typeface="新細明體" panose="02020500000000000000" pitchFamily="18" charset="-120"/>
              </a:rPr>
              <a:t> random forest </a:t>
            </a:r>
            <a:r>
              <a:rPr lang="zh-TW" altLang="zh-TW" sz="1800" kern="0" dirty="0">
                <a:effectLst/>
                <a:ea typeface="標楷體" panose="03000509000000000000" pitchFamily="65" charset="-120"/>
                <a:cs typeface="新細明體" panose="02020500000000000000" pitchFamily="18" charset="-120"/>
              </a:rPr>
              <a:t>的原因是因為我們的資料本身是比較少的，因此一旦有離群值使用傳統的</a:t>
            </a:r>
            <a:r>
              <a:rPr lang="en-US" altLang="zh-TW" sz="1800" kern="0" dirty="0">
                <a:effectLst/>
                <a:ea typeface="標楷體" panose="03000509000000000000" pitchFamily="65" charset="-120"/>
                <a:cs typeface="新細明體" panose="02020500000000000000" pitchFamily="18" charset="-120"/>
              </a:rPr>
              <a:t> regression </a:t>
            </a:r>
            <a:r>
              <a:rPr lang="zh-TW" altLang="zh-TW" sz="1800" kern="0" dirty="0">
                <a:effectLst/>
                <a:ea typeface="標楷體" panose="03000509000000000000" pitchFamily="65" charset="-120"/>
                <a:cs typeface="新細明體" panose="02020500000000000000" pitchFamily="18" charset="-120"/>
              </a:rPr>
              <a:t>方法就會產生偏誤，二來是我們很難假設我們收集來的資料是屬於常態分佈，因此一個比較直覺的方式就是使用非線性的方法來處理，但因為決策樹本身的變異較大，因此我才使用 </a:t>
            </a:r>
            <a:r>
              <a:rPr lang="en-US" altLang="zh-TW" sz="1800" kern="0" dirty="0">
                <a:effectLst/>
                <a:ea typeface="標楷體" panose="03000509000000000000" pitchFamily="65" charset="-120"/>
                <a:cs typeface="新細明體" panose="02020500000000000000" pitchFamily="18" charset="-120"/>
              </a:rPr>
              <a:t>random forest </a:t>
            </a:r>
            <a:r>
              <a:rPr lang="zh-TW" altLang="zh-TW" sz="1800" kern="0" dirty="0">
                <a:effectLst/>
                <a:ea typeface="標楷體" panose="03000509000000000000" pitchFamily="65" charset="-120"/>
                <a:cs typeface="新細明體" panose="02020500000000000000" pitchFamily="18" charset="-120"/>
              </a:rPr>
              <a:t>的方式來建立</a:t>
            </a:r>
            <a:r>
              <a:rPr lang="en-US" altLang="zh-TW" sz="1800" kern="0" dirty="0">
                <a:effectLst/>
                <a:ea typeface="標楷體" panose="03000509000000000000" pitchFamily="65" charset="-120"/>
                <a:cs typeface="新細明體" panose="02020500000000000000" pitchFamily="18" charset="-120"/>
              </a:rPr>
              <a:t> 100 </a:t>
            </a:r>
            <a:r>
              <a:rPr lang="zh-TW" altLang="zh-TW" sz="1800" kern="0" dirty="0">
                <a:effectLst/>
                <a:ea typeface="標楷體" panose="03000509000000000000" pitchFamily="65" charset="-120"/>
                <a:cs typeface="新細明體" panose="02020500000000000000" pitchFamily="18" charset="-120"/>
              </a:rPr>
              <a:t>棵樹並且平均起來當作是我們最終的預測值</a:t>
            </a:r>
            <a:endParaRPr lang="zh-CN" altLang="en-US" dirty="0"/>
          </a:p>
        </p:txBody>
      </p:sp>
      <p:sp>
        <p:nvSpPr>
          <p:cNvPr id="4" name="灯片编号占位符 3"/>
          <p:cNvSpPr>
            <a:spLocks noGrp="1"/>
          </p:cNvSpPr>
          <p:nvPr>
            <p:ph type="sldNum" sz="quarter" idx="5"/>
          </p:nvPr>
        </p:nvSpPr>
        <p:spPr/>
        <p:txBody>
          <a:bodyPr/>
          <a:lstStyle/>
          <a:p>
            <a:fld id="{64D26F9E-6EDA-4219-86D3-A755607105A4}" type="slidenum">
              <a:rPr lang="zh-CN" altLang="en-US" smtClean="0"/>
              <a:t>15</a:t>
            </a:fld>
            <a:endParaRPr lang="zh-CN" altLang="en-US"/>
          </a:p>
        </p:txBody>
      </p:sp>
    </p:spTree>
    <p:extLst>
      <p:ext uri="{BB962C8B-B14F-4D97-AF65-F5344CB8AC3E}">
        <p14:creationId xmlns:p14="http://schemas.microsoft.com/office/powerpoint/2010/main" val="5936029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4D26F9E-6EDA-4219-86D3-A755607105A4}" type="slidenum">
              <a:rPr lang="zh-CN" altLang="en-US" smtClean="0"/>
              <a:t>16</a:t>
            </a:fld>
            <a:endParaRPr lang="zh-CN" altLang="en-US"/>
          </a:p>
        </p:txBody>
      </p:sp>
    </p:spTree>
    <p:extLst>
      <p:ext uri="{BB962C8B-B14F-4D97-AF65-F5344CB8AC3E}">
        <p14:creationId xmlns:p14="http://schemas.microsoft.com/office/powerpoint/2010/main" val="3934491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和便祕的結果相同，由檢定結果我們可以明顯看出，補值後的結果更顯著地拒絕虛無假設，因此對於肛失禁的患者而言，在補值前後在檢定上都呈現有顯著地改善。</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4D26F9E-6EDA-4219-86D3-A755607105A4}" type="slidenum">
              <a:rPr lang="zh-CN" altLang="en-US" smtClean="0"/>
              <a:t>17</a:t>
            </a:fld>
            <a:endParaRPr lang="zh-CN" altLang="en-US"/>
          </a:p>
        </p:txBody>
      </p:sp>
    </p:spTree>
    <p:extLst>
      <p:ext uri="{BB962C8B-B14F-4D97-AF65-F5344CB8AC3E}">
        <p14:creationId xmlns:p14="http://schemas.microsoft.com/office/powerpoint/2010/main" val="15815732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tabLst/>
              <a:defRPr/>
            </a:pPr>
            <a:fld id="{7392B679-AE23-4750-8FB0-6513430B8953}" type="slidenum">
              <a:rPr kumimoji="0" lang="zh-CN" altLang="en-US" sz="1200" b="0" i="0" u="none" strike="noStrike" kern="1200" cap="none" spc="0" normalizeH="0" baseline="0" noProof="0" smtClean="0">
                <a:ln>
                  <a:noFill/>
                </a:ln>
                <a:solidFill>
                  <a:prstClr val="black"/>
                </a:solidFill>
                <a:effectLst/>
                <a:uLnTx/>
                <a:uFillTx/>
                <a:ea typeface="宋体" panose="02010600030101010101" pitchFamily="2" charset="-122"/>
                <a:cs typeface="Arial"/>
              </a:rPr>
              <a:pPr marL="0" marR="0" lvl="0" indent="0" algn="r" defTabSz="914400" rtl="0" eaLnBrk="1" fontAlgn="auto" latinLnBrk="0" hangingPunct="1">
                <a:lnSpc>
                  <a:spcPct val="100000"/>
                </a:lnSpc>
                <a:spcBef>
                  <a:spcPct val="0"/>
                </a:spcBef>
                <a:spcAft>
                  <a:spcPct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ea typeface="宋体" panose="02010600030101010101" pitchFamily="2" charset="-122"/>
              <a:cs typeface="Arial"/>
            </a:endParaRPr>
          </a:p>
        </p:txBody>
      </p:sp>
    </p:spTree>
    <p:extLst>
      <p:ext uri="{BB962C8B-B14F-4D97-AF65-F5344CB8AC3E}">
        <p14:creationId xmlns:p14="http://schemas.microsoft.com/office/powerpoint/2010/main" val="29642842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TW" altLang="en-US" dirty="0"/>
              <a:t>在顯著水準 </a:t>
            </a:r>
            <a:r>
              <a:rPr lang="en-US" altLang="zh-TW" dirty="0"/>
              <a:t>0.1 </a:t>
            </a:r>
            <a:r>
              <a:rPr lang="zh-TW" altLang="en-US" dirty="0"/>
              <a:t>的設定下，</a:t>
            </a:r>
            <a:r>
              <a:rPr lang="en-US" altLang="zh-TW" dirty="0"/>
              <a:t>T </a:t>
            </a:r>
            <a:r>
              <a:rPr lang="zh-TW" altLang="en-US" dirty="0"/>
              <a:t>檢定顯著拒絕了 </a:t>
            </a:r>
            <a:r>
              <a:rPr lang="en-US" altLang="zh-TW" dirty="0"/>
              <a:t>H0</a:t>
            </a:r>
            <a:r>
              <a:rPr lang="zh-TW" altLang="en-US" dirty="0"/>
              <a:t>，而在顯著水準 </a:t>
            </a:r>
            <a:r>
              <a:rPr lang="en-US" altLang="zh-TW" dirty="0"/>
              <a:t>0.01 </a:t>
            </a:r>
            <a:r>
              <a:rPr lang="zh-TW" altLang="en-US" dirty="0"/>
              <a:t>的設定下，威爾科克森符號秩檢定（</a:t>
            </a:r>
            <a:r>
              <a:rPr lang="en-US" altLang="zh-TW" dirty="0"/>
              <a:t>Wilcoxon Rank Test</a:t>
            </a:r>
            <a:r>
              <a:rPr lang="zh-TW" altLang="en-US" dirty="0"/>
              <a:t>）也顯著拒絕了 </a:t>
            </a:r>
            <a:r>
              <a:rPr lang="en-US" altLang="zh-TW" dirty="0"/>
              <a:t>H0</a:t>
            </a:r>
            <a:r>
              <a:rPr lang="zh-TW" altLang="en-US" dirty="0"/>
              <a:t>。根據我們之前的討論，在相同的情境下，威爾科克森符號秩檢定的檢測力應該比 </a:t>
            </a:r>
            <a:r>
              <a:rPr lang="en-US" altLang="zh-TW" dirty="0"/>
              <a:t>T </a:t>
            </a:r>
            <a:r>
              <a:rPr lang="zh-TW" altLang="en-US" dirty="0"/>
              <a:t>檢定更低。然而，在這組資料中，我們發現威爾科克森符號秩檢定比 </a:t>
            </a:r>
            <a:r>
              <a:rPr lang="en-US" altLang="zh-TW" dirty="0"/>
              <a:t>T </a:t>
            </a:r>
            <a:r>
              <a:rPr lang="zh-TW" altLang="en-US" dirty="0"/>
              <a:t>檢定更顯著地拒絕了 </a:t>
            </a:r>
            <a:r>
              <a:rPr lang="en-US" altLang="zh-TW" dirty="0"/>
              <a:t>H0</a:t>
            </a:r>
            <a:r>
              <a:rPr lang="zh-TW" altLang="en-US" dirty="0"/>
              <a:t>。</a:t>
            </a:r>
          </a:p>
          <a:p>
            <a:r>
              <a:rPr lang="zh-TW" altLang="en-US" dirty="0"/>
              <a:t>這種現象說明我們的資料可能存在極端值且不符合常態假設。</a:t>
            </a:r>
            <a:r>
              <a:rPr lang="en-US" altLang="zh-TW" dirty="0"/>
              <a:t>T </a:t>
            </a:r>
            <a:r>
              <a:rPr lang="zh-TW" altLang="en-US" dirty="0"/>
              <a:t>檢定假設數據來自正態分佈，因此在數據偏離正態分佈或存在極端值時，其檢測力會下降。而威爾科克森符號秩檢定不依賴於正態分佈假設，對於非正態分佈和極端值更為穩健，因此在這種情況下表現得更好。</a:t>
            </a:r>
          </a:p>
          <a:p>
            <a:r>
              <a:rPr lang="zh-TW" altLang="en-US" dirty="0"/>
              <a:t>這一結果也證明了同時考量 </a:t>
            </a:r>
            <a:r>
              <a:rPr lang="en-US" altLang="zh-TW" dirty="0"/>
              <a:t>T </a:t>
            </a:r>
            <a:r>
              <a:rPr lang="zh-TW" altLang="en-US" dirty="0"/>
              <a:t>檢定和威爾科克森符號秩檢定的價值。如果僅依賴 </a:t>
            </a:r>
            <a:r>
              <a:rPr lang="en-US" altLang="zh-TW" dirty="0"/>
              <a:t>T </a:t>
            </a:r>
            <a:r>
              <a:rPr lang="zh-TW" altLang="en-US" dirty="0"/>
              <a:t>檢定，我們可能會認為肌電圖的前後差異對於便秘患者而言沒有明顯的顯著性差異。然而，考量了威爾科克森符號秩檢定的結果後，我們可以在僅有 </a:t>
            </a:r>
            <a:r>
              <a:rPr lang="en-US" altLang="zh-TW" dirty="0"/>
              <a:t>8 </a:t>
            </a:r>
            <a:r>
              <a:rPr lang="zh-TW" altLang="en-US" dirty="0"/>
              <a:t>筆資料的情況下，依然顯著拒絕 </a:t>
            </a:r>
            <a:r>
              <a:rPr lang="en-US" altLang="zh-TW" dirty="0"/>
              <a:t>H0</a:t>
            </a:r>
            <a:r>
              <a:rPr lang="zh-TW" altLang="en-US" dirty="0"/>
              <a:t>。</a:t>
            </a:r>
          </a:p>
          <a:p>
            <a:r>
              <a:rPr lang="zh-TW" altLang="en-US" dirty="0"/>
              <a:t>這說明，儘管 </a:t>
            </a:r>
            <a:r>
              <a:rPr lang="en-US" altLang="zh-TW" dirty="0"/>
              <a:t>T </a:t>
            </a:r>
            <a:r>
              <a:rPr lang="zh-TW" altLang="en-US" dirty="0"/>
              <a:t>檢定和威爾科克森符號秩檢定在理論上的檢測力不同，但在實際應用中，尤其是當資料分佈不完全符合正態假設或存在極端值時，威爾科克森符號秩檢定能提供額外的驗證和支持，從而增強我們的結論可靠性。</a:t>
            </a:r>
          </a:p>
          <a:p>
            <a:endParaRPr lang="zh-CN" altLang="en-US" dirty="0"/>
          </a:p>
        </p:txBody>
      </p:sp>
      <p:sp>
        <p:nvSpPr>
          <p:cNvPr id="4" name="灯片编号占位符 3"/>
          <p:cNvSpPr>
            <a:spLocks noGrp="1"/>
          </p:cNvSpPr>
          <p:nvPr>
            <p:ph type="sldNum" sz="quarter" idx="5"/>
          </p:nvPr>
        </p:nvSpPr>
        <p:spPr/>
        <p:txBody>
          <a:bodyPr/>
          <a:lstStyle/>
          <a:p>
            <a:fld id="{64D26F9E-6EDA-4219-86D3-A755607105A4}" type="slidenum">
              <a:rPr lang="zh-CN" altLang="en-US" smtClean="0"/>
              <a:t>19</a:t>
            </a:fld>
            <a:endParaRPr lang="zh-CN" altLang="en-US"/>
          </a:p>
        </p:txBody>
      </p:sp>
    </p:spTree>
    <p:extLst>
      <p:ext uri="{BB962C8B-B14F-4D97-AF65-F5344CB8AC3E}">
        <p14:creationId xmlns:p14="http://schemas.microsoft.com/office/powerpoint/2010/main" val="24614956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4D26F9E-6EDA-4219-86D3-A755607105A4}" type="slidenum">
              <a:rPr lang="zh-CN" altLang="en-US" smtClean="0"/>
              <a:t>20</a:t>
            </a:fld>
            <a:endParaRPr lang="zh-CN" altLang="en-US"/>
          </a:p>
        </p:txBody>
      </p:sp>
    </p:spTree>
    <p:extLst>
      <p:ext uri="{BB962C8B-B14F-4D97-AF65-F5344CB8AC3E}">
        <p14:creationId xmlns:p14="http://schemas.microsoft.com/office/powerpoint/2010/main" val="41157592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4D26F9E-6EDA-4219-86D3-A755607105A4}" type="slidenum">
              <a:rPr lang="zh-CN" altLang="en-US" smtClean="0"/>
              <a:t>21</a:t>
            </a:fld>
            <a:endParaRPr lang="zh-CN" altLang="en-US"/>
          </a:p>
        </p:txBody>
      </p:sp>
    </p:spTree>
    <p:extLst>
      <p:ext uri="{BB962C8B-B14F-4D97-AF65-F5344CB8AC3E}">
        <p14:creationId xmlns:p14="http://schemas.microsoft.com/office/powerpoint/2010/main" val="32119131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4D26F9E-6EDA-4219-86D3-A755607105A4}" type="slidenum">
              <a:rPr lang="zh-CN" altLang="en-US" smtClean="0"/>
              <a:t>22</a:t>
            </a:fld>
            <a:endParaRPr lang="zh-CN" altLang="en-US"/>
          </a:p>
        </p:txBody>
      </p:sp>
    </p:spTree>
    <p:extLst>
      <p:ext uri="{BB962C8B-B14F-4D97-AF65-F5344CB8AC3E}">
        <p14:creationId xmlns:p14="http://schemas.microsoft.com/office/powerpoint/2010/main" val="25906440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4D26F9E-6EDA-4219-86D3-A755607105A4}" type="slidenum">
              <a:rPr lang="zh-CN" altLang="en-US" smtClean="0"/>
              <a:t>23</a:t>
            </a:fld>
            <a:endParaRPr lang="zh-CN" altLang="en-US"/>
          </a:p>
        </p:txBody>
      </p:sp>
    </p:spTree>
    <p:extLst>
      <p:ext uri="{BB962C8B-B14F-4D97-AF65-F5344CB8AC3E}">
        <p14:creationId xmlns:p14="http://schemas.microsoft.com/office/powerpoint/2010/main" val="22207081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TW" altLang="en-US" dirty="0"/>
              <a:t>在顯著水準 </a:t>
            </a:r>
            <a:r>
              <a:rPr lang="en-US" altLang="zh-TW" dirty="0"/>
              <a:t>0.1 </a:t>
            </a:r>
            <a:r>
              <a:rPr lang="zh-TW" altLang="en-US" dirty="0"/>
              <a:t>的設定下，</a:t>
            </a:r>
            <a:r>
              <a:rPr lang="en-US" altLang="zh-TW" dirty="0"/>
              <a:t>T </a:t>
            </a:r>
            <a:r>
              <a:rPr lang="zh-TW" altLang="en-US" dirty="0"/>
              <a:t>檢定顯著拒絕了 </a:t>
            </a:r>
            <a:r>
              <a:rPr lang="en-US" altLang="zh-TW" dirty="0"/>
              <a:t>H0</a:t>
            </a:r>
            <a:r>
              <a:rPr lang="zh-TW" altLang="en-US" dirty="0"/>
              <a:t>，而在顯著水準 </a:t>
            </a:r>
            <a:r>
              <a:rPr lang="en-US" altLang="zh-TW" dirty="0"/>
              <a:t>0.01 </a:t>
            </a:r>
            <a:r>
              <a:rPr lang="zh-TW" altLang="en-US" dirty="0"/>
              <a:t>的設定下，威爾科克森符號秩檢定（</a:t>
            </a:r>
            <a:r>
              <a:rPr lang="en-US" altLang="zh-TW" dirty="0"/>
              <a:t>Wilcoxon Rank Test</a:t>
            </a:r>
            <a:r>
              <a:rPr lang="zh-TW" altLang="en-US" dirty="0"/>
              <a:t>）也顯著拒絕了 </a:t>
            </a:r>
            <a:r>
              <a:rPr lang="en-US" altLang="zh-TW" dirty="0"/>
              <a:t>H0</a:t>
            </a:r>
            <a:r>
              <a:rPr lang="zh-TW" altLang="en-US" dirty="0"/>
              <a:t>。根據我們之前的討論，在相同的情境下，威爾科克森符號秩檢定的檢測力應該比 </a:t>
            </a:r>
            <a:r>
              <a:rPr lang="en-US" altLang="zh-TW" dirty="0"/>
              <a:t>T </a:t>
            </a:r>
            <a:r>
              <a:rPr lang="zh-TW" altLang="en-US" dirty="0"/>
              <a:t>檢定更低。然而，在這組資料中，我們發現威爾科克森符號秩檢定比 </a:t>
            </a:r>
            <a:r>
              <a:rPr lang="en-US" altLang="zh-TW" dirty="0"/>
              <a:t>T </a:t>
            </a:r>
            <a:r>
              <a:rPr lang="zh-TW" altLang="en-US" dirty="0"/>
              <a:t>檢定更顯著地拒絕了 </a:t>
            </a:r>
            <a:r>
              <a:rPr lang="en-US" altLang="zh-TW" dirty="0"/>
              <a:t>H0</a:t>
            </a:r>
            <a:r>
              <a:rPr lang="zh-TW" altLang="en-US" dirty="0"/>
              <a:t>。</a:t>
            </a:r>
          </a:p>
          <a:p>
            <a:r>
              <a:rPr lang="zh-TW" altLang="en-US" dirty="0"/>
              <a:t>這種現象說明我們的資料可能存在極端值且不符合常態假設。</a:t>
            </a:r>
            <a:r>
              <a:rPr lang="en-US" altLang="zh-TW" dirty="0"/>
              <a:t>T </a:t>
            </a:r>
            <a:r>
              <a:rPr lang="zh-TW" altLang="en-US" dirty="0"/>
              <a:t>檢定假設數據來自正態分佈，因此在數據偏離正態分佈或存在極端值時，其檢測力會下降。而威爾科克森符號秩檢定不依賴於正態分佈假設，對於非正態分佈和極端值更為穩健，因此在這種情況下表現得更好。</a:t>
            </a:r>
          </a:p>
          <a:p>
            <a:r>
              <a:rPr lang="zh-TW" altLang="en-US" dirty="0"/>
              <a:t>這一結果也證明了同時考量 </a:t>
            </a:r>
            <a:r>
              <a:rPr lang="en-US" altLang="zh-TW" dirty="0"/>
              <a:t>T </a:t>
            </a:r>
            <a:r>
              <a:rPr lang="zh-TW" altLang="en-US" dirty="0"/>
              <a:t>檢定和威爾科克森符號秩檢定的價值。如果僅依賴 </a:t>
            </a:r>
            <a:r>
              <a:rPr lang="en-US" altLang="zh-TW" dirty="0"/>
              <a:t>T </a:t>
            </a:r>
            <a:r>
              <a:rPr lang="zh-TW" altLang="en-US" dirty="0"/>
              <a:t>檢定，我們可能會認為肌電圖的前後差異對於便秘患者而言沒有明顯的顯著性差異。然而，考量了威爾科克森符號秩檢定的結果後，我們可以在僅有 </a:t>
            </a:r>
            <a:r>
              <a:rPr lang="en-US" altLang="zh-TW" dirty="0"/>
              <a:t>8 </a:t>
            </a:r>
            <a:r>
              <a:rPr lang="zh-TW" altLang="en-US" dirty="0"/>
              <a:t>筆資料的情況下，依然顯著拒絕 </a:t>
            </a:r>
            <a:r>
              <a:rPr lang="en-US" altLang="zh-TW" dirty="0"/>
              <a:t>H0</a:t>
            </a:r>
            <a:r>
              <a:rPr lang="zh-TW" altLang="en-US" dirty="0"/>
              <a:t>。</a:t>
            </a:r>
          </a:p>
          <a:p>
            <a:r>
              <a:rPr lang="zh-TW" altLang="en-US" dirty="0"/>
              <a:t>這說明，儘管 </a:t>
            </a:r>
            <a:r>
              <a:rPr lang="en-US" altLang="zh-TW" dirty="0"/>
              <a:t>T </a:t>
            </a:r>
            <a:r>
              <a:rPr lang="zh-TW" altLang="en-US" dirty="0"/>
              <a:t>檢定和威爾科克森符號秩檢定在理論上的檢測力不同，但在實際應用中，尤其是當資料分佈不完全符合正態假設或存在極端值時，威爾科克森符號秩檢定能提供額外的驗證和支持，從而增強我們的結論可靠性。</a:t>
            </a:r>
          </a:p>
          <a:p>
            <a:endParaRPr lang="zh-CN" altLang="en-US" dirty="0"/>
          </a:p>
        </p:txBody>
      </p:sp>
      <p:sp>
        <p:nvSpPr>
          <p:cNvPr id="4" name="灯片编号占位符 3"/>
          <p:cNvSpPr>
            <a:spLocks noGrp="1"/>
          </p:cNvSpPr>
          <p:nvPr>
            <p:ph type="sldNum" sz="quarter" idx="5"/>
          </p:nvPr>
        </p:nvSpPr>
        <p:spPr/>
        <p:txBody>
          <a:bodyPr/>
          <a:lstStyle/>
          <a:p>
            <a:fld id="{64D26F9E-6EDA-4219-86D3-A755607105A4}" type="slidenum">
              <a:rPr lang="zh-CN" altLang="en-US" smtClean="0"/>
              <a:t>24</a:t>
            </a:fld>
            <a:endParaRPr lang="zh-CN" altLang="en-US"/>
          </a:p>
        </p:txBody>
      </p:sp>
    </p:spTree>
    <p:extLst>
      <p:ext uri="{BB962C8B-B14F-4D97-AF65-F5344CB8AC3E}">
        <p14:creationId xmlns:p14="http://schemas.microsoft.com/office/powerpoint/2010/main" val="361805624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4D26F9E-6EDA-4219-86D3-A755607105A4}" type="slidenum">
              <a:rPr lang="zh-CN" altLang="en-US" smtClean="0"/>
              <a:t>25</a:t>
            </a:fld>
            <a:endParaRPr lang="zh-CN" altLang="en-US"/>
          </a:p>
        </p:txBody>
      </p:sp>
    </p:spTree>
    <p:extLst>
      <p:ext uri="{BB962C8B-B14F-4D97-AF65-F5344CB8AC3E}">
        <p14:creationId xmlns:p14="http://schemas.microsoft.com/office/powerpoint/2010/main" val="13704591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4D26F9E-6EDA-4219-86D3-A755607105A4}" type="slidenum">
              <a:rPr lang="zh-CN" altLang="en-US" smtClean="0"/>
              <a:t>26</a:t>
            </a:fld>
            <a:endParaRPr lang="zh-CN" altLang="en-US"/>
          </a:p>
        </p:txBody>
      </p:sp>
    </p:spTree>
    <p:extLst>
      <p:ext uri="{BB962C8B-B14F-4D97-AF65-F5344CB8AC3E}">
        <p14:creationId xmlns:p14="http://schemas.microsoft.com/office/powerpoint/2010/main" val="2659545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4D26F9E-6EDA-4219-86D3-A755607105A4}" type="slidenum">
              <a:rPr lang="zh-CN" altLang="en-US" smtClean="0"/>
              <a:t>27</a:t>
            </a:fld>
            <a:endParaRPr lang="zh-CN" altLang="en-US"/>
          </a:p>
        </p:txBody>
      </p:sp>
    </p:spTree>
    <p:extLst>
      <p:ext uri="{BB962C8B-B14F-4D97-AF65-F5344CB8AC3E}">
        <p14:creationId xmlns:p14="http://schemas.microsoft.com/office/powerpoint/2010/main" val="9580313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4D26F9E-6EDA-4219-86D3-A755607105A4}" type="slidenum">
              <a:rPr lang="zh-CN" altLang="en-US" smtClean="0"/>
              <a:t>28</a:t>
            </a:fld>
            <a:endParaRPr lang="zh-CN" altLang="en-US"/>
          </a:p>
        </p:txBody>
      </p:sp>
    </p:spTree>
    <p:extLst>
      <p:ext uri="{BB962C8B-B14F-4D97-AF65-F5344CB8AC3E}">
        <p14:creationId xmlns:p14="http://schemas.microsoft.com/office/powerpoint/2010/main" val="7790329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4D26F9E-6EDA-4219-86D3-A755607105A4}" type="slidenum">
              <a:rPr lang="zh-CN" altLang="en-US" smtClean="0"/>
              <a:t>29</a:t>
            </a:fld>
            <a:endParaRPr lang="zh-CN" altLang="en-US"/>
          </a:p>
        </p:txBody>
      </p:sp>
    </p:spTree>
    <p:extLst>
      <p:ext uri="{BB962C8B-B14F-4D97-AF65-F5344CB8AC3E}">
        <p14:creationId xmlns:p14="http://schemas.microsoft.com/office/powerpoint/2010/main" val="53276276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4D26F9E-6EDA-4219-86D3-A755607105A4}" type="slidenum">
              <a:rPr lang="zh-CN" altLang="en-US" smtClean="0"/>
              <a:t>30</a:t>
            </a:fld>
            <a:endParaRPr lang="zh-CN" altLang="en-US"/>
          </a:p>
        </p:txBody>
      </p:sp>
    </p:spTree>
    <p:extLst>
      <p:ext uri="{BB962C8B-B14F-4D97-AF65-F5344CB8AC3E}">
        <p14:creationId xmlns:p14="http://schemas.microsoft.com/office/powerpoint/2010/main" val="295668202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4D26F9E-6EDA-4219-86D3-A755607105A4}" type="slidenum">
              <a:rPr lang="zh-CN" altLang="en-US" smtClean="0"/>
              <a:t>31</a:t>
            </a:fld>
            <a:endParaRPr lang="zh-CN" altLang="en-US"/>
          </a:p>
        </p:txBody>
      </p:sp>
    </p:spTree>
    <p:extLst>
      <p:ext uri="{BB962C8B-B14F-4D97-AF65-F5344CB8AC3E}">
        <p14:creationId xmlns:p14="http://schemas.microsoft.com/office/powerpoint/2010/main" val="7390198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4D26F9E-6EDA-4219-86D3-A755607105A4}" type="slidenum">
              <a:rPr lang="zh-CN" altLang="en-US" smtClean="0"/>
              <a:t>32</a:t>
            </a:fld>
            <a:endParaRPr lang="zh-CN" altLang="en-US"/>
          </a:p>
        </p:txBody>
      </p:sp>
    </p:spTree>
    <p:extLst>
      <p:ext uri="{BB962C8B-B14F-4D97-AF65-F5344CB8AC3E}">
        <p14:creationId xmlns:p14="http://schemas.microsoft.com/office/powerpoint/2010/main" val="42839117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4D26F9E-6EDA-4219-86D3-A755607105A4}" type="slidenum">
              <a:rPr lang="zh-CN" altLang="en-US" smtClean="0"/>
              <a:t>33</a:t>
            </a:fld>
            <a:endParaRPr lang="zh-CN" altLang="en-US"/>
          </a:p>
        </p:txBody>
      </p:sp>
    </p:spTree>
    <p:extLst>
      <p:ext uri="{BB962C8B-B14F-4D97-AF65-F5344CB8AC3E}">
        <p14:creationId xmlns:p14="http://schemas.microsoft.com/office/powerpoint/2010/main" val="59922513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4D26F9E-6EDA-4219-86D3-A755607105A4}" type="slidenum">
              <a:rPr lang="zh-CN" altLang="en-US" smtClean="0"/>
              <a:t>34</a:t>
            </a:fld>
            <a:endParaRPr lang="zh-CN" altLang="en-US"/>
          </a:p>
        </p:txBody>
      </p:sp>
    </p:spTree>
    <p:extLst>
      <p:ext uri="{BB962C8B-B14F-4D97-AF65-F5344CB8AC3E}">
        <p14:creationId xmlns:p14="http://schemas.microsoft.com/office/powerpoint/2010/main" val="171817959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4D26F9E-6EDA-4219-86D3-A755607105A4}" type="slidenum">
              <a:rPr lang="zh-CN" altLang="en-US" smtClean="0"/>
              <a:t>35</a:t>
            </a:fld>
            <a:endParaRPr lang="zh-CN" altLang="en-US"/>
          </a:p>
        </p:txBody>
      </p:sp>
    </p:spTree>
    <p:extLst>
      <p:ext uri="{BB962C8B-B14F-4D97-AF65-F5344CB8AC3E}">
        <p14:creationId xmlns:p14="http://schemas.microsoft.com/office/powerpoint/2010/main" val="40167060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4869352"/>
      </p:ext>
    </p:extLst>
  </p:cSld>
  <p:clrMapOvr>
    <a:masterClrMapping/>
  </p:clrMapOvr>
  <mc:AlternateContent xmlns:mc="http://schemas.openxmlformats.org/markup-compatibility/2006" xmlns:p14="http://schemas.microsoft.com/office/powerpoint/2010/main">
    <mc:Choice Requires="p14">
      <p:transition spd="slow" p14:dur="1250" advClick="0">
        <p14:pan dir="u"/>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4976329"/>
      </p:ext>
    </p:extLst>
  </p:cSld>
  <p:clrMapOvr>
    <a:masterClrMapping/>
  </p:clrMapOvr>
  <mc:AlternateContent xmlns:mc="http://schemas.openxmlformats.org/markup-compatibility/2006" xmlns:p14="http://schemas.microsoft.com/office/powerpoint/2010/main">
    <mc:Choice Requires="p14">
      <p:transition spd="slow" p14:dur="1250" advClick="0">
        <p14:pan dir="u"/>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6560276"/>
      </p:ext>
    </p:extLst>
  </p:cSld>
  <p:clrMapOvr>
    <a:masterClrMapping/>
  </p:clrMapOvr>
  <mc:AlternateContent xmlns:mc="http://schemas.openxmlformats.org/markup-compatibility/2006" xmlns:p14="http://schemas.microsoft.com/office/powerpoint/2010/main">
    <mc:Choice Requires="p14">
      <p:transition spd="slow" p14:dur="1250" advClick="0">
        <p14:pan dir="u"/>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9"/>
            <a:ext cx="10972800" cy="1143000"/>
          </a:xfrm>
          <a:prstGeom prst="rect">
            <a:avLst/>
          </a:prstGeom>
        </p:spPr>
        <p:txBody>
          <a:bodyPr>
            <a:normAutofit/>
          </a:bodyPr>
          <a:lstStyle>
            <a:lvl1pPr>
              <a:defRPr>
                <a:latin typeface="思源黑体 CN Medium" panose="020B0600000000000000" pitchFamily="34" charset="-122"/>
                <a:ea typeface="思源黑体 CN Medium" panose="020B0600000000000000" pitchFamily="34" charset="-122"/>
              </a:defRPr>
            </a:lvl1pPr>
          </a:lstStyle>
          <a:p>
            <a:r>
              <a:rPr lang="zh-TW" altLang="zh-TW" sz="5400">
                <a:latin typeface="Source Han Sans TC"/>
                <a:ea typeface="Source Han Sans TC"/>
              </a:rPr>
              <a:t>按一下此處編輯母版標題樣式</a:t>
            </a:r>
          </a:p>
        </p:txBody>
      </p:sp>
      <p:sp>
        <p:nvSpPr>
          <p:cNvPr id="3" name="日期占位符 2"/>
          <p:cNvSpPr>
            <a:spLocks noGrp="1"/>
          </p:cNvSpPr>
          <p:nvPr>
            <p:ph type="dt" sz="half" idx="10"/>
          </p:nvPr>
        </p:nvSpPr>
        <p:spPr>
          <a:xfrm>
            <a:off x="609600" y="6356351"/>
            <a:ext cx="2844800" cy="365125"/>
          </a:xfrm>
          <a:prstGeom prst="rect">
            <a:avLst/>
          </a:prstGeom>
        </p:spPr>
        <p:txBody>
          <a:bodyPr>
            <a:normAutofit lnSpcReduction="20000"/>
          </a:bodyPr>
          <a:lstStyle>
            <a:lvl1pPr>
              <a:defRPr>
                <a:latin typeface="思源黑体 CN Medium" panose="020B0600000000000000" pitchFamily="34" charset="-122"/>
                <a:ea typeface="思源黑体 CN Medium" panose="020B0600000000000000" pitchFamily="34" charset="-122"/>
              </a:defRPr>
            </a:lvl1pPr>
          </a:lstStyle>
          <a:p>
            <a:fld id="{530820CF-B880-4189-942D-D702A7CBA730}" type="datetimeFigureOut">
              <a:rPr lang="zh-TW" altLang="zh-TW" smtClean="0">
                <a:latin typeface="Source Han Sans TC"/>
                <a:ea typeface="Source Han Sans TC"/>
              </a:rPr>
              <a:t>2024/9/9</a:t>
            </a:fld>
            <a:endParaRPr lang="zh-CN" altLang="en-US"/>
          </a:p>
        </p:txBody>
      </p:sp>
      <p:sp>
        <p:nvSpPr>
          <p:cNvPr id="4" name="页脚占位符 3"/>
          <p:cNvSpPr>
            <a:spLocks noGrp="1"/>
          </p:cNvSpPr>
          <p:nvPr>
            <p:ph type="ftr" sz="quarter" idx="11"/>
          </p:nvPr>
        </p:nvSpPr>
        <p:spPr>
          <a:xfrm>
            <a:off x="4165600" y="6356351"/>
            <a:ext cx="3860800" cy="365125"/>
          </a:xfrm>
          <a:prstGeom prst="rect">
            <a:avLst/>
          </a:prstGeom>
        </p:spPr>
        <p:txBody>
          <a:bodyPr/>
          <a:lstStyle>
            <a:lvl1pPr>
              <a:defRPr>
                <a:latin typeface="思源黑体 CN Medium" panose="020B0600000000000000" pitchFamily="34" charset="-122"/>
                <a:ea typeface="思源黑体 CN Medium" panose="020B0600000000000000" pitchFamily="34" charset="-122"/>
              </a:defRPr>
            </a:lvl1pPr>
          </a:lstStyle>
          <a:p>
            <a:endParaRPr lang="zh-CN" altLang="en-US"/>
          </a:p>
        </p:txBody>
      </p:sp>
      <p:sp>
        <p:nvSpPr>
          <p:cNvPr id="5" name="灯片编号占位符 4"/>
          <p:cNvSpPr>
            <a:spLocks noGrp="1"/>
          </p:cNvSpPr>
          <p:nvPr>
            <p:ph type="sldNum" sz="quarter" idx="12"/>
          </p:nvPr>
        </p:nvSpPr>
        <p:spPr>
          <a:xfrm>
            <a:off x="8737600" y="6356351"/>
            <a:ext cx="2844800" cy="365125"/>
          </a:xfrm>
          <a:prstGeom prst="rect">
            <a:avLst/>
          </a:prstGeom>
        </p:spPr>
        <p:txBody>
          <a:bodyPr>
            <a:normAutofit lnSpcReduction="20000"/>
          </a:bodyPr>
          <a:lstStyle>
            <a:lvl1pPr>
              <a:defRPr>
                <a:latin typeface="思源黑体 CN Medium" panose="020B0600000000000000" pitchFamily="34" charset="-122"/>
                <a:ea typeface="思源黑体 CN Medium" panose="020B0600000000000000" pitchFamily="34" charset="-122"/>
              </a:defRPr>
            </a:lvl1pPr>
          </a:lstStyle>
          <a:p>
            <a:fld id="{0C913308-F349-4B6D-A68A-DD1791B4A57B}" type="slidenum">
              <a:rPr lang="zh-TW" altLang="zh-TW" smtClean="0">
                <a:latin typeface="Source Han Sans TC"/>
                <a:ea typeface="Source Han Sans TC"/>
              </a:rPr>
              <a:t>‹#›</a:t>
            </a:fld>
            <a:endParaRPr lang="zh-CN" altLang="en-US"/>
          </a:p>
        </p:txBody>
      </p:sp>
    </p:spTree>
    <p:extLst>
      <p:ext uri="{BB962C8B-B14F-4D97-AF65-F5344CB8AC3E}">
        <p14:creationId xmlns:p14="http://schemas.microsoft.com/office/powerpoint/2010/main" val="1570447153"/>
      </p:ext>
    </p:extLst>
  </p:cSld>
  <p:clrMapOvr>
    <a:masterClrMapping/>
  </p:clrMapOvr>
  <mc:AlternateContent xmlns:mc="http://schemas.openxmlformats.org/markup-compatibility/2006" xmlns:p14="http://schemas.microsoft.com/office/powerpoint/2010/main">
    <mc:Choice Requires="p14">
      <p:transition spd="slow" p14:dur="1250" advClick="0">
        <p14:pan dir="u"/>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1"/>
            <a:ext cx="2844800" cy="365125"/>
          </a:xfrm>
          <a:prstGeom prst="rect">
            <a:avLst/>
          </a:prstGeom>
        </p:spPr>
        <p:txBody>
          <a:bodyPr>
            <a:normAutofit lnSpcReduction="20000"/>
          </a:bodyPr>
          <a:lstStyle>
            <a:lvl1pPr>
              <a:defRPr>
                <a:latin typeface="思源黑体 CN Medium" panose="020B0600000000000000" pitchFamily="34" charset="-122"/>
                <a:ea typeface="思源黑体 CN Medium" panose="020B0600000000000000" pitchFamily="34" charset="-122"/>
              </a:defRPr>
            </a:lvl1pPr>
          </a:lstStyle>
          <a:p>
            <a:fld id="{530820CF-B880-4189-942D-D702A7CBA730}" type="datetimeFigureOut">
              <a:rPr lang="zh-TW" altLang="zh-TW" smtClean="0">
                <a:latin typeface="Source Han Sans TC"/>
                <a:ea typeface="Source Han Sans TC"/>
              </a:rPr>
              <a:t>2024/9/9</a:t>
            </a:fld>
            <a:endParaRPr lang="zh-CN" altLang="en-US"/>
          </a:p>
        </p:txBody>
      </p:sp>
      <p:sp>
        <p:nvSpPr>
          <p:cNvPr id="3" name="页脚占位符 2"/>
          <p:cNvSpPr>
            <a:spLocks noGrp="1"/>
          </p:cNvSpPr>
          <p:nvPr>
            <p:ph type="ftr" sz="quarter" idx="11"/>
          </p:nvPr>
        </p:nvSpPr>
        <p:spPr>
          <a:xfrm>
            <a:off x="4165600" y="6356351"/>
            <a:ext cx="3860800" cy="365125"/>
          </a:xfrm>
          <a:prstGeom prst="rect">
            <a:avLst/>
          </a:prstGeom>
        </p:spPr>
        <p:txBody>
          <a:bodyPr/>
          <a:lstStyle>
            <a:lvl1pPr>
              <a:defRPr>
                <a:latin typeface="思源黑体 CN Medium" panose="020B0600000000000000" pitchFamily="34" charset="-122"/>
                <a:ea typeface="思源黑体 CN Medium" panose="020B0600000000000000" pitchFamily="34" charset="-122"/>
              </a:defRPr>
            </a:lvl1pPr>
          </a:lstStyle>
          <a:p>
            <a:endParaRPr lang="zh-CN" altLang="en-US"/>
          </a:p>
        </p:txBody>
      </p:sp>
      <p:sp>
        <p:nvSpPr>
          <p:cNvPr id="4" name="灯片编号占位符 3"/>
          <p:cNvSpPr>
            <a:spLocks noGrp="1"/>
          </p:cNvSpPr>
          <p:nvPr>
            <p:ph type="sldNum" sz="quarter" idx="12"/>
          </p:nvPr>
        </p:nvSpPr>
        <p:spPr>
          <a:xfrm>
            <a:off x="8737600" y="6356351"/>
            <a:ext cx="2844800" cy="365125"/>
          </a:xfrm>
          <a:prstGeom prst="rect">
            <a:avLst/>
          </a:prstGeom>
        </p:spPr>
        <p:txBody>
          <a:bodyPr>
            <a:normAutofit lnSpcReduction="20000"/>
          </a:bodyPr>
          <a:lstStyle>
            <a:lvl1pPr>
              <a:defRPr>
                <a:latin typeface="思源黑体 CN Medium" panose="020B0600000000000000" pitchFamily="34" charset="-122"/>
                <a:ea typeface="思源黑体 CN Medium" panose="020B0600000000000000" pitchFamily="34" charset="-122"/>
              </a:defRPr>
            </a:lvl1pPr>
          </a:lstStyle>
          <a:p>
            <a:fld id="{0C913308-F349-4B6D-A68A-DD1791B4A57B}" type="slidenum">
              <a:rPr lang="zh-TW" altLang="zh-TW" smtClean="0">
                <a:latin typeface="Source Han Sans TC"/>
                <a:ea typeface="Source Han Sans TC"/>
              </a:rPr>
              <a:t>‹#›</a:t>
            </a:fld>
            <a:endParaRPr lang="zh-CN" altLang="en-US"/>
          </a:p>
        </p:txBody>
      </p:sp>
    </p:spTree>
    <p:extLst>
      <p:ext uri="{BB962C8B-B14F-4D97-AF65-F5344CB8AC3E}">
        <p14:creationId xmlns:p14="http://schemas.microsoft.com/office/powerpoint/2010/main" val="3303615018"/>
      </p:ext>
    </p:extLst>
  </p:cSld>
  <p:clrMapOvr>
    <a:masterClrMapping/>
  </p:clrMapOvr>
  <mc:AlternateContent xmlns:mc="http://schemas.openxmlformats.org/markup-compatibility/2006" xmlns:p14="http://schemas.microsoft.com/office/powerpoint/2010/main">
    <mc:Choice Requires="p14">
      <p:transition spd="slow" p14:dur="1250" advClick="0">
        <p14:pan dir="u"/>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cSld name="1_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512383197"/>
      </p:ext>
    </p:extLst>
  </p:cSld>
  <p:clrMapOvr>
    <a:masterClrMapping/>
  </p:clrMapOvr>
  <mc:AlternateContent xmlns:mc="http://schemas.openxmlformats.org/markup-compatibility/2006" xmlns:p14="http://schemas.microsoft.com/office/powerpoint/2010/main">
    <mc:Choice Requires="p14">
      <p:transition spd="slow" p14:dur="1250" advClick="0">
        <p14:pan dir="u"/>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0" y="0"/>
            <a:ext cx="12192000" cy="6858000"/>
          </a:xfrm>
          <a:prstGeom prst="rect">
            <a:avLst/>
          </a:prstGeom>
        </p:spPr>
        <p:txBody>
          <a:bodyPr/>
          <a:lstStyle>
            <a:lvl1pPr>
              <a:defRPr>
                <a:latin typeface="思源黑体 CN Medium" panose="020B0600000000000000" pitchFamily="34" charset="-122"/>
                <a:ea typeface="思源黑体 CN Medium" panose="020B0600000000000000" pitchFamily="34" charset="-122"/>
              </a:defRPr>
            </a:lvl1pPr>
          </a:lstStyle>
          <a:p>
            <a:endParaRPr lang="id-ID"/>
          </a:p>
        </p:txBody>
      </p:sp>
    </p:spTree>
    <p:extLst>
      <p:ext uri="{BB962C8B-B14F-4D97-AF65-F5344CB8AC3E}">
        <p14:creationId xmlns:p14="http://schemas.microsoft.com/office/powerpoint/2010/main" val="1833905155"/>
      </p:ext>
    </p:extLst>
  </p:cSld>
  <p:clrMapOvr>
    <a:masterClrMapping/>
  </p:clrMapOvr>
  <mc:AlternateContent xmlns:mc="http://schemas.openxmlformats.org/markup-compatibility/2006" xmlns:p14="http://schemas.microsoft.com/office/powerpoint/2010/main">
    <mc:Choice Requires="p14">
      <p:transition spd="slow" p14:dur="1250" advClick="0">
        <p14:pan dir="u"/>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microsoft.com/office/2007/relationships/hdphoto" Target="../media/hdphoto1.wdp"/><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E8249C60-7208-4AC1-899A-88A4792C5AC4}"/>
              </a:ext>
            </a:extLst>
          </p:cNvPr>
          <p:cNvPicPr>
            <a:picLocks noChangeAspect="1"/>
          </p:cNvPicPr>
          <p:nvPr userDrawn="1"/>
        </p:nvPicPr>
        <p:blipFill>
          <a:blip r:embed="rId9">
            <a:extLst>
              <a:ext uri="{BEBA8EAE-BF5A-486C-A8C5-ECC9F3942E4B}">
                <a14:imgProps xmlns:a14="http://schemas.microsoft.com/office/drawing/2010/main">
                  <a14:imgLayer r:embed="rId10">
                    <a14:imgEffect>
                      <a14:backgroundRemoval t="1086" b="100000" l="0" r="100000">
                        <a14:foregroundMark x1="82171" y1="51131" x2="59408" y2="50679"/>
                        <a14:backgroundMark x1="91473" y1="41991" x2="86047" y2="34299"/>
                        <a14:backgroundMark x1="91966" y1="54118" x2="88090" y2="67059"/>
                        <a14:backgroundMark x1="84426" y1="75023" x2="75405" y2="81719"/>
                        <a14:backgroundMark x1="77026" y1="32217" x2="73573" y2="31493"/>
                        <a14:backgroundMark x1="67583" y1="33575" x2="65257" y2="31312"/>
                      </a14:backgroundRemoval>
                    </a14:imgEffect>
                  </a14:imgLayer>
                </a14:imgProps>
              </a:ext>
              <a:ext uri="{28A0092B-C50C-407E-A947-70E740481C1C}">
                <a14:useLocalDpi xmlns:a14="http://schemas.microsoft.com/office/drawing/2010/main" val="0"/>
              </a:ext>
            </a:extLst>
          </a:blip>
          <a:stretch>
            <a:fillRect/>
          </a:stretch>
        </p:blipFill>
        <p:spPr>
          <a:xfrm rot="277819">
            <a:off x="-1366951" y="-490407"/>
            <a:ext cx="3108709" cy="2420806"/>
          </a:xfrm>
          <a:prstGeom prst="rect">
            <a:avLst/>
          </a:prstGeom>
        </p:spPr>
      </p:pic>
      <p:sp>
        <p:nvSpPr>
          <p:cNvPr id="3" name="矩形 2">
            <a:extLst>
              <a:ext uri="{FF2B5EF4-FFF2-40B4-BE49-F238E27FC236}">
                <a16:creationId xmlns:a16="http://schemas.microsoft.com/office/drawing/2014/main" id="{D9F73BC3-9401-4923-BE1F-F0C70522A8B0}"/>
              </a:ext>
            </a:extLst>
          </p:cNvPr>
          <p:cNvSpPr/>
          <p:nvPr userDrawn="1"/>
        </p:nvSpPr>
        <p:spPr>
          <a:xfrm>
            <a:off x="1486538" y="408050"/>
            <a:ext cx="2698801" cy="523342"/>
          </a:xfrm>
          <a:prstGeom prst="rect">
            <a:avLst/>
          </a:prstGeom>
        </p:spPr>
        <p:txBody>
          <a:bodyPr wrap="none">
            <a:normAutofit/>
          </a:bodyPr>
          <a:lstStyle/>
          <a:p>
            <a:r>
              <a:rPr lang="zh-TW" altLang="zh-TW" sz="2800">
                <a:solidFill>
                  <a:prstClr val="black">
                    <a:lumMod val="75000"/>
                    <a:lumOff val="25000"/>
                  </a:prstClr>
                </a:solidFill>
                <a:latin typeface="Source Han Sans TC"/>
                <a:ea typeface="Source Han Sans TC"/>
                <a:sym typeface="思源宋体" panose="02020400000000000000" pitchFamily="18" charset="-122"/>
              </a:rPr>
              <a:t>按一下插入標題</a:t>
            </a:r>
            <a:endParaRPr lang="zh-CN" altLang="en-US" sz="2800">
              <a:latin typeface="思源黑体 CN Heavy" panose="020B0A00000000000000" pitchFamily="34" charset="-122"/>
              <a:ea typeface="思源黑体 CN Heavy" panose="020B0A00000000000000" pitchFamily="34" charset="-122"/>
              <a:sym typeface="思源宋体" panose="02020400000000000000" pitchFamily="18" charset="-122"/>
            </a:endParaRPr>
          </a:p>
        </p:txBody>
      </p:sp>
    </p:spTree>
    <p:extLst>
      <p:ext uri="{BB962C8B-B14F-4D97-AF65-F5344CB8AC3E}">
        <p14:creationId xmlns:p14="http://schemas.microsoft.com/office/powerpoint/2010/main" val="37097518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9" r:id="rId6"/>
    <p:sldLayoutId id="2147483672" r:id="rId7"/>
  </p:sldLayoutIdLst>
  <mc:AlternateContent xmlns:mc="http://schemas.openxmlformats.org/markup-compatibility/2006" xmlns:p14="http://schemas.microsoft.com/office/powerpoint/2010/main">
    <mc:Choice Requires="p14">
      <p:transition spd="slow" p14:dur="1250" advClick="0">
        <p14:pan dir="u"/>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p:fade/>
      </p:transition>
    </mc:Fallback>
  </mc:AlternateContent>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e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4.png"/><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5.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8.png"/><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microsoft.com/office/2007/relationships/hdphoto" Target="../media/hdphoto1.wdp"/></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microsoft.com/office/2007/relationships/hdphoto" Target="../media/hdphoto1.wdp"/></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microsoft.com/office/2007/relationships/hdphoto" Target="../media/hdphoto1.wdp"/></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microsoft.com/office/2007/relationships/hdphoto" Target="../media/hdphoto1.wdp"/></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microsoft.com/office/2007/relationships/hdphoto" Target="../media/hdphoto1.wdp"/></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microsoft.com/office/2007/relationships/hdphoto" Target="../media/hdphoto1.wdp"/></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microsoft.com/office/2007/relationships/hdphoto" Target="../media/hdphoto1.wdp"/></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microsoft.com/office/2007/relationships/hdphoto" Target="../media/hdphoto1.wdp"/></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microsoft.com/office/2007/relationships/hdphoto" Target="../media/hdphoto1.wdp"/></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microsoft.com/office/2007/relationships/hdphoto" Target="../media/hdphoto1.wdp"/></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microsoft.com/office/2007/relationships/hdphoto" Target="../media/hdphoto1.wdp"/></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microsoft.com/office/2007/relationships/hdphoto" Target="../media/hdphoto1.wdp"/></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microsoft.com/office/2007/relationships/hdphoto" Target="../media/hdphoto1.wdp"/></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microsoft.com/office/2007/relationships/hdphoto" Target="../media/hdphoto1.wdp"/></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microsoft.com/office/2007/relationships/hdphoto" Target="../media/hdphoto1.wdp"/></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microsoft.com/office/2007/relationships/hdphoto" Target="../media/hdphoto1.wdp"/></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microsoft.com/office/2007/relationships/hdphoto" Target="../media/hdphoto1.wdp"/></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microsoft.com/office/2007/relationships/hdphoto" Target="../media/hdphoto1.wdp"/></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4D5E65F5-1896-4E85-A7CA-71DEE01716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0976140">
            <a:off x="6461348" y="-53309"/>
            <a:ext cx="8943701" cy="6964616"/>
          </a:xfrm>
          <a:prstGeom prst="rect">
            <a:avLst/>
          </a:prstGeom>
        </p:spPr>
      </p:pic>
      <p:sp>
        <p:nvSpPr>
          <p:cNvPr id="12" name="矩形 11">
            <a:extLst>
              <a:ext uri="{FF2B5EF4-FFF2-40B4-BE49-F238E27FC236}">
                <a16:creationId xmlns:a16="http://schemas.microsoft.com/office/drawing/2014/main" id="{FEBA9565-5D20-453C-BFEA-0B6F72F3384D}"/>
              </a:ext>
            </a:extLst>
          </p:cNvPr>
          <p:cNvSpPr/>
          <p:nvPr/>
        </p:nvSpPr>
        <p:spPr>
          <a:xfrm>
            <a:off x="958469" y="2158428"/>
            <a:ext cx="6669949" cy="457200"/>
          </a:xfrm>
          <a:prstGeom prst="rect">
            <a:avLst/>
          </a:prstGeom>
        </p:spPr>
        <p:txBody>
          <a:bodyPr wrap="square">
            <a:normAutofit/>
          </a:bodyPr>
          <a:lstStyle/>
          <a:p>
            <a:pPr lvl="0" defTabSz="1219170">
              <a:defRPr/>
            </a:pPr>
            <a:endParaRPr lang="zh-CN" altLang="en-US" sz="2400" b="1" spc="400" dirty="0">
              <a:solidFill>
                <a:srgbClr val="E49140"/>
              </a:solidFill>
              <a:latin typeface="思源黑体 CN Medium" panose="020B0600000000000000" pitchFamily="34" charset="-122"/>
              <a:ea typeface="思源黑体 CN Medium" panose="020B0600000000000000" pitchFamily="34" charset="-122"/>
              <a:cs typeface="+mn-ea"/>
              <a:sym typeface="字魂59号-创粗黑" panose="00000500000000000000" pitchFamily="2" charset="-122"/>
            </a:endParaRPr>
          </a:p>
        </p:txBody>
      </p:sp>
      <p:sp>
        <p:nvSpPr>
          <p:cNvPr id="13" name="矩形 12">
            <a:extLst>
              <a:ext uri="{FF2B5EF4-FFF2-40B4-BE49-F238E27FC236}">
                <a16:creationId xmlns:a16="http://schemas.microsoft.com/office/drawing/2014/main" id="{76AD3232-33F2-471B-9445-068CDAD21B50}"/>
              </a:ext>
            </a:extLst>
          </p:cNvPr>
          <p:cNvSpPr/>
          <p:nvPr/>
        </p:nvSpPr>
        <p:spPr>
          <a:xfrm>
            <a:off x="1290344" y="2480571"/>
            <a:ext cx="5393920" cy="711733"/>
          </a:xfrm>
          <a:prstGeom prst="rect">
            <a:avLst/>
          </a:prstGeom>
        </p:spPr>
        <p:txBody>
          <a:bodyPr wrap="square">
            <a:normAutofit/>
          </a:bodyPr>
          <a:lstStyle/>
          <a:p>
            <a:pPr marL="0" marR="0" lvl="0" indent="0" algn="l" defTabSz="1219170" rtl="0" eaLnBrk="1" fontAlgn="auto" latinLnBrk="0" hangingPunct="1">
              <a:lnSpc>
                <a:spcPct val="100000"/>
              </a:lnSpc>
              <a:spcBef>
                <a:spcPct val="0"/>
              </a:spcBef>
              <a:spcAft>
                <a:spcPct val="0"/>
              </a:spcAft>
              <a:buClrTx/>
              <a:buSzTx/>
              <a:buFontTx/>
              <a:buNone/>
              <a:defRPr/>
            </a:pPr>
            <a:r>
              <a:rPr kumimoji="0" lang="zh-TW" altLang="en-US" sz="4000" b="0" i="0" u="none" strike="noStrike" kern="1200" cap="none" normalizeH="0" baseline="0" noProof="0" dirty="0">
                <a:ln>
                  <a:noFill/>
                </a:ln>
                <a:solidFill>
                  <a:srgbClr val="39425D"/>
                </a:solidFill>
                <a:effectLst/>
                <a:uLnTx/>
                <a:uFillTx/>
                <a:latin typeface="Source Han Sans TC"/>
                <a:ea typeface="Source Han Sans TC"/>
                <a:cs typeface="+mn-ea"/>
                <a:sym typeface="字魂59号-创粗黑" panose="00000500000000000000" pitchFamily="2" charset="-122"/>
              </a:rPr>
              <a:t>骨盆底肌治療統計分析</a:t>
            </a:r>
            <a:endParaRPr kumimoji="0" lang="zh-CN" altLang="en-US" sz="4000" b="0" i="0" u="none" strike="noStrike" kern="1200" cap="none" normalizeH="0" baseline="0" noProof="0" dirty="0">
              <a:ln>
                <a:noFill/>
              </a:ln>
              <a:solidFill>
                <a:srgbClr val="39425D"/>
              </a:solidFill>
              <a:effectLst/>
              <a:uLnTx/>
              <a:uFillTx/>
              <a:latin typeface="思源黑体 CN Heavy" panose="020B0A00000000000000" pitchFamily="34" charset="-122"/>
              <a:ea typeface="思源黑体 CN Heavy" panose="020B0A00000000000000" pitchFamily="34" charset="-122"/>
              <a:cs typeface="+mn-ea"/>
              <a:sym typeface="字魂59号-创粗黑" panose="00000500000000000000" pitchFamily="2" charset="-122"/>
            </a:endParaRPr>
          </a:p>
        </p:txBody>
      </p:sp>
      <p:graphicFrame>
        <p:nvGraphicFramePr>
          <p:cNvPr id="14" name="对象 13">
            <a:extLst>
              <a:ext uri="{FF2B5EF4-FFF2-40B4-BE49-F238E27FC236}">
                <a16:creationId xmlns:a16="http://schemas.microsoft.com/office/drawing/2014/main" id="{B54898C4-3DA5-45F7-9ECA-A077B9797AA7}"/>
              </a:ext>
            </a:extLst>
          </p:cNvPr>
          <p:cNvGraphicFramePr>
            <a:graphicFrameLocks noChangeAspect="1"/>
          </p:cNvGraphicFramePr>
          <p:nvPr>
            <p:extLst>
              <p:ext uri="{D42A27DB-BD31-4B8C-83A1-F6EECF244321}">
                <p14:modId xmlns:p14="http://schemas.microsoft.com/office/powerpoint/2010/main" val="4084842708"/>
              </p:ext>
            </p:extLst>
          </p:nvPr>
        </p:nvGraphicFramePr>
        <p:xfrm>
          <a:off x="232833" y="2785300"/>
          <a:ext cx="1511301" cy="2927976"/>
        </p:xfrm>
        <a:graphic>
          <a:graphicData uri="http://schemas.openxmlformats.org/presentationml/2006/ole">
            <mc:AlternateContent xmlns:mc="http://schemas.openxmlformats.org/markup-compatibility/2006">
              <mc:Choice xmlns:v="urn:schemas-microsoft-com:vml" Requires="v">
                <p:oleObj name="CorelDRAW" r:id="rId4" imgW="887179" imgH="1719618" progId="CorelDraw.Graphic.18">
                  <p:embed/>
                </p:oleObj>
              </mc:Choice>
              <mc:Fallback>
                <p:oleObj name="CorelDRAW" r:id="rId4" imgW="887179" imgH="1719618" progId="CorelDraw.Graphic.18">
                  <p:embed/>
                  <p:pic>
                    <p:nvPicPr>
                      <p:cNvPr id="0" name="OLE substitute image"/>
                      <p:cNvPicPr/>
                      <p:nvPr/>
                    </p:nvPicPr>
                    <p:blipFill>
                      <a:blip r:embed="rId5"/>
                      <a:stretch>
                        <a:fillRect/>
                      </a:stretch>
                    </p:blipFill>
                    <p:spPr>
                      <a:xfrm>
                        <a:off x="232833" y="2785300"/>
                        <a:ext cx="1511301" cy="2927976"/>
                      </a:xfrm>
                      <a:prstGeom prst="rect">
                        <a:avLst/>
                      </a:prstGeom>
                    </p:spPr>
                  </p:pic>
                </p:oleObj>
              </mc:Fallback>
            </mc:AlternateContent>
          </a:graphicData>
        </a:graphic>
      </p:graphicFrame>
    </p:spTree>
    <p:extLst>
      <p:ext uri="{BB962C8B-B14F-4D97-AF65-F5344CB8AC3E}">
        <p14:creationId xmlns:p14="http://schemas.microsoft.com/office/powerpoint/2010/main" val="1079391668"/>
      </p:ext>
    </p:extLst>
  </p:cSld>
  <p:clrMapOvr>
    <a:masterClrMapping/>
  </p:clrMapOvr>
  <mc:AlternateContent xmlns:mc="http://schemas.openxmlformats.org/markup-compatibility/2006" xmlns:p14="http://schemas.microsoft.com/office/powerpoint/2010/main">
    <mc:Choice Requires="p14">
      <p:transition spd="slow" p14:dur="1250" advClick="0">
        <p14:pan dir="u"/>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3" presetClass="entr" presetSubtype="16" fill="hold" grpId="0" nodeType="afterEffect" nodePh="1">
                                  <p:stCondLst>
                                    <p:cond delay="0"/>
                                  </p:stCondLst>
                                  <p:endCondLst>
                                    <p:cond evt="begin" delay="0">
                                      <p:tn val="5"/>
                                    </p:cond>
                                  </p:end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Effect transition="in" filter="fade">
                                      <p:cBhvr>
                                        <p:cTn id="9" dur="500"/>
                                        <p:tgtEl>
                                          <p:spTgt spid="12"/>
                                        </p:tgtEl>
                                      </p:cBhvr>
                                    </p:animEffect>
                                  </p:childTnLst>
                                </p:cTn>
                              </p:par>
                            </p:childTnLst>
                          </p:cTn>
                        </p:par>
                        <p:par>
                          <p:cTn id="10" fill="hold" nodeType="afterGroup">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 name="矩形 46">
            <a:extLst>
              <a:ext uri="{FF2B5EF4-FFF2-40B4-BE49-F238E27FC236}">
                <a16:creationId xmlns:a16="http://schemas.microsoft.com/office/drawing/2014/main" id="{70EE9815-1850-4526-B0D3-EAB935340875}"/>
              </a:ext>
            </a:extLst>
          </p:cNvPr>
          <p:cNvSpPr/>
          <p:nvPr/>
        </p:nvSpPr>
        <p:spPr>
          <a:xfrm>
            <a:off x="3030944" y="2481175"/>
            <a:ext cx="6669949" cy="1097280"/>
          </a:xfrm>
          <a:prstGeom prst="rect">
            <a:avLst/>
          </a:prstGeom>
        </p:spPr>
        <p:txBody>
          <a:bodyPr wrap="square">
            <a:normAutofit/>
          </a:bodyPr>
          <a:lstStyle/>
          <a:p>
            <a:pPr defTabSz="1219170">
              <a:defRPr/>
            </a:pPr>
            <a:r>
              <a:rPr lang="zh-TW" altLang="zh-TW" sz="6600" b="1" spc="400">
                <a:solidFill>
                  <a:srgbClr val="E49140"/>
                </a:solidFill>
                <a:latin typeface="Source Han Sans TC"/>
                <a:ea typeface="Source Han Sans TC"/>
                <a:cs typeface="+mn-ea"/>
                <a:sym typeface="字魂59号-创粗黑" panose="00000500000000000000" pitchFamily="2" charset="-122"/>
              </a:rPr>
              <a:t>PART 01</a:t>
            </a:r>
            <a:endParaRPr lang="zh-CN" altLang="en-US" sz="6600" b="1" spc="400">
              <a:solidFill>
                <a:srgbClr val="E49140"/>
              </a:solidFill>
              <a:latin typeface="思源黑体 CN Heavy" panose="020B0A00000000000000" pitchFamily="34" charset="-122"/>
              <a:ea typeface="思源黑体 CN Heavy" panose="020B0A00000000000000" pitchFamily="34" charset="-122"/>
              <a:cs typeface="+mn-ea"/>
              <a:sym typeface="字魂59号-创粗黑" panose="00000500000000000000" pitchFamily="2" charset="-122"/>
            </a:endParaRPr>
          </a:p>
        </p:txBody>
      </p:sp>
      <p:sp>
        <p:nvSpPr>
          <p:cNvPr id="49" name="矩形 48">
            <a:extLst>
              <a:ext uri="{FF2B5EF4-FFF2-40B4-BE49-F238E27FC236}">
                <a16:creationId xmlns:a16="http://schemas.microsoft.com/office/drawing/2014/main" id="{BB8A81A3-EA05-47BC-845F-3082E80D5039}"/>
              </a:ext>
            </a:extLst>
          </p:cNvPr>
          <p:cNvSpPr/>
          <p:nvPr/>
        </p:nvSpPr>
        <p:spPr>
          <a:xfrm>
            <a:off x="460841" y="3836606"/>
            <a:ext cx="11270318" cy="876598"/>
          </a:xfrm>
          <a:prstGeom prst="rect">
            <a:avLst/>
          </a:prstGeom>
        </p:spPr>
        <p:txBody>
          <a:bodyPr wrap="square">
            <a:normAutofit/>
          </a:bodyPr>
          <a:lstStyle/>
          <a:p>
            <a:pPr defTabSz="1219170">
              <a:defRPr/>
            </a:pPr>
            <a:r>
              <a:rPr lang="en-US" altLang="zh-TW" sz="4800" spc="600" dirty="0">
                <a:solidFill>
                  <a:srgbClr val="E49140"/>
                </a:solidFill>
                <a:latin typeface="Source Han Sans TC"/>
                <a:ea typeface="Source Han Sans TC"/>
                <a:cs typeface="+mn-ea"/>
                <a:sym typeface="字魂59号-创粗黑" panose="00000500000000000000" pitchFamily="2" charset="-122"/>
              </a:rPr>
              <a:t>Introduction</a:t>
            </a:r>
            <a:r>
              <a:rPr lang="zh-TW" altLang="en-US" sz="4800" spc="600" dirty="0">
                <a:solidFill>
                  <a:srgbClr val="E49140"/>
                </a:solidFill>
                <a:latin typeface="Source Han Sans TC"/>
                <a:ea typeface="Source Han Sans TC"/>
                <a:cs typeface="+mn-ea"/>
                <a:sym typeface="字魂59号-创粗黑" panose="00000500000000000000" pitchFamily="2" charset="-122"/>
              </a:rPr>
              <a:t> </a:t>
            </a:r>
            <a:r>
              <a:rPr lang="en-US" altLang="zh-TW" sz="4800" spc="600" dirty="0">
                <a:solidFill>
                  <a:srgbClr val="E49140"/>
                </a:solidFill>
                <a:latin typeface="Source Han Sans TC"/>
                <a:ea typeface="Source Han Sans TC"/>
                <a:cs typeface="+mn-ea"/>
                <a:sym typeface="字魂59号-创粗黑" panose="00000500000000000000" pitchFamily="2" charset="-122"/>
              </a:rPr>
              <a:t>and Data Description</a:t>
            </a:r>
            <a:endParaRPr lang="zh-CN" altLang="en-US" sz="4800" spc="600" dirty="0">
              <a:solidFill>
                <a:srgbClr val="E49140"/>
              </a:solidFill>
              <a:latin typeface="思源黑体 CN Medium" panose="020B0600000000000000" pitchFamily="34" charset="-122"/>
              <a:ea typeface="思源黑体 CN Medium" panose="020B0600000000000000" pitchFamily="34" charset="-122"/>
              <a:cs typeface="+mn-ea"/>
              <a:sym typeface="字魂59号-创粗黑" panose="00000500000000000000" pitchFamily="2" charset="-122"/>
            </a:endParaRPr>
          </a:p>
        </p:txBody>
      </p:sp>
      <p:grpSp>
        <p:nvGrpSpPr>
          <p:cNvPr id="4" name="组合 3">
            <a:extLst>
              <a:ext uri="{FF2B5EF4-FFF2-40B4-BE49-F238E27FC236}">
                <a16:creationId xmlns:a16="http://schemas.microsoft.com/office/drawing/2014/main" id="{E68C55C8-0BEF-498E-B166-DD1E58CB3EEA}"/>
              </a:ext>
            </a:extLst>
          </p:cNvPr>
          <p:cNvGrpSpPr/>
          <p:nvPr/>
        </p:nvGrpSpPr>
        <p:grpSpPr>
          <a:xfrm>
            <a:off x="3076664" y="5368500"/>
            <a:ext cx="1249680" cy="213360"/>
            <a:chOff x="929640" y="5638800"/>
            <a:chExt cx="1249680" cy="213360"/>
          </a:xfrm>
        </p:grpSpPr>
        <p:sp>
          <p:nvSpPr>
            <p:cNvPr id="3" name="椭圆 2">
              <a:extLst>
                <a:ext uri="{FF2B5EF4-FFF2-40B4-BE49-F238E27FC236}">
                  <a16:creationId xmlns:a16="http://schemas.microsoft.com/office/drawing/2014/main" id="{4011037E-1C59-4F57-B6F9-06CCB328088E}"/>
                </a:ext>
              </a:extLst>
            </p:cNvPr>
            <p:cNvSpPr/>
            <p:nvPr/>
          </p:nvSpPr>
          <p:spPr>
            <a:xfrm>
              <a:off x="929640" y="5638800"/>
              <a:ext cx="213360" cy="213360"/>
            </a:xfrm>
            <a:prstGeom prst="ellipse">
              <a:avLst/>
            </a:prstGeom>
            <a:solidFill>
              <a:srgbClr val="3942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sym typeface="字魂59号-创粗黑" panose="00000500000000000000" pitchFamily="2" charset="-122"/>
              </a:endParaRPr>
            </a:p>
          </p:txBody>
        </p:sp>
        <p:sp>
          <p:nvSpPr>
            <p:cNvPr id="55" name="椭圆 54">
              <a:extLst>
                <a:ext uri="{FF2B5EF4-FFF2-40B4-BE49-F238E27FC236}">
                  <a16:creationId xmlns:a16="http://schemas.microsoft.com/office/drawing/2014/main" id="{D4943364-C55E-43AC-914B-3D57014E4C76}"/>
                </a:ext>
              </a:extLst>
            </p:cNvPr>
            <p:cNvSpPr/>
            <p:nvPr/>
          </p:nvSpPr>
          <p:spPr>
            <a:xfrm>
              <a:off x="1447800" y="5638800"/>
              <a:ext cx="213360" cy="213360"/>
            </a:xfrm>
            <a:prstGeom prst="ellipse">
              <a:avLst/>
            </a:prstGeom>
            <a:solidFill>
              <a:srgbClr val="3942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sym typeface="字魂59号-创粗黑" panose="00000500000000000000" pitchFamily="2" charset="-122"/>
              </a:endParaRPr>
            </a:p>
          </p:txBody>
        </p:sp>
        <p:sp>
          <p:nvSpPr>
            <p:cNvPr id="56" name="椭圆 55">
              <a:extLst>
                <a:ext uri="{FF2B5EF4-FFF2-40B4-BE49-F238E27FC236}">
                  <a16:creationId xmlns:a16="http://schemas.microsoft.com/office/drawing/2014/main" id="{8866947B-A247-4CED-BB16-BAB90312DD36}"/>
                </a:ext>
              </a:extLst>
            </p:cNvPr>
            <p:cNvSpPr/>
            <p:nvPr/>
          </p:nvSpPr>
          <p:spPr>
            <a:xfrm>
              <a:off x="1965960" y="5638800"/>
              <a:ext cx="213360" cy="213360"/>
            </a:xfrm>
            <a:prstGeom prst="ellipse">
              <a:avLst/>
            </a:prstGeom>
            <a:solidFill>
              <a:srgbClr val="3942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pitchFamily="34" charset="-122"/>
                <a:ea typeface="思源黑体 CN Medium" panose="020B0600000000000000" pitchFamily="34" charset="-122"/>
                <a:sym typeface="字魂59号-创粗黑" panose="00000500000000000000" pitchFamily="2" charset="-122"/>
              </a:endParaRPr>
            </a:p>
          </p:txBody>
        </p:sp>
      </p:grpSp>
      <p:pic>
        <p:nvPicPr>
          <p:cNvPr id="12" name="图片 11">
            <a:extLst>
              <a:ext uri="{FF2B5EF4-FFF2-40B4-BE49-F238E27FC236}">
                <a16:creationId xmlns:a16="http://schemas.microsoft.com/office/drawing/2014/main" id="{882FDD6E-DFB9-4E68-86B8-3544D98CAB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0800000">
            <a:off x="6981865" y="202103"/>
            <a:ext cx="4515868" cy="3516585"/>
          </a:xfrm>
          <a:prstGeom prst="rect">
            <a:avLst/>
          </a:prstGeom>
        </p:spPr>
      </p:pic>
    </p:spTree>
    <p:extLst>
      <p:ext uri="{BB962C8B-B14F-4D97-AF65-F5344CB8AC3E}">
        <p14:creationId xmlns:p14="http://schemas.microsoft.com/office/powerpoint/2010/main" val="578202820"/>
      </p:ext>
    </p:extLst>
  </p:cSld>
  <p:clrMapOvr>
    <a:masterClrMapping/>
  </p:clrMapOvr>
  <mc:AlternateContent xmlns:mc="http://schemas.openxmlformats.org/markup-compatibility/2006" xmlns:p14="http://schemas.microsoft.com/office/powerpoint/2010/main">
    <mc:Choice Requires="p14">
      <p:transition spd="slow" p14:dur="1250" advClick="0">
        <p14:pan dir="u"/>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fltVal val="0"/>
                                          </p:val>
                                        </p:tav>
                                        <p:tav tm="100000">
                                          <p:val>
                                            <p:strVal val="#ppt_w"/>
                                          </p:val>
                                        </p:tav>
                                      </p:tavLst>
                                    </p:anim>
                                    <p:anim calcmode="lin" valueType="num">
                                      <p:cBhvr>
                                        <p:cTn id="8" dur="500" fill="hold"/>
                                        <p:tgtEl>
                                          <p:spTgt spid="47"/>
                                        </p:tgtEl>
                                        <p:attrNameLst>
                                          <p:attrName>ppt_h</p:attrName>
                                        </p:attrNameLst>
                                      </p:cBhvr>
                                      <p:tavLst>
                                        <p:tav tm="0">
                                          <p:val>
                                            <p:fltVal val="0"/>
                                          </p:val>
                                        </p:tav>
                                        <p:tav tm="100000">
                                          <p:val>
                                            <p:strVal val="#ppt_h"/>
                                          </p:val>
                                        </p:tav>
                                      </p:tavLst>
                                    </p:anim>
                                    <p:animEffect transition="in" filter="fade">
                                      <p:cBhvr>
                                        <p:cTn id="9" dur="500"/>
                                        <p:tgtEl>
                                          <p:spTgt spid="47"/>
                                        </p:tgtEl>
                                      </p:cBhvr>
                                    </p:animEffect>
                                  </p:childTnLst>
                                </p:cTn>
                              </p:par>
                            </p:childTnLst>
                          </p:cTn>
                        </p:par>
                        <p:par>
                          <p:cTn id="10" fill="hold" nodeType="afterGroup">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49"/>
                                        </p:tgtEl>
                                        <p:attrNameLst>
                                          <p:attrName>style.visibility</p:attrName>
                                        </p:attrNameLst>
                                      </p:cBhvr>
                                      <p:to>
                                        <p:strVal val="visible"/>
                                      </p:to>
                                    </p:set>
                                    <p:animEffect transition="in" filter="wipe(left)">
                                      <p:cBhvr>
                                        <p:cTn id="13"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4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58536" y="107592"/>
            <a:ext cx="3652003" cy="9840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70"/>
            <a:endParaRPr lang="en-US">
              <a:solidFill>
                <a:prstClr val="white"/>
              </a:solidFill>
              <a:latin typeface="思源黑体 CN Medium" panose="020B0600000000000000" pitchFamily="34" charset="-122"/>
              <a:ea typeface="思源黑体 CN Medium" panose="020B0600000000000000" pitchFamily="34" charset="-122"/>
              <a:sym typeface="字魂59号-创粗黑" panose="00000500000000000000" pitchFamily="2" charset="-122"/>
            </a:endParaRPr>
          </a:p>
        </p:txBody>
      </p:sp>
      <p:pic>
        <p:nvPicPr>
          <p:cNvPr id="17" name="图片 16">
            <a:extLst>
              <a:ext uri="{FF2B5EF4-FFF2-40B4-BE49-F238E27FC236}">
                <a16:creationId xmlns:a16="http://schemas.microsoft.com/office/drawing/2014/main" id="{05E72798-6899-42A6-9FEE-703EF4EFCDB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86" b="100000" l="0" r="100000">
                        <a14:foregroundMark x1="82171" y1="51131" x2="59408" y2="50679"/>
                        <a14:backgroundMark x1="91473" y1="41991" x2="86047" y2="34299"/>
                        <a14:backgroundMark x1="91966" y1="54118" x2="88090" y2="67059"/>
                        <a14:backgroundMark x1="84426" y1="75023" x2="75405" y2="81719"/>
                        <a14:backgroundMark x1="77026" y1="32217" x2="73573" y2="31493"/>
                        <a14:backgroundMark x1="67583" y1="33575" x2="65257" y2="31312"/>
                      </a14:backgroundRemoval>
                    </a14:imgEffect>
                  </a14:imgLayer>
                </a14:imgProps>
              </a:ext>
              <a:ext uri="{28A0092B-C50C-407E-A947-70E740481C1C}">
                <a14:useLocalDpi xmlns:a14="http://schemas.microsoft.com/office/drawing/2010/main" val="0"/>
              </a:ext>
            </a:extLst>
          </a:blip>
          <a:stretch>
            <a:fillRect/>
          </a:stretch>
        </p:blipFill>
        <p:spPr>
          <a:xfrm rot="277819">
            <a:off x="-1366951" y="-490407"/>
            <a:ext cx="3108709" cy="2420806"/>
          </a:xfrm>
          <a:prstGeom prst="rect">
            <a:avLst/>
          </a:prstGeom>
        </p:spPr>
      </p:pic>
      <p:sp>
        <p:nvSpPr>
          <p:cNvPr id="2" name="矩形 1">
            <a:extLst>
              <a:ext uri="{FF2B5EF4-FFF2-40B4-BE49-F238E27FC236}">
                <a16:creationId xmlns:a16="http://schemas.microsoft.com/office/drawing/2014/main" id="{CDACD7A8-3A6E-4C27-9240-791E721F0C74}"/>
              </a:ext>
            </a:extLst>
          </p:cNvPr>
          <p:cNvSpPr/>
          <p:nvPr/>
        </p:nvSpPr>
        <p:spPr>
          <a:xfrm>
            <a:off x="1570514" y="337966"/>
            <a:ext cx="2698801" cy="523342"/>
          </a:xfrm>
          <a:prstGeom prst="rect">
            <a:avLst/>
          </a:prstGeom>
        </p:spPr>
        <p:txBody>
          <a:bodyPr wrap="none">
            <a:normAutofit/>
          </a:bodyPr>
          <a:lstStyle/>
          <a:p>
            <a:r>
              <a:rPr lang="en-US" altLang="zh-TW" sz="2800" dirty="0">
                <a:solidFill>
                  <a:prstClr val="black">
                    <a:lumMod val="75000"/>
                    <a:lumOff val="25000"/>
                  </a:prstClr>
                </a:solidFill>
                <a:latin typeface="Source Han Sans TC"/>
                <a:ea typeface="Source Han Sans TC"/>
                <a:sym typeface="字魂59号-创粗黑" panose="00000500000000000000" pitchFamily="2" charset="-122"/>
              </a:rPr>
              <a:t>Introduction</a:t>
            </a:r>
            <a:endParaRPr lang="zh-CN" altLang="en-US" sz="2800" dirty="0">
              <a:latin typeface="思源黑体 CN Medium" panose="020B0600000000000000" pitchFamily="34" charset="-122"/>
              <a:ea typeface="思源黑体 CN Medium" panose="020B0600000000000000" pitchFamily="34" charset="-122"/>
              <a:sym typeface="字魂59号-创粗黑" panose="00000500000000000000" pitchFamily="2" charset="-122"/>
            </a:endParaRPr>
          </a:p>
        </p:txBody>
      </p:sp>
      <p:sp>
        <p:nvSpPr>
          <p:cNvPr id="13" name="文字方塊 12">
            <a:extLst>
              <a:ext uri="{FF2B5EF4-FFF2-40B4-BE49-F238E27FC236}">
                <a16:creationId xmlns:a16="http://schemas.microsoft.com/office/drawing/2014/main" id="{7FB182D6-0059-5930-F1FF-F6008588240F}"/>
              </a:ext>
            </a:extLst>
          </p:cNvPr>
          <p:cNvSpPr txBox="1"/>
          <p:nvPr/>
        </p:nvSpPr>
        <p:spPr>
          <a:xfrm>
            <a:off x="1213716" y="1586364"/>
            <a:ext cx="10233892" cy="3267433"/>
          </a:xfrm>
          <a:prstGeom prst="rect">
            <a:avLst/>
          </a:prstGeom>
          <a:noFill/>
        </p:spPr>
        <p:txBody>
          <a:bodyPr wrap="none" rtlCol="0">
            <a:spAutoFit/>
          </a:bodyPr>
          <a:lstStyle/>
          <a:p>
            <a:pPr>
              <a:lnSpc>
                <a:spcPct val="150000"/>
              </a:lnSpc>
            </a:pP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cs typeface="Calibri" panose="020F0502020204030204" pitchFamily="34" charset="0"/>
              </a:rPr>
              <a:t>本研究將探討骨盆底肌治療的成效是否有達到統計上的顯著性，我們一共針對三種不同</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cs typeface="Calibri" panose="020F0502020204030204" pitchFamily="34" charset="0"/>
            </a:endParaRPr>
          </a:p>
          <a:p>
            <a:pPr>
              <a:lnSpc>
                <a:spcPct val="150000"/>
              </a:lnSpc>
            </a:pP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cs typeface="Calibri" panose="020F0502020204030204" pitchFamily="34" charset="0"/>
              </a:rPr>
              <a:t>的疾病進行探討，分別是便秘、尿失禁與肛失禁，資料又可以分成主觀的問卷資料以及</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cs typeface="Calibri" panose="020F0502020204030204" pitchFamily="34" charset="0"/>
            </a:endParaRPr>
          </a:p>
          <a:p>
            <a:pPr>
              <a:lnSpc>
                <a:spcPct val="150000"/>
              </a:lnSpc>
            </a:pP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cs typeface="Calibri" panose="020F0502020204030204" pitchFamily="34" charset="0"/>
              </a:rPr>
              <a:t>客觀的肌電圖資料，因此我們想針對</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cs typeface="Calibri" panose="020F0502020204030204" pitchFamily="34" charset="0"/>
              </a:rPr>
              <a:t>這兩種資料的前後測進行建模與檢定</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cs typeface="Calibri" panose="020F0502020204030204" pitchFamily="34" charset="0"/>
              </a:rPr>
              <a:t>，來看骨盆底</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cs typeface="Calibri" panose="020F0502020204030204" pitchFamily="34" charset="0"/>
            </a:endParaRPr>
          </a:p>
          <a:p>
            <a:pPr>
              <a:lnSpc>
                <a:spcPct val="150000"/>
              </a:lnSpc>
            </a:pP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cs typeface="Calibri" panose="020F0502020204030204" pitchFamily="34" charset="0"/>
              </a:rPr>
              <a:t>肌的治療前後是否有達到統計上的顯著差異，然而我們的後測資料有大量的</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cs typeface="Calibri" panose="020F0502020204030204" pitchFamily="34" charset="0"/>
              </a:rPr>
              <a:t> missing data</a:t>
            </a:r>
          </a:p>
          <a:p>
            <a:pPr>
              <a:lnSpc>
                <a:spcPct val="150000"/>
              </a:lnSpc>
            </a:pP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cs typeface="Calibri" panose="020F0502020204030204" pitchFamily="34" charset="0"/>
              </a:rPr>
              <a:t>意即完整的成對資料的筆數是少的。因此本研究我們採用的方法是先針對完整的成對資</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cs typeface="Calibri" panose="020F0502020204030204" pitchFamily="34" charset="0"/>
            </a:endParaRPr>
          </a:p>
          <a:p>
            <a:pPr>
              <a:lnSpc>
                <a:spcPct val="150000"/>
              </a:lnSpc>
            </a:pP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cs typeface="Calibri" panose="020F0502020204030204" pitchFamily="34" charset="0"/>
              </a:rPr>
              <a:t>料進行</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cs typeface="Calibri" panose="020F0502020204030204" pitchFamily="34" charset="0"/>
              </a:rPr>
              <a:t>非參數的檢定方法來看前後是否有差異</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cs typeface="Calibri" panose="020F0502020204030204" pitchFamily="34" charset="0"/>
              </a:rPr>
              <a:t>，再來我們試著對遺失資料進行補值並且</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cs typeface="Calibri" panose="020F0502020204030204" pitchFamily="34" charset="0"/>
            </a:endParaRPr>
          </a:p>
          <a:p>
            <a:pPr>
              <a:lnSpc>
                <a:spcPct val="150000"/>
              </a:lnSpc>
            </a:pP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cs typeface="Calibri" panose="020F0502020204030204" pitchFamily="34" charset="0"/>
              </a:rPr>
              <a:t>針對補值後的資料進行檢定。</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cs typeface="Calibri" panose="020F0502020204030204" pitchFamily="34" charset="0"/>
            </a:endParaRPr>
          </a:p>
        </p:txBody>
      </p:sp>
    </p:spTree>
    <p:extLst>
      <p:ext uri="{BB962C8B-B14F-4D97-AF65-F5344CB8AC3E}">
        <p14:creationId xmlns:p14="http://schemas.microsoft.com/office/powerpoint/2010/main" val="1406643018"/>
      </p:ext>
    </p:extLst>
  </p:cSld>
  <p:clrMapOvr>
    <a:masterClrMapping/>
  </p:clrMapOvr>
  <mc:AlternateContent xmlns:mc="http://schemas.openxmlformats.org/markup-compatibility/2006" xmlns:p14="http://schemas.microsoft.com/office/powerpoint/2010/main">
    <mc:Choice Requires="p14">
      <p:transition spd="slow" p14:dur="1250" advClick="0">
        <p14:pan dir="u"/>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58536" y="107592"/>
            <a:ext cx="5928672" cy="9840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70"/>
            <a:endParaRPr lang="en-US">
              <a:solidFill>
                <a:prstClr val="white"/>
              </a:solidFill>
              <a:latin typeface="思源黑体 CN Medium" panose="020B0600000000000000" pitchFamily="34" charset="-122"/>
              <a:ea typeface="思源黑体 CN Medium" panose="020B0600000000000000" pitchFamily="34" charset="-122"/>
              <a:sym typeface="字魂59号-创粗黑" panose="00000500000000000000" pitchFamily="2" charset="-122"/>
            </a:endParaRPr>
          </a:p>
        </p:txBody>
      </p:sp>
      <p:pic>
        <p:nvPicPr>
          <p:cNvPr id="17" name="图片 16">
            <a:extLst>
              <a:ext uri="{FF2B5EF4-FFF2-40B4-BE49-F238E27FC236}">
                <a16:creationId xmlns:a16="http://schemas.microsoft.com/office/drawing/2014/main" id="{05E72798-6899-42A6-9FEE-703EF4EFCDB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86" b="100000" l="0" r="100000">
                        <a14:foregroundMark x1="82171" y1="51131" x2="59408" y2="50679"/>
                        <a14:backgroundMark x1="91473" y1="41991" x2="86047" y2="34299"/>
                        <a14:backgroundMark x1="91966" y1="54118" x2="88090" y2="67059"/>
                        <a14:backgroundMark x1="84426" y1="75023" x2="75405" y2="81719"/>
                        <a14:backgroundMark x1="77026" y1="32217" x2="73573" y2="31493"/>
                        <a14:backgroundMark x1="67583" y1="33575" x2="65257" y2="31312"/>
                      </a14:backgroundRemoval>
                    </a14:imgEffect>
                  </a14:imgLayer>
                </a14:imgProps>
              </a:ext>
              <a:ext uri="{28A0092B-C50C-407E-A947-70E740481C1C}">
                <a14:useLocalDpi xmlns:a14="http://schemas.microsoft.com/office/drawing/2010/main" val="0"/>
              </a:ext>
            </a:extLst>
          </a:blip>
          <a:stretch>
            <a:fillRect/>
          </a:stretch>
        </p:blipFill>
        <p:spPr>
          <a:xfrm rot="277819">
            <a:off x="-1366951" y="-490407"/>
            <a:ext cx="3108709" cy="2420806"/>
          </a:xfrm>
          <a:prstGeom prst="rect">
            <a:avLst/>
          </a:prstGeom>
        </p:spPr>
      </p:pic>
      <p:sp>
        <p:nvSpPr>
          <p:cNvPr id="2" name="矩形 1">
            <a:extLst>
              <a:ext uri="{FF2B5EF4-FFF2-40B4-BE49-F238E27FC236}">
                <a16:creationId xmlns:a16="http://schemas.microsoft.com/office/drawing/2014/main" id="{CDACD7A8-3A6E-4C27-9240-791E721F0C74}"/>
              </a:ext>
            </a:extLst>
          </p:cNvPr>
          <p:cNvSpPr/>
          <p:nvPr/>
        </p:nvSpPr>
        <p:spPr>
          <a:xfrm>
            <a:off x="1570514" y="337965"/>
            <a:ext cx="4764972" cy="548443"/>
          </a:xfrm>
          <a:prstGeom prst="rect">
            <a:avLst/>
          </a:prstGeom>
        </p:spPr>
        <p:txBody>
          <a:bodyPr wrap="none">
            <a:normAutofit/>
          </a:bodyPr>
          <a:lstStyle/>
          <a:p>
            <a:r>
              <a:rPr lang="en-US" altLang="zh-TW" sz="2800" dirty="0">
                <a:solidFill>
                  <a:prstClr val="black">
                    <a:lumMod val="75000"/>
                    <a:lumOff val="25000"/>
                  </a:prstClr>
                </a:solidFill>
                <a:latin typeface="Source Han Sans TC"/>
                <a:ea typeface="Source Han Sans TC"/>
                <a:sym typeface="字魂59号-创粗黑" panose="00000500000000000000" pitchFamily="2" charset="-122"/>
              </a:rPr>
              <a:t>Data description –</a:t>
            </a:r>
            <a:r>
              <a:rPr lang="zh-TW" altLang="en-US" sz="2800" dirty="0">
                <a:solidFill>
                  <a:prstClr val="black">
                    <a:lumMod val="75000"/>
                    <a:lumOff val="25000"/>
                  </a:prstClr>
                </a:solidFill>
                <a:latin typeface="Source Han Sans TC"/>
                <a:ea typeface="Source Han Sans TC"/>
                <a:sym typeface="字魂59号-创粗黑" panose="00000500000000000000" pitchFamily="2" charset="-122"/>
              </a:rPr>
              <a:t> </a:t>
            </a:r>
            <a:r>
              <a:rPr lang="zh-TW" altLang="en-US" sz="2800" b="1" dirty="0">
                <a:solidFill>
                  <a:srgbClr val="0070C0"/>
                </a:solidFill>
                <a:latin typeface="微軟正黑體" panose="020B0604030504040204" pitchFamily="34" charset="-120"/>
                <a:ea typeface="微軟正黑體" panose="020B0604030504040204" pitchFamily="34" charset="-120"/>
                <a:cs typeface="Calibri" panose="020F0502020204030204" pitchFamily="34" charset="0"/>
                <a:sym typeface="字魂59号-创粗黑" panose="00000500000000000000" pitchFamily="2" charset="-122"/>
              </a:rPr>
              <a:t>主觀</a:t>
            </a:r>
            <a:r>
              <a:rPr lang="zh-TW" altLang="en-US" sz="2800" b="1" dirty="0">
                <a:solidFill>
                  <a:srgbClr val="0070C0"/>
                </a:solidFill>
                <a:latin typeface="微軟正黑體" panose="020B0604030504040204" pitchFamily="34" charset="-120"/>
                <a:ea typeface="微軟正黑體" panose="020B0604030504040204" pitchFamily="34" charset="-120"/>
                <a:cs typeface="Calibri" panose="020F0502020204030204" pitchFamily="34" charset="0"/>
              </a:rPr>
              <a:t>資料</a:t>
            </a:r>
            <a:endParaRPr lang="en-US" altLang="zh-TW" sz="2800" b="1" dirty="0">
              <a:solidFill>
                <a:srgbClr val="0070C0"/>
              </a:solidFill>
              <a:latin typeface="微軟正黑體" panose="020B0604030504040204" pitchFamily="34" charset="-120"/>
              <a:ea typeface="微軟正黑體" panose="020B0604030504040204" pitchFamily="34" charset="-120"/>
              <a:cs typeface="Calibri" panose="020F0502020204030204" pitchFamily="34" charset="0"/>
            </a:endParaRPr>
          </a:p>
        </p:txBody>
      </p:sp>
      <p:pic>
        <p:nvPicPr>
          <p:cNvPr id="5" name="圖片 4">
            <a:extLst>
              <a:ext uri="{FF2B5EF4-FFF2-40B4-BE49-F238E27FC236}">
                <a16:creationId xmlns:a16="http://schemas.microsoft.com/office/drawing/2014/main" id="{8412FEF5-87E8-DEF1-12E7-D9B145C6E1E5}"/>
              </a:ext>
            </a:extLst>
          </p:cNvPr>
          <p:cNvPicPr>
            <a:picLocks noChangeAspect="1"/>
          </p:cNvPicPr>
          <p:nvPr/>
        </p:nvPicPr>
        <p:blipFill>
          <a:blip r:embed="rId5"/>
          <a:stretch>
            <a:fillRect/>
          </a:stretch>
        </p:blipFill>
        <p:spPr>
          <a:xfrm>
            <a:off x="1635828" y="2771452"/>
            <a:ext cx="9122368" cy="3759325"/>
          </a:xfrm>
          <a:prstGeom prst="rect">
            <a:avLst/>
          </a:prstGeom>
          <a:ln>
            <a:solidFill>
              <a:schemeClr val="tx1"/>
            </a:solidFill>
          </a:ln>
        </p:spPr>
      </p:pic>
      <p:sp>
        <p:nvSpPr>
          <p:cNvPr id="6" name="文字方塊 5">
            <a:extLst>
              <a:ext uri="{FF2B5EF4-FFF2-40B4-BE49-F238E27FC236}">
                <a16:creationId xmlns:a16="http://schemas.microsoft.com/office/drawing/2014/main" id="{0C7BF970-2010-34C5-D523-4B00C33F18F6}"/>
              </a:ext>
            </a:extLst>
          </p:cNvPr>
          <p:cNvSpPr txBox="1"/>
          <p:nvPr/>
        </p:nvSpPr>
        <p:spPr>
          <a:xfrm>
            <a:off x="1358536" y="1051941"/>
            <a:ext cx="10499990" cy="1631216"/>
          </a:xfrm>
          <a:prstGeom prst="rect">
            <a:avLst/>
          </a:prstGeom>
          <a:noFill/>
        </p:spPr>
        <p:txBody>
          <a:bodyPr wrap="none" rtlCol="0">
            <a:spAutoFit/>
          </a:bodyPr>
          <a:lstStyle/>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我們分別收集了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37</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 筆便祕</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 32</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 筆肛失禁與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33</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 筆尿失禁的主觀資料，其中除了主觀的問卷</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前後測之外，我們也分別量測了咳嗽反應、外括約肌、恥骨直腸肌、耐力、快速收縮與異</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常性收縮等指標，而我們在客觀資料上的分析方式是針對前後測的問卷資料進行檢定，看</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接受骨盆底肌治療之後是否具有顯著上的差異，其中</a:t>
            </a:r>
            <a:r>
              <a:rPr lang="zh-TW" altLang="en-US" sz="2000" b="1" dirty="0">
                <a:latin typeface="微軟正黑體" panose="020B0604030504040204" pitchFamily="34" charset="-120"/>
                <a:ea typeface="微軟正黑體" panose="020B0604030504040204" pitchFamily="34" charset="-120"/>
              </a:rPr>
              <a:t>問卷分數降低</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說明個案在主觀的意識</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上認為治療具有成效。</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4017586451"/>
      </p:ext>
    </p:extLst>
  </p:cSld>
  <p:clrMapOvr>
    <a:masterClrMapping/>
  </p:clrMapOvr>
  <mc:AlternateContent xmlns:mc="http://schemas.openxmlformats.org/markup-compatibility/2006" xmlns:p14="http://schemas.microsoft.com/office/powerpoint/2010/main">
    <mc:Choice Requires="p14">
      <p:transition spd="slow" p14:dur="1250" advClick="0">
        <p14:pan dir="u"/>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58536" y="107592"/>
            <a:ext cx="5928672" cy="9840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70"/>
            <a:endParaRPr lang="en-US">
              <a:solidFill>
                <a:prstClr val="white"/>
              </a:solidFill>
              <a:latin typeface="思源黑体 CN Medium" panose="020B0600000000000000" pitchFamily="34" charset="-122"/>
              <a:ea typeface="思源黑体 CN Medium" panose="020B0600000000000000" pitchFamily="34" charset="-122"/>
              <a:sym typeface="字魂59号-创粗黑" panose="00000500000000000000" pitchFamily="2" charset="-122"/>
            </a:endParaRPr>
          </a:p>
        </p:txBody>
      </p:sp>
      <p:pic>
        <p:nvPicPr>
          <p:cNvPr id="17" name="图片 16">
            <a:extLst>
              <a:ext uri="{FF2B5EF4-FFF2-40B4-BE49-F238E27FC236}">
                <a16:creationId xmlns:a16="http://schemas.microsoft.com/office/drawing/2014/main" id="{05E72798-6899-42A6-9FEE-703EF4EFCDB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86" b="100000" l="0" r="100000">
                        <a14:foregroundMark x1="82171" y1="51131" x2="59408" y2="50679"/>
                        <a14:backgroundMark x1="91473" y1="41991" x2="86047" y2="34299"/>
                        <a14:backgroundMark x1="91966" y1="54118" x2="88090" y2="67059"/>
                        <a14:backgroundMark x1="84426" y1="75023" x2="75405" y2="81719"/>
                        <a14:backgroundMark x1="77026" y1="32217" x2="73573" y2="31493"/>
                        <a14:backgroundMark x1="67583" y1="33575" x2="65257" y2="31312"/>
                      </a14:backgroundRemoval>
                    </a14:imgEffect>
                  </a14:imgLayer>
                </a14:imgProps>
              </a:ext>
              <a:ext uri="{28A0092B-C50C-407E-A947-70E740481C1C}">
                <a14:useLocalDpi xmlns:a14="http://schemas.microsoft.com/office/drawing/2010/main" val="0"/>
              </a:ext>
            </a:extLst>
          </a:blip>
          <a:stretch>
            <a:fillRect/>
          </a:stretch>
        </p:blipFill>
        <p:spPr>
          <a:xfrm rot="277819">
            <a:off x="-1366951" y="-490407"/>
            <a:ext cx="3108709" cy="2420806"/>
          </a:xfrm>
          <a:prstGeom prst="rect">
            <a:avLst/>
          </a:prstGeom>
        </p:spPr>
      </p:pic>
      <p:sp>
        <p:nvSpPr>
          <p:cNvPr id="2" name="矩形 1">
            <a:extLst>
              <a:ext uri="{FF2B5EF4-FFF2-40B4-BE49-F238E27FC236}">
                <a16:creationId xmlns:a16="http://schemas.microsoft.com/office/drawing/2014/main" id="{CDACD7A8-3A6E-4C27-9240-791E721F0C74}"/>
              </a:ext>
            </a:extLst>
          </p:cNvPr>
          <p:cNvSpPr/>
          <p:nvPr/>
        </p:nvSpPr>
        <p:spPr>
          <a:xfrm>
            <a:off x="1570514" y="337965"/>
            <a:ext cx="4764972" cy="548443"/>
          </a:xfrm>
          <a:prstGeom prst="rect">
            <a:avLst/>
          </a:prstGeom>
        </p:spPr>
        <p:txBody>
          <a:bodyPr wrap="none">
            <a:normAutofit/>
          </a:bodyPr>
          <a:lstStyle/>
          <a:p>
            <a:r>
              <a:rPr lang="en-US" altLang="zh-TW" sz="2800" dirty="0">
                <a:solidFill>
                  <a:prstClr val="black">
                    <a:lumMod val="75000"/>
                    <a:lumOff val="25000"/>
                  </a:prstClr>
                </a:solidFill>
                <a:latin typeface="Source Han Sans TC"/>
                <a:ea typeface="Source Han Sans TC"/>
                <a:sym typeface="字魂59号-创粗黑" panose="00000500000000000000" pitchFamily="2" charset="-122"/>
              </a:rPr>
              <a:t>Data description –</a:t>
            </a:r>
            <a:r>
              <a:rPr lang="zh-TW" altLang="en-US" sz="2800" dirty="0">
                <a:solidFill>
                  <a:prstClr val="black">
                    <a:lumMod val="75000"/>
                    <a:lumOff val="25000"/>
                  </a:prstClr>
                </a:solidFill>
                <a:latin typeface="Source Han Sans TC"/>
                <a:ea typeface="Source Han Sans TC"/>
                <a:sym typeface="字魂59号-创粗黑" panose="00000500000000000000" pitchFamily="2" charset="-122"/>
              </a:rPr>
              <a:t> </a:t>
            </a:r>
            <a:r>
              <a:rPr lang="zh-TW" altLang="en-US" sz="2800" b="1" dirty="0">
                <a:solidFill>
                  <a:srgbClr val="0070C0"/>
                </a:solidFill>
                <a:latin typeface="微軟正黑體" panose="020B0604030504040204" pitchFamily="34" charset="-120"/>
                <a:ea typeface="微軟正黑體" panose="020B0604030504040204" pitchFamily="34" charset="-120"/>
                <a:cs typeface="Calibri" panose="020F0502020204030204" pitchFamily="34" charset="0"/>
                <a:sym typeface="字魂59号-创粗黑" panose="00000500000000000000" pitchFamily="2" charset="-122"/>
              </a:rPr>
              <a:t>客觀</a:t>
            </a:r>
            <a:r>
              <a:rPr lang="zh-TW" altLang="en-US" sz="2800" b="1" dirty="0">
                <a:solidFill>
                  <a:srgbClr val="0070C0"/>
                </a:solidFill>
                <a:latin typeface="微軟正黑體" panose="020B0604030504040204" pitchFamily="34" charset="-120"/>
                <a:ea typeface="微軟正黑體" panose="020B0604030504040204" pitchFamily="34" charset="-120"/>
                <a:cs typeface="Calibri" panose="020F0502020204030204" pitchFamily="34" charset="0"/>
              </a:rPr>
              <a:t>資料</a:t>
            </a:r>
            <a:endParaRPr lang="en-US" altLang="zh-TW" sz="2800" b="1" dirty="0">
              <a:solidFill>
                <a:srgbClr val="0070C0"/>
              </a:solidFill>
              <a:latin typeface="微軟正黑體" panose="020B0604030504040204" pitchFamily="34" charset="-120"/>
              <a:ea typeface="微軟正黑體" panose="020B0604030504040204" pitchFamily="34" charset="-120"/>
              <a:cs typeface="Calibri" panose="020F0502020204030204" pitchFamily="34" charset="0"/>
            </a:endParaRPr>
          </a:p>
        </p:txBody>
      </p:sp>
      <p:sp>
        <p:nvSpPr>
          <p:cNvPr id="6" name="文字方塊 5">
            <a:extLst>
              <a:ext uri="{FF2B5EF4-FFF2-40B4-BE49-F238E27FC236}">
                <a16:creationId xmlns:a16="http://schemas.microsoft.com/office/drawing/2014/main" id="{0C7BF970-2010-34C5-D523-4B00C33F18F6}"/>
              </a:ext>
            </a:extLst>
          </p:cNvPr>
          <p:cNvSpPr txBox="1"/>
          <p:nvPr/>
        </p:nvSpPr>
        <p:spPr>
          <a:xfrm>
            <a:off x="1358536" y="1051941"/>
            <a:ext cx="10499990" cy="1323439"/>
          </a:xfrm>
          <a:prstGeom prst="rect">
            <a:avLst/>
          </a:prstGeom>
          <a:noFill/>
        </p:spPr>
        <p:txBody>
          <a:bodyPr wrap="none" rtlCol="0">
            <a:spAutoFit/>
          </a:bodyPr>
          <a:lstStyle/>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我們分別收集了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38</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 筆便祕</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 30</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 筆肛失禁與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33</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 筆尿失禁客觀的肌電圖數據，考量到即使是同</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一個患者，前測與後測可能會因為外部環境、當天的身體狀況而導致整體的數值會產生偏移</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因此比較實際的數值可能是沒有意義的，因此我們採用的分析手法是針對</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基準值與最大值之</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間的差異來進行比較，</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並且希望在接受治療後該數值會提升，說明患者的肌肉控制得到改善</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7" name="圖片 6">
            <a:extLst>
              <a:ext uri="{FF2B5EF4-FFF2-40B4-BE49-F238E27FC236}">
                <a16:creationId xmlns:a16="http://schemas.microsoft.com/office/drawing/2014/main" id="{24FD2646-92DB-682B-A2E8-0A7861E46E99}"/>
              </a:ext>
            </a:extLst>
          </p:cNvPr>
          <p:cNvPicPr>
            <a:picLocks noChangeAspect="1"/>
          </p:cNvPicPr>
          <p:nvPr/>
        </p:nvPicPr>
        <p:blipFill>
          <a:blip r:embed="rId5"/>
          <a:stretch>
            <a:fillRect/>
          </a:stretch>
        </p:blipFill>
        <p:spPr>
          <a:xfrm>
            <a:off x="1126762" y="2848690"/>
            <a:ext cx="10417448" cy="3456480"/>
          </a:xfrm>
          <a:prstGeom prst="rect">
            <a:avLst/>
          </a:prstGeom>
          <a:ln>
            <a:solidFill>
              <a:schemeClr val="tx1"/>
            </a:solidFill>
          </a:ln>
        </p:spPr>
      </p:pic>
    </p:spTree>
    <p:extLst>
      <p:ext uri="{BB962C8B-B14F-4D97-AF65-F5344CB8AC3E}">
        <p14:creationId xmlns:p14="http://schemas.microsoft.com/office/powerpoint/2010/main" val="3548478034"/>
      </p:ext>
    </p:extLst>
  </p:cSld>
  <p:clrMapOvr>
    <a:masterClrMapping/>
  </p:clrMapOvr>
  <mc:AlternateContent xmlns:mc="http://schemas.openxmlformats.org/markup-compatibility/2006" xmlns:p14="http://schemas.microsoft.com/office/powerpoint/2010/main">
    <mc:Choice Requires="p14">
      <p:transition spd="slow" p14:dur="1250" advClick="0">
        <p14:pan dir="u"/>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58536" y="107592"/>
            <a:ext cx="5928672" cy="9840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70"/>
            <a:endParaRPr lang="en-US">
              <a:solidFill>
                <a:prstClr val="white"/>
              </a:solidFill>
              <a:latin typeface="思源黑体 CN Medium" panose="020B0600000000000000" pitchFamily="34" charset="-122"/>
              <a:ea typeface="思源黑体 CN Medium" panose="020B0600000000000000" pitchFamily="34" charset="-122"/>
              <a:sym typeface="字魂59号-创粗黑" panose="00000500000000000000" pitchFamily="2" charset="-122"/>
            </a:endParaRPr>
          </a:p>
        </p:txBody>
      </p:sp>
      <p:pic>
        <p:nvPicPr>
          <p:cNvPr id="17" name="图片 16">
            <a:extLst>
              <a:ext uri="{FF2B5EF4-FFF2-40B4-BE49-F238E27FC236}">
                <a16:creationId xmlns:a16="http://schemas.microsoft.com/office/drawing/2014/main" id="{05E72798-6899-42A6-9FEE-703EF4EFCDB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86" b="100000" l="0" r="100000">
                        <a14:foregroundMark x1="82171" y1="51131" x2="59408" y2="50679"/>
                        <a14:backgroundMark x1="91473" y1="41991" x2="86047" y2="34299"/>
                        <a14:backgroundMark x1="91966" y1="54118" x2="88090" y2="67059"/>
                        <a14:backgroundMark x1="84426" y1="75023" x2="75405" y2="81719"/>
                        <a14:backgroundMark x1="77026" y1="32217" x2="73573" y2="31493"/>
                        <a14:backgroundMark x1="67583" y1="33575" x2="65257" y2="31312"/>
                      </a14:backgroundRemoval>
                    </a14:imgEffect>
                  </a14:imgLayer>
                </a14:imgProps>
              </a:ext>
              <a:ext uri="{28A0092B-C50C-407E-A947-70E740481C1C}">
                <a14:useLocalDpi xmlns:a14="http://schemas.microsoft.com/office/drawing/2010/main" val="0"/>
              </a:ext>
            </a:extLst>
          </a:blip>
          <a:stretch>
            <a:fillRect/>
          </a:stretch>
        </p:blipFill>
        <p:spPr>
          <a:xfrm rot="277819">
            <a:off x="-1366951" y="-490407"/>
            <a:ext cx="3108709" cy="2420806"/>
          </a:xfrm>
          <a:prstGeom prst="rect">
            <a:avLst/>
          </a:prstGeom>
        </p:spPr>
      </p:pic>
      <p:sp>
        <p:nvSpPr>
          <p:cNvPr id="2" name="矩形 1">
            <a:extLst>
              <a:ext uri="{FF2B5EF4-FFF2-40B4-BE49-F238E27FC236}">
                <a16:creationId xmlns:a16="http://schemas.microsoft.com/office/drawing/2014/main" id="{CDACD7A8-3A6E-4C27-9240-791E721F0C74}"/>
              </a:ext>
            </a:extLst>
          </p:cNvPr>
          <p:cNvSpPr/>
          <p:nvPr/>
        </p:nvSpPr>
        <p:spPr>
          <a:xfrm>
            <a:off x="1570514" y="337965"/>
            <a:ext cx="4764972" cy="548443"/>
          </a:xfrm>
          <a:prstGeom prst="rect">
            <a:avLst/>
          </a:prstGeom>
        </p:spPr>
        <p:txBody>
          <a:bodyPr wrap="none">
            <a:normAutofit/>
          </a:bodyPr>
          <a:lstStyle/>
          <a:p>
            <a:r>
              <a:rPr lang="en-US" altLang="zh-TW" sz="2800" dirty="0">
                <a:solidFill>
                  <a:prstClr val="black">
                    <a:lumMod val="75000"/>
                    <a:lumOff val="25000"/>
                  </a:prstClr>
                </a:solidFill>
                <a:latin typeface="Source Han Sans TC"/>
                <a:ea typeface="Source Han Sans TC"/>
                <a:sym typeface="字魂59号-创粗黑" panose="00000500000000000000" pitchFamily="2" charset="-122"/>
              </a:rPr>
              <a:t>Data description –</a:t>
            </a:r>
            <a:r>
              <a:rPr lang="zh-TW" altLang="en-US" sz="2800" dirty="0">
                <a:solidFill>
                  <a:prstClr val="black">
                    <a:lumMod val="75000"/>
                    <a:lumOff val="25000"/>
                  </a:prstClr>
                </a:solidFill>
                <a:latin typeface="Source Han Sans TC"/>
                <a:ea typeface="Source Han Sans TC"/>
                <a:sym typeface="字魂59号-创粗黑" panose="00000500000000000000" pitchFamily="2" charset="-122"/>
              </a:rPr>
              <a:t> </a:t>
            </a:r>
            <a:r>
              <a:rPr lang="zh-TW" altLang="en-US" sz="2800" dirty="0">
                <a:solidFill>
                  <a:srgbClr val="0070C0"/>
                </a:solidFill>
                <a:latin typeface="Source Han Sans TC"/>
                <a:ea typeface="Source Han Sans TC"/>
                <a:sym typeface="字魂59号-创粗黑" panose="00000500000000000000" pitchFamily="2" charset="-122"/>
              </a:rPr>
              <a:t>資料遺失</a:t>
            </a:r>
            <a:endParaRPr lang="en-US" altLang="zh-TW" sz="2800" b="1" dirty="0">
              <a:solidFill>
                <a:srgbClr val="0070C0"/>
              </a:solidFill>
              <a:latin typeface="微軟正黑體" panose="020B0604030504040204" pitchFamily="34" charset="-120"/>
              <a:ea typeface="微軟正黑體" panose="020B0604030504040204" pitchFamily="34" charset="-120"/>
              <a:cs typeface="Calibri" panose="020F0502020204030204" pitchFamily="34" charset="0"/>
            </a:endParaRPr>
          </a:p>
        </p:txBody>
      </p:sp>
      <p:sp>
        <p:nvSpPr>
          <p:cNvPr id="6" name="文字方塊 5">
            <a:extLst>
              <a:ext uri="{FF2B5EF4-FFF2-40B4-BE49-F238E27FC236}">
                <a16:creationId xmlns:a16="http://schemas.microsoft.com/office/drawing/2014/main" id="{0C7BF970-2010-34C5-D523-4B00C33F18F6}"/>
              </a:ext>
            </a:extLst>
          </p:cNvPr>
          <p:cNvSpPr txBox="1"/>
          <p:nvPr/>
        </p:nvSpPr>
        <p:spPr>
          <a:xfrm>
            <a:off x="1358536" y="928210"/>
            <a:ext cx="10158550" cy="1323439"/>
          </a:xfrm>
          <a:prstGeom prst="rect">
            <a:avLst/>
          </a:prstGeom>
          <a:noFill/>
        </p:spPr>
        <p:txBody>
          <a:bodyPr wrap="none" rtlCol="0">
            <a:spAutoFit/>
          </a:bodyPr>
          <a:lstStyle/>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然而我們不論是在客觀數據與主觀的資料上我們都有許多的遺失值，且該遺失的方式是</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整筆前測或後測資料消失，因此我們在後續的分析上會考慮兩種情境，第一種是在不補</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值的情況下進行分析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使用無母數的分析方法</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，另一種是採用不同補值方法後進行分析。</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詳細的過程我們放在後面的章節進行討論。</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graphicFrame>
        <p:nvGraphicFramePr>
          <p:cNvPr id="10" name="表格 9">
            <a:extLst>
              <a:ext uri="{FF2B5EF4-FFF2-40B4-BE49-F238E27FC236}">
                <a16:creationId xmlns:a16="http://schemas.microsoft.com/office/drawing/2014/main" id="{E076C2CD-5926-0BBC-D343-D58069068107}"/>
              </a:ext>
            </a:extLst>
          </p:cNvPr>
          <p:cNvGraphicFramePr>
            <a:graphicFrameLocks noGrp="1"/>
          </p:cNvGraphicFramePr>
          <p:nvPr>
            <p:extLst>
              <p:ext uri="{D42A27DB-BD31-4B8C-83A1-F6EECF244321}">
                <p14:modId xmlns:p14="http://schemas.microsoft.com/office/powerpoint/2010/main" val="36185699"/>
              </p:ext>
            </p:extLst>
          </p:nvPr>
        </p:nvGraphicFramePr>
        <p:xfrm>
          <a:off x="2032000" y="2895160"/>
          <a:ext cx="8128000" cy="1483360"/>
        </p:xfrm>
        <a:graphic>
          <a:graphicData uri="http://schemas.openxmlformats.org/drawingml/2006/table">
            <a:tbl>
              <a:tblPr firstRow="1" bandRow="1"/>
              <a:tblGrid>
                <a:gridCol w="2032000">
                  <a:extLst>
                    <a:ext uri="{9D8B030D-6E8A-4147-A177-3AD203B41FA5}">
                      <a16:colId xmlns:a16="http://schemas.microsoft.com/office/drawing/2014/main" val="1406416458"/>
                    </a:ext>
                  </a:extLst>
                </a:gridCol>
                <a:gridCol w="2032000">
                  <a:extLst>
                    <a:ext uri="{9D8B030D-6E8A-4147-A177-3AD203B41FA5}">
                      <a16:colId xmlns:a16="http://schemas.microsoft.com/office/drawing/2014/main" val="221517919"/>
                    </a:ext>
                  </a:extLst>
                </a:gridCol>
                <a:gridCol w="2032000">
                  <a:extLst>
                    <a:ext uri="{9D8B030D-6E8A-4147-A177-3AD203B41FA5}">
                      <a16:colId xmlns:a16="http://schemas.microsoft.com/office/drawing/2014/main" val="1949021864"/>
                    </a:ext>
                  </a:extLst>
                </a:gridCol>
                <a:gridCol w="2032000">
                  <a:extLst>
                    <a:ext uri="{9D8B030D-6E8A-4147-A177-3AD203B41FA5}">
                      <a16:colId xmlns:a16="http://schemas.microsoft.com/office/drawing/2014/main" val="120091175"/>
                    </a:ext>
                  </a:extLst>
                </a:gridCol>
              </a:tblGrid>
              <a:tr h="370840">
                <a:tc>
                  <a:txBody>
                    <a:bodyPr/>
                    <a:lstStyle>
                      <a:lvl1pPr marL="0" algn="l" defTabSz="1219170" rtl="0" eaLnBrk="1" latinLnBrk="0" hangingPunct="1">
                        <a:defRPr sz="2400" b="1" kern="1200">
                          <a:solidFill>
                            <a:schemeClr val="lt1"/>
                          </a:solidFill>
                          <a:latin typeface="Aptos" panose="02110004020202020204"/>
                        </a:defRPr>
                      </a:lvl1pPr>
                      <a:lvl2pPr marL="609585" algn="l" defTabSz="1219170" rtl="0" eaLnBrk="1" latinLnBrk="0" hangingPunct="1">
                        <a:defRPr sz="2400" b="1" kern="1200">
                          <a:solidFill>
                            <a:schemeClr val="lt1"/>
                          </a:solidFill>
                          <a:latin typeface="Aptos" panose="02110004020202020204"/>
                        </a:defRPr>
                      </a:lvl2pPr>
                      <a:lvl3pPr marL="1219170" algn="l" defTabSz="1219170" rtl="0" eaLnBrk="1" latinLnBrk="0" hangingPunct="1">
                        <a:defRPr sz="2400" b="1" kern="1200">
                          <a:solidFill>
                            <a:schemeClr val="lt1"/>
                          </a:solidFill>
                          <a:latin typeface="Aptos" panose="02110004020202020204"/>
                        </a:defRPr>
                      </a:lvl3pPr>
                      <a:lvl4pPr marL="1828754" algn="l" defTabSz="1219170" rtl="0" eaLnBrk="1" latinLnBrk="0" hangingPunct="1">
                        <a:defRPr sz="2400" b="1" kern="1200">
                          <a:solidFill>
                            <a:schemeClr val="lt1"/>
                          </a:solidFill>
                          <a:latin typeface="Aptos" panose="02110004020202020204"/>
                        </a:defRPr>
                      </a:lvl4pPr>
                      <a:lvl5pPr marL="2438339" algn="l" defTabSz="1219170" rtl="0" eaLnBrk="1" latinLnBrk="0" hangingPunct="1">
                        <a:defRPr sz="2400" b="1" kern="1200">
                          <a:solidFill>
                            <a:schemeClr val="lt1"/>
                          </a:solidFill>
                          <a:latin typeface="Aptos" panose="02110004020202020204"/>
                        </a:defRPr>
                      </a:lvl5pPr>
                      <a:lvl6pPr marL="3047924" algn="l" defTabSz="1219170" rtl="0" eaLnBrk="1" latinLnBrk="0" hangingPunct="1">
                        <a:defRPr sz="2400" b="1" kern="1200">
                          <a:solidFill>
                            <a:schemeClr val="lt1"/>
                          </a:solidFill>
                          <a:latin typeface="Aptos" panose="02110004020202020204"/>
                        </a:defRPr>
                      </a:lvl6pPr>
                      <a:lvl7pPr marL="3657509" algn="l" defTabSz="1219170" rtl="0" eaLnBrk="1" latinLnBrk="0" hangingPunct="1">
                        <a:defRPr sz="2400" b="1" kern="1200">
                          <a:solidFill>
                            <a:schemeClr val="lt1"/>
                          </a:solidFill>
                          <a:latin typeface="Aptos" panose="02110004020202020204"/>
                        </a:defRPr>
                      </a:lvl7pPr>
                      <a:lvl8pPr marL="4267093" algn="l" defTabSz="1219170" rtl="0" eaLnBrk="1" latinLnBrk="0" hangingPunct="1">
                        <a:defRPr sz="2400" b="1" kern="1200">
                          <a:solidFill>
                            <a:schemeClr val="lt1"/>
                          </a:solidFill>
                          <a:latin typeface="Aptos" panose="02110004020202020204"/>
                        </a:defRPr>
                      </a:lvl8pPr>
                      <a:lvl9pPr marL="4876678" algn="l" defTabSz="1219170" rtl="0" eaLnBrk="1" latinLnBrk="0" hangingPunct="1">
                        <a:defRPr sz="2400" b="1" kern="1200">
                          <a:solidFill>
                            <a:schemeClr val="lt1"/>
                          </a:solidFill>
                          <a:latin typeface="Aptos" panose="02110004020202020204"/>
                        </a:defRPr>
                      </a:lvl9pPr>
                    </a:lstStyle>
                    <a:p>
                      <a:endParaRPr lang="zh-TW" altLang="en-US"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1219170" rtl="0" eaLnBrk="1" latinLnBrk="0" hangingPunct="1">
                        <a:defRPr sz="2400" b="1" kern="1200">
                          <a:solidFill>
                            <a:schemeClr val="lt1"/>
                          </a:solidFill>
                          <a:latin typeface="Aptos" panose="02110004020202020204"/>
                        </a:defRPr>
                      </a:lvl1pPr>
                      <a:lvl2pPr marL="609585" algn="l" defTabSz="1219170" rtl="0" eaLnBrk="1" latinLnBrk="0" hangingPunct="1">
                        <a:defRPr sz="2400" b="1" kern="1200">
                          <a:solidFill>
                            <a:schemeClr val="lt1"/>
                          </a:solidFill>
                          <a:latin typeface="Aptos" panose="02110004020202020204"/>
                        </a:defRPr>
                      </a:lvl2pPr>
                      <a:lvl3pPr marL="1219170" algn="l" defTabSz="1219170" rtl="0" eaLnBrk="1" latinLnBrk="0" hangingPunct="1">
                        <a:defRPr sz="2400" b="1" kern="1200">
                          <a:solidFill>
                            <a:schemeClr val="lt1"/>
                          </a:solidFill>
                          <a:latin typeface="Aptos" panose="02110004020202020204"/>
                        </a:defRPr>
                      </a:lvl3pPr>
                      <a:lvl4pPr marL="1828754" algn="l" defTabSz="1219170" rtl="0" eaLnBrk="1" latinLnBrk="0" hangingPunct="1">
                        <a:defRPr sz="2400" b="1" kern="1200">
                          <a:solidFill>
                            <a:schemeClr val="lt1"/>
                          </a:solidFill>
                          <a:latin typeface="Aptos" panose="02110004020202020204"/>
                        </a:defRPr>
                      </a:lvl4pPr>
                      <a:lvl5pPr marL="2438339" algn="l" defTabSz="1219170" rtl="0" eaLnBrk="1" latinLnBrk="0" hangingPunct="1">
                        <a:defRPr sz="2400" b="1" kern="1200">
                          <a:solidFill>
                            <a:schemeClr val="lt1"/>
                          </a:solidFill>
                          <a:latin typeface="Aptos" panose="02110004020202020204"/>
                        </a:defRPr>
                      </a:lvl5pPr>
                      <a:lvl6pPr marL="3047924" algn="l" defTabSz="1219170" rtl="0" eaLnBrk="1" latinLnBrk="0" hangingPunct="1">
                        <a:defRPr sz="2400" b="1" kern="1200">
                          <a:solidFill>
                            <a:schemeClr val="lt1"/>
                          </a:solidFill>
                          <a:latin typeface="Aptos" panose="02110004020202020204"/>
                        </a:defRPr>
                      </a:lvl6pPr>
                      <a:lvl7pPr marL="3657509" algn="l" defTabSz="1219170" rtl="0" eaLnBrk="1" latinLnBrk="0" hangingPunct="1">
                        <a:defRPr sz="2400" b="1" kern="1200">
                          <a:solidFill>
                            <a:schemeClr val="lt1"/>
                          </a:solidFill>
                          <a:latin typeface="Aptos" panose="02110004020202020204"/>
                        </a:defRPr>
                      </a:lvl7pPr>
                      <a:lvl8pPr marL="4267093" algn="l" defTabSz="1219170" rtl="0" eaLnBrk="1" latinLnBrk="0" hangingPunct="1">
                        <a:defRPr sz="2400" b="1" kern="1200">
                          <a:solidFill>
                            <a:schemeClr val="lt1"/>
                          </a:solidFill>
                          <a:latin typeface="Aptos" panose="02110004020202020204"/>
                        </a:defRPr>
                      </a:lvl8pPr>
                      <a:lvl9pPr marL="4876678" algn="l" defTabSz="1219170" rtl="0" eaLnBrk="1" latinLnBrk="0" hangingPunct="1">
                        <a:defRPr sz="2400" b="1" kern="1200">
                          <a:solidFill>
                            <a:schemeClr val="lt1"/>
                          </a:solidFill>
                          <a:latin typeface="Aptos" panose="02110004020202020204"/>
                        </a:defRPr>
                      </a:lvl9pPr>
                    </a:lstStyle>
                    <a:p>
                      <a:r>
                        <a:rPr lang="zh-TW" altLang="en-US" sz="1800" dirty="0">
                          <a:latin typeface="微軟正黑體" panose="020B0604030504040204" pitchFamily="34" charset="-120"/>
                          <a:ea typeface="微軟正黑體" panose="020B0604030504040204" pitchFamily="34" charset="-120"/>
                        </a:rPr>
                        <a:t>便秘</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1219170" rtl="0" eaLnBrk="1" latinLnBrk="0" hangingPunct="1">
                        <a:defRPr sz="2400" b="1" kern="1200">
                          <a:solidFill>
                            <a:schemeClr val="lt1"/>
                          </a:solidFill>
                          <a:latin typeface="Aptos" panose="02110004020202020204"/>
                        </a:defRPr>
                      </a:lvl1pPr>
                      <a:lvl2pPr marL="609585" algn="l" defTabSz="1219170" rtl="0" eaLnBrk="1" latinLnBrk="0" hangingPunct="1">
                        <a:defRPr sz="2400" b="1" kern="1200">
                          <a:solidFill>
                            <a:schemeClr val="lt1"/>
                          </a:solidFill>
                          <a:latin typeface="Aptos" panose="02110004020202020204"/>
                        </a:defRPr>
                      </a:lvl2pPr>
                      <a:lvl3pPr marL="1219170" algn="l" defTabSz="1219170" rtl="0" eaLnBrk="1" latinLnBrk="0" hangingPunct="1">
                        <a:defRPr sz="2400" b="1" kern="1200">
                          <a:solidFill>
                            <a:schemeClr val="lt1"/>
                          </a:solidFill>
                          <a:latin typeface="Aptos" panose="02110004020202020204"/>
                        </a:defRPr>
                      </a:lvl3pPr>
                      <a:lvl4pPr marL="1828754" algn="l" defTabSz="1219170" rtl="0" eaLnBrk="1" latinLnBrk="0" hangingPunct="1">
                        <a:defRPr sz="2400" b="1" kern="1200">
                          <a:solidFill>
                            <a:schemeClr val="lt1"/>
                          </a:solidFill>
                          <a:latin typeface="Aptos" panose="02110004020202020204"/>
                        </a:defRPr>
                      </a:lvl4pPr>
                      <a:lvl5pPr marL="2438339" algn="l" defTabSz="1219170" rtl="0" eaLnBrk="1" latinLnBrk="0" hangingPunct="1">
                        <a:defRPr sz="2400" b="1" kern="1200">
                          <a:solidFill>
                            <a:schemeClr val="lt1"/>
                          </a:solidFill>
                          <a:latin typeface="Aptos" panose="02110004020202020204"/>
                        </a:defRPr>
                      </a:lvl5pPr>
                      <a:lvl6pPr marL="3047924" algn="l" defTabSz="1219170" rtl="0" eaLnBrk="1" latinLnBrk="0" hangingPunct="1">
                        <a:defRPr sz="2400" b="1" kern="1200">
                          <a:solidFill>
                            <a:schemeClr val="lt1"/>
                          </a:solidFill>
                          <a:latin typeface="Aptos" panose="02110004020202020204"/>
                        </a:defRPr>
                      </a:lvl6pPr>
                      <a:lvl7pPr marL="3657509" algn="l" defTabSz="1219170" rtl="0" eaLnBrk="1" latinLnBrk="0" hangingPunct="1">
                        <a:defRPr sz="2400" b="1" kern="1200">
                          <a:solidFill>
                            <a:schemeClr val="lt1"/>
                          </a:solidFill>
                          <a:latin typeface="Aptos" panose="02110004020202020204"/>
                        </a:defRPr>
                      </a:lvl7pPr>
                      <a:lvl8pPr marL="4267093" algn="l" defTabSz="1219170" rtl="0" eaLnBrk="1" latinLnBrk="0" hangingPunct="1">
                        <a:defRPr sz="2400" b="1" kern="1200">
                          <a:solidFill>
                            <a:schemeClr val="lt1"/>
                          </a:solidFill>
                          <a:latin typeface="Aptos" panose="02110004020202020204"/>
                        </a:defRPr>
                      </a:lvl8pPr>
                      <a:lvl9pPr marL="4876678" algn="l" defTabSz="1219170" rtl="0" eaLnBrk="1" latinLnBrk="0" hangingPunct="1">
                        <a:defRPr sz="2400" b="1" kern="1200">
                          <a:solidFill>
                            <a:schemeClr val="lt1"/>
                          </a:solidFill>
                          <a:latin typeface="Aptos" panose="02110004020202020204"/>
                        </a:defRPr>
                      </a:lvl9pPr>
                    </a:lstStyle>
                    <a:p>
                      <a:r>
                        <a:rPr lang="zh-TW" altLang="en-US" sz="1800" dirty="0">
                          <a:latin typeface="微軟正黑體" panose="020B0604030504040204" pitchFamily="34" charset="-120"/>
                          <a:ea typeface="微軟正黑體" panose="020B0604030504040204" pitchFamily="34" charset="-120"/>
                        </a:rPr>
                        <a:t>肛失禁</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1219170" rtl="0" eaLnBrk="1" latinLnBrk="0" hangingPunct="1">
                        <a:defRPr sz="2400" b="1" kern="1200">
                          <a:solidFill>
                            <a:schemeClr val="lt1"/>
                          </a:solidFill>
                          <a:latin typeface="Aptos" panose="02110004020202020204"/>
                        </a:defRPr>
                      </a:lvl1pPr>
                      <a:lvl2pPr marL="609585" algn="l" defTabSz="1219170" rtl="0" eaLnBrk="1" latinLnBrk="0" hangingPunct="1">
                        <a:defRPr sz="2400" b="1" kern="1200">
                          <a:solidFill>
                            <a:schemeClr val="lt1"/>
                          </a:solidFill>
                          <a:latin typeface="Aptos" panose="02110004020202020204"/>
                        </a:defRPr>
                      </a:lvl2pPr>
                      <a:lvl3pPr marL="1219170" algn="l" defTabSz="1219170" rtl="0" eaLnBrk="1" latinLnBrk="0" hangingPunct="1">
                        <a:defRPr sz="2400" b="1" kern="1200">
                          <a:solidFill>
                            <a:schemeClr val="lt1"/>
                          </a:solidFill>
                          <a:latin typeface="Aptos" panose="02110004020202020204"/>
                        </a:defRPr>
                      </a:lvl3pPr>
                      <a:lvl4pPr marL="1828754" algn="l" defTabSz="1219170" rtl="0" eaLnBrk="1" latinLnBrk="0" hangingPunct="1">
                        <a:defRPr sz="2400" b="1" kern="1200">
                          <a:solidFill>
                            <a:schemeClr val="lt1"/>
                          </a:solidFill>
                          <a:latin typeface="Aptos" panose="02110004020202020204"/>
                        </a:defRPr>
                      </a:lvl4pPr>
                      <a:lvl5pPr marL="2438339" algn="l" defTabSz="1219170" rtl="0" eaLnBrk="1" latinLnBrk="0" hangingPunct="1">
                        <a:defRPr sz="2400" b="1" kern="1200">
                          <a:solidFill>
                            <a:schemeClr val="lt1"/>
                          </a:solidFill>
                          <a:latin typeface="Aptos" panose="02110004020202020204"/>
                        </a:defRPr>
                      </a:lvl5pPr>
                      <a:lvl6pPr marL="3047924" algn="l" defTabSz="1219170" rtl="0" eaLnBrk="1" latinLnBrk="0" hangingPunct="1">
                        <a:defRPr sz="2400" b="1" kern="1200">
                          <a:solidFill>
                            <a:schemeClr val="lt1"/>
                          </a:solidFill>
                          <a:latin typeface="Aptos" panose="02110004020202020204"/>
                        </a:defRPr>
                      </a:lvl6pPr>
                      <a:lvl7pPr marL="3657509" algn="l" defTabSz="1219170" rtl="0" eaLnBrk="1" latinLnBrk="0" hangingPunct="1">
                        <a:defRPr sz="2400" b="1" kern="1200">
                          <a:solidFill>
                            <a:schemeClr val="lt1"/>
                          </a:solidFill>
                          <a:latin typeface="Aptos" panose="02110004020202020204"/>
                        </a:defRPr>
                      </a:lvl7pPr>
                      <a:lvl8pPr marL="4267093" algn="l" defTabSz="1219170" rtl="0" eaLnBrk="1" latinLnBrk="0" hangingPunct="1">
                        <a:defRPr sz="2400" b="1" kern="1200">
                          <a:solidFill>
                            <a:schemeClr val="lt1"/>
                          </a:solidFill>
                          <a:latin typeface="Aptos" panose="02110004020202020204"/>
                        </a:defRPr>
                      </a:lvl8pPr>
                      <a:lvl9pPr marL="4876678" algn="l" defTabSz="1219170" rtl="0" eaLnBrk="1" latinLnBrk="0" hangingPunct="1">
                        <a:defRPr sz="2400" b="1" kern="1200">
                          <a:solidFill>
                            <a:schemeClr val="lt1"/>
                          </a:solidFill>
                          <a:latin typeface="Aptos" panose="02110004020202020204"/>
                        </a:defRPr>
                      </a:lvl9pPr>
                    </a:lstStyle>
                    <a:p>
                      <a:r>
                        <a:rPr lang="zh-TW" altLang="en-US" sz="1800" dirty="0">
                          <a:latin typeface="微軟正黑體" panose="020B0604030504040204" pitchFamily="34" charset="-120"/>
                          <a:ea typeface="微軟正黑體" panose="020B0604030504040204" pitchFamily="34" charset="-120"/>
                        </a:rPr>
                        <a:t>尿失禁</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1533787223"/>
                  </a:ext>
                </a:extLst>
              </a:tr>
              <a:tr h="370840">
                <a:tc>
                  <a:txBody>
                    <a:bodyPr/>
                    <a:lstStyle>
                      <a:lvl1pPr marL="0" algn="l" defTabSz="1219170" rtl="0" eaLnBrk="1" latinLnBrk="0" hangingPunct="1">
                        <a:defRPr sz="2400" kern="1200">
                          <a:solidFill>
                            <a:schemeClr val="dk1"/>
                          </a:solidFill>
                          <a:latin typeface="Aptos" panose="02110004020202020204"/>
                        </a:defRPr>
                      </a:lvl1pPr>
                      <a:lvl2pPr marL="609585" algn="l" defTabSz="1219170" rtl="0" eaLnBrk="1" latinLnBrk="0" hangingPunct="1">
                        <a:defRPr sz="2400" kern="1200">
                          <a:solidFill>
                            <a:schemeClr val="dk1"/>
                          </a:solidFill>
                          <a:latin typeface="Aptos" panose="02110004020202020204"/>
                        </a:defRPr>
                      </a:lvl2pPr>
                      <a:lvl3pPr marL="1219170" algn="l" defTabSz="1219170" rtl="0" eaLnBrk="1" latinLnBrk="0" hangingPunct="1">
                        <a:defRPr sz="2400" kern="1200">
                          <a:solidFill>
                            <a:schemeClr val="dk1"/>
                          </a:solidFill>
                          <a:latin typeface="Aptos" panose="02110004020202020204"/>
                        </a:defRPr>
                      </a:lvl3pPr>
                      <a:lvl4pPr marL="1828754" algn="l" defTabSz="1219170" rtl="0" eaLnBrk="1" latinLnBrk="0" hangingPunct="1">
                        <a:defRPr sz="2400" kern="1200">
                          <a:solidFill>
                            <a:schemeClr val="dk1"/>
                          </a:solidFill>
                          <a:latin typeface="Aptos" panose="02110004020202020204"/>
                        </a:defRPr>
                      </a:lvl4pPr>
                      <a:lvl5pPr marL="2438339" algn="l" defTabSz="1219170" rtl="0" eaLnBrk="1" latinLnBrk="0" hangingPunct="1">
                        <a:defRPr sz="2400" kern="1200">
                          <a:solidFill>
                            <a:schemeClr val="dk1"/>
                          </a:solidFill>
                          <a:latin typeface="Aptos" panose="02110004020202020204"/>
                        </a:defRPr>
                      </a:lvl5pPr>
                      <a:lvl6pPr marL="3047924" algn="l" defTabSz="1219170" rtl="0" eaLnBrk="1" latinLnBrk="0" hangingPunct="1">
                        <a:defRPr sz="2400" kern="1200">
                          <a:solidFill>
                            <a:schemeClr val="dk1"/>
                          </a:solidFill>
                          <a:latin typeface="Aptos" panose="02110004020202020204"/>
                        </a:defRPr>
                      </a:lvl6pPr>
                      <a:lvl7pPr marL="3657509" algn="l" defTabSz="1219170" rtl="0" eaLnBrk="1" latinLnBrk="0" hangingPunct="1">
                        <a:defRPr sz="2400" kern="1200">
                          <a:solidFill>
                            <a:schemeClr val="dk1"/>
                          </a:solidFill>
                          <a:latin typeface="Aptos" panose="02110004020202020204"/>
                        </a:defRPr>
                      </a:lvl7pPr>
                      <a:lvl8pPr marL="4267093" algn="l" defTabSz="1219170" rtl="0" eaLnBrk="1" latinLnBrk="0" hangingPunct="1">
                        <a:defRPr sz="2400" kern="1200">
                          <a:solidFill>
                            <a:schemeClr val="dk1"/>
                          </a:solidFill>
                          <a:latin typeface="Aptos" panose="02110004020202020204"/>
                        </a:defRPr>
                      </a:lvl8pPr>
                      <a:lvl9pPr marL="4876678" algn="l" defTabSz="1219170" rtl="0" eaLnBrk="1" latinLnBrk="0" hangingPunct="1">
                        <a:defRPr sz="2400" kern="1200">
                          <a:solidFill>
                            <a:schemeClr val="dk1"/>
                          </a:solidFill>
                          <a:latin typeface="Aptos" panose="02110004020202020204"/>
                        </a:defRPr>
                      </a:lvl9pPr>
                    </a:lstStyle>
                    <a:p>
                      <a:r>
                        <a:rPr lang="zh-TW" altLang="en-US" sz="1800" dirty="0">
                          <a:latin typeface="微軟正黑體" panose="020B0604030504040204" pitchFamily="34" charset="-120"/>
                          <a:ea typeface="微軟正黑體" panose="020B0604030504040204" pitchFamily="34" charset="-120"/>
                        </a:rPr>
                        <a:t>前測遺失資料數</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1219170" rtl="0" eaLnBrk="1" latinLnBrk="0" hangingPunct="1">
                        <a:defRPr sz="2400" kern="1200">
                          <a:solidFill>
                            <a:schemeClr val="dk1"/>
                          </a:solidFill>
                          <a:latin typeface="Aptos" panose="02110004020202020204"/>
                        </a:defRPr>
                      </a:lvl1pPr>
                      <a:lvl2pPr marL="609585" algn="l" defTabSz="1219170" rtl="0" eaLnBrk="1" latinLnBrk="0" hangingPunct="1">
                        <a:defRPr sz="2400" kern="1200">
                          <a:solidFill>
                            <a:schemeClr val="dk1"/>
                          </a:solidFill>
                          <a:latin typeface="Aptos" panose="02110004020202020204"/>
                        </a:defRPr>
                      </a:lvl2pPr>
                      <a:lvl3pPr marL="1219170" algn="l" defTabSz="1219170" rtl="0" eaLnBrk="1" latinLnBrk="0" hangingPunct="1">
                        <a:defRPr sz="2400" kern="1200">
                          <a:solidFill>
                            <a:schemeClr val="dk1"/>
                          </a:solidFill>
                          <a:latin typeface="Aptos" panose="02110004020202020204"/>
                        </a:defRPr>
                      </a:lvl3pPr>
                      <a:lvl4pPr marL="1828754" algn="l" defTabSz="1219170" rtl="0" eaLnBrk="1" latinLnBrk="0" hangingPunct="1">
                        <a:defRPr sz="2400" kern="1200">
                          <a:solidFill>
                            <a:schemeClr val="dk1"/>
                          </a:solidFill>
                          <a:latin typeface="Aptos" panose="02110004020202020204"/>
                        </a:defRPr>
                      </a:lvl4pPr>
                      <a:lvl5pPr marL="2438339" algn="l" defTabSz="1219170" rtl="0" eaLnBrk="1" latinLnBrk="0" hangingPunct="1">
                        <a:defRPr sz="2400" kern="1200">
                          <a:solidFill>
                            <a:schemeClr val="dk1"/>
                          </a:solidFill>
                          <a:latin typeface="Aptos" panose="02110004020202020204"/>
                        </a:defRPr>
                      </a:lvl5pPr>
                      <a:lvl6pPr marL="3047924" algn="l" defTabSz="1219170" rtl="0" eaLnBrk="1" latinLnBrk="0" hangingPunct="1">
                        <a:defRPr sz="2400" kern="1200">
                          <a:solidFill>
                            <a:schemeClr val="dk1"/>
                          </a:solidFill>
                          <a:latin typeface="Aptos" panose="02110004020202020204"/>
                        </a:defRPr>
                      </a:lvl6pPr>
                      <a:lvl7pPr marL="3657509" algn="l" defTabSz="1219170" rtl="0" eaLnBrk="1" latinLnBrk="0" hangingPunct="1">
                        <a:defRPr sz="2400" kern="1200">
                          <a:solidFill>
                            <a:schemeClr val="dk1"/>
                          </a:solidFill>
                          <a:latin typeface="Aptos" panose="02110004020202020204"/>
                        </a:defRPr>
                      </a:lvl7pPr>
                      <a:lvl8pPr marL="4267093" algn="l" defTabSz="1219170" rtl="0" eaLnBrk="1" latinLnBrk="0" hangingPunct="1">
                        <a:defRPr sz="2400" kern="1200">
                          <a:solidFill>
                            <a:schemeClr val="dk1"/>
                          </a:solidFill>
                          <a:latin typeface="Aptos" panose="02110004020202020204"/>
                        </a:defRPr>
                      </a:lvl8pPr>
                      <a:lvl9pPr marL="4876678" algn="l" defTabSz="1219170" rtl="0" eaLnBrk="1" latinLnBrk="0" hangingPunct="1">
                        <a:defRPr sz="2400" kern="1200">
                          <a:solidFill>
                            <a:schemeClr val="dk1"/>
                          </a:solidFill>
                          <a:latin typeface="Aptos" panose="02110004020202020204"/>
                        </a:defRPr>
                      </a:lvl9pPr>
                    </a:lstStyle>
                    <a:p>
                      <a:r>
                        <a:rPr lang="en-US" altLang="zh-TW" sz="1800" dirty="0"/>
                        <a:t>22</a:t>
                      </a:r>
                      <a:endParaRPr lang="zh-TW" altLang="en-US"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1219170" rtl="0" eaLnBrk="1" latinLnBrk="0" hangingPunct="1">
                        <a:defRPr sz="2400" kern="1200">
                          <a:solidFill>
                            <a:schemeClr val="dk1"/>
                          </a:solidFill>
                          <a:latin typeface="Aptos" panose="02110004020202020204"/>
                        </a:defRPr>
                      </a:lvl1pPr>
                      <a:lvl2pPr marL="609585" algn="l" defTabSz="1219170" rtl="0" eaLnBrk="1" latinLnBrk="0" hangingPunct="1">
                        <a:defRPr sz="2400" kern="1200">
                          <a:solidFill>
                            <a:schemeClr val="dk1"/>
                          </a:solidFill>
                          <a:latin typeface="Aptos" panose="02110004020202020204"/>
                        </a:defRPr>
                      </a:lvl2pPr>
                      <a:lvl3pPr marL="1219170" algn="l" defTabSz="1219170" rtl="0" eaLnBrk="1" latinLnBrk="0" hangingPunct="1">
                        <a:defRPr sz="2400" kern="1200">
                          <a:solidFill>
                            <a:schemeClr val="dk1"/>
                          </a:solidFill>
                          <a:latin typeface="Aptos" panose="02110004020202020204"/>
                        </a:defRPr>
                      </a:lvl3pPr>
                      <a:lvl4pPr marL="1828754" algn="l" defTabSz="1219170" rtl="0" eaLnBrk="1" latinLnBrk="0" hangingPunct="1">
                        <a:defRPr sz="2400" kern="1200">
                          <a:solidFill>
                            <a:schemeClr val="dk1"/>
                          </a:solidFill>
                          <a:latin typeface="Aptos" panose="02110004020202020204"/>
                        </a:defRPr>
                      </a:lvl4pPr>
                      <a:lvl5pPr marL="2438339" algn="l" defTabSz="1219170" rtl="0" eaLnBrk="1" latinLnBrk="0" hangingPunct="1">
                        <a:defRPr sz="2400" kern="1200">
                          <a:solidFill>
                            <a:schemeClr val="dk1"/>
                          </a:solidFill>
                          <a:latin typeface="Aptos" panose="02110004020202020204"/>
                        </a:defRPr>
                      </a:lvl5pPr>
                      <a:lvl6pPr marL="3047924" algn="l" defTabSz="1219170" rtl="0" eaLnBrk="1" latinLnBrk="0" hangingPunct="1">
                        <a:defRPr sz="2400" kern="1200">
                          <a:solidFill>
                            <a:schemeClr val="dk1"/>
                          </a:solidFill>
                          <a:latin typeface="Aptos" panose="02110004020202020204"/>
                        </a:defRPr>
                      </a:lvl6pPr>
                      <a:lvl7pPr marL="3657509" algn="l" defTabSz="1219170" rtl="0" eaLnBrk="1" latinLnBrk="0" hangingPunct="1">
                        <a:defRPr sz="2400" kern="1200">
                          <a:solidFill>
                            <a:schemeClr val="dk1"/>
                          </a:solidFill>
                          <a:latin typeface="Aptos" panose="02110004020202020204"/>
                        </a:defRPr>
                      </a:lvl7pPr>
                      <a:lvl8pPr marL="4267093" algn="l" defTabSz="1219170" rtl="0" eaLnBrk="1" latinLnBrk="0" hangingPunct="1">
                        <a:defRPr sz="2400" kern="1200">
                          <a:solidFill>
                            <a:schemeClr val="dk1"/>
                          </a:solidFill>
                          <a:latin typeface="Aptos" panose="02110004020202020204"/>
                        </a:defRPr>
                      </a:lvl8pPr>
                      <a:lvl9pPr marL="4876678" algn="l" defTabSz="1219170" rtl="0" eaLnBrk="1" latinLnBrk="0" hangingPunct="1">
                        <a:defRPr sz="2400" kern="1200">
                          <a:solidFill>
                            <a:schemeClr val="dk1"/>
                          </a:solidFill>
                          <a:latin typeface="Aptos" panose="02110004020202020204"/>
                        </a:defRPr>
                      </a:lvl9pPr>
                    </a:lstStyle>
                    <a:p>
                      <a:r>
                        <a:rPr lang="en-US" altLang="zh-TW" sz="1800" dirty="0"/>
                        <a:t>6</a:t>
                      </a:r>
                      <a:endParaRPr lang="zh-TW" altLang="en-US"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1219170" rtl="0" eaLnBrk="1" latinLnBrk="0" hangingPunct="1">
                        <a:defRPr sz="2400" kern="1200">
                          <a:solidFill>
                            <a:schemeClr val="dk1"/>
                          </a:solidFill>
                          <a:latin typeface="Aptos" panose="02110004020202020204"/>
                        </a:defRPr>
                      </a:lvl1pPr>
                      <a:lvl2pPr marL="609585" algn="l" defTabSz="1219170" rtl="0" eaLnBrk="1" latinLnBrk="0" hangingPunct="1">
                        <a:defRPr sz="2400" kern="1200">
                          <a:solidFill>
                            <a:schemeClr val="dk1"/>
                          </a:solidFill>
                          <a:latin typeface="Aptos" panose="02110004020202020204"/>
                        </a:defRPr>
                      </a:lvl2pPr>
                      <a:lvl3pPr marL="1219170" algn="l" defTabSz="1219170" rtl="0" eaLnBrk="1" latinLnBrk="0" hangingPunct="1">
                        <a:defRPr sz="2400" kern="1200">
                          <a:solidFill>
                            <a:schemeClr val="dk1"/>
                          </a:solidFill>
                          <a:latin typeface="Aptos" panose="02110004020202020204"/>
                        </a:defRPr>
                      </a:lvl3pPr>
                      <a:lvl4pPr marL="1828754" algn="l" defTabSz="1219170" rtl="0" eaLnBrk="1" latinLnBrk="0" hangingPunct="1">
                        <a:defRPr sz="2400" kern="1200">
                          <a:solidFill>
                            <a:schemeClr val="dk1"/>
                          </a:solidFill>
                          <a:latin typeface="Aptos" panose="02110004020202020204"/>
                        </a:defRPr>
                      </a:lvl4pPr>
                      <a:lvl5pPr marL="2438339" algn="l" defTabSz="1219170" rtl="0" eaLnBrk="1" latinLnBrk="0" hangingPunct="1">
                        <a:defRPr sz="2400" kern="1200">
                          <a:solidFill>
                            <a:schemeClr val="dk1"/>
                          </a:solidFill>
                          <a:latin typeface="Aptos" panose="02110004020202020204"/>
                        </a:defRPr>
                      </a:lvl5pPr>
                      <a:lvl6pPr marL="3047924" algn="l" defTabSz="1219170" rtl="0" eaLnBrk="1" latinLnBrk="0" hangingPunct="1">
                        <a:defRPr sz="2400" kern="1200">
                          <a:solidFill>
                            <a:schemeClr val="dk1"/>
                          </a:solidFill>
                          <a:latin typeface="Aptos" panose="02110004020202020204"/>
                        </a:defRPr>
                      </a:lvl6pPr>
                      <a:lvl7pPr marL="3657509" algn="l" defTabSz="1219170" rtl="0" eaLnBrk="1" latinLnBrk="0" hangingPunct="1">
                        <a:defRPr sz="2400" kern="1200">
                          <a:solidFill>
                            <a:schemeClr val="dk1"/>
                          </a:solidFill>
                          <a:latin typeface="Aptos" panose="02110004020202020204"/>
                        </a:defRPr>
                      </a:lvl7pPr>
                      <a:lvl8pPr marL="4267093" algn="l" defTabSz="1219170" rtl="0" eaLnBrk="1" latinLnBrk="0" hangingPunct="1">
                        <a:defRPr sz="2400" kern="1200">
                          <a:solidFill>
                            <a:schemeClr val="dk1"/>
                          </a:solidFill>
                          <a:latin typeface="Aptos" panose="02110004020202020204"/>
                        </a:defRPr>
                      </a:lvl8pPr>
                      <a:lvl9pPr marL="4876678" algn="l" defTabSz="1219170" rtl="0" eaLnBrk="1" latinLnBrk="0" hangingPunct="1">
                        <a:defRPr sz="2400" kern="1200">
                          <a:solidFill>
                            <a:schemeClr val="dk1"/>
                          </a:solidFill>
                          <a:latin typeface="Aptos" panose="02110004020202020204"/>
                        </a:defRPr>
                      </a:lvl9pPr>
                    </a:lstStyle>
                    <a:p>
                      <a:r>
                        <a:rPr lang="en-US" altLang="zh-TW" sz="1800" dirty="0"/>
                        <a:t>20</a:t>
                      </a:r>
                      <a:endParaRPr lang="zh-TW" altLang="en-US"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extLst>
                  <a:ext uri="{0D108BD9-81ED-4DB2-BD59-A6C34878D82A}">
                    <a16:rowId xmlns:a16="http://schemas.microsoft.com/office/drawing/2014/main" val="869336994"/>
                  </a:ext>
                </a:extLst>
              </a:tr>
              <a:tr h="370840">
                <a:tc>
                  <a:txBody>
                    <a:bodyPr/>
                    <a:lstStyle>
                      <a:lvl1pPr marL="0" algn="l" defTabSz="1219170" rtl="0" eaLnBrk="1" latinLnBrk="0" hangingPunct="1">
                        <a:defRPr sz="2400" kern="1200">
                          <a:solidFill>
                            <a:schemeClr val="dk1"/>
                          </a:solidFill>
                          <a:latin typeface="Aptos" panose="02110004020202020204"/>
                        </a:defRPr>
                      </a:lvl1pPr>
                      <a:lvl2pPr marL="609585" algn="l" defTabSz="1219170" rtl="0" eaLnBrk="1" latinLnBrk="0" hangingPunct="1">
                        <a:defRPr sz="2400" kern="1200">
                          <a:solidFill>
                            <a:schemeClr val="dk1"/>
                          </a:solidFill>
                          <a:latin typeface="Aptos" panose="02110004020202020204"/>
                        </a:defRPr>
                      </a:lvl2pPr>
                      <a:lvl3pPr marL="1219170" algn="l" defTabSz="1219170" rtl="0" eaLnBrk="1" latinLnBrk="0" hangingPunct="1">
                        <a:defRPr sz="2400" kern="1200">
                          <a:solidFill>
                            <a:schemeClr val="dk1"/>
                          </a:solidFill>
                          <a:latin typeface="Aptos" panose="02110004020202020204"/>
                        </a:defRPr>
                      </a:lvl3pPr>
                      <a:lvl4pPr marL="1828754" algn="l" defTabSz="1219170" rtl="0" eaLnBrk="1" latinLnBrk="0" hangingPunct="1">
                        <a:defRPr sz="2400" kern="1200">
                          <a:solidFill>
                            <a:schemeClr val="dk1"/>
                          </a:solidFill>
                          <a:latin typeface="Aptos" panose="02110004020202020204"/>
                        </a:defRPr>
                      </a:lvl4pPr>
                      <a:lvl5pPr marL="2438339" algn="l" defTabSz="1219170" rtl="0" eaLnBrk="1" latinLnBrk="0" hangingPunct="1">
                        <a:defRPr sz="2400" kern="1200">
                          <a:solidFill>
                            <a:schemeClr val="dk1"/>
                          </a:solidFill>
                          <a:latin typeface="Aptos" panose="02110004020202020204"/>
                        </a:defRPr>
                      </a:lvl5pPr>
                      <a:lvl6pPr marL="3047924" algn="l" defTabSz="1219170" rtl="0" eaLnBrk="1" latinLnBrk="0" hangingPunct="1">
                        <a:defRPr sz="2400" kern="1200">
                          <a:solidFill>
                            <a:schemeClr val="dk1"/>
                          </a:solidFill>
                          <a:latin typeface="Aptos" panose="02110004020202020204"/>
                        </a:defRPr>
                      </a:lvl6pPr>
                      <a:lvl7pPr marL="3657509" algn="l" defTabSz="1219170" rtl="0" eaLnBrk="1" latinLnBrk="0" hangingPunct="1">
                        <a:defRPr sz="2400" kern="1200">
                          <a:solidFill>
                            <a:schemeClr val="dk1"/>
                          </a:solidFill>
                          <a:latin typeface="Aptos" panose="02110004020202020204"/>
                        </a:defRPr>
                      </a:lvl7pPr>
                      <a:lvl8pPr marL="4267093" algn="l" defTabSz="1219170" rtl="0" eaLnBrk="1" latinLnBrk="0" hangingPunct="1">
                        <a:defRPr sz="2400" kern="1200">
                          <a:solidFill>
                            <a:schemeClr val="dk1"/>
                          </a:solidFill>
                          <a:latin typeface="Aptos" panose="02110004020202020204"/>
                        </a:defRPr>
                      </a:lvl8pPr>
                      <a:lvl9pPr marL="4876678" algn="l" defTabSz="1219170" rtl="0" eaLnBrk="1" latinLnBrk="0" hangingPunct="1">
                        <a:defRPr sz="2400" kern="1200">
                          <a:solidFill>
                            <a:schemeClr val="dk1"/>
                          </a:solidFill>
                          <a:latin typeface="Aptos" panose="02110004020202020204"/>
                        </a:defRPr>
                      </a:lvl9pPr>
                    </a:lstStyle>
                    <a:p>
                      <a:r>
                        <a:rPr lang="zh-TW" altLang="en-US" sz="1800" dirty="0">
                          <a:latin typeface="微軟正黑體" panose="020B0604030504040204" pitchFamily="34" charset="-120"/>
                          <a:ea typeface="微軟正黑體" panose="020B0604030504040204" pitchFamily="34" charset="-120"/>
                        </a:rPr>
                        <a:t>後測遺失資料數</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20000"/>
                      </a:srgbClr>
                    </a:solidFill>
                  </a:tcPr>
                </a:tc>
                <a:tc>
                  <a:txBody>
                    <a:bodyPr/>
                    <a:lstStyle>
                      <a:lvl1pPr marL="0" algn="l" defTabSz="1219170" rtl="0" eaLnBrk="1" latinLnBrk="0" hangingPunct="1">
                        <a:defRPr sz="2400" kern="1200">
                          <a:solidFill>
                            <a:schemeClr val="dk1"/>
                          </a:solidFill>
                          <a:latin typeface="Aptos" panose="02110004020202020204"/>
                        </a:defRPr>
                      </a:lvl1pPr>
                      <a:lvl2pPr marL="609585" algn="l" defTabSz="1219170" rtl="0" eaLnBrk="1" latinLnBrk="0" hangingPunct="1">
                        <a:defRPr sz="2400" kern="1200">
                          <a:solidFill>
                            <a:schemeClr val="dk1"/>
                          </a:solidFill>
                          <a:latin typeface="Aptos" panose="02110004020202020204"/>
                        </a:defRPr>
                      </a:lvl2pPr>
                      <a:lvl3pPr marL="1219170" algn="l" defTabSz="1219170" rtl="0" eaLnBrk="1" latinLnBrk="0" hangingPunct="1">
                        <a:defRPr sz="2400" kern="1200">
                          <a:solidFill>
                            <a:schemeClr val="dk1"/>
                          </a:solidFill>
                          <a:latin typeface="Aptos" panose="02110004020202020204"/>
                        </a:defRPr>
                      </a:lvl3pPr>
                      <a:lvl4pPr marL="1828754" algn="l" defTabSz="1219170" rtl="0" eaLnBrk="1" latinLnBrk="0" hangingPunct="1">
                        <a:defRPr sz="2400" kern="1200">
                          <a:solidFill>
                            <a:schemeClr val="dk1"/>
                          </a:solidFill>
                          <a:latin typeface="Aptos" panose="02110004020202020204"/>
                        </a:defRPr>
                      </a:lvl4pPr>
                      <a:lvl5pPr marL="2438339" algn="l" defTabSz="1219170" rtl="0" eaLnBrk="1" latinLnBrk="0" hangingPunct="1">
                        <a:defRPr sz="2400" kern="1200">
                          <a:solidFill>
                            <a:schemeClr val="dk1"/>
                          </a:solidFill>
                          <a:latin typeface="Aptos" panose="02110004020202020204"/>
                        </a:defRPr>
                      </a:lvl5pPr>
                      <a:lvl6pPr marL="3047924" algn="l" defTabSz="1219170" rtl="0" eaLnBrk="1" latinLnBrk="0" hangingPunct="1">
                        <a:defRPr sz="2400" kern="1200">
                          <a:solidFill>
                            <a:schemeClr val="dk1"/>
                          </a:solidFill>
                          <a:latin typeface="Aptos" panose="02110004020202020204"/>
                        </a:defRPr>
                      </a:lvl6pPr>
                      <a:lvl7pPr marL="3657509" algn="l" defTabSz="1219170" rtl="0" eaLnBrk="1" latinLnBrk="0" hangingPunct="1">
                        <a:defRPr sz="2400" kern="1200">
                          <a:solidFill>
                            <a:schemeClr val="dk1"/>
                          </a:solidFill>
                          <a:latin typeface="Aptos" panose="02110004020202020204"/>
                        </a:defRPr>
                      </a:lvl7pPr>
                      <a:lvl8pPr marL="4267093" algn="l" defTabSz="1219170" rtl="0" eaLnBrk="1" latinLnBrk="0" hangingPunct="1">
                        <a:defRPr sz="2400" kern="1200">
                          <a:solidFill>
                            <a:schemeClr val="dk1"/>
                          </a:solidFill>
                          <a:latin typeface="Aptos" panose="02110004020202020204"/>
                        </a:defRPr>
                      </a:lvl8pPr>
                      <a:lvl9pPr marL="4876678" algn="l" defTabSz="1219170" rtl="0" eaLnBrk="1" latinLnBrk="0" hangingPunct="1">
                        <a:defRPr sz="2400" kern="1200">
                          <a:solidFill>
                            <a:schemeClr val="dk1"/>
                          </a:solidFill>
                          <a:latin typeface="Aptos" panose="02110004020202020204"/>
                        </a:defRPr>
                      </a:lvl9pPr>
                    </a:lstStyle>
                    <a:p>
                      <a:r>
                        <a:rPr lang="en-US" altLang="zh-TW" sz="1800" dirty="0">
                          <a:solidFill>
                            <a:srgbClr val="FF0000"/>
                          </a:solidFill>
                        </a:rPr>
                        <a:t>30</a:t>
                      </a:r>
                      <a:endParaRPr lang="zh-TW" altLang="en-US"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20000"/>
                      </a:srgbClr>
                    </a:solidFill>
                  </a:tcPr>
                </a:tc>
                <a:tc>
                  <a:txBody>
                    <a:bodyPr/>
                    <a:lstStyle>
                      <a:lvl1pPr marL="0" algn="l" defTabSz="1219170" rtl="0" eaLnBrk="1" latinLnBrk="0" hangingPunct="1">
                        <a:defRPr sz="2400" kern="1200">
                          <a:solidFill>
                            <a:schemeClr val="dk1"/>
                          </a:solidFill>
                          <a:latin typeface="Aptos" panose="02110004020202020204"/>
                        </a:defRPr>
                      </a:lvl1pPr>
                      <a:lvl2pPr marL="609585" algn="l" defTabSz="1219170" rtl="0" eaLnBrk="1" latinLnBrk="0" hangingPunct="1">
                        <a:defRPr sz="2400" kern="1200">
                          <a:solidFill>
                            <a:schemeClr val="dk1"/>
                          </a:solidFill>
                          <a:latin typeface="Aptos" panose="02110004020202020204"/>
                        </a:defRPr>
                      </a:lvl2pPr>
                      <a:lvl3pPr marL="1219170" algn="l" defTabSz="1219170" rtl="0" eaLnBrk="1" latinLnBrk="0" hangingPunct="1">
                        <a:defRPr sz="2400" kern="1200">
                          <a:solidFill>
                            <a:schemeClr val="dk1"/>
                          </a:solidFill>
                          <a:latin typeface="Aptos" panose="02110004020202020204"/>
                        </a:defRPr>
                      </a:lvl3pPr>
                      <a:lvl4pPr marL="1828754" algn="l" defTabSz="1219170" rtl="0" eaLnBrk="1" latinLnBrk="0" hangingPunct="1">
                        <a:defRPr sz="2400" kern="1200">
                          <a:solidFill>
                            <a:schemeClr val="dk1"/>
                          </a:solidFill>
                          <a:latin typeface="Aptos" panose="02110004020202020204"/>
                        </a:defRPr>
                      </a:lvl4pPr>
                      <a:lvl5pPr marL="2438339" algn="l" defTabSz="1219170" rtl="0" eaLnBrk="1" latinLnBrk="0" hangingPunct="1">
                        <a:defRPr sz="2400" kern="1200">
                          <a:solidFill>
                            <a:schemeClr val="dk1"/>
                          </a:solidFill>
                          <a:latin typeface="Aptos" panose="02110004020202020204"/>
                        </a:defRPr>
                      </a:lvl5pPr>
                      <a:lvl6pPr marL="3047924" algn="l" defTabSz="1219170" rtl="0" eaLnBrk="1" latinLnBrk="0" hangingPunct="1">
                        <a:defRPr sz="2400" kern="1200">
                          <a:solidFill>
                            <a:schemeClr val="dk1"/>
                          </a:solidFill>
                          <a:latin typeface="Aptos" panose="02110004020202020204"/>
                        </a:defRPr>
                      </a:lvl6pPr>
                      <a:lvl7pPr marL="3657509" algn="l" defTabSz="1219170" rtl="0" eaLnBrk="1" latinLnBrk="0" hangingPunct="1">
                        <a:defRPr sz="2400" kern="1200">
                          <a:solidFill>
                            <a:schemeClr val="dk1"/>
                          </a:solidFill>
                          <a:latin typeface="Aptos" panose="02110004020202020204"/>
                        </a:defRPr>
                      </a:lvl7pPr>
                      <a:lvl8pPr marL="4267093" algn="l" defTabSz="1219170" rtl="0" eaLnBrk="1" latinLnBrk="0" hangingPunct="1">
                        <a:defRPr sz="2400" kern="1200">
                          <a:solidFill>
                            <a:schemeClr val="dk1"/>
                          </a:solidFill>
                          <a:latin typeface="Aptos" panose="02110004020202020204"/>
                        </a:defRPr>
                      </a:lvl8pPr>
                      <a:lvl9pPr marL="4876678" algn="l" defTabSz="1219170" rtl="0" eaLnBrk="1" latinLnBrk="0" hangingPunct="1">
                        <a:defRPr sz="2400" kern="1200">
                          <a:solidFill>
                            <a:schemeClr val="dk1"/>
                          </a:solidFill>
                          <a:latin typeface="Aptos" panose="02110004020202020204"/>
                        </a:defRPr>
                      </a:lvl9pPr>
                    </a:lstStyle>
                    <a:p>
                      <a:r>
                        <a:rPr lang="en-US" altLang="zh-TW" sz="1800" dirty="0">
                          <a:solidFill>
                            <a:srgbClr val="FF0000"/>
                          </a:solidFill>
                        </a:rPr>
                        <a:t>15</a:t>
                      </a:r>
                      <a:endParaRPr lang="zh-TW" altLang="en-US"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20000"/>
                      </a:srgbClr>
                    </a:solidFill>
                  </a:tcPr>
                </a:tc>
                <a:tc>
                  <a:txBody>
                    <a:bodyPr/>
                    <a:lstStyle>
                      <a:lvl1pPr marL="0" algn="l" defTabSz="1219170" rtl="0" eaLnBrk="1" latinLnBrk="0" hangingPunct="1">
                        <a:defRPr sz="2400" kern="1200">
                          <a:solidFill>
                            <a:schemeClr val="dk1"/>
                          </a:solidFill>
                          <a:latin typeface="Aptos" panose="02110004020202020204"/>
                        </a:defRPr>
                      </a:lvl1pPr>
                      <a:lvl2pPr marL="609585" algn="l" defTabSz="1219170" rtl="0" eaLnBrk="1" latinLnBrk="0" hangingPunct="1">
                        <a:defRPr sz="2400" kern="1200">
                          <a:solidFill>
                            <a:schemeClr val="dk1"/>
                          </a:solidFill>
                          <a:latin typeface="Aptos" panose="02110004020202020204"/>
                        </a:defRPr>
                      </a:lvl2pPr>
                      <a:lvl3pPr marL="1219170" algn="l" defTabSz="1219170" rtl="0" eaLnBrk="1" latinLnBrk="0" hangingPunct="1">
                        <a:defRPr sz="2400" kern="1200">
                          <a:solidFill>
                            <a:schemeClr val="dk1"/>
                          </a:solidFill>
                          <a:latin typeface="Aptos" panose="02110004020202020204"/>
                        </a:defRPr>
                      </a:lvl3pPr>
                      <a:lvl4pPr marL="1828754" algn="l" defTabSz="1219170" rtl="0" eaLnBrk="1" latinLnBrk="0" hangingPunct="1">
                        <a:defRPr sz="2400" kern="1200">
                          <a:solidFill>
                            <a:schemeClr val="dk1"/>
                          </a:solidFill>
                          <a:latin typeface="Aptos" panose="02110004020202020204"/>
                        </a:defRPr>
                      </a:lvl4pPr>
                      <a:lvl5pPr marL="2438339" algn="l" defTabSz="1219170" rtl="0" eaLnBrk="1" latinLnBrk="0" hangingPunct="1">
                        <a:defRPr sz="2400" kern="1200">
                          <a:solidFill>
                            <a:schemeClr val="dk1"/>
                          </a:solidFill>
                          <a:latin typeface="Aptos" panose="02110004020202020204"/>
                        </a:defRPr>
                      </a:lvl5pPr>
                      <a:lvl6pPr marL="3047924" algn="l" defTabSz="1219170" rtl="0" eaLnBrk="1" latinLnBrk="0" hangingPunct="1">
                        <a:defRPr sz="2400" kern="1200">
                          <a:solidFill>
                            <a:schemeClr val="dk1"/>
                          </a:solidFill>
                          <a:latin typeface="Aptos" panose="02110004020202020204"/>
                        </a:defRPr>
                      </a:lvl6pPr>
                      <a:lvl7pPr marL="3657509" algn="l" defTabSz="1219170" rtl="0" eaLnBrk="1" latinLnBrk="0" hangingPunct="1">
                        <a:defRPr sz="2400" kern="1200">
                          <a:solidFill>
                            <a:schemeClr val="dk1"/>
                          </a:solidFill>
                          <a:latin typeface="Aptos" panose="02110004020202020204"/>
                        </a:defRPr>
                      </a:lvl7pPr>
                      <a:lvl8pPr marL="4267093" algn="l" defTabSz="1219170" rtl="0" eaLnBrk="1" latinLnBrk="0" hangingPunct="1">
                        <a:defRPr sz="2400" kern="1200">
                          <a:solidFill>
                            <a:schemeClr val="dk1"/>
                          </a:solidFill>
                          <a:latin typeface="Aptos" panose="02110004020202020204"/>
                        </a:defRPr>
                      </a:lvl8pPr>
                      <a:lvl9pPr marL="4876678" algn="l" defTabSz="1219170" rtl="0" eaLnBrk="1" latinLnBrk="0" hangingPunct="1">
                        <a:defRPr sz="2400" kern="1200">
                          <a:solidFill>
                            <a:schemeClr val="dk1"/>
                          </a:solidFill>
                          <a:latin typeface="Aptos" panose="02110004020202020204"/>
                        </a:defRPr>
                      </a:lvl9pPr>
                    </a:lstStyle>
                    <a:p>
                      <a:r>
                        <a:rPr lang="en-US" altLang="zh-TW" sz="1800" dirty="0">
                          <a:solidFill>
                            <a:srgbClr val="FF0000"/>
                          </a:solidFill>
                        </a:rPr>
                        <a:t>29</a:t>
                      </a:r>
                      <a:endParaRPr lang="zh-TW" altLang="en-US"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20000"/>
                      </a:srgbClr>
                    </a:solidFill>
                  </a:tcPr>
                </a:tc>
                <a:extLst>
                  <a:ext uri="{0D108BD9-81ED-4DB2-BD59-A6C34878D82A}">
                    <a16:rowId xmlns:a16="http://schemas.microsoft.com/office/drawing/2014/main" val="1346973094"/>
                  </a:ext>
                </a:extLst>
              </a:tr>
              <a:tr h="370840">
                <a:tc>
                  <a:txBody>
                    <a:bodyPr/>
                    <a:lstStyle>
                      <a:lvl1pPr marL="0" algn="l" defTabSz="1219170" rtl="0" eaLnBrk="1" latinLnBrk="0" hangingPunct="1">
                        <a:defRPr sz="2400" kern="1200">
                          <a:solidFill>
                            <a:schemeClr val="dk1"/>
                          </a:solidFill>
                          <a:latin typeface="Aptos" panose="02110004020202020204"/>
                        </a:defRPr>
                      </a:lvl1pPr>
                      <a:lvl2pPr marL="609585" algn="l" defTabSz="1219170" rtl="0" eaLnBrk="1" latinLnBrk="0" hangingPunct="1">
                        <a:defRPr sz="2400" kern="1200">
                          <a:solidFill>
                            <a:schemeClr val="dk1"/>
                          </a:solidFill>
                          <a:latin typeface="Aptos" panose="02110004020202020204"/>
                        </a:defRPr>
                      </a:lvl2pPr>
                      <a:lvl3pPr marL="1219170" algn="l" defTabSz="1219170" rtl="0" eaLnBrk="1" latinLnBrk="0" hangingPunct="1">
                        <a:defRPr sz="2400" kern="1200">
                          <a:solidFill>
                            <a:schemeClr val="dk1"/>
                          </a:solidFill>
                          <a:latin typeface="Aptos" panose="02110004020202020204"/>
                        </a:defRPr>
                      </a:lvl3pPr>
                      <a:lvl4pPr marL="1828754" algn="l" defTabSz="1219170" rtl="0" eaLnBrk="1" latinLnBrk="0" hangingPunct="1">
                        <a:defRPr sz="2400" kern="1200">
                          <a:solidFill>
                            <a:schemeClr val="dk1"/>
                          </a:solidFill>
                          <a:latin typeface="Aptos" panose="02110004020202020204"/>
                        </a:defRPr>
                      </a:lvl4pPr>
                      <a:lvl5pPr marL="2438339" algn="l" defTabSz="1219170" rtl="0" eaLnBrk="1" latinLnBrk="0" hangingPunct="1">
                        <a:defRPr sz="2400" kern="1200">
                          <a:solidFill>
                            <a:schemeClr val="dk1"/>
                          </a:solidFill>
                          <a:latin typeface="Aptos" panose="02110004020202020204"/>
                        </a:defRPr>
                      </a:lvl5pPr>
                      <a:lvl6pPr marL="3047924" algn="l" defTabSz="1219170" rtl="0" eaLnBrk="1" latinLnBrk="0" hangingPunct="1">
                        <a:defRPr sz="2400" kern="1200">
                          <a:solidFill>
                            <a:schemeClr val="dk1"/>
                          </a:solidFill>
                          <a:latin typeface="Aptos" panose="02110004020202020204"/>
                        </a:defRPr>
                      </a:lvl6pPr>
                      <a:lvl7pPr marL="3657509" algn="l" defTabSz="1219170" rtl="0" eaLnBrk="1" latinLnBrk="0" hangingPunct="1">
                        <a:defRPr sz="2400" kern="1200">
                          <a:solidFill>
                            <a:schemeClr val="dk1"/>
                          </a:solidFill>
                          <a:latin typeface="Aptos" panose="02110004020202020204"/>
                        </a:defRPr>
                      </a:lvl7pPr>
                      <a:lvl8pPr marL="4267093" algn="l" defTabSz="1219170" rtl="0" eaLnBrk="1" latinLnBrk="0" hangingPunct="1">
                        <a:defRPr sz="2400" kern="1200">
                          <a:solidFill>
                            <a:schemeClr val="dk1"/>
                          </a:solidFill>
                          <a:latin typeface="Aptos" panose="02110004020202020204"/>
                        </a:defRPr>
                      </a:lvl8pPr>
                      <a:lvl9pPr marL="4876678" algn="l" defTabSz="1219170" rtl="0" eaLnBrk="1" latinLnBrk="0" hangingPunct="1">
                        <a:defRPr sz="2400" kern="1200">
                          <a:solidFill>
                            <a:schemeClr val="dk1"/>
                          </a:solidFill>
                          <a:latin typeface="Aptos" panose="02110004020202020204"/>
                        </a:defRPr>
                      </a:lvl9pPr>
                    </a:lstStyle>
                    <a:p>
                      <a:r>
                        <a:rPr lang="zh-TW" altLang="en-US" sz="1800" dirty="0">
                          <a:latin typeface="微軟正黑體" panose="020B0604030504040204" pitchFamily="34" charset="-120"/>
                          <a:ea typeface="微軟正黑體" panose="020B0604030504040204" pitchFamily="34" charset="-120"/>
                        </a:rPr>
                        <a:t>個案總數</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1219170" rtl="0" eaLnBrk="1" latinLnBrk="0" hangingPunct="1">
                        <a:defRPr sz="2400" kern="1200">
                          <a:solidFill>
                            <a:schemeClr val="dk1"/>
                          </a:solidFill>
                          <a:latin typeface="Aptos" panose="02110004020202020204"/>
                        </a:defRPr>
                      </a:lvl1pPr>
                      <a:lvl2pPr marL="609585" algn="l" defTabSz="1219170" rtl="0" eaLnBrk="1" latinLnBrk="0" hangingPunct="1">
                        <a:defRPr sz="2400" kern="1200">
                          <a:solidFill>
                            <a:schemeClr val="dk1"/>
                          </a:solidFill>
                          <a:latin typeface="Aptos" panose="02110004020202020204"/>
                        </a:defRPr>
                      </a:lvl2pPr>
                      <a:lvl3pPr marL="1219170" algn="l" defTabSz="1219170" rtl="0" eaLnBrk="1" latinLnBrk="0" hangingPunct="1">
                        <a:defRPr sz="2400" kern="1200">
                          <a:solidFill>
                            <a:schemeClr val="dk1"/>
                          </a:solidFill>
                          <a:latin typeface="Aptos" panose="02110004020202020204"/>
                        </a:defRPr>
                      </a:lvl3pPr>
                      <a:lvl4pPr marL="1828754" algn="l" defTabSz="1219170" rtl="0" eaLnBrk="1" latinLnBrk="0" hangingPunct="1">
                        <a:defRPr sz="2400" kern="1200">
                          <a:solidFill>
                            <a:schemeClr val="dk1"/>
                          </a:solidFill>
                          <a:latin typeface="Aptos" panose="02110004020202020204"/>
                        </a:defRPr>
                      </a:lvl4pPr>
                      <a:lvl5pPr marL="2438339" algn="l" defTabSz="1219170" rtl="0" eaLnBrk="1" latinLnBrk="0" hangingPunct="1">
                        <a:defRPr sz="2400" kern="1200">
                          <a:solidFill>
                            <a:schemeClr val="dk1"/>
                          </a:solidFill>
                          <a:latin typeface="Aptos" panose="02110004020202020204"/>
                        </a:defRPr>
                      </a:lvl5pPr>
                      <a:lvl6pPr marL="3047924" algn="l" defTabSz="1219170" rtl="0" eaLnBrk="1" latinLnBrk="0" hangingPunct="1">
                        <a:defRPr sz="2400" kern="1200">
                          <a:solidFill>
                            <a:schemeClr val="dk1"/>
                          </a:solidFill>
                          <a:latin typeface="Aptos" panose="02110004020202020204"/>
                        </a:defRPr>
                      </a:lvl6pPr>
                      <a:lvl7pPr marL="3657509" algn="l" defTabSz="1219170" rtl="0" eaLnBrk="1" latinLnBrk="0" hangingPunct="1">
                        <a:defRPr sz="2400" kern="1200">
                          <a:solidFill>
                            <a:schemeClr val="dk1"/>
                          </a:solidFill>
                          <a:latin typeface="Aptos" panose="02110004020202020204"/>
                        </a:defRPr>
                      </a:lvl7pPr>
                      <a:lvl8pPr marL="4267093" algn="l" defTabSz="1219170" rtl="0" eaLnBrk="1" latinLnBrk="0" hangingPunct="1">
                        <a:defRPr sz="2400" kern="1200">
                          <a:solidFill>
                            <a:schemeClr val="dk1"/>
                          </a:solidFill>
                          <a:latin typeface="Aptos" panose="02110004020202020204"/>
                        </a:defRPr>
                      </a:lvl8pPr>
                      <a:lvl9pPr marL="4876678" algn="l" defTabSz="1219170" rtl="0" eaLnBrk="1" latinLnBrk="0" hangingPunct="1">
                        <a:defRPr sz="2400" kern="1200">
                          <a:solidFill>
                            <a:schemeClr val="dk1"/>
                          </a:solidFill>
                          <a:latin typeface="Aptos" panose="02110004020202020204"/>
                        </a:defRPr>
                      </a:lvl9pPr>
                    </a:lstStyle>
                    <a:p>
                      <a:r>
                        <a:rPr lang="en-US" altLang="zh-TW" sz="1800" dirty="0"/>
                        <a:t>37</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1219170" rtl="0" eaLnBrk="1" latinLnBrk="0" hangingPunct="1">
                        <a:defRPr sz="2400" kern="1200">
                          <a:solidFill>
                            <a:schemeClr val="dk1"/>
                          </a:solidFill>
                          <a:latin typeface="Aptos" panose="02110004020202020204"/>
                        </a:defRPr>
                      </a:lvl1pPr>
                      <a:lvl2pPr marL="609585" algn="l" defTabSz="1219170" rtl="0" eaLnBrk="1" latinLnBrk="0" hangingPunct="1">
                        <a:defRPr sz="2400" kern="1200">
                          <a:solidFill>
                            <a:schemeClr val="dk1"/>
                          </a:solidFill>
                          <a:latin typeface="Aptos" panose="02110004020202020204"/>
                        </a:defRPr>
                      </a:lvl2pPr>
                      <a:lvl3pPr marL="1219170" algn="l" defTabSz="1219170" rtl="0" eaLnBrk="1" latinLnBrk="0" hangingPunct="1">
                        <a:defRPr sz="2400" kern="1200">
                          <a:solidFill>
                            <a:schemeClr val="dk1"/>
                          </a:solidFill>
                          <a:latin typeface="Aptos" panose="02110004020202020204"/>
                        </a:defRPr>
                      </a:lvl3pPr>
                      <a:lvl4pPr marL="1828754" algn="l" defTabSz="1219170" rtl="0" eaLnBrk="1" latinLnBrk="0" hangingPunct="1">
                        <a:defRPr sz="2400" kern="1200">
                          <a:solidFill>
                            <a:schemeClr val="dk1"/>
                          </a:solidFill>
                          <a:latin typeface="Aptos" panose="02110004020202020204"/>
                        </a:defRPr>
                      </a:lvl4pPr>
                      <a:lvl5pPr marL="2438339" algn="l" defTabSz="1219170" rtl="0" eaLnBrk="1" latinLnBrk="0" hangingPunct="1">
                        <a:defRPr sz="2400" kern="1200">
                          <a:solidFill>
                            <a:schemeClr val="dk1"/>
                          </a:solidFill>
                          <a:latin typeface="Aptos" panose="02110004020202020204"/>
                        </a:defRPr>
                      </a:lvl5pPr>
                      <a:lvl6pPr marL="3047924" algn="l" defTabSz="1219170" rtl="0" eaLnBrk="1" latinLnBrk="0" hangingPunct="1">
                        <a:defRPr sz="2400" kern="1200">
                          <a:solidFill>
                            <a:schemeClr val="dk1"/>
                          </a:solidFill>
                          <a:latin typeface="Aptos" panose="02110004020202020204"/>
                        </a:defRPr>
                      </a:lvl6pPr>
                      <a:lvl7pPr marL="3657509" algn="l" defTabSz="1219170" rtl="0" eaLnBrk="1" latinLnBrk="0" hangingPunct="1">
                        <a:defRPr sz="2400" kern="1200">
                          <a:solidFill>
                            <a:schemeClr val="dk1"/>
                          </a:solidFill>
                          <a:latin typeface="Aptos" panose="02110004020202020204"/>
                        </a:defRPr>
                      </a:lvl7pPr>
                      <a:lvl8pPr marL="4267093" algn="l" defTabSz="1219170" rtl="0" eaLnBrk="1" latinLnBrk="0" hangingPunct="1">
                        <a:defRPr sz="2400" kern="1200">
                          <a:solidFill>
                            <a:schemeClr val="dk1"/>
                          </a:solidFill>
                          <a:latin typeface="Aptos" panose="02110004020202020204"/>
                        </a:defRPr>
                      </a:lvl8pPr>
                      <a:lvl9pPr marL="4876678" algn="l" defTabSz="1219170" rtl="0" eaLnBrk="1" latinLnBrk="0" hangingPunct="1">
                        <a:defRPr sz="2400" kern="1200">
                          <a:solidFill>
                            <a:schemeClr val="dk1"/>
                          </a:solidFill>
                          <a:latin typeface="Aptos" panose="02110004020202020204"/>
                        </a:defRPr>
                      </a:lvl9pPr>
                    </a:lstStyle>
                    <a:p>
                      <a:r>
                        <a:rPr lang="en-US" altLang="zh-TW" sz="1800" dirty="0"/>
                        <a:t>29</a:t>
                      </a:r>
                      <a:endParaRPr lang="zh-TW" altLang="en-US"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1219170" rtl="0" eaLnBrk="1" latinLnBrk="0" hangingPunct="1">
                        <a:defRPr sz="2400" kern="1200">
                          <a:solidFill>
                            <a:schemeClr val="dk1"/>
                          </a:solidFill>
                          <a:latin typeface="Aptos" panose="02110004020202020204"/>
                        </a:defRPr>
                      </a:lvl1pPr>
                      <a:lvl2pPr marL="609585" algn="l" defTabSz="1219170" rtl="0" eaLnBrk="1" latinLnBrk="0" hangingPunct="1">
                        <a:defRPr sz="2400" kern="1200">
                          <a:solidFill>
                            <a:schemeClr val="dk1"/>
                          </a:solidFill>
                          <a:latin typeface="Aptos" panose="02110004020202020204"/>
                        </a:defRPr>
                      </a:lvl2pPr>
                      <a:lvl3pPr marL="1219170" algn="l" defTabSz="1219170" rtl="0" eaLnBrk="1" latinLnBrk="0" hangingPunct="1">
                        <a:defRPr sz="2400" kern="1200">
                          <a:solidFill>
                            <a:schemeClr val="dk1"/>
                          </a:solidFill>
                          <a:latin typeface="Aptos" panose="02110004020202020204"/>
                        </a:defRPr>
                      </a:lvl3pPr>
                      <a:lvl4pPr marL="1828754" algn="l" defTabSz="1219170" rtl="0" eaLnBrk="1" latinLnBrk="0" hangingPunct="1">
                        <a:defRPr sz="2400" kern="1200">
                          <a:solidFill>
                            <a:schemeClr val="dk1"/>
                          </a:solidFill>
                          <a:latin typeface="Aptos" panose="02110004020202020204"/>
                        </a:defRPr>
                      </a:lvl4pPr>
                      <a:lvl5pPr marL="2438339" algn="l" defTabSz="1219170" rtl="0" eaLnBrk="1" latinLnBrk="0" hangingPunct="1">
                        <a:defRPr sz="2400" kern="1200">
                          <a:solidFill>
                            <a:schemeClr val="dk1"/>
                          </a:solidFill>
                          <a:latin typeface="Aptos" panose="02110004020202020204"/>
                        </a:defRPr>
                      </a:lvl5pPr>
                      <a:lvl6pPr marL="3047924" algn="l" defTabSz="1219170" rtl="0" eaLnBrk="1" latinLnBrk="0" hangingPunct="1">
                        <a:defRPr sz="2400" kern="1200">
                          <a:solidFill>
                            <a:schemeClr val="dk1"/>
                          </a:solidFill>
                          <a:latin typeface="Aptos" panose="02110004020202020204"/>
                        </a:defRPr>
                      </a:lvl6pPr>
                      <a:lvl7pPr marL="3657509" algn="l" defTabSz="1219170" rtl="0" eaLnBrk="1" latinLnBrk="0" hangingPunct="1">
                        <a:defRPr sz="2400" kern="1200">
                          <a:solidFill>
                            <a:schemeClr val="dk1"/>
                          </a:solidFill>
                          <a:latin typeface="Aptos" panose="02110004020202020204"/>
                        </a:defRPr>
                      </a:lvl7pPr>
                      <a:lvl8pPr marL="4267093" algn="l" defTabSz="1219170" rtl="0" eaLnBrk="1" latinLnBrk="0" hangingPunct="1">
                        <a:defRPr sz="2400" kern="1200">
                          <a:solidFill>
                            <a:schemeClr val="dk1"/>
                          </a:solidFill>
                          <a:latin typeface="Aptos" panose="02110004020202020204"/>
                        </a:defRPr>
                      </a:lvl8pPr>
                      <a:lvl9pPr marL="4876678" algn="l" defTabSz="1219170" rtl="0" eaLnBrk="1" latinLnBrk="0" hangingPunct="1">
                        <a:defRPr sz="2400" kern="1200">
                          <a:solidFill>
                            <a:schemeClr val="dk1"/>
                          </a:solidFill>
                          <a:latin typeface="Aptos" panose="02110004020202020204"/>
                        </a:defRPr>
                      </a:lvl9pPr>
                    </a:lstStyle>
                    <a:p>
                      <a:r>
                        <a:rPr lang="en-US" altLang="zh-TW" sz="1800" dirty="0"/>
                        <a:t>32</a:t>
                      </a:r>
                      <a:endParaRPr lang="zh-TW" altLang="en-US"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extLst>
                  <a:ext uri="{0D108BD9-81ED-4DB2-BD59-A6C34878D82A}">
                    <a16:rowId xmlns:a16="http://schemas.microsoft.com/office/drawing/2014/main" val="208366750"/>
                  </a:ext>
                </a:extLst>
              </a:tr>
            </a:tbl>
          </a:graphicData>
        </a:graphic>
      </p:graphicFrame>
      <p:graphicFrame>
        <p:nvGraphicFramePr>
          <p:cNvPr id="11" name="表格 10">
            <a:extLst>
              <a:ext uri="{FF2B5EF4-FFF2-40B4-BE49-F238E27FC236}">
                <a16:creationId xmlns:a16="http://schemas.microsoft.com/office/drawing/2014/main" id="{E107E6B0-B7F6-4CA8-5A8B-289843B41BF8}"/>
              </a:ext>
            </a:extLst>
          </p:cNvPr>
          <p:cNvGraphicFramePr>
            <a:graphicFrameLocks noGrp="1"/>
          </p:cNvGraphicFramePr>
          <p:nvPr>
            <p:extLst>
              <p:ext uri="{D42A27DB-BD31-4B8C-83A1-F6EECF244321}">
                <p14:modId xmlns:p14="http://schemas.microsoft.com/office/powerpoint/2010/main" val="2795032397"/>
              </p:ext>
            </p:extLst>
          </p:nvPr>
        </p:nvGraphicFramePr>
        <p:xfrm>
          <a:off x="2032000" y="5036675"/>
          <a:ext cx="8128000" cy="1483360"/>
        </p:xfrm>
        <a:graphic>
          <a:graphicData uri="http://schemas.openxmlformats.org/drawingml/2006/table">
            <a:tbl>
              <a:tblPr firstRow="1" bandRow="1"/>
              <a:tblGrid>
                <a:gridCol w="2032000">
                  <a:extLst>
                    <a:ext uri="{9D8B030D-6E8A-4147-A177-3AD203B41FA5}">
                      <a16:colId xmlns:a16="http://schemas.microsoft.com/office/drawing/2014/main" val="1406416458"/>
                    </a:ext>
                  </a:extLst>
                </a:gridCol>
                <a:gridCol w="2032000">
                  <a:extLst>
                    <a:ext uri="{9D8B030D-6E8A-4147-A177-3AD203B41FA5}">
                      <a16:colId xmlns:a16="http://schemas.microsoft.com/office/drawing/2014/main" val="221517919"/>
                    </a:ext>
                  </a:extLst>
                </a:gridCol>
                <a:gridCol w="2032000">
                  <a:extLst>
                    <a:ext uri="{9D8B030D-6E8A-4147-A177-3AD203B41FA5}">
                      <a16:colId xmlns:a16="http://schemas.microsoft.com/office/drawing/2014/main" val="1949021864"/>
                    </a:ext>
                  </a:extLst>
                </a:gridCol>
                <a:gridCol w="2032000">
                  <a:extLst>
                    <a:ext uri="{9D8B030D-6E8A-4147-A177-3AD203B41FA5}">
                      <a16:colId xmlns:a16="http://schemas.microsoft.com/office/drawing/2014/main" val="120091175"/>
                    </a:ext>
                  </a:extLst>
                </a:gridCol>
              </a:tblGrid>
              <a:tr h="370840">
                <a:tc>
                  <a:txBody>
                    <a:bodyPr/>
                    <a:lstStyle>
                      <a:lvl1pPr marL="0" algn="l" defTabSz="1219170" rtl="0" eaLnBrk="1" latinLnBrk="0" hangingPunct="1">
                        <a:defRPr sz="2400" b="1" kern="1200">
                          <a:solidFill>
                            <a:schemeClr val="lt1"/>
                          </a:solidFill>
                          <a:latin typeface="Aptos" panose="02110004020202020204"/>
                        </a:defRPr>
                      </a:lvl1pPr>
                      <a:lvl2pPr marL="609585" algn="l" defTabSz="1219170" rtl="0" eaLnBrk="1" latinLnBrk="0" hangingPunct="1">
                        <a:defRPr sz="2400" b="1" kern="1200">
                          <a:solidFill>
                            <a:schemeClr val="lt1"/>
                          </a:solidFill>
                          <a:latin typeface="Aptos" panose="02110004020202020204"/>
                        </a:defRPr>
                      </a:lvl2pPr>
                      <a:lvl3pPr marL="1219170" algn="l" defTabSz="1219170" rtl="0" eaLnBrk="1" latinLnBrk="0" hangingPunct="1">
                        <a:defRPr sz="2400" b="1" kern="1200">
                          <a:solidFill>
                            <a:schemeClr val="lt1"/>
                          </a:solidFill>
                          <a:latin typeface="Aptos" panose="02110004020202020204"/>
                        </a:defRPr>
                      </a:lvl3pPr>
                      <a:lvl4pPr marL="1828754" algn="l" defTabSz="1219170" rtl="0" eaLnBrk="1" latinLnBrk="0" hangingPunct="1">
                        <a:defRPr sz="2400" b="1" kern="1200">
                          <a:solidFill>
                            <a:schemeClr val="lt1"/>
                          </a:solidFill>
                          <a:latin typeface="Aptos" panose="02110004020202020204"/>
                        </a:defRPr>
                      </a:lvl4pPr>
                      <a:lvl5pPr marL="2438339" algn="l" defTabSz="1219170" rtl="0" eaLnBrk="1" latinLnBrk="0" hangingPunct="1">
                        <a:defRPr sz="2400" b="1" kern="1200">
                          <a:solidFill>
                            <a:schemeClr val="lt1"/>
                          </a:solidFill>
                          <a:latin typeface="Aptos" panose="02110004020202020204"/>
                        </a:defRPr>
                      </a:lvl5pPr>
                      <a:lvl6pPr marL="3047924" algn="l" defTabSz="1219170" rtl="0" eaLnBrk="1" latinLnBrk="0" hangingPunct="1">
                        <a:defRPr sz="2400" b="1" kern="1200">
                          <a:solidFill>
                            <a:schemeClr val="lt1"/>
                          </a:solidFill>
                          <a:latin typeface="Aptos" panose="02110004020202020204"/>
                        </a:defRPr>
                      </a:lvl6pPr>
                      <a:lvl7pPr marL="3657509" algn="l" defTabSz="1219170" rtl="0" eaLnBrk="1" latinLnBrk="0" hangingPunct="1">
                        <a:defRPr sz="2400" b="1" kern="1200">
                          <a:solidFill>
                            <a:schemeClr val="lt1"/>
                          </a:solidFill>
                          <a:latin typeface="Aptos" panose="02110004020202020204"/>
                        </a:defRPr>
                      </a:lvl7pPr>
                      <a:lvl8pPr marL="4267093" algn="l" defTabSz="1219170" rtl="0" eaLnBrk="1" latinLnBrk="0" hangingPunct="1">
                        <a:defRPr sz="2400" b="1" kern="1200">
                          <a:solidFill>
                            <a:schemeClr val="lt1"/>
                          </a:solidFill>
                          <a:latin typeface="Aptos" panose="02110004020202020204"/>
                        </a:defRPr>
                      </a:lvl8pPr>
                      <a:lvl9pPr marL="4876678" algn="l" defTabSz="1219170" rtl="0" eaLnBrk="1" latinLnBrk="0" hangingPunct="1">
                        <a:defRPr sz="2400" b="1" kern="1200">
                          <a:solidFill>
                            <a:schemeClr val="lt1"/>
                          </a:solidFill>
                          <a:latin typeface="Aptos" panose="02110004020202020204"/>
                        </a:defRPr>
                      </a:lvl9pPr>
                    </a:lstStyle>
                    <a:p>
                      <a:endParaRPr lang="zh-TW" altLang="en-US" sz="1800" dirty="0"/>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1219170" rtl="0" eaLnBrk="1" latinLnBrk="0" hangingPunct="1">
                        <a:defRPr sz="2400" b="1" kern="1200">
                          <a:solidFill>
                            <a:schemeClr val="lt1"/>
                          </a:solidFill>
                          <a:latin typeface="Aptos" panose="02110004020202020204"/>
                        </a:defRPr>
                      </a:lvl1pPr>
                      <a:lvl2pPr marL="609585" algn="l" defTabSz="1219170" rtl="0" eaLnBrk="1" latinLnBrk="0" hangingPunct="1">
                        <a:defRPr sz="2400" b="1" kern="1200">
                          <a:solidFill>
                            <a:schemeClr val="lt1"/>
                          </a:solidFill>
                          <a:latin typeface="Aptos" panose="02110004020202020204"/>
                        </a:defRPr>
                      </a:lvl2pPr>
                      <a:lvl3pPr marL="1219170" algn="l" defTabSz="1219170" rtl="0" eaLnBrk="1" latinLnBrk="0" hangingPunct="1">
                        <a:defRPr sz="2400" b="1" kern="1200">
                          <a:solidFill>
                            <a:schemeClr val="lt1"/>
                          </a:solidFill>
                          <a:latin typeface="Aptos" panose="02110004020202020204"/>
                        </a:defRPr>
                      </a:lvl3pPr>
                      <a:lvl4pPr marL="1828754" algn="l" defTabSz="1219170" rtl="0" eaLnBrk="1" latinLnBrk="0" hangingPunct="1">
                        <a:defRPr sz="2400" b="1" kern="1200">
                          <a:solidFill>
                            <a:schemeClr val="lt1"/>
                          </a:solidFill>
                          <a:latin typeface="Aptos" panose="02110004020202020204"/>
                        </a:defRPr>
                      </a:lvl4pPr>
                      <a:lvl5pPr marL="2438339" algn="l" defTabSz="1219170" rtl="0" eaLnBrk="1" latinLnBrk="0" hangingPunct="1">
                        <a:defRPr sz="2400" b="1" kern="1200">
                          <a:solidFill>
                            <a:schemeClr val="lt1"/>
                          </a:solidFill>
                          <a:latin typeface="Aptos" panose="02110004020202020204"/>
                        </a:defRPr>
                      </a:lvl5pPr>
                      <a:lvl6pPr marL="3047924" algn="l" defTabSz="1219170" rtl="0" eaLnBrk="1" latinLnBrk="0" hangingPunct="1">
                        <a:defRPr sz="2400" b="1" kern="1200">
                          <a:solidFill>
                            <a:schemeClr val="lt1"/>
                          </a:solidFill>
                          <a:latin typeface="Aptos" panose="02110004020202020204"/>
                        </a:defRPr>
                      </a:lvl6pPr>
                      <a:lvl7pPr marL="3657509" algn="l" defTabSz="1219170" rtl="0" eaLnBrk="1" latinLnBrk="0" hangingPunct="1">
                        <a:defRPr sz="2400" b="1" kern="1200">
                          <a:solidFill>
                            <a:schemeClr val="lt1"/>
                          </a:solidFill>
                          <a:latin typeface="Aptos" panose="02110004020202020204"/>
                        </a:defRPr>
                      </a:lvl7pPr>
                      <a:lvl8pPr marL="4267093" algn="l" defTabSz="1219170" rtl="0" eaLnBrk="1" latinLnBrk="0" hangingPunct="1">
                        <a:defRPr sz="2400" b="1" kern="1200">
                          <a:solidFill>
                            <a:schemeClr val="lt1"/>
                          </a:solidFill>
                          <a:latin typeface="Aptos" panose="02110004020202020204"/>
                        </a:defRPr>
                      </a:lvl8pPr>
                      <a:lvl9pPr marL="4876678" algn="l" defTabSz="1219170" rtl="0" eaLnBrk="1" latinLnBrk="0" hangingPunct="1">
                        <a:defRPr sz="2400" b="1" kern="1200">
                          <a:solidFill>
                            <a:schemeClr val="lt1"/>
                          </a:solidFill>
                          <a:latin typeface="Aptos" panose="02110004020202020204"/>
                        </a:defRPr>
                      </a:lvl9pPr>
                    </a:lstStyle>
                    <a:p>
                      <a:r>
                        <a:rPr lang="zh-TW" altLang="en-US" sz="1800" dirty="0">
                          <a:latin typeface="微軟正黑體" panose="020B0604030504040204" pitchFamily="34" charset="-120"/>
                          <a:ea typeface="微軟正黑體" panose="020B0604030504040204" pitchFamily="34" charset="-120"/>
                        </a:rPr>
                        <a:t>便秘</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1219170" rtl="0" eaLnBrk="1" latinLnBrk="0" hangingPunct="1">
                        <a:defRPr sz="2400" b="1" kern="1200">
                          <a:solidFill>
                            <a:schemeClr val="lt1"/>
                          </a:solidFill>
                          <a:latin typeface="Aptos" panose="02110004020202020204"/>
                        </a:defRPr>
                      </a:lvl1pPr>
                      <a:lvl2pPr marL="609585" algn="l" defTabSz="1219170" rtl="0" eaLnBrk="1" latinLnBrk="0" hangingPunct="1">
                        <a:defRPr sz="2400" b="1" kern="1200">
                          <a:solidFill>
                            <a:schemeClr val="lt1"/>
                          </a:solidFill>
                          <a:latin typeface="Aptos" panose="02110004020202020204"/>
                        </a:defRPr>
                      </a:lvl2pPr>
                      <a:lvl3pPr marL="1219170" algn="l" defTabSz="1219170" rtl="0" eaLnBrk="1" latinLnBrk="0" hangingPunct="1">
                        <a:defRPr sz="2400" b="1" kern="1200">
                          <a:solidFill>
                            <a:schemeClr val="lt1"/>
                          </a:solidFill>
                          <a:latin typeface="Aptos" panose="02110004020202020204"/>
                        </a:defRPr>
                      </a:lvl3pPr>
                      <a:lvl4pPr marL="1828754" algn="l" defTabSz="1219170" rtl="0" eaLnBrk="1" latinLnBrk="0" hangingPunct="1">
                        <a:defRPr sz="2400" b="1" kern="1200">
                          <a:solidFill>
                            <a:schemeClr val="lt1"/>
                          </a:solidFill>
                          <a:latin typeface="Aptos" panose="02110004020202020204"/>
                        </a:defRPr>
                      </a:lvl4pPr>
                      <a:lvl5pPr marL="2438339" algn="l" defTabSz="1219170" rtl="0" eaLnBrk="1" latinLnBrk="0" hangingPunct="1">
                        <a:defRPr sz="2400" b="1" kern="1200">
                          <a:solidFill>
                            <a:schemeClr val="lt1"/>
                          </a:solidFill>
                          <a:latin typeface="Aptos" panose="02110004020202020204"/>
                        </a:defRPr>
                      </a:lvl5pPr>
                      <a:lvl6pPr marL="3047924" algn="l" defTabSz="1219170" rtl="0" eaLnBrk="1" latinLnBrk="0" hangingPunct="1">
                        <a:defRPr sz="2400" b="1" kern="1200">
                          <a:solidFill>
                            <a:schemeClr val="lt1"/>
                          </a:solidFill>
                          <a:latin typeface="Aptos" panose="02110004020202020204"/>
                        </a:defRPr>
                      </a:lvl6pPr>
                      <a:lvl7pPr marL="3657509" algn="l" defTabSz="1219170" rtl="0" eaLnBrk="1" latinLnBrk="0" hangingPunct="1">
                        <a:defRPr sz="2400" b="1" kern="1200">
                          <a:solidFill>
                            <a:schemeClr val="lt1"/>
                          </a:solidFill>
                          <a:latin typeface="Aptos" panose="02110004020202020204"/>
                        </a:defRPr>
                      </a:lvl7pPr>
                      <a:lvl8pPr marL="4267093" algn="l" defTabSz="1219170" rtl="0" eaLnBrk="1" latinLnBrk="0" hangingPunct="1">
                        <a:defRPr sz="2400" b="1" kern="1200">
                          <a:solidFill>
                            <a:schemeClr val="lt1"/>
                          </a:solidFill>
                          <a:latin typeface="Aptos" panose="02110004020202020204"/>
                        </a:defRPr>
                      </a:lvl8pPr>
                      <a:lvl9pPr marL="4876678" algn="l" defTabSz="1219170" rtl="0" eaLnBrk="1" latinLnBrk="0" hangingPunct="1">
                        <a:defRPr sz="2400" b="1" kern="1200">
                          <a:solidFill>
                            <a:schemeClr val="lt1"/>
                          </a:solidFill>
                          <a:latin typeface="Aptos" panose="02110004020202020204"/>
                        </a:defRPr>
                      </a:lvl9pPr>
                    </a:lstStyle>
                    <a:p>
                      <a:r>
                        <a:rPr lang="zh-TW" altLang="en-US" sz="1800" dirty="0">
                          <a:latin typeface="微軟正黑體" panose="020B0604030504040204" pitchFamily="34" charset="-120"/>
                          <a:ea typeface="微軟正黑體" panose="020B0604030504040204" pitchFamily="34" charset="-120"/>
                        </a:rPr>
                        <a:t>肛失禁</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tc>
                  <a:txBody>
                    <a:bodyPr/>
                    <a:lstStyle>
                      <a:lvl1pPr marL="0" algn="l" defTabSz="1219170" rtl="0" eaLnBrk="1" latinLnBrk="0" hangingPunct="1">
                        <a:defRPr sz="2400" b="1" kern="1200">
                          <a:solidFill>
                            <a:schemeClr val="lt1"/>
                          </a:solidFill>
                          <a:latin typeface="Aptos" panose="02110004020202020204"/>
                        </a:defRPr>
                      </a:lvl1pPr>
                      <a:lvl2pPr marL="609585" algn="l" defTabSz="1219170" rtl="0" eaLnBrk="1" latinLnBrk="0" hangingPunct="1">
                        <a:defRPr sz="2400" b="1" kern="1200">
                          <a:solidFill>
                            <a:schemeClr val="lt1"/>
                          </a:solidFill>
                          <a:latin typeface="Aptos" panose="02110004020202020204"/>
                        </a:defRPr>
                      </a:lvl2pPr>
                      <a:lvl3pPr marL="1219170" algn="l" defTabSz="1219170" rtl="0" eaLnBrk="1" latinLnBrk="0" hangingPunct="1">
                        <a:defRPr sz="2400" b="1" kern="1200">
                          <a:solidFill>
                            <a:schemeClr val="lt1"/>
                          </a:solidFill>
                          <a:latin typeface="Aptos" panose="02110004020202020204"/>
                        </a:defRPr>
                      </a:lvl3pPr>
                      <a:lvl4pPr marL="1828754" algn="l" defTabSz="1219170" rtl="0" eaLnBrk="1" latinLnBrk="0" hangingPunct="1">
                        <a:defRPr sz="2400" b="1" kern="1200">
                          <a:solidFill>
                            <a:schemeClr val="lt1"/>
                          </a:solidFill>
                          <a:latin typeface="Aptos" panose="02110004020202020204"/>
                        </a:defRPr>
                      </a:lvl4pPr>
                      <a:lvl5pPr marL="2438339" algn="l" defTabSz="1219170" rtl="0" eaLnBrk="1" latinLnBrk="0" hangingPunct="1">
                        <a:defRPr sz="2400" b="1" kern="1200">
                          <a:solidFill>
                            <a:schemeClr val="lt1"/>
                          </a:solidFill>
                          <a:latin typeface="Aptos" panose="02110004020202020204"/>
                        </a:defRPr>
                      </a:lvl5pPr>
                      <a:lvl6pPr marL="3047924" algn="l" defTabSz="1219170" rtl="0" eaLnBrk="1" latinLnBrk="0" hangingPunct="1">
                        <a:defRPr sz="2400" b="1" kern="1200">
                          <a:solidFill>
                            <a:schemeClr val="lt1"/>
                          </a:solidFill>
                          <a:latin typeface="Aptos" panose="02110004020202020204"/>
                        </a:defRPr>
                      </a:lvl6pPr>
                      <a:lvl7pPr marL="3657509" algn="l" defTabSz="1219170" rtl="0" eaLnBrk="1" latinLnBrk="0" hangingPunct="1">
                        <a:defRPr sz="2400" b="1" kern="1200">
                          <a:solidFill>
                            <a:schemeClr val="lt1"/>
                          </a:solidFill>
                          <a:latin typeface="Aptos" panose="02110004020202020204"/>
                        </a:defRPr>
                      </a:lvl7pPr>
                      <a:lvl8pPr marL="4267093" algn="l" defTabSz="1219170" rtl="0" eaLnBrk="1" latinLnBrk="0" hangingPunct="1">
                        <a:defRPr sz="2400" b="1" kern="1200">
                          <a:solidFill>
                            <a:schemeClr val="lt1"/>
                          </a:solidFill>
                          <a:latin typeface="Aptos" panose="02110004020202020204"/>
                        </a:defRPr>
                      </a:lvl8pPr>
                      <a:lvl9pPr marL="4876678" algn="l" defTabSz="1219170" rtl="0" eaLnBrk="1" latinLnBrk="0" hangingPunct="1">
                        <a:defRPr sz="2400" b="1" kern="1200">
                          <a:solidFill>
                            <a:schemeClr val="lt1"/>
                          </a:solidFill>
                          <a:latin typeface="Aptos" panose="02110004020202020204"/>
                        </a:defRPr>
                      </a:lvl9pPr>
                    </a:lstStyle>
                    <a:p>
                      <a:r>
                        <a:rPr lang="zh-TW" altLang="en-US" sz="1800" dirty="0">
                          <a:latin typeface="微軟正黑體" panose="020B0604030504040204" pitchFamily="34" charset="-120"/>
                          <a:ea typeface="微軟正黑體" panose="020B0604030504040204" pitchFamily="34" charset="-120"/>
                        </a:rPr>
                        <a:t>尿失禁</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156082"/>
                    </a:solidFill>
                  </a:tcPr>
                </a:tc>
                <a:extLst>
                  <a:ext uri="{0D108BD9-81ED-4DB2-BD59-A6C34878D82A}">
                    <a16:rowId xmlns:a16="http://schemas.microsoft.com/office/drawing/2014/main" val="1533787223"/>
                  </a:ext>
                </a:extLst>
              </a:tr>
              <a:tr h="370840">
                <a:tc>
                  <a:txBody>
                    <a:bodyPr/>
                    <a:lstStyle>
                      <a:lvl1pPr marL="0" algn="l" defTabSz="1219170" rtl="0" eaLnBrk="1" latinLnBrk="0" hangingPunct="1">
                        <a:defRPr sz="2400" kern="1200">
                          <a:solidFill>
                            <a:schemeClr val="dk1"/>
                          </a:solidFill>
                          <a:latin typeface="Aptos" panose="02110004020202020204"/>
                        </a:defRPr>
                      </a:lvl1pPr>
                      <a:lvl2pPr marL="609585" algn="l" defTabSz="1219170" rtl="0" eaLnBrk="1" latinLnBrk="0" hangingPunct="1">
                        <a:defRPr sz="2400" kern="1200">
                          <a:solidFill>
                            <a:schemeClr val="dk1"/>
                          </a:solidFill>
                          <a:latin typeface="Aptos" panose="02110004020202020204"/>
                        </a:defRPr>
                      </a:lvl2pPr>
                      <a:lvl3pPr marL="1219170" algn="l" defTabSz="1219170" rtl="0" eaLnBrk="1" latinLnBrk="0" hangingPunct="1">
                        <a:defRPr sz="2400" kern="1200">
                          <a:solidFill>
                            <a:schemeClr val="dk1"/>
                          </a:solidFill>
                          <a:latin typeface="Aptos" panose="02110004020202020204"/>
                        </a:defRPr>
                      </a:lvl3pPr>
                      <a:lvl4pPr marL="1828754" algn="l" defTabSz="1219170" rtl="0" eaLnBrk="1" latinLnBrk="0" hangingPunct="1">
                        <a:defRPr sz="2400" kern="1200">
                          <a:solidFill>
                            <a:schemeClr val="dk1"/>
                          </a:solidFill>
                          <a:latin typeface="Aptos" panose="02110004020202020204"/>
                        </a:defRPr>
                      </a:lvl4pPr>
                      <a:lvl5pPr marL="2438339" algn="l" defTabSz="1219170" rtl="0" eaLnBrk="1" latinLnBrk="0" hangingPunct="1">
                        <a:defRPr sz="2400" kern="1200">
                          <a:solidFill>
                            <a:schemeClr val="dk1"/>
                          </a:solidFill>
                          <a:latin typeface="Aptos" panose="02110004020202020204"/>
                        </a:defRPr>
                      </a:lvl5pPr>
                      <a:lvl6pPr marL="3047924" algn="l" defTabSz="1219170" rtl="0" eaLnBrk="1" latinLnBrk="0" hangingPunct="1">
                        <a:defRPr sz="2400" kern="1200">
                          <a:solidFill>
                            <a:schemeClr val="dk1"/>
                          </a:solidFill>
                          <a:latin typeface="Aptos" panose="02110004020202020204"/>
                        </a:defRPr>
                      </a:lvl6pPr>
                      <a:lvl7pPr marL="3657509" algn="l" defTabSz="1219170" rtl="0" eaLnBrk="1" latinLnBrk="0" hangingPunct="1">
                        <a:defRPr sz="2400" kern="1200">
                          <a:solidFill>
                            <a:schemeClr val="dk1"/>
                          </a:solidFill>
                          <a:latin typeface="Aptos" panose="02110004020202020204"/>
                        </a:defRPr>
                      </a:lvl7pPr>
                      <a:lvl8pPr marL="4267093" algn="l" defTabSz="1219170" rtl="0" eaLnBrk="1" latinLnBrk="0" hangingPunct="1">
                        <a:defRPr sz="2400" kern="1200">
                          <a:solidFill>
                            <a:schemeClr val="dk1"/>
                          </a:solidFill>
                          <a:latin typeface="Aptos" panose="02110004020202020204"/>
                        </a:defRPr>
                      </a:lvl8pPr>
                      <a:lvl9pPr marL="4876678" algn="l" defTabSz="1219170" rtl="0" eaLnBrk="1" latinLnBrk="0" hangingPunct="1">
                        <a:defRPr sz="2400" kern="1200">
                          <a:solidFill>
                            <a:schemeClr val="dk1"/>
                          </a:solidFill>
                          <a:latin typeface="Aptos" panose="02110004020202020204"/>
                        </a:defRPr>
                      </a:lvl9pPr>
                    </a:lstStyle>
                    <a:p>
                      <a:r>
                        <a:rPr lang="zh-TW" altLang="en-US" sz="1800" dirty="0">
                          <a:latin typeface="微軟正黑體" panose="020B0604030504040204" pitchFamily="34" charset="-120"/>
                          <a:ea typeface="微軟正黑體" panose="020B0604030504040204" pitchFamily="34" charset="-120"/>
                        </a:rPr>
                        <a:t>前測遺失資料數</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1219170" rtl="0" eaLnBrk="1" latinLnBrk="0" hangingPunct="1">
                        <a:defRPr sz="2400" kern="1200">
                          <a:solidFill>
                            <a:schemeClr val="dk1"/>
                          </a:solidFill>
                          <a:latin typeface="Aptos" panose="02110004020202020204"/>
                        </a:defRPr>
                      </a:lvl1pPr>
                      <a:lvl2pPr marL="609585" algn="l" defTabSz="1219170" rtl="0" eaLnBrk="1" latinLnBrk="0" hangingPunct="1">
                        <a:defRPr sz="2400" kern="1200">
                          <a:solidFill>
                            <a:schemeClr val="dk1"/>
                          </a:solidFill>
                          <a:latin typeface="Aptos" panose="02110004020202020204"/>
                        </a:defRPr>
                      </a:lvl2pPr>
                      <a:lvl3pPr marL="1219170" algn="l" defTabSz="1219170" rtl="0" eaLnBrk="1" latinLnBrk="0" hangingPunct="1">
                        <a:defRPr sz="2400" kern="1200">
                          <a:solidFill>
                            <a:schemeClr val="dk1"/>
                          </a:solidFill>
                          <a:latin typeface="Aptos" panose="02110004020202020204"/>
                        </a:defRPr>
                      </a:lvl3pPr>
                      <a:lvl4pPr marL="1828754" algn="l" defTabSz="1219170" rtl="0" eaLnBrk="1" latinLnBrk="0" hangingPunct="1">
                        <a:defRPr sz="2400" kern="1200">
                          <a:solidFill>
                            <a:schemeClr val="dk1"/>
                          </a:solidFill>
                          <a:latin typeface="Aptos" panose="02110004020202020204"/>
                        </a:defRPr>
                      </a:lvl4pPr>
                      <a:lvl5pPr marL="2438339" algn="l" defTabSz="1219170" rtl="0" eaLnBrk="1" latinLnBrk="0" hangingPunct="1">
                        <a:defRPr sz="2400" kern="1200">
                          <a:solidFill>
                            <a:schemeClr val="dk1"/>
                          </a:solidFill>
                          <a:latin typeface="Aptos" panose="02110004020202020204"/>
                        </a:defRPr>
                      </a:lvl5pPr>
                      <a:lvl6pPr marL="3047924" algn="l" defTabSz="1219170" rtl="0" eaLnBrk="1" latinLnBrk="0" hangingPunct="1">
                        <a:defRPr sz="2400" kern="1200">
                          <a:solidFill>
                            <a:schemeClr val="dk1"/>
                          </a:solidFill>
                          <a:latin typeface="Aptos" panose="02110004020202020204"/>
                        </a:defRPr>
                      </a:lvl6pPr>
                      <a:lvl7pPr marL="3657509" algn="l" defTabSz="1219170" rtl="0" eaLnBrk="1" latinLnBrk="0" hangingPunct="1">
                        <a:defRPr sz="2400" kern="1200">
                          <a:solidFill>
                            <a:schemeClr val="dk1"/>
                          </a:solidFill>
                          <a:latin typeface="Aptos" panose="02110004020202020204"/>
                        </a:defRPr>
                      </a:lvl7pPr>
                      <a:lvl8pPr marL="4267093" algn="l" defTabSz="1219170" rtl="0" eaLnBrk="1" latinLnBrk="0" hangingPunct="1">
                        <a:defRPr sz="2400" kern="1200">
                          <a:solidFill>
                            <a:schemeClr val="dk1"/>
                          </a:solidFill>
                          <a:latin typeface="Aptos" panose="02110004020202020204"/>
                        </a:defRPr>
                      </a:lvl8pPr>
                      <a:lvl9pPr marL="4876678" algn="l" defTabSz="1219170" rtl="0" eaLnBrk="1" latinLnBrk="0" hangingPunct="1">
                        <a:defRPr sz="2400" kern="1200">
                          <a:solidFill>
                            <a:schemeClr val="dk1"/>
                          </a:solidFill>
                          <a:latin typeface="Aptos" panose="02110004020202020204"/>
                        </a:defRPr>
                      </a:lvl9pPr>
                    </a:lstStyle>
                    <a:p>
                      <a:r>
                        <a:rPr lang="en-US" altLang="zh-TW" sz="1800" dirty="0"/>
                        <a:t>1</a:t>
                      </a:r>
                      <a:endParaRPr lang="zh-TW" altLang="en-US"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1219170" rtl="0" eaLnBrk="1" latinLnBrk="0" hangingPunct="1">
                        <a:defRPr sz="2400" kern="1200">
                          <a:solidFill>
                            <a:schemeClr val="dk1"/>
                          </a:solidFill>
                          <a:latin typeface="Aptos" panose="02110004020202020204"/>
                        </a:defRPr>
                      </a:lvl1pPr>
                      <a:lvl2pPr marL="609585" algn="l" defTabSz="1219170" rtl="0" eaLnBrk="1" latinLnBrk="0" hangingPunct="1">
                        <a:defRPr sz="2400" kern="1200">
                          <a:solidFill>
                            <a:schemeClr val="dk1"/>
                          </a:solidFill>
                          <a:latin typeface="Aptos" panose="02110004020202020204"/>
                        </a:defRPr>
                      </a:lvl2pPr>
                      <a:lvl3pPr marL="1219170" algn="l" defTabSz="1219170" rtl="0" eaLnBrk="1" latinLnBrk="0" hangingPunct="1">
                        <a:defRPr sz="2400" kern="1200">
                          <a:solidFill>
                            <a:schemeClr val="dk1"/>
                          </a:solidFill>
                          <a:latin typeface="Aptos" panose="02110004020202020204"/>
                        </a:defRPr>
                      </a:lvl3pPr>
                      <a:lvl4pPr marL="1828754" algn="l" defTabSz="1219170" rtl="0" eaLnBrk="1" latinLnBrk="0" hangingPunct="1">
                        <a:defRPr sz="2400" kern="1200">
                          <a:solidFill>
                            <a:schemeClr val="dk1"/>
                          </a:solidFill>
                          <a:latin typeface="Aptos" panose="02110004020202020204"/>
                        </a:defRPr>
                      </a:lvl4pPr>
                      <a:lvl5pPr marL="2438339" algn="l" defTabSz="1219170" rtl="0" eaLnBrk="1" latinLnBrk="0" hangingPunct="1">
                        <a:defRPr sz="2400" kern="1200">
                          <a:solidFill>
                            <a:schemeClr val="dk1"/>
                          </a:solidFill>
                          <a:latin typeface="Aptos" panose="02110004020202020204"/>
                        </a:defRPr>
                      </a:lvl5pPr>
                      <a:lvl6pPr marL="3047924" algn="l" defTabSz="1219170" rtl="0" eaLnBrk="1" latinLnBrk="0" hangingPunct="1">
                        <a:defRPr sz="2400" kern="1200">
                          <a:solidFill>
                            <a:schemeClr val="dk1"/>
                          </a:solidFill>
                          <a:latin typeface="Aptos" panose="02110004020202020204"/>
                        </a:defRPr>
                      </a:lvl6pPr>
                      <a:lvl7pPr marL="3657509" algn="l" defTabSz="1219170" rtl="0" eaLnBrk="1" latinLnBrk="0" hangingPunct="1">
                        <a:defRPr sz="2400" kern="1200">
                          <a:solidFill>
                            <a:schemeClr val="dk1"/>
                          </a:solidFill>
                          <a:latin typeface="Aptos" panose="02110004020202020204"/>
                        </a:defRPr>
                      </a:lvl7pPr>
                      <a:lvl8pPr marL="4267093" algn="l" defTabSz="1219170" rtl="0" eaLnBrk="1" latinLnBrk="0" hangingPunct="1">
                        <a:defRPr sz="2400" kern="1200">
                          <a:solidFill>
                            <a:schemeClr val="dk1"/>
                          </a:solidFill>
                          <a:latin typeface="Aptos" panose="02110004020202020204"/>
                        </a:defRPr>
                      </a:lvl8pPr>
                      <a:lvl9pPr marL="4876678" algn="l" defTabSz="1219170" rtl="0" eaLnBrk="1" latinLnBrk="0" hangingPunct="1">
                        <a:defRPr sz="2400" kern="1200">
                          <a:solidFill>
                            <a:schemeClr val="dk1"/>
                          </a:solidFill>
                          <a:latin typeface="Aptos" panose="02110004020202020204"/>
                        </a:defRPr>
                      </a:lvl9pPr>
                    </a:lstStyle>
                    <a:p>
                      <a:r>
                        <a:rPr lang="en-US" altLang="zh-TW" sz="1800" dirty="0"/>
                        <a:t>8</a:t>
                      </a:r>
                      <a:endParaRPr lang="zh-TW" altLang="en-US"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1219170" rtl="0" eaLnBrk="1" latinLnBrk="0" hangingPunct="1">
                        <a:defRPr sz="2400" kern="1200">
                          <a:solidFill>
                            <a:schemeClr val="dk1"/>
                          </a:solidFill>
                          <a:latin typeface="Aptos" panose="02110004020202020204"/>
                        </a:defRPr>
                      </a:lvl1pPr>
                      <a:lvl2pPr marL="609585" algn="l" defTabSz="1219170" rtl="0" eaLnBrk="1" latinLnBrk="0" hangingPunct="1">
                        <a:defRPr sz="2400" kern="1200">
                          <a:solidFill>
                            <a:schemeClr val="dk1"/>
                          </a:solidFill>
                          <a:latin typeface="Aptos" panose="02110004020202020204"/>
                        </a:defRPr>
                      </a:lvl2pPr>
                      <a:lvl3pPr marL="1219170" algn="l" defTabSz="1219170" rtl="0" eaLnBrk="1" latinLnBrk="0" hangingPunct="1">
                        <a:defRPr sz="2400" kern="1200">
                          <a:solidFill>
                            <a:schemeClr val="dk1"/>
                          </a:solidFill>
                          <a:latin typeface="Aptos" panose="02110004020202020204"/>
                        </a:defRPr>
                      </a:lvl3pPr>
                      <a:lvl4pPr marL="1828754" algn="l" defTabSz="1219170" rtl="0" eaLnBrk="1" latinLnBrk="0" hangingPunct="1">
                        <a:defRPr sz="2400" kern="1200">
                          <a:solidFill>
                            <a:schemeClr val="dk1"/>
                          </a:solidFill>
                          <a:latin typeface="Aptos" panose="02110004020202020204"/>
                        </a:defRPr>
                      </a:lvl4pPr>
                      <a:lvl5pPr marL="2438339" algn="l" defTabSz="1219170" rtl="0" eaLnBrk="1" latinLnBrk="0" hangingPunct="1">
                        <a:defRPr sz="2400" kern="1200">
                          <a:solidFill>
                            <a:schemeClr val="dk1"/>
                          </a:solidFill>
                          <a:latin typeface="Aptos" panose="02110004020202020204"/>
                        </a:defRPr>
                      </a:lvl5pPr>
                      <a:lvl6pPr marL="3047924" algn="l" defTabSz="1219170" rtl="0" eaLnBrk="1" latinLnBrk="0" hangingPunct="1">
                        <a:defRPr sz="2400" kern="1200">
                          <a:solidFill>
                            <a:schemeClr val="dk1"/>
                          </a:solidFill>
                          <a:latin typeface="Aptos" panose="02110004020202020204"/>
                        </a:defRPr>
                      </a:lvl6pPr>
                      <a:lvl7pPr marL="3657509" algn="l" defTabSz="1219170" rtl="0" eaLnBrk="1" latinLnBrk="0" hangingPunct="1">
                        <a:defRPr sz="2400" kern="1200">
                          <a:solidFill>
                            <a:schemeClr val="dk1"/>
                          </a:solidFill>
                          <a:latin typeface="Aptos" panose="02110004020202020204"/>
                        </a:defRPr>
                      </a:lvl7pPr>
                      <a:lvl8pPr marL="4267093" algn="l" defTabSz="1219170" rtl="0" eaLnBrk="1" latinLnBrk="0" hangingPunct="1">
                        <a:defRPr sz="2400" kern="1200">
                          <a:solidFill>
                            <a:schemeClr val="dk1"/>
                          </a:solidFill>
                          <a:latin typeface="Aptos" panose="02110004020202020204"/>
                        </a:defRPr>
                      </a:lvl8pPr>
                      <a:lvl9pPr marL="4876678" algn="l" defTabSz="1219170" rtl="0" eaLnBrk="1" latinLnBrk="0" hangingPunct="1">
                        <a:defRPr sz="2400" kern="1200">
                          <a:solidFill>
                            <a:schemeClr val="dk1"/>
                          </a:solidFill>
                          <a:latin typeface="Aptos" panose="02110004020202020204"/>
                        </a:defRPr>
                      </a:lvl9pPr>
                    </a:lstStyle>
                    <a:p>
                      <a:r>
                        <a:rPr lang="en-US" altLang="zh-TW" sz="1800" dirty="0"/>
                        <a:t>10</a:t>
                      </a:r>
                      <a:endParaRPr lang="zh-TW" altLang="en-US" sz="1800" dirty="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extLst>
                  <a:ext uri="{0D108BD9-81ED-4DB2-BD59-A6C34878D82A}">
                    <a16:rowId xmlns:a16="http://schemas.microsoft.com/office/drawing/2014/main" val="869336994"/>
                  </a:ext>
                </a:extLst>
              </a:tr>
              <a:tr h="370840">
                <a:tc>
                  <a:txBody>
                    <a:bodyPr/>
                    <a:lstStyle>
                      <a:lvl1pPr marL="0" algn="l" defTabSz="1219170" rtl="0" eaLnBrk="1" latinLnBrk="0" hangingPunct="1">
                        <a:defRPr sz="2400" kern="1200">
                          <a:solidFill>
                            <a:schemeClr val="dk1"/>
                          </a:solidFill>
                          <a:latin typeface="Aptos" panose="02110004020202020204"/>
                        </a:defRPr>
                      </a:lvl1pPr>
                      <a:lvl2pPr marL="609585" algn="l" defTabSz="1219170" rtl="0" eaLnBrk="1" latinLnBrk="0" hangingPunct="1">
                        <a:defRPr sz="2400" kern="1200">
                          <a:solidFill>
                            <a:schemeClr val="dk1"/>
                          </a:solidFill>
                          <a:latin typeface="Aptos" panose="02110004020202020204"/>
                        </a:defRPr>
                      </a:lvl2pPr>
                      <a:lvl3pPr marL="1219170" algn="l" defTabSz="1219170" rtl="0" eaLnBrk="1" latinLnBrk="0" hangingPunct="1">
                        <a:defRPr sz="2400" kern="1200">
                          <a:solidFill>
                            <a:schemeClr val="dk1"/>
                          </a:solidFill>
                          <a:latin typeface="Aptos" panose="02110004020202020204"/>
                        </a:defRPr>
                      </a:lvl3pPr>
                      <a:lvl4pPr marL="1828754" algn="l" defTabSz="1219170" rtl="0" eaLnBrk="1" latinLnBrk="0" hangingPunct="1">
                        <a:defRPr sz="2400" kern="1200">
                          <a:solidFill>
                            <a:schemeClr val="dk1"/>
                          </a:solidFill>
                          <a:latin typeface="Aptos" panose="02110004020202020204"/>
                        </a:defRPr>
                      </a:lvl4pPr>
                      <a:lvl5pPr marL="2438339" algn="l" defTabSz="1219170" rtl="0" eaLnBrk="1" latinLnBrk="0" hangingPunct="1">
                        <a:defRPr sz="2400" kern="1200">
                          <a:solidFill>
                            <a:schemeClr val="dk1"/>
                          </a:solidFill>
                          <a:latin typeface="Aptos" panose="02110004020202020204"/>
                        </a:defRPr>
                      </a:lvl5pPr>
                      <a:lvl6pPr marL="3047924" algn="l" defTabSz="1219170" rtl="0" eaLnBrk="1" latinLnBrk="0" hangingPunct="1">
                        <a:defRPr sz="2400" kern="1200">
                          <a:solidFill>
                            <a:schemeClr val="dk1"/>
                          </a:solidFill>
                          <a:latin typeface="Aptos" panose="02110004020202020204"/>
                        </a:defRPr>
                      </a:lvl6pPr>
                      <a:lvl7pPr marL="3657509" algn="l" defTabSz="1219170" rtl="0" eaLnBrk="1" latinLnBrk="0" hangingPunct="1">
                        <a:defRPr sz="2400" kern="1200">
                          <a:solidFill>
                            <a:schemeClr val="dk1"/>
                          </a:solidFill>
                          <a:latin typeface="Aptos" panose="02110004020202020204"/>
                        </a:defRPr>
                      </a:lvl7pPr>
                      <a:lvl8pPr marL="4267093" algn="l" defTabSz="1219170" rtl="0" eaLnBrk="1" latinLnBrk="0" hangingPunct="1">
                        <a:defRPr sz="2400" kern="1200">
                          <a:solidFill>
                            <a:schemeClr val="dk1"/>
                          </a:solidFill>
                          <a:latin typeface="Aptos" panose="02110004020202020204"/>
                        </a:defRPr>
                      </a:lvl8pPr>
                      <a:lvl9pPr marL="4876678" algn="l" defTabSz="1219170" rtl="0" eaLnBrk="1" latinLnBrk="0" hangingPunct="1">
                        <a:defRPr sz="2400" kern="1200">
                          <a:solidFill>
                            <a:schemeClr val="dk1"/>
                          </a:solidFill>
                          <a:latin typeface="Aptos" panose="02110004020202020204"/>
                        </a:defRPr>
                      </a:lvl9pPr>
                    </a:lstStyle>
                    <a:p>
                      <a:r>
                        <a:rPr lang="zh-TW" altLang="en-US" sz="1800" dirty="0">
                          <a:latin typeface="微軟正黑體" panose="020B0604030504040204" pitchFamily="34" charset="-120"/>
                          <a:ea typeface="微軟正黑體" panose="020B0604030504040204" pitchFamily="34" charset="-120"/>
                        </a:rPr>
                        <a:t>後測遺失資料數</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20000"/>
                      </a:srgbClr>
                    </a:solidFill>
                  </a:tcPr>
                </a:tc>
                <a:tc>
                  <a:txBody>
                    <a:bodyPr/>
                    <a:lstStyle>
                      <a:lvl1pPr marL="0" algn="l" defTabSz="1219170" rtl="0" eaLnBrk="1" latinLnBrk="0" hangingPunct="1">
                        <a:defRPr sz="2400" kern="1200">
                          <a:solidFill>
                            <a:schemeClr val="dk1"/>
                          </a:solidFill>
                          <a:latin typeface="Aptos" panose="02110004020202020204"/>
                        </a:defRPr>
                      </a:lvl1pPr>
                      <a:lvl2pPr marL="609585" algn="l" defTabSz="1219170" rtl="0" eaLnBrk="1" latinLnBrk="0" hangingPunct="1">
                        <a:defRPr sz="2400" kern="1200">
                          <a:solidFill>
                            <a:schemeClr val="dk1"/>
                          </a:solidFill>
                          <a:latin typeface="Aptos" panose="02110004020202020204"/>
                        </a:defRPr>
                      </a:lvl2pPr>
                      <a:lvl3pPr marL="1219170" algn="l" defTabSz="1219170" rtl="0" eaLnBrk="1" latinLnBrk="0" hangingPunct="1">
                        <a:defRPr sz="2400" kern="1200">
                          <a:solidFill>
                            <a:schemeClr val="dk1"/>
                          </a:solidFill>
                          <a:latin typeface="Aptos" panose="02110004020202020204"/>
                        </a:defRPr>
                      </a:lvl3pPr>
                      <a:lvl4pPr marL="1828754" algn="l" defTabSz="1219170" rtl="0" eaLnBrk="1" latinLnBrk="0" hangingPunct="1">
                        <a:defRPr sz="2400" kern="1200">
                          <a:solidFill>
                            <a:schemeClr val="dk1"/>
                          </a:solidFill>
                          <a:latin typeface="Aptos" panose="02110004020202020204"/>
                        </a:defRPr>
                      </a:lvl4pPr>
                      <a:lvl5pPr marL="2438339" algn="l" defTabSz="1219170" rtl="0" eaLnBrk="1" latinLnBrk="0" hangingPunct="1">
                        <a:defRPr sz="2400" kern="1200">
                          <a:solidFill>
                            <a:schemeClr val="dk1"/>
                          </a:solidFill>
                          <a:latin typeface="Aptos" panose="02110004020202020204"/>
                        </a:defRPr>
                      </a:lvl5pPr>
                      <a:lvl6pPr marL="3047924" algn="l" defTabSz="1219170" rtl="0" eaLnBrk="1" latinLnBrk="0" hangingPunct="1">
                        <a:defRPr sz="2400" kern="1200">
                          <a:solidFill>
                            <a:schemeClr val="dk1"/>
                          </a:solidFill>
                          <a:latin typeface="Aptos" panose="02110004020202020204"/>
                        </a:defRPr>
                      </a:lvl6pPr>
                      <a:lvl7pPr marL="3657509" algn="l" defTabSz="1219170" rtl="0" eaLnBrk="1" latinLnBrk="0" hangingPunct="1">
                        <a:defRPr sz="2400" kern="1200">
                          <a:solidFill>
                            <a:schemeClr val="dk1"/>
                          </a:solidFill>
                          <a:latin typeface="Aptos" panose="02110004020202020204"/>
                        </a:defRPr>
                      </a:lvl7pPr>
                      <a:lvl8pPr marL="4267093" algn="l" defTabSz="1219170" rtl="0" eaLnBrk="1" latinLnBrk="0" hangingPunct="1">
                        <a:defRPr sz="2400" kern="1200">
                          <a:solidFill>
                            <a:schemeClr val="dk1"/>
                          </a:solidFill>
                          <a:latin typeface="Aptos" panose="02110004020202020204"/>
                        </a:defRPr>
                      </a:lvl8pPr>
                      <a:lvl9pPr marL="4876678" algn="l" defTabSz="1219170" rtl="0" eaLnBrk="1" latinLnBrk="0" hangingPunct="1">
                        <a:defRPr sz="2400" kern="1200">
                          <a:solidFill>
                            <a:schemeClr val="dk1"/>
                          </a:solidFill>
                          <a:latin typeface="Aptos" panose="02110004020202020204"/>
                        </a:defRPr>
                      </a:lvl9pPr>
                    </a:lstStyle>
                    <a:p>
                      <a:r>
                        <a:rPr lang="en-US" altLang="zh-TW" sz="1800" dirty="0">
                          <a:solidFill>
                            <a:srgbClr val="FF0000"/>
                          </a:solidFill>
                        </a:rPr>
                        <a:t>33</a:t>
                      </a:r>
                      <a:endParaRPr lang="zh-TW" altLang="en-US"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20000"/>
                      </a:srgbClr>
                    </a:solidFill>
                  </a:tcPr>
                </a:tc>
                <a:tc>
                  <a:txBody>
                    <a:bodyPr/>
                    <a:lstStyle>
                      <a:lvl1pPr marL="0" algn="l" defTabSz="1219170" rtl="0" eaLnBrk="1" latinLnBrk="0" hangingPunct="1">
                        <a:defRPr sz="2400" kern="1200">
                          <a:solidFill>
                            <a:schemeClr val="dk1"/>
                          </a:solidFill>
                          <a:latin typeface="Aptos" panose="02110004020202020204"/>
                        </a:defRPr>
                      </a:lvl1pPr>
                      <a:lvl2pPr marL="609585" algn="l" defTabSz="1219170" rtl="0" eaLnBrk="1" latinLnBrk="0" hangingPunct="1">
                        <a:defRPr sz="2400" kern="1200">
                          <a:solidFill>
                            <a:schemeClr val="dk1"/>
                          </a:solidFill>
                          <a:latin typeface="Aptos" panose="02110004020202020204"/>
                        </a:defRPr>
                      </a:lvl2pPr>
                      <a:lvl3pPr marL="1219170" algn="l" defTabSz="1219170" rtl="0" eaLnBrk="1" latinLnBrk="0" hangingPunct="1">
                        <a:defRPr sz="2400" kern="1200">
                          <a:solidFill>
                            <a:schemeClr val="dk1"/>
                          </a:solidFill>
                          <a:latin typeface="Aptos" panose="02110004020202020204"/>
                        </a:defRPr>
                      </a:lvl3pPr>
                      <a:lvl4pPr marL="1828754" algn="l" defTabSz="1219170" rtl="0" eaLnBrk="1" latinLnBrk="0" hangingPunct="1">
                        <a:defRPr sz="2400" kern="1200">
                          <a:solidFill>
                            <a:schemeClr val="dk1"/>
                          </a:solidFill>
                          <a:latin typeface="Aptos" panose="02110004020202020204"/>
                        </a:defRPr>
                      </a:lvl4pPr>
                      <a:lvl5pPr marL="2438339" algn="l" defTabSz="1219170" rtl="0" eaLnBrk="1" latinLnBrk="0" hangingPunct="1">
                        <a:defRPr sz="2400" kern="1200">
                          <a:solidFill>
                            <a:schemeClr val="dk1"/>
                          </a:solidFill>
                          <a:latin typeface="Aptos" panose="02110004020202020204"/>
                        </a:defRPr>
                      </a:lvl5pPr>
                      <a:lvl6pPr marL="3047924" algn="l" defTabSz="1219170" rtl="0" eaLnBrk="1" latinLnBrk="0" hangingPunct="1">
                        <a:defRPr sz="2400" kern="1200">
                          <a:solidFill>
                            <a:schemeClr val="dk1"/>
                          </a:solidFill>
                          <a:latin typeface="Aptos" panose="02110004020202020204"/>
                        </a:defRPr>
                      </a:lvl6pPr>
                      <a:lvl7pPr marL="3657509" algn="l" defTabSz="1219170" rtl="0" eaLnBrk="1" latinLnBrk="0" hangingPunct="1">
                        <a:defRPr sz="2400" kern="1200">
                          <a:solidFill>
                            <a:schemeClr val="dk1"/>
                          </a:solidFill>
                          <a:latin typeface="Aptos" panose="02110004020202020204"/>
                        </a:defRPr>
                      </a:lvl7pPr>
                      <a:lvl8pPr marL="4267093" algn="l" defTabSz="1219170" rtl="0" eaLnBrk="1" latinLnBrk="0" hangingPunct="1">
                        <a:defRPr sz="2400" kern="1200">
                          <a:solidFill>
                            <a:schemeClr val="dk1"/>
                          </a:solidFill>
                          <a:latin typeface="Aptos" panose="02110004020202020204"/>
                        </a:defRPr>
                      </a:lvl8pPr>
                      <a:lvl9pPr marL="4876678" algn="l" defTabSz="1219170" rtl="0" eaLnBrk="1" latinLnBrk="0" hangingPunct="1">
                        <a:defRPr sz="2400" kern="1200">
                          <a:solidFill>
                            <a:schemeClr val="dk1"/>
                          </a:solidFill>
                          <a:latin typeface="Aptos" panose="02110004020202020204"/>
                        </a:defRPr>
                      </a:lvl9pPr>
                    </a:lstStyle>
                    <a:p>
                      <a:r>
                        <a:rPr lang="en-US" altLang="zh-TW" sz="1800" dirty="0">
                          <a:solidFill>
                            <a:srgbClr val="FF0000"/>
                          </a:solidFill>
                        </a:rPr>
                        <a:t>26</a:t>
                      </a:r>
                      <a:endParaRPr lang="zh-TW" altLang="en-US"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20000"/>
                      </a:srgbClr>
                    </a:solidFill>
                  </a:tcPr>
                </a:tc>
                <a:tc>
                  <a:txBody>
                    <a:bodyPr/>
                    <a:lstStyle>
                      <a:lvl1pPr marL="0" algn="l" defTabSz="1219170" rtl="0" eaLnBrk="1" latinLnBrk="0" hangingPunct="1">
                        <a:defRPr sz="2400" kern="1200">
                          <a:solidFill>
                            <a:schemeClr val="dk1"/>
                          </a:solidFill>
                          <a:latin typeface="Aptos" panose="02110004020202020204"/>
                        </a:defRPr>
                      </a:lvl1pPr>
                      <a:lvl2pPr marL="609585" algn="l" defTabSz="1219170" rtl="0" eaLnBrk="1" latinLnBrk="0" hangingPunct="1">
                        <a:defRPr sz="2400" kern="1200">
                          <a:solidFill>
                            <a:schemeClr val="dk1"/>
                          </a:solidFill>
                          <a:latin typeface="Aptos" panose="02110004020202020204"/>
                        </a:defRPr>
                      </a:lvl2pPr>
                      <a:lvl3pPr marL="1219170" algn="l" defTabSz="1219170" rtl="0" eaLnBrk="1" latinLnBrk="0" hangingPunct="1">
                        <a:defRPr sz="2400" kern="1200">
                          <a:solidFill>
                            <a:schemeClr val="dk1"/>
                          </a:solidFill>
                          <a:latin typeface="Aptos" panose="02110004020202020204"/>
                        </a:defRPr>
                      </a:lvl3pPr>
                      <a:lvl4pPr marL="1828754" algn="l" defTabSz="1219170" rtl="0" eaLnBrk="1" latinLnBrk="0" hangingPunct="1">
                        <a:defRPr sz="2400" kern="1200">
                          <a:solidFill>
                            <a:schemeClr val="dk1"/>
                          </a:solidFill>
                          <a:latin typeface="Aptos" panose="02110004020202020204"/>
                        </a:defRPr>
                      </a:lvl4pPr>
                      <a:lvl5pPr marL="2438339" algn="l" defTabSz="1219170" rtl="0" eaLnBrk="1" latinLnBrk="0" hangingPunct="1">
                        <a:defRPr sz="2400" kern="1200">
                          <a:solidFill>
                            <a:schemeClr val="dk1"/>
                          </a:solidFill>
                          <a:latin typeface="Aptos" panose="02110004020202020204"/>
                        </a:defRPr>
                      </a:lvl5pPr>
                      <a:lvl6pPr marL="3047924" algn="l" defTabSz="1219170" rtl="0" eaLnBrk="1" latinLnBrk="0" hangingPunct="1">
                        <a:defRPr sz="2400" kern="1200">
                          <a:solidFill>
                            <a:schemeClr val="dk1"/>
                          </a:solidFill>
                          <a:latin typeface="Aptos" panose="02110004020202020204"/>
                        </a:defRPr>
                      </a:lvl6pPr>
                      <a:lvl7pPr marL="3657509" algn="l" defTabSz="1219170" rtl="0" eaLnBrk="1" latinLnBrk="0" hangingPunct="1">
                        <a:defRPr sz="2400" kern="1200">
                          <a:solidFill>
                            <a:schemeClr val="dk1"/>
                          </a:solidFill>
                          <a:latin typeface="Aptos" panose="02110004020202020204"/>
                        </a:defRPr>
                      </a:lvl7pPr>
                      <a:lvl8pPr marL="4267093" algn="l" defTabSz="1219170" rtl="0" eaLnBrk="1" latinLnBrk="0" hangingPunct="1">
                        <a:defRPr sz="2400" kern="1200">
                          <a:solidFill>
                            <a:schemeClr val="dk1"/>
                          </a:solidFill>
                          <a:latin typeface="Aptos" panose="02110004020202020204"/>
                        </a:defRPr>
                      </a:lvl8pPr>
                      <a:lvl9pPr marL="4876678" algn="l" defTabSz="1219170" rtl="0" eaLnBrk="1" latinLnBrk="0" hangingPunct="1">
                        <a:defRPr sz="2400" kern="1200">
                          <a:solidFill>
                            <a:schemeClr val="dk1"/>
                          </a:solidFill>
                          <a:latin typeface="Aptos" panose="02110004020202020204"/>
                        </a:defRPr>
                      </a:lvl9pPr>
                    </a:lstStyle>
                    <a:p>
                      <a:r>
                        <a:rPr lang="en-US" altLang="zh-TW" sz="1800" dirty="0">
                          <a:solidFill>
                            <a:srgbClr val="FF0000"/>
                          </a:solidFill>
                        </a:rPr>
                        <a:t>30</a:t>
                      </a:r>
                      <a:endParaRPr lang="zh-TW" altLang="en-US" sz="1800" dirty="0">
                        <a:solidFill>
                          <a:srgbClr val="FF0000"/>
                        </a:solidFill>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20000"/>
                      </a:srgbClr>
                    </a:solidFill>
                  </a:tcPr>
                </a:tc>
                <a:extLst>
                  <a:ext uri="{0D108BD9-81ED-4DB2-BD59-A6C34878D82A}">
                    <a16:rowId xmlns:a16="http://schemas.microsoft.com/office/drawing/2014/main" val="1346973094"/>
                  </a:ext>
                </a:extLst>
              </a:tr>
              <a:tr h="370840">
                <a:tc>
                  <a:txBody>
                    <a:bodyPr/>
                    <a:lstStyle>
                      <a:lvl1pPr marL="0" algn="l" defTabSz="1219170" rtl="0" eaLnBrk="1" latinLnBrk="0" hangingPunct="1">
                        <a:defRPr sz="2400" kern="1200">
                          <a:solidFill>
                            <a:schemeClr val="dk1"/>
                          </a:solidFill>
                          <a:latin typeface="Aptos" panose="02110004020202020204"/>
                        </a:defRPr>
                      </a:lvl1pPr>
                      <a:lvl2pPr marL="609585" algn="l" defTabSz="1219170" rtl="0" eaLnBrk="1" latinLnBrk="0" hangingPunct="1">
                        <a:defRPr sz="2400" kern="1200">
                          <a:solidFill>
                            <a:schemeClr val="dk1"/>
                          </a:solidFill>
                          <a:latin typeface="Aptos" panose="02110004020202020204"/>
                        </a:defRPr>
                      </a:lvl2pPr>
                      <a:lvl3pPr marL="1219170" algn="l" defTabSz="1219170" rtl="0" eaLnBrk="1" latinLnBrk="0" hangingPunct="1">
                        <a:defRPr sz="2400" kern="1200">
                          <a:solidFill>
                            <a:schemeClr val="dk1"/>
                          </a:solidFill>
                          <a:latin typeface="Aptos" panose="02110004020202020204"/>
                        </a:defRPr>
                      </a:lvl3pPr>
                      <a:lvl4pPr marL="1828754" algn="l" defTabSz="1219170" rtl="0" eaLnBrk="1" latinLnBrk="0" hangingPunct="1">
                        <a:defRPr sz="2400" kern="1200">
                          <a:solidFill>
                            <a:schemeClr val="dk1"/>
                          </a:solidFill>
                          <a:latin typeface="Aptos" panose="02110004020202020204"/>
                        </a:defRPr>
                      </a:lvl4pPr>
                      <a:lvl5pPr marL="2438339" algn="l" defTabSz="1219170" rtl="0" eaLnBrk="1" latinLnBrk="0" hangingPunct="1">
                        <a:defRPr sz="2400" kern="1200">
                          <a:solidFill>
                            <a:schemeClr val="dk1"/>
                          </a:solidFill>
                          <a:latin typeface="Aptos" panose="02110004020202020204"/>
                        </a:defRPr>
                      </a:lvl5pPr>
                      <a:lvl6pPr marL="3047924" algn="l" defTabSz="1219170" rtl="0" eaLnBrk="1" latinLnBrk="0" hangingPunct="1">
                        <a:defRPr sz="2400" kern="1200">
                          <a:solidFill>
                            <a:schemeClr val="dk1"/>
                          </a:solidFill>
                          <a:latin typeface="Aptos" panose="02110004020202020204"/>
                        </a:defRPr>
                      </a:lvl6pPr>
                      <a:lvl7pPr marL="3657509" algn="l" defTabSz="1219170" rtl="0" eaLnBrk="1" latinLnBrk="0" hangingPunct="1">
                        <a:defRPr sz="2400" kern="1200">
                          <a:solidFill>
                            <a:schemeClr val="dk1"/>
                          </a:solidFill>
                          <a:latin typeface="Aptos" panose="02110004020202020204"/>
                        </a:defRPr>
                      </a:lvl7pPr>
                      <a:lvl8pPr marL="4267093" algn="l" defTabSz="1219170" rtl="0" eaLnBrk="1" latinLnBrk="0" hangingPunct="1">
                        <a:defRPr sz="2400" kern="1200">
                          <a:solidFill>
                            <a:schemeClr val="dk1"/>
                          </a:solidFill>
                          <a:latin typeface="Aptos" panose="02110004020202020204"/>
                        </a:defRPr>
                      </a:lvl8pPr>
                      <a:lvl9pPr marL="4876678" algn="l" defTabSz="1219170" rtl="0" eaLnBrk="1" latinLnBrk="0" hangingPunct="1">
                        <a:defRPr sz="2400" kern="1200">
                          <a:solidFill>
                            <a:schemeClr val="dk1"/>
                          </a:solidFill>
                          <a:latin typeface="Aptos" panose="02110004020202020204"/>
                        </a:defRPr>
                      </a:lvl9pPr>
                    </a:lstStyle>
                    <a:p>
                      <a:r>
                        <a:rPr lang="zh-TW" altLang="en-US" sz="1800" dirty="0">
                          <a:latin typeface="微軟正黑體" panose="020B0604030504040204" pitchFamily="34" charset="-120"/>
                          <a:ea typeface="微軟正黑體" panose="020B0604030504040204" pitchFamily="34" charset="-120"/>
                        </a:rPr>
                        <a:t>個案總數</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1219170" rtl="0" eaLnBrk="1" latinLnBrk="0" hangingPunct="1">
                        <a:defRPr sz="2400" kern="1200">
                          <a:solidFill>
                            <a:schemeClr val="dk1"/>
                          </a:solidFill>
                          <a:latin typeface="Aptos" panose="02110004020202020204"/>
                        </a:defRPr>
                      </a:lvl1pPr>
                      <a:lvl2pPr marL="609585" algn="l" defTabSz="1219170" rtl="0" eaLnBrk="1" latinLnBrk="0" hangingPunct="1">
                        <a:defRPr sz="2400" kern="1200">
                          <a:solidFill>
                            <a:schemeClr val="dk1"/>
                          </a:solidFill>
                          <a:latin typeface="Aptos" panose="02110004020202020204"/>
                        </a:defRPr>
                      </a:lvl2pPr>
                      <a:lvl3pPr marL="1219170" algn="l" defTabSz="1219170" rtl="0" eaLnBrk="1" latinLnBrk="0" hangingPunct="1">
                        <a:defRPr sz="2400" kern="1200">
                          <a:solidFill>
                            <a:schemeClr val="dk1"/>
                          </a:solidFill>
                          <a:latin typeface="Aptos" panose="02110004020202020204"/>
                        </a:defRPr>
                      </a:lvl3pPr>
                      <a:lvl4pPr marL="1828754" algn="l" defTabSz="1219170" rtl="0" eaLnBrk="1" latinLnBrk="0" hangingPunct="1">
                        <a:defRPr sz="2400" kern="1200">
                          <a:solidFill>
                            <a:schemeClr val="dk1"/>
                          </a:solidFill>
                          <a:latin typeface="Aptos" panose="02110004020202020204"/>
                        </a:defRPr>
                      </a:lvl4pPr>
                      <a:lvl5pPr marL="2438339" algn="l" defTabSz="1219170" rtl="0" eaLnBrk="1" latinLnBrk="0" hangingPunct="1">
                        <a:defRPr sz="2400" kern="1200">
                          <a:solidFill>
                            <a:schemeClr val="dk1"/>
                          </a:solidFill>
                          <a:latin typeface="Aptos" panose="02110004020202020204"/>
                        </a:defRPr>
                      </a:lvl5pPr>
                      <a:lvl6pPr marL="3047924" algn="l" defTabSz="1219170" rtl="0" eaLnBrk="1" latinLnBrk="0" hangingPunct="1">
                        <a:defRPr sz="2400" kern="1200">
                          <a:solidFill>
                            <a:schemeClr val="dk1"/>
                          </a:solidFill>
                          <a:latin typeface="Aptos" panose="02110004020202020204"/>
                        </a:defRPr>
                      </a:lvl6pPr>
                      <a:lvl7pPr marL="3657509" algn="l" defTabSz="1219170" rtl="0" eaLnBrk="1" latinLnBrk="0" hangingPunct="1">
                        <a:defRPr sz="2400" kern="1200">
                          <a:solidFill>
                            <a:schemeClr val="dk1"/>
                          </a:solidFill>
                          <a:latin typeface="Aptos" panose="02110004020202020204"/>
                        </a:defRPr>
                      </a:lvl7pPr>
                      <a:lvl8pPr marL="4267093" algn="l" defTabSz="1219170" rtl="0" eaLnBrk="1" latinLnBrk="0" hangingPunct="1">
                        <a:defRPr sz="2400" kern="1200">
                          <a:solidFill>
                            <a:schemeClr val="dk1"/>
                          </a:solidFill>
                          <a:latin typeface="Aptos" panose="02110004020202020204"/>
                        </a:defRPr>
                      </a:lvl8pPr>
                      <a:lvl9pPr marL="4876678" algn="l" defTabSz="1219170" rtl="0" eaLnBrk="1" latinLnBrk="0" hangingPunct="1">
                        <a:defRPr sz="2400" kern="1200">
                          <a:solidFill>
                            <a:schemeClr val="dk1"/>
                          </a:solidFill>
                          <a:latin typeface="Aptos" panose="02110004020202020204"/>
                        </a:defRPr>
                      </a:lvl9pPr>
                    </a:lstStyle>
                    <a:p>
                      <a:r>
                        <a:rPr lang="en-US" altLang="zh-TW" sz="1800" dirty="0"/>
                        <a:t>37</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1219170" rtl="0" eaLnBrk="1" latinLnBrk="0" hangingPunct="1">
                        <a:defRPr sz="2400" kern="1200">
                          <a:solidFill>
                            <a:schemeClr val="dk1"/>
                          </a:solidFill>
                          <a:latin typeface="Aptos" panose="02110004020202020204"/>
                        </a:defRPr>
                      </a:lvl1pPr>
                      <a:lvl2pPr marL="609585" algn="l" defTabSz="1219170" rtl="0" eaLnBrk="1" latinLnBrk="0" hangingPunct="1">
                        <a:defRPr sz="2400" kern="1200">
                          <a:solidFill>
                            <a:schemeClr val="dk1"/>
                          </a:solidFill>
                          <a:latin typeface="Aptos" panose="02110004020202020204"/>
                        </a:defRPr>
                      </a:lvl2pPr>
                      <a:lvl3pPr marL="1219170" algn="l" defTabSz="1219170" rtl="0" eaLnBrk="1" latinLnBrk="0" hangingPunct="1">
                        <a:defRPr sz="2400" kern="1200">
                          <a:solidFill>
                            <a:schemeClr val="dk1"/>
                          </a:solidFill>
                          <a:latin typeface="Aptos" panose="02110004020202020204"/>
                        </a:defRPr>
                      </a:lvl3pPr>
                      <a:lvl4pPr marL="1828754" algn="l" defTabSz="1219170" rtl="0" eaLnBrk="1" latinLnBrk="0" hangingPunct="1">
                        <a:defRPr sz="2400" kern="1200">
                          <a:solidFill>
                            <a:schemeClr val="dk1"/>
                          </a:solidFill>
                          <a:latin typeface="Aptos" panose="02110004020202020204"/>
                        </a:defRPr>
                      </a:lvl4pPr>
                      <a:lvl5pPr marL="2438339" algn="l" defTabSz="1219170" rtl="0" eaLnBrk="1" latinLnBrk="0" hangingPunct="1">
                        <a:defRPr sz="2400" kern="1200">
                          <a:solidFill>
                            <a:schemeClr val="dk1"/>
                          </a:solidFill>
                          <a:latin typeface="Aptos" panose="02110004020202020204"/>
                        </a:defRPr>
                      </a:lvl5pPr>
                      <a:lvl6pPr marL="3047924" algn="l" defTabSz="1219170" rtl="0" eaLnBrk="1" latinLnBrk="0" hangingPunct="1">
                        <a:defRPr sz="2400" kern="1200">
                          <a:solidFill>
                            <a:schemeClr val="dk1"/>
                          </a:solidFill>
                          <a:latin typeface="Aptos" panose="02110004020202020204"/>
                        </a:defRPr>
                      </a:lvl6pPr>
                      <a:lvl7pPr marL="3657509" algn="l" defTabSz="1219170" rtl="0" eaLnBrk="1" latinLnBrk="0" hangingPunct="1">
                        <a:defRPr sz="2400" kern="1200">
                          <a:solidFill>
                            <a:schemeClr val="dk1"/>
                          </a:solidFill>
                          <a:latin typeface="Aptos" panose="02110004020202020204"/>
                        </a:defRPr>
                      </a:lvl7pPr>
                      <a:lvl8pPr marL="4267093" algn="l" defTabSz="1219170" rtl="0" eaLnBrk="1" latinLnBrk="0" hangingPunct="1">
                        <a:defRPr sz="2400" kern="1200">
                          <a:solidFill>
                            <a:schemeClr val="dk1"/>
                          </a:solidFill>
                          <a:latin typeface="Aptos" panose="02110004020202020204"/>
                        </a:defRPr>
                      </a:lvl8pPr>
                      <a:lvl9pPr marL="4876678" algn="l" defTabSz="1219170" rtl="0" eaLnBrk="1" latinLnBrk="0" hangingPunct="1">
                        <a:defRPr sz="2400" kern="1200">
                          <a:solidFill>
                            <a:schemeClr val="dk1"/>
                          </a:solidFill>
                          <a:latin typeface="Aptos" panose="02110004020202020204"/>
                        </a:defRPr>
                      </a:lvl9pPr>
                    </a:lstStyle>
                    <a:p>
                      <a:r>
                        <a:rPr lang="en-US" altLang="zh-TW" sz="1800" dirty="0"/>
                        <a:t>32</a:t>
                      </a:r>
                      <a:endParaRPr lang="zh-TW" altLang="en-US"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1219170" rtl="0" eaLnBrk="1" latinLnBrk="0" hangingPunct="1">
                        <a:defRPr sz="2400" kern="1200">
                          <a:solidFill>
                            <a:schemeClr val="dk1"/>
                          </a:solidFill>
                          <a:latin typeface="Aptos" panose="02110004020202020204"/>
                        </a:defRPr>
                      </a:lvl1pPr>
                      <a:lvl2pPr marL="609585" algn="l" defTabSz="1219170" rtl="0" eaLnBrk="1" latinLnBrk="0" hangingPunct="1">
                        <a:defRPr sz="2400" kern="1200">
                          <a:solidFill>
                            <a:schemeClr val="dk1"/>
                          </a:solidFill>
                          <a:latin typeface="Aptos" panose="02110004020202020204"/>
                        </a:defRPr>
                      </a:lvl2pPr>
                      <a:lvl3pPr marL="1219170" algn="l" defTabSz="1219170" rtl="0" eaLnBrk="1" latinLnBrk="0" hangingPunct="1">
                        <a:defRPr sz="2400" kern="1200">
                          <a:solidFill>
                            <a:schemeClr val="dk1"/>
                          </a:solidFill>
                          <a:latin typeface="Aptos" panose="02110004020202020204"/>
                        </a:defRPr>
                      </a:lvl3pPr>
                      <a:lvl4pPr marL="1828754" algn="l" defTabSz="1219170" rtl="0" eaLnBrk="1" latinLnBrk="0" hangingPunct="1">
                        <a:defRPr sz="2400" kern="1200">
                          <a:solidFill>
                            <a:schemeClr val="dk1"/>
                          </a:solidFill>
                          <a:latin typeface="Aptos" panose="02110004020202020204"/>
                        </a:defRPr>
                      </a:lvl4pPr>
                      <a:lvl5pPr marL="2438339" algn="l" defTabSz="1219170" rtl="0" eaLnBrk="1" latinLnBrk="0" hangingPunct="1">
                        <a:defRPr sz="2400" kern="1200">
                          <a:solidFill>
                            <a:schemeClr val="dk1"/>
                          </a:solidFill>
                          <a:latin typeface="Aptos" panose="02110004020202020204"/>
                        </a:defRPr>
                      </a:lvl5pPr>
                      <a:lvl6pPr marL="3047924" algn="l" defTabSz="1219170" rtl="0" eaLnBrk="1" latinLnBrk="0" hangingPunct="1">
                        <a:defRPr sz="2400" kern="1200">
                          <a:solidFill>
                            <a:schemeClr val="dk1"/>
                          </a:solidFill>
                          <a:latin typeface="Aptos" panose="02110004020202020204"/>
                        </a:defRPr>
                      </a:lvl6pPr>
                      <a:lvl7pPr marL="3657509" algn="l" defTabSz="1219170" rtl="0" eaLnBrk="1" latinLnBrk="0" hangingPunct="1">
                        <a:defRPr sz="2400" kern="1200">
                          <a:solidFill>
                            <a:schemeClr val="dk1"/>
                          </a:solidFill>
                          <a:latin typeface="Aptos" panose="02110004020202020204"/>
                        </a:defRPr>
                      </a:lvl7pPr>
                      <a:lvl8pPr marL="4267093" algn="l" defTabSz="1219170" rtl="0" eaLnBrk="1" latinLnBrk="0" hangingPunct="1">
                        <a:defRPr sz="2400" kern="1200">
                          <a:solidFill>
                            <a:schemeClr val="dk1"/>
                          </a:solidFill>
                          <a:latin typeface="Aptos" panose="02110004020202020204"/>
                        </a:defRPr>
                      </a:lvl8pPr>
                      <a:lvl9pPr marL="4876678" algn="l" defTabSz="1219170" rtl="0" eaLnBrk="1" latinLnBrk="0" hangingPunct="1">
                        <a:defRPr sz="2400" kern="1200">
                          <a:solidFill>
                            <a:schemeClr val="dk1"/>
                          </a:solidFill>
                          <a:latin typeface="Aptos" panose="02110004020202020204"/>
                        </a:defRPr>
                      </a:lvl9pPr>
                    </a:lstStyle>
                    <a:p>
                      <a:r>
                        <a:rPr lang="en-US" altLang="zh-TW" sz="1800" dirty="0"/>
                        <a:t>33</a:t>
                      </a:r>
                      <a:endParaRPr lang="zh-TW" altLang="en-US"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extLst>
                  <a:ext uri="{0D108BD9-81ED-4DB2-BD59-A6C34878D82A}">
                    <a16:rowId xmlns:a16="http://schemas.microsoft.com/office/drawing/2014/main" val="208366750"/>
                  </a:ext>
                </a:extLst>
              </a:tr>
            </a:tbl>
          </a:graphicData>
        </a:graphic>
      </p:graphicFrame>
      <p:sp>
        <p:nvSpPr>
          <p:cNvPr id="12" name="文字方塊 11">
            <a:extLst>
              <a:ext uri="{FF2B5EF4-FFF2-40B4-BE49-F238E27FC236}">
                <a16:creationId xmlns:a16="http://schemas.microsoft.com/office/drawing/2014/main" id="{9068BA16-FEE5-98D6-0E4E-9074832B2F39}"/>
              </a:ext>
            </a:extLst>
          </p:cNvPr>
          <p:cNvSpPr txBox="1"/>
          <p:nvPr/>
        </p:nvSpPr>
        <p:spPr>
          <a:xfrm>
            <a:off x="4157006" y="2349894"/>
            <a:ext cx="3877985" cy="461665"/>
          </a:xfrm>
          <a:prstGeom prst="rect">
            <a:avLst/>
          </a:prstGeom>
          <a:noFill/>
        </p:spPr>
        <p:txBody>
          <a:bodyPr wrap="none" rtlCol="0">
            <a:spAutoFit/>
          </a:bodyPr>
          <a:lstStyle/>
          <a:p>
            <a:r>
              <a:rPr lang="zh-TW" altLang="en-US" sz="2400" b="1" dirty="0">
                <a:latin typeface="微軟正黑體" panose="020B0604030504040204" pitchFamily="34" charset="-120"/>
                <a:ea typeface="微軟正黑體" panose="020B0604030504040204" pitchFamily="34" charset="-120"/>
              </a:rPr>
              <a:t>客觀資料的遺失資料統計表</a:t>
            </a:r>
          </a:p>
        </p:txBody>
      </p:sp>
      <p:sp>
        <p:nvSpPr>
          <p:cNvPr id="13" name="文字方塊 12">
            <a:extLst>
              <a:ext uri="{FF2B5EF4-FFF2-40B4-BE49-F238E27FC236}">
                <a16:creationId xmlns:a16="http://schemas.microsoft.com/office/drawing/2014/main" id="{5596AD51-BDA7-578E-FB51-9D1D30257086}"/>
              </a:ext>
            </a:extLst>
          </p:cNvPr>
          <p:cNvSpPr txBox="1"/>
          <p:nvPr/>
        </p:nvSpPr>
        <p:spPr>
          <a:xfrm>
            <a:off x="4157005" y="4476765"/>
            <a:ext cx="3877985" cy="461665"/>
          </a:xfrm>
          <a:prstGeom prst="rect">
            <a:avLst/>
          </a:prstGeom>
          <a:noFill/>
        </p:spPr>
        <p:txBody>
          <a:bodyPr wrap="none" rtlCol="0">
            <a:spAutoFit/>
          </a:bodyPr>
          <a:lstStyle/>
          <a:p>
            <a:r>
              <a:rPr lang="zh-TW" altLang="en-US" sz="2400" b="1" dirty="0">
                <a:latin typeface="微軟正黑體" panose="020B0604030504040204" pitchFamily="34" charset="-120"/>
                <a:ea typeface="微軟正黑體" panose="020B0604030504040204" pitchFamily="34" charset="-120"/>
              </a:rPr>
              <a:t>主觀資料的遺失資料統計表</a:t>
            </a:r>
          </a:p>
        </p:txBody>
      </p:sp>
    </p:spTree>
    <p:extLst>
      <p:ext uri="{BB962C8B-B14F-4D97-AF65-F5344CB8AC3E}">
        <p14:creationId xmlns:p14="http://schemas.microsoft.com/office/powerpoint/2010/main" val="773321986"/>
      </p:ext>
    </p:extLst>
  </p:cSld>
  <p:clrMapOvr>
    <a:masterClrMapping/>
  </p:clrMapOvr>
  <mc:AlternateContent xmlns:mc="http://schemas.openxmlformats.org/markup-compatibility/2006" xmlns:p14="http://schemas.microsoft.com/office/powerpoint/2010/main">
    <mc:Choice Requires="p14">
      <p:transition spd="slow" p14:dur="1250" advClick="0">
        <p14:pan dir="u"/>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 name="矩形 46">
            <a:extLst>
              <a:ext uri="{FF2B5EF4-FFF2-40B4-BE49-F238E27FC236}">
                <a16:creationId xmlns:a16="http://schemas.microsoft.com/office/drawing/2014/main" id="{70EE9815-1850-4526-B0D3-EAB935340875}"/>
              </a:ext>
            </a:extLst>
          </p:cNvPr>
          <p:cNvSpPr/>
          <p:nvPr/>
        </p:nvSpPr>
        <p:spPr>
          <a:xfrm>
            <a:off x="3030944" y="2481175"/>
            <a:ext cx="6669949" cy="1097280"/>
          </a:xfrm>
          <a:prstGeom prst="rect">
            <a:avLst/>
          </a:prstGeom>
        </p:spPr>
        <p:txBody>
          <a:bodyPr wrap="square">
            <a:norm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zh-TW" altLang="zh-TW" sz="6600" b="1" i="0" u="none" strike="noStrike" kern="1200" cap="none" spc="400" normalizeH="0" baseline="0" noProof="0" dirty="0">
                <a:ln>
                  <a:noFill/>
                </a:ln>
                <a:solidFill>
                  <a:srgbClr val="E49140"/>
                </a:solidFill>
                <a:effectLst/>
                <a:uLnTx/>
                <a:uFillTx/>
                <a:latin typeface="Source Han Sans TC"/>
                <a:ea typeface="Source Han Sans TC"/>
                <a:cs typeface="+mn-ea"/>
                <a:sym typeface="字魂59号-创粗黑" panose="00000500000000000000" pitchFamily="2" charset="-122"/>
              </a:rPr>
              <a:t>PART 0</a:t>
            </a:r>
            <a:r>
              <a:rPr kumimoji="0" lang="en-US" altLang="zh-TW" sz="6600" b="1" i="0" u="none" strike="noStrike" kern="1200" cap="none" spc="400" normalizeH="0" baseline="0" noProof="0" dirty="0">
                <a:ln>
                  <a:noFill/>
                </a:ln>
                <a:solidFill>
                  <a:srgbClr val="E49140"/>
                </a:solidFill>
                <a:effectLst/>
                <a:uLnTx/>
                <a:uFillTx/>
                <a:latin typeface="Source Han Sans TC"/>
                <a:ea typeface="Source Han Sans TC"/>
                <a:cs typeface="+mn-ea"/>
                <a:sym typeface="字魂59号-创粗黑" panose="00000500000000000000" pitchFamily="2" charset="-122"/>
              </a:rPr>
              <a:t>2</a:t>
            </a:r>
            <a:endParaRPr kumimoji="0" lang="zh-CN" altLang="en-US" sz="6600" b="1" i="0" u="none" strike="noStrike" kern="1200" cap="none" spc="400" normalizeH="0" baseline="0" noProof="0" dirty="0">
              <a:ln>
                <a:noFill/>
              </a:ln>
              <a:solidFill>
                <a:srgbClr val="E49140"/>
              </a:solidFill>
              <a:effectLst/>
              <a:uLnTx/>
              <a:uFillTx/>
              <a:latin typeface="思源黑体 CN Heavy" panose="020B0A00000000000000" pitchFamily="34" charset="-122"/>
              <a:ea typeface="思源黑体 CN Heavy" panose="020B0A00000000000000" pitchFamily="34" charset="-122"/>
              <a:cs typeface="+mn-ea"/>
              <a:sym typeface="字魂59号-创粗黑" panose="00000500000000000000" pitchFamily="2" charset="-122"/>
            </a:endParaRPr>
          </a:p>
        </p:txBody>
      </p:sp>
      <p:sp>
        <p:nvSpPr>
          <p:cNvPr id="49" name="矩形 48">
            <a:extLst>
              <a:ext uri="{FF2B5EF4-FFF2-40B4-BE49-F238E27FC236}">
                <a16:creationId xmlns:a16="http://schemas.microsoft.com/office/drawing/2014/main" id="{BB8A81A3-EA05-47BC-845F-3082E80D5039}"/>
              </a:ext>
            </a:extLst>
          </p:cNvPr>
          <p:cNvSpPr/>
          <p:nvPr/>
        </p:nvSpPr>
        <p:spPr>
          <a:xfrm>
            <a:off x="1703232" y="3816727"/>
            <a:ext cx="7197590" cy="876598"/>
          </a:xfrm>
          <a:prstGeom prst="rect">
            <a:avLst/>
          </a:prstGeom>
        </p:spPr>
        <p:txBody>
          <a:bodyPr wrap="square">
            <a:norm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altLang="zh-TW" sz="4800" b="0" i="0" u="none" strike="noStrike" kern="1200" cap="none" spc="600" normalizeH="0" baseline="0" noProof="0" dirty="0">
                <a:ln>
                  <a:noFill/>
                </a:ln>
                <a:solidFill>
                  <a:srgbClr val="E49140"/>
                </a:solidFill>
                <a:effectLst/>
                <a:uLnTx/>
                <a:uFillTx/>
                <a:latin typeface="Source Han Sans TC"/>
                <a:ea typeface="Source Han Sans TC"/>
                <a:cs typeface="+mn-ea"/>
                <a:sym typeface="字魂59号-创粗黑" panose="00000500000000000000" pitchFamily="2" charset="-122"/>
              </a:rPr>
              <a:t>Data analysis-</a:t>
            </a:r>
            <a:r>
              <a:rPr kumimoji="0" lang="zh-TW" altLang="en-US" sz="4000" b="0" i="0" u="none" strike="noStrike" kern="1200" cap="none" spc="600" normalizeH="0" baseline="0" noProof="0" dirty="0">
                <a:ln>
                  <a:noFill/>
                </a:ln>
                <a:solidFill>
                  <a:srgbClr val="E49140"/>
                </a:solidFill>
                <a:effectLst/>
                <a:uLnTx/>
                <a:uFillTx/>
                <a:latin typeface="Source Han Sans TC"/>
                <a:ea typeface="Source Han Sans TC"/>
                <a:cs typeface="+mn-ea"/>
                <a:sym typeface="字魂59号-创粗黑" panose="00000500000000000000" pitchFamily="2" charset="-122"/>
              </a:rPr>
              <a:t>主觀資料</a:t>
            </a:r>
            <a:endParaRPr kumimoji="0" lang="zh-CN" altLang="en-US" sz="4800" b="0" i="0" u="none" strike="noStrike" kern="1200" cap="none" spc="600" normalizeH="0" baseline="0" noProof="0" dirty="0">
              <a:ln>
                <a:noFill/>
              </a:ln>
              <a:solidFill>
                <a:srgbClr val="E49140"/>
              </a:solidFill>
              <a:effectLst/>
              <a:uLnTx/>
              <a:uFillTx/>
              <a:latin typeface="思源黑体 CN Medium" panose="020B0600000000000000" pitchFamily="34" charset="-122"/>
              <a:ea typeface="思源黑体 CN Medium" panose="020B0600000000000000" pitchFamily="34" charset="-122"/>
              <a:cs typeface="+mn-ea"/>
              <a:sym typeface="字魂59号-创粗黑" panose="00000500000000000000" pitchFamily="2" charset="-122"/>
            </a:endParaRPr>
          </a:p>
        </p:txBody>
      </p:sp>
      <p:grpSp>
        <p:nvGrpSpPr>
          <p:cNvPr id="4" name="组合 3">
            <a:extLst>
              <a:ext uri="{FF2B5EF4-FFF2-40B4-BE49-F238E27FC236}">
                <a16:creationId xmlns:a16="http://schemas.microsoft.com/office/drawing/2014/main" id="{E68C55C8-0BEF-498E-B166-DD1E58CB3EEA}"/>
              </a:ext>
            </a:extLst>
          </p:cNvPr>
          <p:cNvGrpSpPr/>
          <p:nvPr/>
        </p:nvGrpSpPr>
        <p:grpSpPr>
          <a:xfrm>
            <a:off x="3076664" y="5368500"/>
            <a:ext cx="1249680" cy="213360"/>
            <a:chOff x="929640" y="5638800"/>
            <a:chExt cx="1249680" cy="213360"/>
          </a:xfrm>
        </p:grpSpPr>
        <p:sp>
          <p:nvSpPr>
            <p:cNvPr id="3" name="椭圆 2">
              <a:extLst>
                <a:ext uri="{FF2B5EF4-FFF2-40B4-BE49-F238E27FC236}">
                  <a16:creationId xmlns:a16="http://schemas.microsoft.com/office/drawing/2014/main" id="{4011037E-1C59-4F57-B6F9-06CCB328088E}"/>
                </a:ext>
              </a:extLst>
            </p:cNvPr>
            <p:cNvSpPr/>
            <p:nvPr/>
          </p:nvSpPr>
          <p:spPr>
            <a:xfrm>
              <a:off x="929640" y="5638800"/>
              <a:ext cx="213360" cy="213360"/>
            </a:xfrm>
            <a:prstGeom prst="ellipse">
              <a:avLst/>
            </a:prstGeom>
            <a:solidFill>
              <a:srgbClr val="3942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思源黑体 CN Medium" panose="020B0600000000000000" pitchFamily="34" charset="-122"/>
                <a:ea typeface="思源黑体 CN Medium" panose="020B0600000000000000" pitchFamily="34" charset="-122"/>
                <a:cs typeface="Arial"/>
                <a:sym typeface="字魂59号-创粗黑" panose="00000500000000000000" pitchFamily="2" charset="-122"/>
              </a:endParaRPr>
            </a:p>
          </p:txBody>
        </p:sp>
        <p:sp>
          <p:nvSpPr>
            <p:cNvPr id="55" name="椭圆 54">
              <a:extLst>
                <a:ext uri="{FF2B5EF4-FFF2-40B4-BE49-F238E27FC236}">
                  <a16:creationId xmlns:a16="http://schemas.microsoft.com/office/drawing/2014/main" id="{D4943364-C55E-43AC-914B-3D57014E4C76}"/>
                </a:ext>
              </a:extLst>
            </p:cNvPr>
            <p:cNvSpPr/>
            <p:nvPr/>
          </p:nvSpPr>
          <p:spPr>
            <a:xfrm>
              <a:off x="1447800" y="5638800"/>
              <a:ext cx="213360" cy="213360"/>
            </a:xfrm>
            <a:prstGeom prst="ellipse">
              <a:avLst/>
            </a:prstGeom>
            <a:solidFill>
              <a:srgbClr val="3942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思源黑体 CN Medium" panose="020B0600000000000000" pitchFamily="34" charset="-122"/>
                <a:ea typeface="思源黑体 CN Medium" panose="020B0600000000000000" pitchFamily="34" charset="-122"/>
                <a:cs typeface="Arial"/>
                <a:sym typeface="字魂59号-创粗黑" panose="00000500000000000000" pitchFamily="2" charset="-122"/>
              </a:endParaRPr>
            </a:p>
          </p:txBody>
        </p:sp>
        <p:sp>
          <p:nvSpPr>
            <p:cNvPr id="56" name="椭圆 55">
              <a:extLst>
                <a:ext uri="{FF2B5EF4-FFF2-40B4-BE49-F238E27FC236}">
                  <a16:creationId xmlns:a16="http://schemas.microsoft.com/office/drawing/2014/main" id="{8866947B-A247-4CED-BB16-BAB90312DD36}"/>
                </a:ext>
              </a:extLst>
            </p:cNvPr>
            <p:cNvSpPr/>
            <p:nvPr/>
          </p:nvSpPr>
          <p:spPr>
            <a:xfrm>
              <a:off x="1965960" y="5638800"/>
              <a:ext cx="213360" cy="213360"/>
            </a:xfrm>
            <a:prstGeom prst="ellipse">
              <a:avLst/>
            </a:prstGeom>
            <a:solidFill>
              <a:srgbClr val="3942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思源黑体 CN Medium" panose="020B0600000000000000" pitchFamily="34" charset="-122"/>
                <a:ea typeface="思源黑体 CN Medium" panose="020B0600000000000000" pitchFamily="34" charset="-122"/>
                <a:cs typeface="Arial"/>
                <a:sym typeface="字魂59号-创粗黑" panose="00000500000000000000" pitchFamily="2" charset="-122"/>
              </a:endParaRPr>
            </a:p>
          </p:txBody>
        </p:sp>
      </p:grpSp>
      <p:pic>
        <p:nvPicPr>
          <p:cNvPr id="12" name="图片 11">
            <a:extLst>
              <a:ext uri="{FF2B5EF4-FFF2-40B4-BE49-F238E27FC236}">
                <a16:creationId xmlns:a16="http://schemas.microsoft.com/office/drawing/2014/main" id="{882FDD6E-DFB9-4E68-86B8-3544D98CAB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0800000">
            <a:off x="6981865" y="202103"/>
            <a:ext cx="4515868" cy="3516585"/>
          </a:xfrm>
          <a:prstGeom prst="rect">
            <a:avLst/>
          </a:prstGeom>
        </p:spPr>
      </p:pic>
    </p:spTree>
    <p:extLst>
      <p:ext uri="{BB962C8B-B14F-4D97-AF65-F5344CB8AC3E}">
        <p14:creationId xmlns:p14="http://schemas.microsoft.com/office/powerpoint/2010/main" val="3309443680"/>
      </p:ext>
    </p:extLst>
  </p:cSld>
  <p:clrMapOvr>
    <a:masterClrMapping/>
  </p:clrMapOvr>
  <mc:AlternateContent xmlns:mc="http://schemas.openxmlformats.org/markup-compatibility/2006" xmlns:p14="http://schemas.microsoft.com/office/powerpoint/2010/main">
    <mc:Choice Requires="p14">
      <p:transition spd="slow" p14:dur="1250" advClick="0">
        <p14:pan dir="u"/>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fltVal val="0"/>
                                          </p:val>
                                        </p:tav>
                                        <p:tav tm="100000">
                                          <p:val>
                                            <p:strVal val="#ppt_w"/>
                                          </p:val>
                                        </p:tav>
                                      </p:tavLst>
                                    </p:anim>
                                    <p:anim calcmode="lin" valueType="num">
                                      <p:cBhvr>
                                        <p:cTn id="8" dur="500" fill="hold"/>
                                        <p:tgtEl>
                                          <p:spTgt spid="47"/>
                                        </p:tgtEl>
                                        <p:attrNameLst>
                                          <p:attrName>ppt_h</p:attrName>
                                        </p:attrNameLst>
                                      </p:cBhvr>
                                      <p:tavLst>
                                        <p:tav tm="0">
                                          <p:val>
                                            <p:fltVal val="0"/>
                                          </p:val>
                                        </p:tav>
                                        <p:tav tm="100000">
                                          <p:val>
                                            <p:strVal val="#ppt_h"/>
                                          </p:val>
                                        </p:tav>
                                      </p:tavLst>
                                    </p:anim>
                                    <p:animEffect transition="in" filter="fade">
                                      <p:cBhvr>
                                        <p:cTn id="9" dur="500"/>
                                        <p:tgtEl>
                                          <p:spTgt spid="47"/>
                                        </p:tgtEl>
                                      </p:cBhvr>
                                    </p:animEffect>
                                  </p:childTnLst>
                                </p:cTn>
                              </p:par>
                            </p:childTnLst>
                          </p:cTn>
                        </p:par>
                        <p:par>
                          <p:cTn id="10" fill="hold" nodeType="afterGroup">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49"/>
                                        </p:tgtEl>
                                        <p:attrNameLst>
                                          <p:attrName>style.visibility</p:attrName>
                                        </p:attrNameLst>
                                      </p:cBhvr>
                                      <p:to>
                                        <p:strVal val="visible"/>
                                      </p:to>
                                    </p:set>
                                    <p:animEffect transition="in" filter="wipe(left)">
                                      <p:cBhvr>
                                        <p:cTn id="13"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4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58536" y="107592"/>
            <a:ext cx="5928672" cy="9840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70"/>
            <a:endParaRPr lang="en-US">
              <a:solidFill>
                <a:prstClr val="white"/>
              </a:solidFill>
              <a:latin typeface="思源黑体 CN Medium" panose="020B0600000000000000" pitchFamily="34" charset="-122"/>
              <a:ea typeface="思源黑体 CN Medium" panose="020B0600000000000000" pitchFamily="34" charset="-122"/>
              <a:sym typeface="字魂59号-创粗黑" panose="00000500000000000000" pitchFamily="2" charset="-122"/>
            </a:endParaRPr>
          </a:p>
        </p:txBody>
      </p:sp>
      <p:pic>
        <p:nvPicPr>
          <p:cNvPr id="17" name="图片 16">
            <a:extLst>
              <a:ext uri="{FF2B5EF4-FFF2-40B4-BE49-F238E27FC236}">
                <a16:creationId xmlns:a16="http://schemas.microsoft.com/office/drawing/2014/main" id="{05E72798-6899-42A6-9FEE-703EF4EFCDB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86" b="100000" l="0" r="100000">
                        <a14:foregroundMark x1="82171" y1="51131" x2="59408" y2="50679"/>
                        <a14:backgroundMark x1="91473" y1="41991" x2="86047" y2="34299"/>
                        <a14:backgroundMark x1="91966" y1="54118" x2="88090" y2="67059"/>
                        <a14:backgroundMark x1="84426" y1="75023" x2="75405" y2="81719"/>
                        <a14:backgroundMark x1="77026" y1="32217" x2="73573" y2="31493"/>
                        <a14:backgroundMark x1="67583" y1="33575" x2="65257" y2="31312"/>
                      </a14:backgroundRemoval>
                    </a14:imgEffect>
                  </a14:imgLayer>
                </a14:imgProps>
              </a:ext>
              <a:ext uri="{28A0092B-C50C-407E-A947-70E740481C1C}">
                <a14:useLocalDpi xmlns:a14="http://schemas.microsoft.com/office/drawing/2010/main" val="0"/>
              </a:ext>
            </a:extLst>
          </a:blip>
          <a:stretch>
            <a:fillRect/>
          </a:stretch>
        </p:blipFill>
        <p:spPr>
          <a:xfrm rot="277819">
            <a:off x="-1366951" y="-490407"/>
            <a:ext cx="3108709" cy="2420806"/>
          </a:xfrm>
          <a:prstGeom prst="rect">
            <a:avLst/>
          </a:prstGeom>
        </p:spPr>
      </p:pic>
      <p:sp>
        <p:nvSpPr>
          <p:cNvPr id="2" name="矩形 1">
            <a:extLst>
              <a:ext uri="{FF2B5EF4-FFF2-40B4-BE49-F238E27FC236}">
                <a16:creationId xmlns:a16="http://schemas.microsoft.com/office/drawing/2014/main" id="{CDACD7A8-3A6E-4C27-9240-791E721F0C74}"/>
              </a:ext>
            </a:extLst>
          </p:cNvPr>
          <p:cNvSpPr/>
          <p:nvPr/>
        </p:nvSpPr>
        <p:spPr>
          <a:xfrm>
            <a:off x="1570514" y="337965"/>
            <a:ext cx="4764972" cy="548443"/>
          </a:xfrm>
          <a:prstGeom prst="rect">
            <a:avLst/>
          </a:prstGeom>
        </p:spPr>
        <p:txBody>
          <a:bodyPr wrap="none">
            <a:normAutofit/>
          </a:bodyPr>
          <a:lstStyle/>
          <a:p>
            <a:r>
              <a:rPr lang="en-US" altLang="zh-TW" sz="2800" dirty="0">
                <a:solidFill>
                  <a:prstClr val="black">
                    <a:lumMod val="75000"/>
                    <a:lumOff val="25000"/>
                  </a:prstClr>
                </a:solidFill>
                <a:latin typeface="Source Han Sans TC"/>
                <a:ea typeface="Source Han Sans TC"/>
                <a:sym typeface="字魂59号-创粗黑" panose="00000500000000000000" pitchFamily="2" charset="-122"/>
              </a:rPr>
              <a:t>Data analysis –</a:t>
            </a:r>
            <a:r>
              <a:rPr lang="zh-TW" altLang="en-US" sz="2800" dirty="0">
                <a:solidFill>
                  <a:prstClr val="black">
                    <a:lumMod val="75000"/>
                    <a:lumOff val="25000"/>
                  </a:prstClr>
                </a:solidFill>
                <a:latin typeface="Source Han Sans TC"/>
                <a:ea typeface="Source Han Sans TC"/>
                <a:sym typeface="字魂59号-创粗黑" panose="00000500000000000000" pitchFamily="2" charset="-122"/>
              </a:rPr>
              <a:t> </a:t>
            </a:r>
            <a:r>
              <a:rPr lang="zh-TW" altLang="en-US" sz="2800" dirty="0">
                <a:solidFill>
                  <a:srgbClr val="0070C0"/>
                </a:solidFill>
                <a:latin typeface="Source Han Sans TC"/>
                <a:ea typeface="Source Han Sans TC"/>
                <a:sym typeface="字魂59号-创粗黑" panose="00000500000000000000" pitchFamily="2" charset="-122"/>
              </a:rPr>
              <a:t>便祕患者</a:t>
            </a:r>
            <a:endParaRPr lang="en-US" altLang="zh-TW" sz="2800" dirty="0">
              <a:solidFill>
                <a:srgbClr val="0070C0"/>
              </a:solidFill>
              <a:latin typeface="Source Han Sans TC"/>
              <a:ea typeface="Source Han Sans TC"/>
              <a:sym typeface="字魂59号-创粗黑" panose="00000500000000000000" pitchFamily="2" charset="-122"/>
            </a:endParaRPr>
          </a:p>
          <a:p>
            <a:endParaRPr lang="en-US" altLang="zh-TW" sz="2800" b="1" dirty="0">
              <a:solidFill>
                <a:srgbClr val="0070C0"/>
              </a:solidFill>
              <a:latin typeface="微軟正黑體" panose="020B0604030504040204" pitchFamily="34" charset="-120"/>
              <a:ea typeface="微軟正黑體" panose="020B0604030504040204" pitchFamily="34" charset="-120"/>
              <a:cs typeface="Calibri" panose="020F0502020204030204" pitchFamily="34" charset="0"/>
            </a:endParaRPr>
          </a:p>
        </p:txBody>
      </p:sp>
      <p:sp>
        <p:nvSpPr>
          <p:cNvPr id="6" name="文字方塊 5">
            <a:extLst>
              <a:ext uri="{FF2B5EF4-FFF2-40B4-BE49-F238E27FC236}">
                <a16:creationId xmlns:a16="http://schemas.microsoft.com/office/drawing/2014/main" id="{0C7BF970-2010-34C5-D523-4B00C33F18F6}"/>
              </a:ext>
            </a:extLst>
          </p:cNvPr>
          <p:cNvSpPr txBox="1"/>
          <p:nvPr/>
        </p:nvSpPr>
        <p:spPr>
          <a:xfrm>
            <a:off x="1235154" y="1082430"/>
            <a:ext cx="10956846" cy="1938992"/>
          </a:xfrm>
          <a:prstGeom prst="rect">
            <a:avLst/>
          </a:prstGeom>
          <a:noFill/>
        </p:spPr>
        <p:txBody>
          <a:bodyPr wrap="none" rtlCol="0">
            <a:spAutoFit/>
          </a:bodyPr>
          <a:lstStyle/>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我們先針對便秘患者的資料進行分析，排除掉遺失值之後，我們一共有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4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筆完整的前後測資料</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考量到樣本數較少且不見得符合常態假設的情形，我們除了做傳統的成對</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T</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檢定，同時我們也</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考慮非參數方法威爾科克森符號秩檢驗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(Wilcoxon Sign Rank Test)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來檢定前後測是否具有顯</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著差異，而該方法的好處在於我們</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不用有分布假設</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因此即使資料不符合常態也沒關係，再者</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該方法檢驗的是資料的中位數而非平均數</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，因此當資料出現極端值時，也比較不容易被影響。</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最後因為我們預期接受治療後的患者其問卷分數應當有顯著的下降，因此我們做的是單邊檢定。</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3" name="文字方塊 2">
            <a:extLst>
              <a:ext uri="{FF2B5EF4-FFF2-40B4-BE49-F238E27FC236}">
                <a16:creationId xmlns:a16="http://schemas.microsoft.com/office/drawing/2014/main" id="{095495E5-2CFA-DE94-DFC2-915074C54F39}"/>
              </a:ext>
            </a:extLst>
          </p:cNvPr>
          <p:cNvSpPr txBox="1"/>
          <p:nvPr/>
        </p:nvSpPr>
        <p:spPr>
          <a:xfrm>
            <a:off x="1568592" y="3515457"/>
            <a:ext cx="2754280" cy="461665"/>
          </a:xfrm>
          <a:prstGeom prst="rect">
            <a:avLst/>
          </a:prstGeom>
          <a:noFill/>
        </p:spPr>
        <p:txBody>
          <a:bodyPr wrap="none" rtlCol="0">
            <a:spAutoFit/>
          </a:bodyPr>
          <a:lstStyle/>
          <a:p>
            <a:r>
              <a:rPr lang="en-US" altLang="zh-TW" sz="2400" b="1" dirty="0">
                <a:solidFill>
                  <a:srgbClr val="00B050"/>
                </a:solidFill>
                <a:latin typeface="微軟正黑體" panose="020B0604030504040204" pitchFamily="34" charset="-120"/>
                <a:ea typeface="微軟正黑體" panose="020B0604030504040204" pitchFamily="34" charset="-120"/>
              </a:rPr>
              <a:t>T</a:t>
            </a:r>
            <a:r>
              <a:rPr lang="zh-TW" altLang="en-US" sz="2400" b="1" dirty="0">
                <a:solidFill>
                  <a:srgbClr val="00B050"/>
                </a:solidFill>
                <a:latin typeface="微軟正黑體" panose="020B0604030504040204" pitchFamily="34" charset="-120"/>
                <a:ea typeface="微軟正黑體" panose="020B0604030504040204" pitchFamily="34" charset="-120"/>
              </a:rPr>
              <a:t> 檢定的 </a:t>
            </a:r>
            <a:r>
              <a:rPr lang="en-US" altLang="zh-TW" sz="2400" b="1" dirty="0">
                <a:solidFill>
                  <a:srgbClr val="00B050"/>
                </a:solidFill>
                <a:latin typeface="微軟正黑體" panose="020B0604030504040204" pitchFamily="34" charset="-120"/>
                <a:ea typeface="微軟正黑體" panose="020B0604030504040204" pitchFamily="34" charset="-120"/>
              </a:rPr>
              <a:t>H0 </a:t>
            </a:r>
            <a:r>
              <a:rPr lang="zh-TW" altLang="en-US" sz="2400" b="1" dirty="0">
                <a:solidFill>
                  <a:srgbClr val="00B050"/>
                </a:solidFill>
                <a:latin typeface="微軟正黑體" panose="020B0604030504040204" pitchFamily="34" charset="-120"/>
                <a:ea typeface="微軟正黑體" panose="020B0604030504040204" pitchFamily="34" charset="-120"/>
              </a:rPr>
              <a:t>與 </a:t>
            </a:r>
            <a:r>
              <a:rPr lang="en-US" altLang="zh-TW" sz="2400" b="1" dirty="0">
                <a:solidFill>
                  <a:srgbClr val="00B050"/>
                </a:solidFill>
                <a:latin typeface="微軟正黑體" panose="020B0604030504040204" pitchFamily="34" charset="-120"/>
                <a:ea typeface="微軟正黑體" panose="020B0604030504040204" pitchFamily="34" charset="-120"/>
              </a:rPr>
              <a:t>H1</a:t>
            </a:r>
            <a:endParaRPr lang="zh-TW" altLang="en-US" sz="2400" b="1" dirty="0">
              <a:solidFill>
                <a:srgbClr val="00B050"/>
              </a:solidFill>
              <a:latin typeface="微軟正黑體" panose="020B0604030504040204" pitchFamily="34" charset="-120"/>
              <a:ea typeface="微軟正黑體" panose="020B0604030504040204" pitchFamily="34" charset="-120"/>
            </a:endParaRPr>
          </a:p>
        </p:txBody>
      </p:sp>
      <p:sp>
        <p:nvSpPr>
          <p:cNvPr id="9" name="文字方塊 8">
            <a:extLst>
              <a:ext uri="{FF2B5EF4-FFF2-40B4-BE49-F238E27FC236}">
                <a16:creationId xmlns:a16="http://schemas.microsoft.com/office/drawing/2014/main" id="{1F3F9700-31D9-0056-0D3B-F26A93601ED9}"/>
              </a:ext>
            </a:extLst>
          </p:cNvPr>
          <p:cNvSpPr txBox="1"/>
          <p:nvPr/>
        </p:nvSpPr>
        <p:spPr>
          <a:xfrm>
            <a:off x="538909" y="4422397"/>
            <a:ext cx="5557091" cy="1477328"/>
          </a:xfrm>
          <a:prstGeom prst="rect">
            <a:avLst/>
          </a:prstGeom>
          <a:noFill/>
        </p:spPr>
        <p:txBody>
          <a:bodyPr wrap="square">
            <a:spAutoFit/>
          </a:bodyPr>
          <a:lstStyle/>
          <a:p>
            <a:r>
              <a:rPr lang="en-US" altLang="zh-TW" dirty="0">
                <a:latin typeface="微軟正黑體" panose="020B0604030504040204" pitchFamily="34" charset="-120"/>
                <a:ea typeface="微軟正黑體" panose="020B0604030504040204" pitchFamily="34" charset="-120"/>
              </a:rPr>
              <a:t>H0</a:t>
            </a:r>
            <a:r>
              <a:rPr lang="zh-TW" altLang="en-US" dirty="0">
                <a:latin typeface="微軟正黑體" panose="020B0604030504040204" pitchFamily="34" charset="-120"/>
                <a:ea typeface="微軟正黑體" panose="020B0604030504040204" pitchFamily="34" charset="-120"/>
              </a:rPr>
              <a:t>（虛無假設）：治療前後的平均數沒有顯著差異</a:t>
            </a:r>
            <a:r>
              <a:rPr lang="en-US" altLang="zh-TW" dirty="0">
                <a:latin typeface="微軟正黑體" panose="020B0604030504040204" pitchFamily="34" charset="-120"/>
                <a:ea typeface="微軟正黑體" panose="020B0604030504040204" pitchFamily="34" charset="-120"/>
              </a:rPr>
              <a:t>:</a:t>
            </a:r>
          </a:p>
          <a:p>
            <a:r>
              <a:rPr lang="en-US" altLang="zh-TW" dirty="0">
                <a:latin typeface="微軟正黑體" panose="020B0604030504040204" pitchFamily="34" charset="-120"/>
                <a:ea typeface="微軟正黑體" panose="020B0604030504040204" pitchFamily="34" charset="-120"/>
              </a:rPr>
              <a:t>	</a:t>
            </a:r>
            <a:r>
              <a:rPr lang="zh-TW" altLang="en-US" dirty="0">
                <a:latin typeface="微軟正黑體" panose="020B0604030504040204" pitchFamily="34" charset="-120"/>
                <a:ea typeface="微軟正黑體" panose="020B0604030504040204" pitchFamily="34" charset="-120"/>
              </a:rPr>
              <a:t>𝜇𝑃𝑟𝑒𝑇𝑒𝑠𝑡</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𝜇𝑃𝑜𝑠𝑡𝑇𝑒𝑠𝑡</a:t>
            </a:r>
            <a:endParaRPr lang="en-US" altLang="zh-TW" dirty="0">
              <a:latin typeface="微軟正黑體" panose="020B0604030504040204" pitchFamily="34" charset="-120"/>
              <a:ea typeface="微軟正黑體" panose="020B0604030504040204" pitchFamily="34" charset="-120"/>
            </a:endParaRPr>
          </a:p>
          <a:p>
            <a:endParaRPr lang="en-US" altLang="zh-TW" dirty="0">
              <a:latin typeface="微軟正黑體" panose="020B0604030504040204" pitchFamily="34" charset="-120"/>
              <a:ea typeface="微軟正黑體" panose="020B0604030504040204" pitchFamily="34" charset="-120"/>
            </a:endParaRPr>
          </a:p>
          <a:p>
            <a:r>
              <a:rPr lang="en-US" altLang="zh-TW" dirty="0">
                <a:latin typeface="微軟正黑體" panose="020B0604030504040204" pitchFamily="34" charset="-120"/>
                <a:ea typeface="微軟正黑體" panose="020B0604030504040204" pitchFamily="34" charset="-120"/>
              </a:rPr>
              <a:t>H1</a:t>
            </a:r>
            <a:r>
              <a:rPr lang="zh-TW" altLang="en-US" dirty="0">
                <a:latin typeface="微軟正黑體" panose="020B0604030504040204" pitchFamily="34" charset="-120"/>
                <a:ea typeface="微軟正黑體" panose="020B0604030504040204" pitchFamily="34" charset="-120"/>
              </a:rPr>
              <a:t>（對立假設）：治療後的平均數顯著更小。</a:t>
            </a:r>
            <a:endParaRPr lang="en-US" altLang="zh-TW" dirty="0">
              <a:latin typeface="微軟正黑體" panose="020B0604030504040204" pitchFamily="34" charset="-120"/>
              <a:ea typeface="微軟正黑體" panose="020B0604030504040204" pitchFamily="34" charset="-120"/>
            </a:endParaRPr>
          </a:p>
          <a:p>
            <a:r>
              <a:rPr lang="en-US" altLang="zh-TW" dirty="0">
                <a:latin typeface="微軟正黑體" panose="020B0604030504040204" pitchFamily="34" charset="-120"/>
                <a:ea typeface="微軟正黑體" panose="020B0604030504040204" pitchFamily="34" charset="-120"/>
              </a:rPr>
              <a:t>	</a:t>
            </a:r>
            <a:r>
              <a:rPr lang="zh-TW" altLang="en-US" dirty="0">
                <a:latin typeface="微軟正黑體" panose="020B0604030504040204" pitchFamily="34" charset="-120"/>
                <a:ea typeface="微軟正黑體" panose="020B0604030504040204" pitchFamily="34" charset="-120"/>
              </a:rPr>
              <a:t>𝜇𝑃𝑜𝑠𝑡𝑇𝑒𝑠𝑡</a:t>
            </a:r>
            <a:r>
              <a:rPr lang="en-US" altLang="zh-TW" dirty="0">
                <a:latin typeface="微軟正黑體" panose="020B0604030504040204" pitchFamily="34" charset="-120"/>
                <a:ea typeface="微軟正黑體" panose="020B0604030504040204" pitchFamily="34" charset="-120"/>
              </a:rPr>
              <a:t>&lt;</a:t>
            </a:r>
            <a:r>
              <a:rPr lang="zh-TW" altLang="en-US" dirty="0">
                <a:latin typeface="微軟正黑體" panose="020B0604030504040204" pitchFamily="34" charset="-120"/>
                <a:ea typeface="微軟正黑體" panose="020B0604030504040204" pitchFamily="34" charset="-120"/>
              </a:rPr>
              <a:t>𝜇𝑃𝑟𝑒𝑇𝑒𝑠𝑡</a:t>
            </a:r>
          </a:p>
        </p:txBody>
      </p:sp>
      <p:sp>
        <p:nvSpPr>
          <p:cNvPr id="10" name="文字方塊 9">
            <a:extLst>
              <a:ext uri="{FF2B5EF4-FFF2-40B4-BE49-F238E27FC236}">
                <a16:creationId xmlns:a16="http://schemas.microsoft.com/office/drawing/2014/main" id="{7B0D5448-1C75-B846-5B2B-CA9D81C23FAC}"/>
              </a:ext>
            </a:extLst>
          </p:cNvPr>
          <p:cNvSpPr txBox="1"/>
          <p:nvPr/>
        </p:nvSpPr>
        <p:spPr>
          <a:xfrm>
            <a:off x="7287208" y="3515457"/>
            <a:ext cx="3961149" cy="461665"/>
          </a:xfrm>
          <a:prstGeom prst="rect">
            <a:avLst/>
          </a:prstGeom>
          <a:noFill/>
        </p:spPr>
        <p:txBody>
          <a:bodyPr wrap="none" rtlCol="0">
            <a:spAutoFit/>
          </a:bodyPr>
          <a:lstStyle/>
          <a:p>
            <a:r>
              <a:rPr lang="en-US" altLang="zh-TW" sz="2400" b="1" dirty="0">
                <a:solidFill>
                  <a:schemeClr val="accent3">
                    <a:lumMod val="75000"/>
                  </a:schemeClr>
                </a:solidFill>
                <a:latin typeface="微軟正黑體" panose="020B0604030504040204" pitchFamily="34" charset="-120"/>
                <a:ea typeface="微軟正黑體" panose="020B0604030504040204" pitchFamily="34" charset="-120"/>
              </a:rPr>
              <a:t>Wilcoxon</a:t>
            </a:r>
            <a:r>
              <a:rPr lang="zh-TW" altLang="en-US" sz="2400" b="1" dirty="0">
                <a:solidFill>
                  <a:schemeClr val="accent3">
                    <a:lumMod val="75000"/>
                  </a:schemeClr>
                </a:solidFill>
                <a:latin typeface="微軟正黑體" panose="020B0604030504040204" pitchFamily="34" charset="-120"/>
                <a:ea typeface="微軟正黑體" panose="020B0604030504040204" pitchFamily="34" charset="-120"/>
              </a:rPr>
              <a:t> 檢定的 </a:t>
            </a:r>
            <a:r>
              <a:rPr lang="en-US" altLang="zh-TW" sz="2400" b="1" dirty="0">
                <a:solidFill>
                  <a:schemeClr val="accent3">
                    <a:lumMod val="75000"/>
                  </a:schemeClr>
                </a:solidFill>
                <a:latin typeface="微軟正黑體" panose="020B0604030504040204" pitchFamily="34" charset="-120"/>
                <a:ea typeface="微軟正黑體" panose="020B0604030504040204" pitchFamily="34" charset="-120"/>
              </a:rPr>
              <a:t>H0 </a:t>
            </a:r>
            <a:r>
              <a:rPr lang="zh-TW" altLang="en-US" sz="2400" b="1" dirty="0">
                <a:solidFill>
                  <a:schemeClr val="accent3">
                    <a:lumMod val="75000"/>
                  </a:schemeClr>
                </a:solidFill>
                <a:latin typeface="微軟正黑體" panose="020B0604030504040204" pitchFamily="34" charset="-120"/>
                <a:ea typeface="微軟正黑體" panose="020B0604030504040204" pitchFamily="34" charset="-120"/>
              </a:rPr>
              <a:t>與 </a:t>
            </a:r>
            <a:r>
              <a:rPr lang="en-US" altLang="zh-TW" sz="2400" b="1" dirty="0">
                <a:solidFill>
                  <a:schemeClr val="accent3">
                    <a:lumMod val="75000"/>
                  </a:schemeClr>
                </a:solidFill>
                <a:latin typeface="微軟正黑體" panose="020B0604030504040204" pitchFamily="34" charset="-120"/>
                <a:ea typeface="微軟正黑體" panose="020B0604030504040204" pitchFamily="34" charset="-120"/>
              </a:rPr>
              <a:t>H1</a:t>
            </a:r>
            <a:endParaRPr lang="zh-TW" altLang="en-US" sz="2400" b="1" dirty="0">
              <a:solidFill>
                <a:schemeClr val="accent3">
                  <a:lumMod val="75000"/>
                </a:schemeClr>
              </a:solidFill>
              <a:latin typeface="微軟正黑體" panose="020B0604030504040204" pitchFamily="34" charset="-120"/>
              <a:ea typeface="微軟正黑體" panose="020B0604030504040204" pitchFamily="34" charset="-120"/>
            </a:endParaRPr>
          </a:p>
        </p:txBody>
      </p:sp>
      <p:sp>
        <p:nvSpPr>
          <p:cNvPr id="11" name="文字方塊 10">
            <a:extLst>
              <a:ext uri="{FF2B5EF4-FFF2-40B4-BE49-F238E27FC236}">
                <a16:creationId xmlns:a16="http://schemas.microsoft.com/office/drawing/2014/main" id="{7EABAF60-60C7-8179-E9B5-AA03E2D953A9}"/>
              </a:ext>
            </a:extLst>
          </p:cNvPr>
          <p:cNvSpPr txBox="1"/>
          <p:nvPr/>
        </p:nvSpPr>
        <p:spPr>
          <a:xfrm>
            <a:off x="6634909" y="4422397"/>
            <a:ext cx="5557091" cy="1477328"/>
          </a:xfrm>
          <a:prstGeom prst="rect">
            <a:avLst/>
          </a:prstGeom>
          <a:noFill/>
        </p:spPr>
        <p:txBody>
          <a:bodyPr wrap="square">
            <a:spAutoFit/>
          </a:bodyPr>
          <a:lstStyle/>
          <a:p>
            <a:r>
              <a:rPr lang="en-US" altLang="zh-TW" dirty="0">
                <a:latin typeface="微軟正黑體" panose="020B0604030504040204" pitchFamily="34" charset="-120"/>
                <a:ea typeface="微軟正黑體" panose="020B0604030504040204" pitchFamily="34" charset="-120"/>
              </a:rPr>
              <a:t>H0</a:t>
            </a:r>
            <a:r>
              <a:rPr lang="zh-TW" altLang="en-US" dirty="0">
                <a:latin typeface="微軟正黑體" panose="020B0604030504040204" pitchFamily="34" charset="-120"/>
                <a:ea typeface="微軟正黑體" panose="020B0604030504040204" pitchFamily="34" charset="-120"/>
              </a:rPr>
              <a:t>（虛無假設）：治療前後的中位數沒有顯著差異</a:t>
            </a:r>
            <a:r>
              <a:rPr lang="en-US" altLang="zh-TW" dirty="0">
                <a:latin typeface="微軟正黑體" panose="020B0604030504040204" pitchFamily="34" charset="-120"/>
                <a:ea typeface="微軟正黑體" panose="020B0604030504040204" pitchFamily="34" charset="-120"/>
              </a:rPr>
              <a:t>:</a:t>
            </a:r>
          </a:p>
          <a:p>
            <a:r>
              <a:rPr lang="en-US" altLang="zh-TW" dirty="0">
                <a:latin typeface="微軟正黑體" panose="020B0604030504040204" pitchFamily="34" charset="-120"/>
                <a:ea typeface="微軟正黑體" panose="020B0604030504040204" pitchFamily="34" charset="-120"/>
              </a:rPr>
              <a:t>	</a:t>
            </a:r>
            <a:r>
              <a:rPr lang="zh-TW" altLang="en-US" dirty="0">
                <a:latin typeface="微軟正黑體" panose="020B0604030504040204" pitchFamily="34" charset="-120"/>
                <a:ea typeface="微軟正黑體" panose="020B0604030504040204" pitchFamily="34" charset="-120"/>
              </a:rPr>
              <a:t>中位數𝑃𝑟𝑒𝑇𝑒𝑠𝑡</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中位數𝑃𝑜𝑠𝑡𝑇𝑒𝑠𝑡</a:t>
            </a:r>
            <a:endParaRPr lang="en-US" altLang="zh-TW" dirty="0">
              <a:latin typeface="微軟正黑體" panose="020B0604030504040204" pitchFamily="34" charset="-120"/>
              <a:ea typeface="微軟正黑體" panose="020B0604030504040204" pitchFamily="34" charset="-120"/>
            </a:endParaRPr>
          </a:p>
          <a:p>
            <a:endParaRPr lang="en-US" altLang="zh-TW" dirty="0">
              <a:latin typeface="微軟正黑體" panose="020B0604030504040204" pitchFamily="34" charset="-120"/>
              <a:ea typeface="微軟正黑體" panose="020B0604030504040204" pitchFamily="34" charset="-120"/>
            </a:endParaRPr>
          </a:p>
          <a:p>
            <a:r>
              <a:rPr lang="en-US" altLang="zh-TW" dirty="0">
                <a:latin typeface="微軟正黑體" panose="020B0604030504040204" pitchFamily="34" charset="-120"/>
                <a:ea typeface="微軟正黑體" panose="020B0604030504040204" pitchFamily="34" charset="-120"/>
              </a:rPr>
              <a:t>H1</a:t>
            </a:r>
            <a:r>
              <a:rPr lang="zh-TW" altLang="en-US" dirty="0">
                <a:latin typeface="微軟正黑體" panose="020B0604030504040204" pitchFamily="34" charset="-120"/>
                <a:ea typeface="微軟正黑體" panose="020B0604030504040204" pitchFamily="34" charset="-120"/>
              </a:rPr>
              <a:t>（對立假設）：治療後的中位數顯著更小。</a:t>
            </a:r>
            <a:endParaRPr lang="en-US" altLang="zh-TW" dirty="0">
              <a:latin typeface="微軟正黑體" panose="020B0604030504040204" pitchFamily="34" charset="-120"/>
              <a:ea typeface="微軟正黑體" panose="020B0604030504040204" pitchFamily="34" charset="-120"/>
            </a:endParaRPr>
          </a:p>
          <a:p>
            <a:r>
              <a:rPr lang="en-US" altLang="zh-TW" dirty="0">
                <a:latin typeface="微軟正黑體" panose="020B0604030504040204" pitchFamily="34" charset="-120"/>
                <a:ea typeface="微軟正黑體" panose="020B0604030504040204" pitchFamily="34" charset="-120"/>
              </a:rPr>
              <a:t>	</a:t>
            </a:r>
            <a:r>
              <a:rPr lang="zh-TW" altLang="en-US" dirty="0">
                <a:latin typeface="微軟正黑體" panose="020B0604030504040204" pitchFamily="34" charset="-120"/>
                <a:ea typeface="微軟正黑體" panose="020B0604030504040204" pitchFamily="34" charset="-120"/>
              </a:rPr>
              <a:t>中位數𝑃𝑜𝑠𝑡𝑇𝑒𝑠𝑡</a:t>
            </a:r>
            <a:r>
              <a:rPr lang="en-US" altLang="zh-TW" dirty="0">
                <a:latin typeface="微軟正黑體" panose="020B0604030504040204" pitchFamily="34" charset="-120"/>
                <a:ea typeface="微軟正黑體" panose="020B0604030504040204" pitchFamily="34" charset="-120"/>
              </a:rPr>
              <a:t>&lt;</a:t>
            </a:r>
            <a:r>
              <a:rPr lang="zh-TW" altLang="en-US" dirty="0">
                <a:latin typeface="微軟正黑體" panose="020B0604030504040204" pitchFamily="34" charset="-120"/>
                <a:ea typeface="微軟正黑體" panose="020B0604030504040204" pitchFamily="34" charset="-120"/>
              </a:rPr>
              <a:t>中位數𝑃𝑟𝑒𝑇𝑒𝑠𝑡</a:t>
            </a:r>
          </a:p>
        </p:txBody>
      </p:sp>
    </p:spTree>
    <p:extLst>
      <p:ext uri="{BB962C8B-B14F-4D97-AF65-F5344CB8AC3E}">
        <p14:creationId xmlns:p14="http://schemas.microsoft.com/office/powerpoint/2010/main" val="2569449671"/>
      </p:ext>
    </p:extLst>
  </p:cSld>
  <p:clrMapOvr>
    <a:masterClrMapping/>
  </p:clrMapOvr>
  <mc:AlternateContent xmlns:mc="http://schemas.openxmlformats.org/markup-compatibility/2006" xmlns:p14="http://schemas.microsoft.com/office/powerpoint/2010/main">
    <mc:Choice Requires="p14">
      <p:transition spd="slow" p14:dur="1250" advClick="0">
        <p14:pan dir="u"/>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58536" y="107592"/>
            <a:ext cx="5928672" cy="9840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70"/>
            <a:endParaRPr lang="en-US">
              <a:solidFill>
                <a:prstClr val="white"/>
              </a:solidFill>
              <a:latin typeface="思源黑体 CN Medium" panose="020B0600000000000000" pitchFamily="34" charset="-122"/>
              <a:ea typeface="思源黑体 CN Medium" panose="020B0600000000000000" pitchFamily="34" charset="-122"/>
              <a:sym typeface="字魂59号-创粗黑" panose="00000500000000000000" pitchFamily="2" charset="-122"/>
            </a:endParaRPr>
          </a:p>
        </p:txBody>
      </p:sp>
      <p:pic>
        <p:nvPicPr>
          <p:cNvPr id="17" name="图片 16">
            <a:extLst>
              <a:ext uri="{FF2B5EF4-FFF2-40B4-BE49-F238E27FC236}">
                <a16:creationId xmlns:a16="http://schemas.microsoft.com/office/drawing/2014/main" id="{05E72798-6899-42A6-9FEE-703EF4EFCDB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86" b="100000" l="0" r="100000">
                        <a14:foregroundMark x1="82171" y1="51131" x2="59408" y2="50679"/>
                        <a14:backgroundMark x1="91473" y1="41991" x2="86047" y2="34299"/>
                        <a14:backgroundMark x1="91966" y1="54118" x2="88090" y2="67059"/>
                        <a14:backgroundMark x1="84426" y1="75023" x2="75405" y2="81719"/>
                        <a14:backgroundMark x1="77026" y1="32217" x2="73573" y2="31493"/>
                        <a14:backgroundMark x1="67583" y1="33575" x2="65257" y2="31312"/>
                      </a14:backgroundRemoval>
                    </a14:imgEffect>
                  </a14:imgLayer>
                </a14:imgProps>
              </a:ext>
              <a:ext uri="{28A0092B-C50C-407E-A947-70E740481C1C}">
                <a14:useLocalDpi xmlns:a14="http://schemas.microsoft.com/office/drawing/2010/main" val="0"/>
              </a:ext>
            </a:extLst>
          </a:blip>
          <a:stretch>
            <a:fillRect/>
          </a:stretch>
        </p:blipFill>
        <p:spPr>
          <a:xfrm rot="277819">
            <a:off x="-1366951" y="-490407"/>
            <a:ext cx="3108709" cy="2420806"/>
          </a:xfrm>
          <a:prstGeom prst="rect">
            <a:avLst/>
          </a:prstGeom>
        </p:spPr>
      </p:pic>
      <p:sp>
        <p:nvSpPr>
          <p:cNvPr id="2" name="矩形 1">
            <a:extLst>
              <a:ext uri="{FF2B5EF4-FFF2-40B4-BE49-F238E27FC236}">
                <a16:creationId xmlns:a16="http://schemas.microsoft.com/office/drawing/2014/main" id="{CDACD7A8-3A6E-4C27-9240-791E721F0C74}"/>
              </a:ext>
            </a:extLst>
          </p:cNvPr>
          <p:cNvSpPr/>
          <p:nvPr/>
        </p:nvSpPr>
        <p:spPr>
          <a:xfrm>
            <a:off x="1570514" y="337965"/>
            <a:ext cx="4764972" cy="548443"/>
          </a:xfrm>
          <a:prstGeom prst="rect">
            <a:avLst/>
          </a:prstGeom>
        </p:spPr>
        <p:txBody>
          <a:bodyPr wrap="none">
            <a:normAutofit/>
          </a:bodyPr>
          <a:lstStyle/>
          <a:p>
            <a:r>
              <a:rPr lang="en-US" altLang="zh-TW" sz="2800" dirty="0">
                <a:solidFill>
                  <a:prstClr val="black">
                    <a:lumMod val="75000"/>
                    <a:lumOff val="25000"/>
                  </a:prstClr>
                </a:solidFill>
                <a:latin typeface="Source Han Sans TC"/>
                <a:ea typeface="Source Han Sans TC"/>
                <a:sym typeface="字魂59号-创粗黑" panose="00000500000000000000" pitchFamily="2" charset="-122"/>
              </a:rPr>
              <a:t>Data analysis –</a:t>
            </a:r>
            <a:r>
              <a:rPr lang="zh-TW" altLang="en-US" sz="2800" dirty="0">
                <a:solidFill>
                  <a:prstClr val="black">
                    <a:lumMod val="75000"/>
                    <a:lumOff val="25000"/>
                  </a:prstClr>
                </a:solidFill>
                <a:latin typeface="Source Han Sans TC"/>
                <a:ea typeface="Source Han Sans TC"/>
                <a:sym typeface="字魂59号-创粗黑" panose="00000500000000000000" pitchFamily="2" charset="-122"/>
              </a:rPr>
              <a:t> </a:t>
            </a:r>
            <a:r>
              <a:rPr lang="zh-TW" altLang="en-US" sz="2800" dirty="0">
                <a:solidFill>
                  <a:srgbClr val="0070C0"/>
                </a:solidFill>
                <a:latin typeface="Source Han Sans TC"/>
                <a:ea typeface="Source Han Sans TC"/>
                <a:sym typeface="字魂59号-创粗黑" panose="00000500000000000000" pitchFamily="2" charset="-122"/>
              </a:rPr>
              <a:t>便祕患者</a:t>
            </a:r>
            <a:endParaRPr lang="en-US" altLang="zh-TW" sz="2800" dirty="0">
              <a:solidFill>
                <a:srgbClr val="0070C0"/>
              </a:solidFill>
              <a:latin typeface="Source Han Sans TC"/>
              <a:ea typeface="Source Han Sans TC"/>
              <a:sym typeface="字魂59号-创粗黑" panose="00000500000000000000" pitchFamily="2" charset="-122"/>
            </a:endParaRPr>
          </a:p>
          <a:p>
            <a:endParaRPr lang="en-US" altLang="zh-TW" sz="2800" b="1" dirty="0">
              <a:solidFill>
                <a:srgbClr val="0070C0"/>
              </a:solidFill>
              <a:latin typeface="微軟正黑體" panose="020B0604030504040204" pitchFamily="34" charset="-120"/>
              <a:ea typeface="微軟正黑體" panose="020B0604030504040204" pitchFamily="34" charset="-120"/>
              <a:cs typeface="Calibri" panose="020F0502020204030204" pitchFamily="34" charset="0"/>
            </a:endParaRPr>
          </a:p>
        </p:txBody>
      </p:sp>
      <p:graphicFrame>
        <p:nvGraphicFramePr>
          <p:cNvPr id="5" name="表格 4">
            <a:extLst>
              <a:ext uri="{FF2B5EF4-FFF2-40B4-BE49-F238E27FC236}">
                <a16:creationId xmlns:a16="http://schemas.microsoft.com/office/drawing/2014/main" id="{9EAE96B9-A5B8-5954-AB88-E3F5B2DBF5A9}"/>
              </a:ext>
            </a:extLst>
          </p:cNvPr>
          <p:cNvGraphicFramePr>
            <a:graphicFrameLocks noGrp="1"/>
          </p:cNvGraphicFramePr>
          <p:nvPr>
            <p:extLst>
              <p:ext uri="{D42A27DB-BD31-4B8C-83A1-F6EECF244321}">
                <p14:modId xmlns:p14="http://schemas.microsoft.com/office/powerpoint/2010/main" val="3230074587"/>
              </p:ext>
            </p:extLst>
          </p:nvPr>
        </p:nvGraphicFramePr>
        <p:xfrm>
          <a:off x="1757406" y="4079291"/>
          <a:ext cx="2195594" cy="1866900"/>
        </p:xfrm>
        <a:graphic>
          <a:graphicData uri="http://schemas.openxmlformats.org/drawingml/2006/table">
            <a:tbl>
              <a:tblPr/>
              <a:tblGrid>
                <a:gridCol w="1021372">
                  <a:extLst>
                    <a:ext uri="{9D8B030D-6E8A-4147-A177-3AD203B41FA5}">
                      <a16:colId xmlns:a16="http://schemas.microsoft.com/office/drawing/2014/main" val="3993428737"/>
                    </a:ext>
                  </a:extLst>
                </a:gridCol>
                <a:gridCol w="1174222">
                  <a:extLst>
                    <a:ext uri="{9D8B030D-6E8A-4147-A177-3AD203B41FA5}">
                      <a16:colId xmlns:a16="http://schemas.microsoft.com/office/drawing/2014/main" val="2161664515"/>
                    </a:ext>
                  </a:extLst>
                </a:gridCol>
              </a:tblGrid>
              <a:tr h="213360">
                <a:tc>
                  <a:txBody>
                    <a:bodyPr/>
                    <a:lstStyle/>
                    <a:p>
                      <a:pPr algn="ctr" fontAlgn="ctr"/>
                      <a:r>
                        <a:rPr lang="en-US" sz="24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PreTest</a:t>
                      </a:r>
                      <a:endParaRPr lang="en-US" sz="24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24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PostTest</a:t>
                      </a:r>
                      <a:endParaRPr lang="en-US" sz="24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474200870"/>
                  </a:ext>
                </a:extLst>
              </a:tr>
              <a:tr h="220980">
                <a:tc>
                  <a:txBody>
                    <a:bodyPr/>
                    <a:lstStyle/>
                    <a:p>
                      <a:pPr algn="ctr" fontAlgn="ctr"/>
                      <a:r>
                        <a:rPr lang="en-US" altLang="zh-TW" sz="2400" b="0" i="0" u="none" strike="noStrike" dirty="0">
                          <a:solidFill>
                            <a:srgbClr val="000000"/>
                          </a:solidFill>
                          <a:effectLst/>
                          <a:latin typeface="標楷體" panose="03000509000000000000" pitchFamily="65" charset="-120"/>
                          <a:ea typeface="標楷體" panose="03000509000000000000" pitchFamily="65" charset="-120"/>
                        </a:rPr>
                        <a:t>12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400" b="0" i="0" u="none" strike="noStrike" dirty="0">
                          <a:solidFill>
                            <a:srgbClr val="000000"/>
                          </a:solidFill>
                          <a:effectLst/>
                          <a:latin typeface="標楷體" panose="03000509000000000000" pitchFamily="65" charset="-120"/>
                          <a:ea typeface="標楷體" panose="03000509000000000000" pitchFamily="65" charset="-120"/>
                        </a:rPr>
                        <a:t>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1513865"/>
                  </a:ext>
                </a:extLst>
              </a:tr>
              <a:tr h="220980">
                <a:tc>
                  <a:txBody>
                    <a:bodyPr/>
                    <a:lstStyle/>
                    <a:p>
                      <a:pPr algn="ctr" fontAlgn="ctr"/>
                      <a:r>
                        <a:rPr lang="en-US" altLang="zh-TW" sz="2400" b="0" i="0" u="none" strike="noStrike">
                          <a:solidFill>
                            <a:srgbClr val="000000"/>
                          </a:solidFill>
                          <a:effectLst/>
                          <a:latin typeface="標楷體" panose="03000509000000000000" pitchFamily="65" charset="-120"/>
                          <a:ea typeface="標楷體" panose="03000509000000000000" pitchFamily="65" charset="-120"/>
                        </a:rPr>
                        <a:t>17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400" b="0" i="0" u="none" strike="noStrike" dirty="0">
                          <a:solidFill>
                            <a:srgbClr val="000000"/>
                          </a:solidFill>
                          <a:effectLst/>
                          <a:latin typeface="標楷體" panose="03000509000000000000" pitchFamily="65" charset="-120"/>
                          <a:ea typeface="標楷體" panose="03000509000000000000" pitchFamily="65" charset="-120"/>
                        </a:rPr>
                        <a:t>11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5705361"/>
                  </a:ext>
                </a:extLst>
              </a:tr>
              <a:tr h="220980">
                <a:tc>
                  <a:txBody>
                    <a:bodyPr/>
                    <a:lstStyle/>
                    <a:p>
                      <a:pPr algn="ctr" fontAlgn="ctr"/>
                      <a:r>
                        <a:rPr lang="en-US" altLang="zh-TW" sz="2400" b="0" i="0" u="none" strike="noStrike">
                          <a:solidFill>
                            <a:srgbClr val="000000"/>
                          </a:solidFill>
                          <a:effectLst/>
                          <a:latin typeface="標楷體" panose="03000509000000000000" pitchFamily="65" charset="-120"/>
                          <a:ea typeface="標楷體" panose="03000509000000000000" pitchFamily="65" charset="-120"/>
                        </a:rPr>
                        <a:t>12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400" b="0" i="0" u="none" strike="noStrike" dirty="0">
                          <a:solidFill>
                            <a:srgbClr val="000000"/>
                          </a:solidFill>
                          <a:effectLst/>
                          <a:latin typeface="標楷體" panose="03000509000000000000" pitchFamily="65" charset="-120"/>
                          <a:ea typeface="標楷體" panose="03000509000000000000" pitchFamily="65" charset="-120"/>
                        </a:rPr>
                        <a:t>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5502309"/>
                  </a:ext>
                </a:extLst>
              </a:tr>
              <a:tr h="213360">
                <a:tc>
                  <a:txBody>
                    <a:bodyPr/>
                    <a:lstStyle/>
                    <a:p>
                      <a:pPr algn="ctr" fontAlgn="ctr"/>
                      <a:r>
                        <a:rPr lang="en-US" altLang="zh-TW" sz="2400" b="0" i="0" u="none" strike="noStrike" dirty="0">
                          <a:solidFill>
                            <a:srgbClr val="000000"/>
                          </a:solidFill>
                          <a:effectLst/>
                          <a:latin typeface="標楷體" panose="03000509000000000000" pitchFamily="65" charset="-120"/>
                          <a:ea typeface="標楷體" panose="03000509000000000000" pitchFamily="65" charset="-120"/>
                        </a:rPr>
                        <a:t>31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400" b="0" i="0" u="none" strike="noStrike" dirty="0">
                          <a:solidFill>
                            <a:srgbClr val="000000"/>
                          </a:solidFill>
                          <a:effectLst/>
                          <a:latin typeface="標楷體" panose="03000509000000000000" pitchFamily="65" charset="-120"/>
                          <a:ea typeface="標楷體" panose="03000509000000000000" pitchFamily="65" charset="-120"/>
                        </a:rPr>
                        <a:t>10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4610899"/>
                  </a:ext>
                </a:extLst>
              </a:tr>
            </a:tbl>
          </a:graphicData>
        </a:graphic>
      </p:graphicFrame>
      <p:sp>
        <p:nvSpPr>
          <p:cNvPr id="7" name="文字方塊 6">
            <a:extLst>
              <a:ext uri="{FF2B5EF4-FFF2-40B4-BE49-F238E27FC236}">
                <a16:creationId xmlns:a16="http://schemas.microsoft.com/office/drawing/2014/main" id="{F36FF8FF-6BA0-209F-2116-3F8DD34B989C}"/>
              </a:ext>
            </a:extLst>
          </p:cNvPr>
          <p:cNvSpPr txBox="1"/>
          <p:nvPr/>
        </p:nvSpPr>
        <p:spPr>
          <a:xfrm>
            <a:off x="1358536" y="1387603"/>
            <a:ext cx="9964587" cy="1015663"/>
          </a:xfrm>
          <a:prstGeom prst="rect">
            <a:avLst/>
          </a:prstGeom>
          <a:noFill/>
        </p:spPr>
        <p:txBody>
          <a:bodyPr wrap="none" rtlCol="0">
            <a:spAutoFit/>
          </a:bodyPr>
          <a:lstStyle/>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根據以下的檢定結果，我們觀察到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T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檢定在顯著水準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0.05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的情況下會顯著拒絕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H0</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，而</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Wilcoxon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統計量在顯著水準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0.1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的情況下也會顯著拒絕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H0</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，這兩個檢定結果都告訴我</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們該治療效果對於便秘患者而言有達統計上的顯著水準。</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8" name="文字方塊 7">
            <a:extLst>
              <a:ext uri="{FF2B5EF4-FFF2-40B4-BE49-F238E27FC236}">
                <a16:creationId xmlns:a16="http://schemas.microsoft.com/office/drawing/2014/main" id="{38376C39-1C05-2DA1-373D-6ABFFDA24D2D}"/>
              </a:ext>
            </a:extLst>
          </p:cNvPr>
          <p:cNvSpPr txBox="1"/>
          <p:nvPr/>
        </p:nvSpPr>
        <p:spPr>
          <a:xfrm>
            <a:off x="1689202" y="3347670"/>
            <a:ext cx="2339102" cy="461665"/>
          </a:xfrm>
          <a:prstGeom prst="rect">
            <a:avLst/>
          </a:prstGeom>
          <a:noFill/>
        </p:spPr>
        <p:txBody>
          <a:bodyPr wrap="none" rtlCol="0">
            <a:spAutoFit/>
          </a:bodyPr>
          <a:lstStyle/>
          <a:p>
            <a:r>
              <a:rPr lang="zh-TW" altLang="en-US" sz="2400" b="1" dirty="0">
                <a:latin typeface="微軟正黑體" panose="020B0604030504040204" pitchFamily="34" charset="-120"/>
                <a:ea typeface="微軟正黑體" panose="020B0604030504040204" pitchFamily="34" charset="-120"/>
              </a:rPr>
              <a:t>完整的問卷資料</a:t>
            </a:r>
          </a:p>
        </p:txBody>
      </p:sp>
      <p:sp>
        <p:nvSpPr>
          <p:cNvPr id="12" name="文字方塊 11">
            <a:extLst>
              <a:ext uri="{FF2B5EF4-FFF2-40B4-BE49-F238E27FC236}">
                <a16:creationId xmlns:a16="http://schemas.microsoft.com/office/drawing/2014/main" id="{25373F1C-E324-7135-F32E-0A4628E9D524}"/>
              </a:ext>
            </a:extLst>
          </p:cNvPr>
          <p:cNvSpPr txBox="1"/>
          <p:nvPr/>
        </p:nvSpPr>
        <p:spPr>
          <a:xfrm>
            <a:off x="7606420" y="3347670"/>
            <a:ext cx="1415772" cy="461665"/>
          </a:xfrm>
          <a:prstGeom prst="rect">
            <a:avLst/>
          </a:prstGeom>
          <a:noFill/>
        </p:spPr>
        <p:txBody>
          <a:bodyPr wrap="none" rtlCol="0">
            <a:spAutoFit/>
          </a:bodyPr>
          <a:lstStyle/>
          <a:p>
            <a:r>
              <a:rPr lang="zh-TW" altLang="en-US" sz="2400" b="1" dirty="0">
                <a:latin typeface="微軟正黑體" panose="020B0604030504040204" pitchFamily="34" charset="-120"/>
                <a:ea typeface="微軟正黑體" panose="020B0604030504040204" pitchFamily="34" charset="-120"/>
              </a:rPr>
              <a:t>檢定結果</a:t>
            </a:r>
          </a:p>
        </p:txBody>
      </p:sp>
      <p:graphicFrame>
        <p:nvGraphicFramePr>
          <p:cNvPr id="13" name="表格 12">
            <a:extLst>
              <a:ext uri="{FF2B5EF4-FFF2-40B4-BE49-F238E27FC236}">
                <a16:creationId xmlns:a16="http://schemas.microsoft.com/office/drawing/2014/main" id="{2574A360-7A21-4663-364F-D5FEF1C874BB}"/>
              </a:ext>
            </a:extLst>
          </p:cNvPr>
          <p:cNvGraphicFramePr>
            <a:graphicFrameLocks noGrp="1"/>
          </p:cNvGraphicFramePr>
          <p:nvPr>
            <p:extLst>
              <p:ext uri="{D42A27DB-BD31-4B8C-83A1-F6EECF244321}">
                <p14:modId xmlns:p14="http://schemas.microsoft.com/office/powerpoint/2010/main" val="4160885454"/>
              </p:ext>
            </p:extLst>
          </p:nvPr>
        </p:nvGraphicFramePr>
        <p:xfrm>
          <a:off x="6171304" y="4160675"/>
          <a:ext cx="4195483" cy="937260"/>
        </p:xfrm>
        <a:graphic>
          <a:graphicData uri="http://schemas.openxmlformats.org/drawingml/2006/table">
            <a:tbl>
              <a:tblPr/>
              <a:tblGrid>
                <a:gridCol w="1271627">
                  <a:extLst>
                    <a:ext uri="{9D8B030D-6E8A-4147-A177-3AD203B41FA5}">
                      <a16:colId xmlns:a16="http://schemas.microsoft.com/office/drawing/2014/main" val="3993428737"/>
                    </a:ext>
                  </a:extLst>
                </a:gridCol>
                <a:gridCol w="1461928">
                  <a:extLst>
                    <a:ext uri="{9D8B030D-6E8A-4147-A177-3AD203B41FA5}">
                      <a16:colId xmlns:a16="http://schemas.microsoft.com/office/drawing/2014/main" val="2161664515"/>
                    </a:ext>
                  </a:extLst>
                </a:gridCol>
                <a:gridCol w="1461928">
                  <a:extLst>
                    <a:ext uri="{9D8B030D-6E8A-4147-A177-3AD203B41FA5}">
                      <a16:colId xmlns:a16="http://schemas.microsoft.com/office/drawing/2014/main" val="81110010"/>
                    </a:ext>
                  </a:extLst>
                </a:gridCol>
              </a:tblGrid>
              <a:tr h="213360">
                <a:tc>
                  <a:txBody>
                    <a:bodyPr/>
                    <a:lstStyle/>
                    <a:p>
                      <a:pPr algn="ctr" fontAlgn="ct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zh-TW" altLang="en-US" sz="2000" b="0" i="0" u="none" strike="noStrike" dirty="0">
                          <a:solidFill>
                            <a:srgbClr val="000000"/>
                          </a:solidFill>
                          <a:effectLst/>
                          <a:latin typeface="微軟正黑體" panose="020B0604030504040204" pitchFamily="34" charset="-120"/>
                          <a:ea typeface="微軟正黑體" panose="020B0604030504040204" pitchFamily="34" charset="-120"/>
                        </a:rPr>
                        <a:t>統計量</a:t>
                      </a: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2000" b="0" i="0" u="none" strike="noStrike" dirty="0">
                          <a:solidFill>
                            <a:srgbClr val="000000"/>
                          </a:solidFill>
                          <a:effectLst/>
                          <a:latin typeface="微軟正黑體" panose="020B0604030504040204" pitchFamily="34" charset="-120"/>
                          <a:ea typeface="微軟正黑體" panose="020B0604030504040204" pitchFamily="34" charset="-120"/>
                        </a:rPr>
                        <a:t>p-value</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4200870"/>
                  </a:ext>
                </a:extLst>
              </a:tr>
              <a:tr h="220980">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T test</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dirty="0">
                          <a:latin typeface="微軟正黑體" panose="020B0604030504040204" pitchFamily="34" charset="-120"/>
                          <a:ea typeface="微軟正黑體" panose="020B0604030504040204" pitchFamily="34" charset="-120"/>
                        </a:rPr>
                        <a:t>2.39</a:t>
                      </a:r>
                      <a:endPar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dirty="0">
                          <a:solidFill>
                            <a:srgbClr val="00B050"/>
                          </a:solidFill>
                          <a:latin typeface="微軟正黑體" panose="020B0604030504040204" pitchFamily="34" charset="-120"/>
                          <a:ea typeface="微軟正黑體" panose="020B0604030504040204" pitchFamily="34" charset="-120"/>
                        </a:rPr>
                        <a:t>0.048</a:t>
                      </a:r>
                      <a:endParaRPr lang="en-US" altLang="zh-TW" sz="2000" b="0" i="0" u="none" strike="noStrike" dirty="0">
                        <a:solidFill>
                          <a:srgbClr val="00B05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1513865"/>
                  </a:ext>
                </a:extLst>
              </a:tr>
              <a:tr h="220980">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Wilcoxon</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dirty="0">
                          <a:latin typeface="微軟正黑體" panose="020B0604030504040204" pitchFamily="34" charset="-120"/>
                          <a:ea typeface="微軟正黑體" panose="020B0604030504040204" pitchFamily="34" charset="-120"/>
                        </a:rPr>
                        <a:t>10</a:t>
                      </a:r>
                      <a:endPar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dirty="0">
                          <a:solidFill>
                            <a:srgbClr val="00B050"/>
                          </a:solidFill>
                          <a:latin typeface="微軟正黑體" panose="020B0604030504040204" pitchFamily="34" charset="-120"/>
                          <a:ea typeface="微軟正黑體" panose="020B0604030504040204" pitchFamily="34" charset="-120"/>
                        </a:rPr>
                        <a:t>0.0625</a:t>
                      </a:r>
                      <a:endParaRPr lang="en-US" altLang="zh-TW" sz="2000" b="0" i="0" u="none" strike="noStrike" dirty="0">
                        <a:solidFill>
                          <a:srgbClr val="00B05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5705361"/>
                  </a:ext>
                </a:extLst>
              </a:tr>
            </a:tbl>
          </a:graphicData>
        </a:graphic>
      </p:graphicFrame>
    </p:spTree>
    <p:extLst>
      <p:ext uri="{BB962C8B-B14F-4D97-AF65-F5344CB8AC3E}">
        <p14:creationId xmlns:p14="http://schemas.microsoft.com/office/powerpoint/2010/main" val="1978782068"/>
      </p:ext>
    </p:extLst>
  </p:cSld>
  <p:clrMapOvr>
    <a:masterClrMapping/>
  </p:clrMapOvr>
  <mc:AlternateContent xmlns:mc="http://schemas.openxmlformats.org/markup-compatibility/2006" xmlns:p14="http://schemas.microsoft.com/office/powerpoint/2010/main">
    <mc:Choice Requires="p14">
      <p:transition spd="slow" p14:dur="1250" advClick="0">
        <p14:pan dir="u"/>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58536" y="107592"/>
            <a:ext cx="5928672" cy="9840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70"/>
            <a:endParaRPr lang="en-US">
              <a:solidFill>
                <a:prstClr val="white"/>
              </a:solidFill>
              <a:latin typeface="思源黑体 CN Medium" panose="020B0600000000000000" pitchFamily="34" charset="-122"/>
              <a:ea typeface="思源黑体 CN Medium" panose="020B0600000000000000" pitchFamily="34" charset="-122"/>
              <a:sym typeface="字魂59号-创粗黑" panose="00000500000000000000" pitchFamily="2" charset="-122"/>
            </a:endParaRPr>
          </a:p>
        </p:txBody>
      </p:sp>
      <p:pic>
        <p:nvPicPr>
          <p:cNvPr id="17" name="图片 16">
            <a:extLst>
              <a:ext uri="{FF2B5EF4-FFF2-40B4-BE49-F238E27FC236}">
                <a16:creationId xmlns:a16="http://schemas.microsoft.com/office/drawing/2014/main" id="{05E72798-6899-42A6-9FEE-703EF4EFCDB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86" b="100000" l="0" r="100000">
                        <a14:foregroundMark x1="82171" y1="51131" x2="59408" y2="50679"/>
                        <a14:backgroundMark x1="91473" y1="41991" x2="86047" y2="34299"/>
                        <a14:backgroundMark x1="91966" y1="54118" x2="88090" y2="67059"/>
                        <a14:backgroundMark x1="84426" y1="75023" x2="75405" y2="81719"/>
                        <a14:backgroundMark x1="77026" y1="32217" x2="73573" y2="31493"/>
                        <a14:backgroundMark x1="67583" y1="33575" x2="65257" y2="31312"/>
                      </a14:backgroundRemoval>
                    </a14:imgEffect>
                  </a14:imgLayer>
                </a14:imgProps>
              </a:ext>
              <a:ext uri="{28A0092B-C50C-407E-A947-70E740481C1C}">
                <a14:useLocalDpi xmlns:a14="http://schemas.microsoft.com/office/drawing/2010/main" val="0"/>
              </a:ext>
            </a:extLst>
          </a:blip>
          <a:stretch>
            <a:fillRect/>
          </a:stretch>
        </p:blipFill>
        <p:spPr>
          <a:xfrm rot="277819">
            <a:off x="-1366951" y="-490407"/>
            <a:ext cx="3108709" cy="2420806"/>
          </a:xfrm>
          <a:prstGeom prst="rect">
            <a:avLst/>
          </a:prstGeom>
        </p:spPr>
      </p:pic>
      <p:sp>
        <p:nvSpPr>
          <p:cNvPr id="2" name="矩形 1">
            <a:extLst>
              <a:ext uri="{FF2B5EF4-FFF2-40B4-BE49-F238E27FC236}">
                <a16:creationId xmlns:a16="http://schemas.microsoft.com/office/drawing/2014/main" id="{CDACD7A8-3A6E-4C27-9240-791E721F0C74}"/>
              </a:ext>
            </a:extLst>
          </p:cNvPr>
          <p:cNvSpPr/>
          <p:nvPr/>
        </p:nvSpPr>
        <p:spPr>
          <a:xfrm>
            <a:off x="1570514" y="337965"/>
            <a:ext cx="4764972" cy="548443"/>
          </a:xfrm>
          <a:prstGeom prst="rect">
            <a:avLst/>
          </a:prstGeom>
        </p:spPr>
        <p:txBody>
          <a:bodyPr wrap="none">
            <a:normAutofit/>
          </a:bodyPr>
          <a:lstStyle/>
          <a:p>
            <a:r>
              <a:rPr lang="en-US" altLang="zh-TW" sz="2800" dirty="0">
                <a:solidFill>
                  <a:prstClr val="black">
                    <a:lumMod val="75000"/>
                    <a:lumOff val="25000"/>
                  </a:prstClr>
                </a:solidFill>
                <a:latin typeface="Source Han Sans TC"/>
                <a:ea typeface="Source Han Sans TC"/>
                <a:sym typeface="字魂59号-创粗黑" panose="00000500000000000000" pitchFamily="2" charset="-122"/>
              </a:rPr>
              <a:t>Data analysis –</a:t>
            </a:r>
            <a:r>
              <a:rPr lang="zh-TW" altLang="en-US" sz="2800" dirty="0">
                <a:solidFill>
                  <a:prstClr val="black">
                    <a:lumMod val="75000"/>
                    <a:lumOff val="25000"/>
                  </a:prstClr>
                </a:solidFill>
                <a:latin typeface="Source Han Sans TC"/>
                <a:ea typeface="Source Han Sans TC"/>
                <a:sym typeface="字魂59号-创粗黑" panose="00000500000000000000" pitchFamily="2" charset="-122"/>
              </a:rPr>
              <a:t> </a:t>
            </a:r>
            <a:r>
              <a:rPr lang="zh-TW" altLang="en-US" sz="2800" dirty="0">
                <a:solidFill>
                  <a:srgbClr val="0070C0"/>
                </a:solidFill>
                <a:latin typeface="Source Han Sans TC"/>
                <a:ea typeface="Source Han Sans TC"/>
                <a:sym typeface="字魂59号-创粗黑" panose="00000500000000000000" pitchFamily="2" charset="-122"/>
              </a:rPr>
              <a:t>便祕患者</a:t>
            </a:r>
            <a:endParaRPr lang="en-US" altLang="zh-TW" sz="2800" dirty="0">
              <a:solidFill>
                <a:srgbClr val="0070C0"/>
              </a:solidFill>
              <a:latin typeface="Source Han Sans TC"/>
              <a:ea typeface="Source Han Sans TC"/>
              <a:sym typeface="字魂59号-创粗黑" panose="00000500000000000000" pitchFamily="2" charset="-122"/>
            </a:endParaRPr>
          </a:p>
          <a:p>
            <a:endParaRPr lang="en-US" altLang="zh-TW" sz="2800" b="1" dirty="0">
              <a:solidFill>
                <a:srgbClr val="0070C0"/>
              </a:solidFill>
              <a:latin typeface="微軟正黑體" panose="020B0604030504040204" pitchFamily="34" charset="-120"/>
              <a:ea typeface="微軟正黑體" panose="020B0604030504040204" pitchFamily="34" charset="-120"/>
              <a:cs typeface="Calibri" panose="020F0502020204030204" pitchFamily="34" charset="0"/>
            </a:endParaRPr>
          </a:p>
        </p:txBody>
      </p:sp>
      <p:sp>
        <p:nvSpPr>
          <p:cNvPr id="7" name="文字方塊 6">
            <a:extLst>
              <a:ext uri="{FF2B5EF4-FFF2-40B4-BE49-F238E27FC236}">
                <a16:creationId xmlns:a16="http://schemas.microsoft.com/office/drawing/2014/main" id="{F36FF8FF-6BA0-209F-2116-3F8DD34B989C}"/>
              </a:ext>
            </a:extLst>
          </p:cNvPr>
          <p:cNvSpPr txBox="1"/>
          <p:nvPr/>
        </p:nvSpPr>
        <p:spPr>
          <a:xfrm>
            <a:off x="1110658" y="1538642"/>
            <a:ext cx="10449655" cy="3267433"/>
          </a:xfrm>
          <a:prstGeom prst="rect">
            <a:avLst/>
          </a:prstGeom>
          <a:noFill/>
        </p:spPr>
        <p:txBody>
          <a:bodyPr wrap="none" rtlCol="0">
            <a:spAutoFit/>
          </a:bodyPr>
          <a:lstStyle/>
          <a:p>
            <a:pPr>
              <a:lnSpc>
                <a:spcPct val="150000"/>
              </a:lnSpc>
            </a:pP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接著我們對缺失值進行補值，我們首先排除掉前後測都沒有數值的資料，因此我們總共有</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nSpc>
                <a:spcPct val="150000"/>
              </a:lnSpc>
            </a:pP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37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筆資料，其中又有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33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筆缺乏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post value</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，因此我們的目的是希望透過已知的資料來針</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nSpc>
                <a:spcPct val="150000"/>
              </a:lnSpc>
            </a:pP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對這些缺失值進行補值，而我們採用的方法有以下兩種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simple linear regression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跟 </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nSpc>
                <a:spcPct val="150000"/>
              </a:lnSpc>
            </a:pP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Bayesian Ridge Regression</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 前者是單純地針對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pre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跟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post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的關係透過一條直線來刻畫</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nSpc>
                <a:spcPct val="150000"/>
              </a:lnSpc>
            </a:pP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因此其</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假設不同初始水準的個案接受治療後平均改善的水準是相同的</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。而後者的方法把參數</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nSpc>
                <a:spcPct val="150000"/>
              </a:lnSpc>
            </a:pP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假設成一個隨機變數，意即針對不同的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pre value</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 我們可以根據參數的後驗分佈計算對應的 </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nSpc>
                <a:spcPct val="150000"/>
              </a:lnSpc>
            </a:pP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post value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的預測分佈，該方法會使得我們的參數估計更加穩健。</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58340992"/>
      </p:ext>
    </p:extLst>
  </p:cSld>
  <p:clrMapOvr>
    <a:masterClrMapping/>
  </p:clrMapOvr>
  <mc:AlternateContent xmlns:mc="http://schemas.openxmlformats.org/markup-compatibility/2006" xmlns:p14="http://schemas.microsoft.com/office/powerpoint/2010/main">
    <mc:Choice Requires="p14">
      <p:transition spd="slow" p14:dur="1250" advClick="0">
        <p14:pan dir="u"/>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58536" y="107592"/>
            <a:ext cx="5928672" cy="9840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70"/>
            <a:endParaRPr lang="en-US">
              <a:solidFill>
                <a:prstClr val="white"/>
              </a:solidFill>
              <a:latin typeface="思源黑体 CN Medium" panose="020B0600000000000000" pitchFamily="34" charset="-122"/>
              <a:ea typeface="思源黑体 CN Medium" panose="020B0600000000000000" pitchFamily="34" charset="-122"/>
              <a:sym typeface="字魂59号-创粗黑" panose="00000500000000000000" pitchFamily="2" charset="-122"/>
            </a:endParaRPr>
          </a:p>
        </p:txBody>
      </p:sp>
      <p:pic>
        <p:nvPicPr>
          <p:cNvPr id="17" name="图片 16">
            <a:extLst>
              <a:ext uri="{FF2B5EF4-FFF2-40B4-BE49-F238E27FC236}">
                <a16:creationId xmlns:a16="http://schemas.microsoft.com/office/drawing/2014/main" id="{05E72798-6899-42A6-9FEE-703EF4EFCDB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86" b="100000" l="0" r="100000">
                        <a14:foregroundMark x1="82171" y1="51131" x2="59408" y2="50679"/>
                        <a14:backgroundMark x1="91473" y1="41991" x2="86047" y2="34299"/>
                        <a14:backgroundMark x1="91966" y1="54118" x2="88090" y2="67059"/>
                        <a14:backgroundMark x1="84426" y1="75023" x2="75405" y2="81719"/>
                        <a14:backgroundMark x1="77026" y1="32217" x2="73573" y2="31493"/>
                        <a14:backgroundMark x1="67583" y1="33575" x2="65257" y2="31312"/>
                      </a14:backgroundRemoval>
                    </a14:imgEffect>
                  </a14:imgLayer>
                </a14:imgProps>
              </a:ext>
              <a:ext uri="{28A0092B-C50C-407E-A947-70E740481C1C}">
                <a14:useLocalDpi xmlns:a14="http://schemas.microsoft.com/office/drawing/2010/main" val="0"/>
              </a:ext>
            </a:extLst>
          </a:blip>
          <a:stretch>
            <a:fillRect/>
          </a:stretch>
        </p:blipFill>
        <p:spPr>
          <a:xfrm rot="277819">
            <a:off x="-1366951" y="-490407"/>
            <a:ext cx="3108709" cy="2420806"/>
          </a:xfrm>
          <a:prstGeom prst="rect">
            <a:avLst/>
          </a:prstGeom>
        </p:spPr>
      </p:pic>
      <p:sp>
        <p:nvSpPr>
          <p:cNvPr id="2" name="矩形 1">
            <a:extLst>
              <a:ext uri="{FF2B5EF4-FFF2-40B4-BE49-F238E27FC236}">
                <a16:creationId xmlns:a16="http://schemas.microsoft.com/office/drawing/2014/main" id="{CDACD7A8-3A6E-4C27-9240-791E721F0C74}"/>
              </a:ext>
            </a:extLst>
          </p:cNvPr>
          <p:cNvSpPr/>
          <p:nvPr/>
        </p:nvSpPr>
        <p:spPr>
          <a:xfrm>
            <a:off x="1570514" y="337965"/>
            <a:ext cx="4764972" cy="548443"/>
          </a:xfrm>
          <a:prstGeom prst="rect">
            <a:avLst/>
          </a:prstGeom>
        </p:spPr>
        <p:txBody>
          <a:bodyPr wrap="none">
            <a:normAutofit/>
          </a:bodyPr>
          <a:lstStyle/>
          <a:p>
            <a:r>
              <a:rPr lang="en-US" altLang="zh-TW" sz="2800" dirty="0">
                <a:solidFill>
                  <a:prstClr val="black">
                    <a:lumMod val="75000"/>
                    <a:lumOff val="25000"/>
                  </a:prstClr>
                </a:solidFill>
                <a:latin typeface="Source Han Sans TC"/>
                <a:ea typeface="Source Han Sans TC"/>
                <a:sym typeface="字魂59号-创粗黑" panose="00000500000000000000" pitchFamily="2" charset="-122"/>
              </a:rPr>
              <a:t>Data analysis –</a:t>
            </a:r>
            <a:r>
              <a:rPr lang="zh-TW" altLang="en-US" sz="2800" dirty="0">
                <a:solidFill>
                  <a:prstClr val="black">
                    <a:lumMod val="75000"/>
                    <a:lumOff val="25000"/>
                  </a:prstClr>
                </a:solidFill>
                <a:latin typeface="Source Han Sans TC"/>
                <a:ea typeface="Source Han Sans TC"/>
                <a:sym typeface="字魂59号-创粗黑" panose="00000500000000000000" pitchFamily="2" charset="-122"/>
              </a:rPr>
              <a:t> </a:t>
            </a:r>
            <a:r>
              <a:rPr lang="zh-TW" altLang="en-US" sz="2800" dirty="0">
                <a:solidFill>
                  <a:srgbClr val="0070C0"/>
                </a:solidFill>
                <a:latin typeface="Source Han Sans TC"/>
                <a:ea typeface="Source Han Sans TC"/>
                <a:sym typeface="字魂59号-创粗黑" panose="00000500000000000000" pitchFamily="2" charset="-122"/>
              </a:rPr>
              <a:t>便祕患者</a:t>
            </a:r>
            <a:endParaRPr lang="en-US" altLang="zh-TW" sz="2800" dirty="0">
              <a:solidFill>
                <a:srgbClr val="0070C0"/>
              </a:solidFill>
              <a:latin typeface="Source Han Sans TC"/>
              <a:ea typeface="Source Han Sans TC"/>
              <a:sym typeface="字魂59号-创粗黑" panose="00000500000000000000" pitchFamily="2" charset="-122"/>
            </a:endParaRPr>
          </a:p>
          <a:p>
            <a:endParaRPr lang="en-US" altLang="zh-TW" sz="2800" b="1" dirty="0">
              <a:solidFill>
                <a:srgbClr val="0070C0"/>
              </a:solidFill>
              <a:latin typeface="微軟正黑體" panose="020B0604030504040204" pitchFamily="34" charset="-120"/>
              <a:ea typeface="微軟正黑體" panose="020B0604030504040204" pitchFamily="34" charset="-120"/>
              <a:cs typeface="Calibri" panose="020F0502020204030204" pitchFamily="34" charset="0"/>
            </a:endParaRPr>
          </a:p>
        </p:txBody>
      </p:sp>
      <p:sp>
        <p:nvSpPr>
          <p:cNvPr id="8" name="文字方塊 7">
            <a:extLst>
              <a:ext uri="{FF2B5EF4-FFF2-40B4-BE49-F238E27FC236}">
                <a16:creationId xmlns:a16="http://schemas.microsoft.com/office/drawing/2014/main" id="{38376C39-1C05-2DA1-373D-6ABFFDA24D2D}"/>
              </a:ext>
            </a:extLst>
          </p:cNvPr>
          <p:cNvSpPr txBox="1"/>
          <p:nvPr/>
        </p:nvSpPr>
        <p:spPr>
          <a:xfrm>
            <a:off x="968440" y="1586009"/>
            <a:ext cx="4143185" cy="461665"/>
          </a:xfrm>
          <a:prstGeom prst="rect">
            <a:avLst/>
          </a:prstGeom>
          <a:noFill/>
        </p:spPr>
        <p:txBody>
          <a:bodyPr wrap="none" rtlCol="0">
            <a:spAutoFit/>
          </a:bodyPr>
          <a:lstStyle/>
          <a:p>
            <a:r>
              <a:rPr lang="en-US" altLang="zh-TW" sz="2400" b="1" dirty="0">
                <a:solidFill>
                  <a:srgbClr val="00B050"/>
                </a:solidFill>
                <a:latin typeface="微軟正黑體" panose="020B0604030504040204" pitchFamily="34" charset="-120"/>
                <a:ea typeface="微軟正黑體" panose="020B0604030504040204" pitchFamily="34" charset="-120"/>
              </a:rPr>
              <a:t>Bayesian Ridge Regression</a:t>
            </a:r>
            <a:endParaRPr lang="zh-TW" altLang="en-US" sz="2400" b="1" dirty="0">
              <a:solidFill>
                <a:srgbClr val="00B050"/>
              </a:solidFill>
              <a:latin typeface="微軟正黑體" panose="020B0604030504040204" pitchFamily="34" charset="-120"/>
              <a:ea typeface="微軟正黑體" panose="020B0604030504040204" pitchFamily="34" charset="-120"/>
            </a:endParaRPr>
          </a:p>
        </p:txBody>
      </p:sp>
      <p:pic>
        <p:nvPicPr>
          <p:cNvPr id="6" name="圖片 5">
            <a:extLst>
              <a:ext uri="{FF2B5EF4-FFF2-40B4-BE49-F238E27FC236}">
                <a16:creationId xmlns:a16="http://schemas.microsoft.com/office/drawing/2014/main" id="{2896A2DE-50DC-8B56-7118-4ACCEBC22D5D}"/>
              </a:ext>
            </a:extLst>
          </p:cNvPr>
          <p:cNvPicPr>
            <a:picLocks noChangeAspect="1"/>
          </p:cNvPicPr>
          <p:nvPr/>
        </p:nvPicPr>
        <p:blipFill>
          <a:blip r:embed="rId5"/>
          <a:stretch>
            <a:fillRect/>
          </a:stretch>
        </p:blipFill>
        <p:spPr>
          <a:xfrm>
            <a:off x="1834397" y="2329824"/>
            <a:ext cx="2198352" cy="2198352"/>
          </a:xfrm>
          <a:prstGeom prst="rect">
            <a:avLst/>
          </a:prstGeom>
        </p:spPr>
      </p:pic>
      <p:sp>
        <p:nvSpPr>
          <p:cNvPr id="3" name="文字方塊 2">
            <a:extLst>
              <a:ext uri="{FF2B5EF4-FFF2-40B4-BE49-F238E27FC236}">
                <a16:creationId xmlns:a16="http://schemas.microsoft.com/office/drawing/2014/main" id="{933464D1-7731-BD5A-1339-9C7C942B5426}"/>
              </a:ext>
            </a:extLst>
          </p:cNvPr>
          <p:cNvSpPr txBox="1"/>
          <p:nvPr/>
        </p:nvSpPr>
        <p:spPr>
          <a:xfrm>
            <a:off x="787172" y="4927002"/>
            <a:ext cx="5548314" cy="923330"/>
          </a:xfrm>
          <a:prstGeom prst="rect">
            <a:avLst/>
          </a:prstGeom>
          <a:noFill/>
        </p:spPr>
        <p:txBody>
          <a:bodyPr wrap="none" rtlCol="0">
            <a:spAutoFit/>
          </a:bodyPr>
          <a:lstStyle/>
          <a:p>
            <a:pPr marL="228600" indent="-228600">
              <a:buAutoNum type="arabicPeriod"/>
            </a:pPr>
            <a:r>
              <a:rPr lang="zh-TW" altLang="en-US" dirty="0">
                <a:solidFill>
                  <a:schemeClr val="tx1">
                    <a:lumMod val="75000"/>
                    <a:lumOff val="25000"/>
                  </a:schemeClr>
                </a:solidFill>
                <a:latin typeface="微軟正黑體" panose="020B0604030504040204" pitchFamily="34" charset="-120"/>
                <a:ea typeface="微軟正黑體" panose="020B0604030504040204" pitchFamily="34" charset="-120"/>
              </a:rPr>
              <a:t>假設先驗分佈</a:t>
            </a:r>
            <a:endParaRPr lang="en-US" altLang="zh-TW"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228600" indent="-228600">
              <a:buAutoNum type="arabicPeriod"/>
            </a:pPr>
            <a:r>
              <a:rPr lang="zh-TW" altLang="en-US" dirty="0">
                <a:solidFill>
                  <a:schemeClr val="tx1">
                    <a:lumMod val="75000"/>
                    <a:lumOff val="25000"/>
                  </a:schemeClr>
                </a:solidFill>
                <a:latin typeface="微軟正黑體" panose="020B0604030504040204" pitchFamily="34" charset="-120"/>
                <a:ea typeface="微軟正黑體" panose="020B0604030504040204" pitchFamily="34" charset="-120"/>
              </a:rPr>
              <a:t>透過先驗分佈的假設 </a:t>
            </a:r>
            <a:r>
              <a:rPr lang="en-US" altLang="zh-TW"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dirty="0">
                <a:solidFill>
                  <a:schemeClr val="tx1">
                    <a:lumMod val="75000"/>
                    <a:lumOff val="25000"/>
                  </a:schemeClr>
                </a:solidFill>
                <a:latin typeface="微軟正黑體" panose="020B0604030504040204" pitchFamily="34" charset="-120"/>
                <a:ea typeface="微軟正黑體" panose="020B0604030504040204" pitchFamily="34" charset="-120"/>
              </a:rPr>
              <a:t> 正規劃使得參數估計更穩健</a:t>
            </a:r>
            <a:endParaRPr lang="en-US" altLang="zh-TW"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228600" indent="-228600">
              <a:buAutoNum type="arabicPeriod"/>
            </a:pPr>
            <a:r>
              <a:rPr lang="zh-TW" altLang="en-US" dirty="0">
                <a:solidFill>
                  <a:schemeClr val="tx1">
                    <a:lumMod val="75000"/>
                    <a:lumOff val="25000"/>
                  </a:schemeClr>
                </a:solidFill>
                <a:latin typeface="微軟正黑體" panose="020B0604030504040204" pitchFamily="34" charset="-120"/>
                <a:ea typeface="微軟正黑體" panose="020B0604030504040204" pitchFamily="34" charset="-120"/>
              </a:rPr>
              <a:t>在</a:t>
            </a:r>
            <a:r>
              <a:rPr lang="zh-TW" altLang="en-US" b="1" dirty="0">
                <a:solidFill>
                  <a:schemeClr val="tx1">
                    <a:lumMod val="75000"/>
                    <a:lumOff val="25000"/>
                  </a:schemeClr>
                </a:solidFill>
                <a:latin typeface="微軟正黑體" panose="020B0604030504040204" pitchFamily="34" charset="-120"/>
                <a:ea typeface="微軟正黑體" panose="020B0604030504040204" pitchFamily="34" charset="-120"/>
              </a:rPr>
              <a:t>小樣本的情況下較不容易過度配適</a:t>
            </a:r>
          </a:p>
        </p:txBody>
      </p:sp>
      <p:sp>
        <p:nvSpPr>
          <p:cNvPr id="5" name="文字方塊 4">
            <a:extLst>
              <a:ext uri="{FF2B5EF4-FFF2-40B4-BE49-F238E27FC236}">
                <a16:creationId xmlns:a16="http://schemas.microsoft.com/office/drawing/2014/main" id="{28E3AA81-B630-E4DC-E33F-01843FD21080}"/>
              </a:ext>
            </a:extLst>
          </p:cNvPr>
          <p:cNvSpPr txBox="1"/>
          <p:nvPr/>
        </p:nvSpPr>
        <p:spPr>
          <a:xfrm>
            <a:off x="6897695" y="1580375"/>
            <a:ext cx="3785908" cy="461665"/>
          </a:xfrm>
          <a:prstGeom prst="rect">
            <a:avLst/>
          </a:prstGeom>
          <a:noFill/>
        </p:spPr>
        <p:txBody>
          <a:bodyPr wrap="none" rtlCol="0">
            <a:spAutoFit/>
          </a:bodyPr>
          <a:lstStyle/>
          <a:p>
            <a:r>
              <a:rPr lang="en-US" altLang="zh-TW" sz="2400" b="1" dirty="0">
                <a:solidFill>
                  <a:schemeClr val="accent3">
                    <a:lumMod val="75000"/>
                  </a:schemeClr>
                </a:solidFill>
                <a:latin typeface="微軟正黑體" panose="020B0604030504040204" pitchFamily="34" charset="-120"/>
                <a:ea typeface="微軟正黑體" panose="020B0604030504040204" pitchFamily="34" charset="-120"/>
              </a:rPr>
              <a:t>simple linear regression </a:t>
            </a:r>
            <a:endParaRPr lang="zh-TW" altLang="en-US" sz="2400" b="1" dirty="0">
              <a:solidFill>
                <a:schemeClr val="accent3">
                  <a:lumMod val="75000"/>
                </a:schemeClr>
              </a:solidFill>
              <a:latin typeface="微軟正黑體" panose="020B0604030504040204" pitchFamily="34" charset="-120"/>
              <a:ea typeface="微軟正黑體" panose="020B0604030504040204" pitchFamily="34" charset="-120"/>
            </a:endParaRPr>
          </a:p>
        </p:txBody>
      </p:sp>
      <p:sp>
        <p:nvSpPr>
          <p:cNvPr id="9" name="文字方塊 8">
            <a:extLst>
              <a:ext uri="{FF2B5EF4-FFF2-40B4-BE49-F238E27FC236}">
                <a16:creationId xmlns:a16="http://schemas.microsoft.com/office/drawing/2014/main" id="{01D40C63-D0D3-CB78-D1C6-DB4EF12A4A32}"/>
              </a:ext>
            </a:extLst>
          </p:cNvPr>
          <p:cNvSpPr txBox="1"/>
          <p:nvPr/>
        </p:nvSpPr>
        <p:spPr>
          <a:xfrm>
            <a:off x="6826672" y="4927002"/>
            <a:ext cx="5125121" cy="923330"/>
          </a:xfrm>
          <a:prstGeom prst="rect">
            <a:avLst/>
          </a:prstGeom>
          <a:noFill/>
        </p:spPr>
        <p:txBody>
          <a:bodyPr wrap="none" rtlCol="0">
            <a:spAutoFit/>
          </a:bodyPr>
          <a:lstStyle/>
          <a:p>
            <a:pPr marL="228600" indent="-228600">
              <a:buAutoNum type="arabicPeriod"/>
            </a:pPr>
            <a:r>
              <a:rPr lang="zh-TW" altLang="en-US" dirty="0">
                <a:solidFill>
                  <a:schemeClr val="tx1">
                    <a:lumMod val="75000"/>
                    <a:lumOff val="25000"/>
                  </a:schemeClr>
                </a:solidFill>
                <a:latin typeface="微軟正黑體" panose="020B0604030504040204" pitchFamily="34" charset="-120"/>
                <a:ea typeface="微軟正黑體" panose="020B0604030504040204" pitchFamily="34" charset="-120"/>
              </a:rPr>
              <a:t>模型簡單且容易計算</a:t>
            </a:r>
            <a:endParaRPr lang="en-US" altLang="zh-TW"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228600" indent="-228600">
              <a:buAutoNum type="arabicPeriod"/>
            </a:pPr>
            <a:r>
              <a:rPr lang="zh-TW" altLang="en-US" dirty="0">
                <a:solidFill>
                  <a:schemeClr val="tx1">
                    <a:lumMod val="75000"/>
                    <a:lumOff val="25000"/>
                  </a:schemeClr>
                </a:solidFill>
                <a:latin typeface="微軟正黑體" panose="020B0604030504040204" pitchFamily="34" charset="-120"/>
                <a:ea typeface="微軟正黑體" panose="020B0604030504040204" pitchFamily="34" charset="-120"/>
              </a:rPr>
              <a:t>較容易解釋</a:t>
            </a:r>
            <a:endParaRPr lang="en-US" altLang="zh-TW"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228600" indent="-228600">
              <a:buAutoNum type="arabicPeriod"/>
            </a:pPr>
            <a:r>
              <a:rPr lang="zh-TW" altLang="en-US" dirty="0">
                <a:solidFill>
                  <a:schemeClr val="tx1">
                    <a:lumMod val="75000"/>
                    <a:lumOff val="25000"/>
                  </a:schemeClr>
                </a:solidFill>
                <a:latin typeface="微軟正黑體" panose="020B0604030504040204" pitchFamily="34" charset="-120"/>
                <a:ea typeface="微軟正黑體" panose="020B0604030504040204" pitchFamily="34" charset="-120"/>
              </a:rPr>
              <a:t>在</a:t>
            </a:r>
            <a:r>
              <a:rPr lang="zh-TW" altLang="en-US" b="1" dirty="0">
                <a:solidFill>
                  <a:schemeClr val="tx1">
                    <a:lumMod val="75000"/>
                    <a:lumOff val="25000"/>
                  </a:schemeClr>
                </a:solidFill>
                <a:latin typeface="微軟正黑體" panose="020B0604030504040204" pitchFamily="34" charset="-120"/>
                <a:ea typeface="微軟正黑體" panose="020B0604030504040204" pitchFamily="34" charset="-120"/>
              </a:rPr>
              <a:t>大樣本時不容易過度配適</a:t>
            </a:r>
            <a:r>
              <a:rPr lang="zh-TW" altLang="en-US" dirty="0">
                <a:solidFill>
                  <a:schemeClr val="tx1">
                    <a:lumMod val="75000"/>
                    <a:lumOff val="25000"/>
                  </a:schemeClr>
                </a:solidFill>
                <a:latin typeface="微軟正黑體" panose="020B0604030504040204" pitchFamily="34" charset="-120"/>
                <a:ea typeface="微軟正黑體" panose="020B0604030504040204" pitchFamily="34" charset="-120"/>
              </a:rPr>
              <a:t>，但小樣本則容易</a:t>
            </a:r>
          </a:p>
        </p:txBody>
      </p:sp>
      <p:pic>
        <p:nvPicPr>
          <p:cNvPr id="11" name="圖片 10">
            <a:extLst>
              <a:ext uri="{FF2B5EF4-FFF2-40B4-BE49-F238E27FC236}">
                <a16:creationId xmlns:a16="http://schemas.microsoft.com/office/drawing/2014/main" id="{5D2D3495-5388-8923-82FB-5F8B2447B70E}"/>
              </a:ext>
            </a:extLst>
          </p:cNvPr>
          <p:cNvPicPr>
            <a:picLocks noChangeAspect="1"/>
          </p:cNvPicPr>
          <p:nvPr/>
        </p:nvPicPr>
        <p:blipFill>
          <a:blip r:embed="rId6"/>
          <a:stretch>
            <a:fillRect/>
          </a:stretch>
        </p:blipFill>
        <p:spPr>
          <a:xfrm>
            <a:off x="7873701" y="2327996"/>
            <a:ext cx="2198352" cy="2198352"/>
          </a:xfrm>
          <a:prstGeom prst="rect">
            <a:avLst/>
          </a:prstGeom>
        </p:spPr>
      </p:pic>
    </p:spTree>
    <p:extLst>
      <p:ext uri="{BB962C8B-B14F-4D97-AF65-F5344CB8AC3E}">
        <p14:creationId xmlns:p14="http://schemas.microsoft.com/office/powerpoint/2010/main" val="221323470"/>
      </p:ext>
    </p:extLst>
  </p:cSld>
  <p:clrMapOvr>
    <a:masterClrMapping/>
  </p:clrMapOvr>
  <mc:AlternateContent xmlns:mc="http://schemas.openxmlformats.org/markup-compatibility/2006" xmlns:p14="http://schemas.microsoft.com/office/powerpoint/2010/main">
    <mc:Choice Requires="p14">
      <p:transition spd="slow" p14:dur="1250" advClick="0">
        <p14:pan dir="u"/>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58536" y="107592"/>
            <a:ext cx="5928672" cy="9840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70"/>
            <a:endParaRPr lang="en-US">
              <a:solidFill>
                <a:prstClr val="white"/>
              </a:solidFill>
              <a:latin typeface="思源黑体 CN Medium" panose="020B0600000000000000" pitchFamily="34" charset="-122"/>
              <a:ea typeface="思源黑体 CN Medium" panose="020B0600000000000000" pitchFamily="34" charset="-122"/>
              <a:sym typeface="字魂59号-创粗黑" panose="00000500000000000000" pitchFamily="2" charset="-122"/>
            </a:endParaRPr>
          </a:p>
        </p:txBody>
      </p:sp>
      <p:pic>
        <p:nvPicPr>
          <p:cNvPr id="17" name="图片 16">
            <a:extLst>
              <a:ext uri="{FF2B5EF4-FFF2-40B4-BE49-F238E27FC236}">
                <a16:creationId xmlns:a16="http://schemas.microsoft.com/office/drawing/2014/main" id="{05E72798-6899-42A6-9FEE-703EF4EFCDB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86" b="100000" l="0" r="100000">
                        <a14:foregroundMark x1="82171" y1="51131" x2="59408" y2="50679"/>
                        <a14:backgroundMark x1="91473" y1="41991" x2="86047" y2="34299"/>
                        <a14:backgroundMark x1="91966" y1="54118" x2="88090" y2="67059"/>
                        <a14:backgroundMark x1="84426" y1="75023" x2="75405" y2="81719"/>
                        <a14:backgroundMark x1="77026" y1="32217" x2="73573" y2="31493"/>
                        <a14:backgroundMark x1="67583" y1="33575" x2="65257" y2="31312"/>
                      </a14:backgroundRemoval>
                    </a14:imgEffect>
                  </a14:imgLayer>
                </a14:imgProps>
              </a:ext>
              <a:ext uri="{28A0092B-C50C-407E-A947-70E740481C1C}">
                <a14:useLocalDpi xmlns:a14="http://schemas.microsoft.com/office/drawing/2010/main" val="0"/>
              </a:ext>
            </a:extLst>
          </a:blip>
          <a:stretch>
            <a:fillRect/>
          </a:stretch>
        </p:blipFill>
        <p:spPr>
          <a:xfrm rot="277819">
            <a:off x="-1366951" y="-490407"/>
            <a:ext cx="3108709" cy="2420806"/>
          </a:xfrm>
          <a:prstGeom prst="rect">
            <a:avLst/>
          </a:prstGeom>
        </p:spPr>
      </p:pic>
      <p:sp>
        <p:nvSpPr>
          <p:cNvPr id="2" name="矩形 1">
            <a:extLst>
              <a:ext uri="{FF2B5EF4-FFF2-40B4-BE49-F238E27FC236}">
                <a16:creationId xmlns:a16="http://schemas.microsoft.com/office/drawing/2014/main" id="{CDACD7A8-3A6E-4C27-9240-791E721F0C74}"/>
              </a:ext>
            </a:extLst>
          </p:cNvPr>
          <p:cNvSpPr/>
          <p:nvPr/>
        </p:nvSpPr>
        <p:spPr>
          <a:xfrm>
            <a:off x="1570514" y="337965"/>
            <a:ext cx="4764972" cy="548443"/>
          </a:xfrm>
          <a:prstGeom prst="rect">
            <a:avLst/>
          </a:prstGeom>
        </p:spPr>
        <p:txBody>
          <a:bodyPr wrap="none">
            <a:normAutofit/>
          </a:bodyPr>
          <a:lstStyle/>
          <a:p>
            <a:r>
              <a:rPr lang="en-US" altLang="zh-TW" sz="2800" dirty="0">
                <a:solidFill>
                  <a:prstClr val="black">
                    <a:lumMod val="75000"/>
                    <a:lumOff val="25000"/>
                  </a:prstClr>
                </a:solidFill>
                <a:latin typeface="Source Han Sans TC"/>
                <a:ea typeface="Source Han Sans TC"/>
                <a:sym typeface="字魂59号-创粗黑" panose="00000500000000000000" pitchFamily="2" charset="-122"/>
              </a:rPr>
              <a:t>Data analysis –</a:t>
            </a:r>
            <a:r>
              <a:rPr lang="zh-TW" altLang="en-US" sz="2800" dirty="0">
                <a:solidFill>
                  <a:prstClr val="black">
                    <a:lumMod val="75000"/>
                    <a:lumOff val="25000"/>
                  </a:prstClr>
                </a:solidFill>
                <a:latin typeface="Source Han Sans TC"/>
                <a:ea typeface="Source Han Sans TC"/>
                <a:sym typeface="字魂59号-创粗黑" panose="00000500000000000000" pitchFamily="2" charset="-122"/>
              </a:rPr>
              <a:t> </a:t>
            </a:r>
            <a:r>
              <a:rPr lang="zh-TW" altLang="en-US" sz="2800" dirty="0">
                <a:solidFill>
                  <a:srgbClr val="0070C0"/>
                </a:solidFill>
                <a:latin typeface="Source Han Sans TC"/>
                <a:ea typeface="Source Han Sans TC"/>
                <a:sym typeface="字魂59号-创粗黑" panose="00000500000000000000" pitchFamily="2" charset="-122"/>
              </a:rPr>
              <a:t>便祕患者</a:t>
            </a:r>
            <a:endParaRPr lang="en-US" altLang="zh-TW" sz="2800" dirty="0">
              <a:solidFill>
                <a:srgbClr val="0070C0"/>
              </a:solidFill>
              <a:latin typeface="Source Han Sans TC"/>
              <a:ea typeface="Source Han Sans TC"/>
              <a:sym typeface="字魂59号-创粗黑" panose="00000500000000000000" pitchFamily="2" charset="-122"/>
            </a:endParaRPr>
          </a:p>
          <a:p>
            <a:endParaRPr lang="en-US" altLang="zh-TW" sz="2800" b="1" dirty="0">
              <a:solidFill>
                <a:srgbClr val="0070C0"/>
              </a:solidFill>
              <a:latin typeface="微軟正黑體" panose="020B0604030504040204" pitchFamily="34" charset="-120"/>
              <a:ea typeface="微軟正黑體" panose="020B0604030504040204" pitchFamily="34" charset="-120"/>
              <a:cs typeface="Calibri" panose="020F0502020204030204" pitchFamily="34" charset="0"/>
            </a:endParaRPr>
          </a:p>
        </p:txBody>
      </p:sp>
      <p:graphicFrame>
        <p:nvGraphicFramePr>
          <p:cNvPr id="7" name="表格 6">
            <a:extLst>
              <a:ext uri="{FF2B5EF4-FFF2-40B4-BE49-F238E27FC236}">
                <a16:creationId xmlns:a16="http://schemas.microsoft.com/office/drawing/2014/main" id="{4BCB85BB-AE3F-1C58-F531-1157821C767C}"/>
              </a:ext>
            </a:extLst>
          </p:cNvPr>
          <p:cNvGraphicFramePr>
            <a:graphicFrameLocks noGrp="1"/>
          </p:cNvGraphicFramePr>
          <p:nvPr>
            <p:extLst>
              <p:ext uri="{D42A27DB-BD31-4B8C-83A1-F6EECF244321}">
                <p14:modId xmlns:p14="http://schemas.microsoft.com/office/powerpoint/2010/main" val="3282375493"/>
              </p:ext>
            </p:extLst>
          </p:nvPr>
        </p:nvGraphicFramePr>
        <p:xfrm>
          <a:off x="894791" y="2042846"/>
          <a:ext cx="3901418" cy="4267200"/>
        </p:xfrm>
        <a:graphic>
          <a:graphicData uri="http://schemas.openxmlformats.org/drawingml/2006/table">
            <a:tbl>
              <a:tblPr/>
              <a:tblGrid>
                <a:gridCol w="829779">
                  <a:extLst>
                    <a:ext uri="{9D8B030D-6E8A-4147-A177-3AD203B41FA5}">
                      <a16:colId xmlns:a16="http://schemas.microsoft.com/office/drawing/2014/main" val="2836645387"/>
                    </a:ext>
                  </a:extLst>
                </a:gridCol>
                <a:gridCol w="931682">
                  <a:extLst>
                    <a:ext uri="{9D8B030D-6E8A-4147-A177-3AD203B41FA5}">
                      <a16:colId xmlns:a16="http://schemas.microsoft.com/office/drawing/2014/main" val="143137281"/>
                    </a:ext>
                  </a:extLst>
                </a:gridCol>
                <a:gridCol w="1019027">
                  <a:extLst>
                    <a:ext uri="{9D8B030D-6E8A-4147-A177-3AD203B41FA5}">
                      <a16:colId xmlns:a16="http://schemas.microsoft.com/office/drawing/2014/main" val="3933046729"/>
                    </a:ext>
                  </a:extLst>
                </a:gridCol>
                <a:gridCol w="1120930">
                  <a:extLst>
                    <a:ext uri="{9D8B030D-6E8A-4147-A177-3AD203B41FA5}">
                      <a16:colId xmlns:a16="http://schemas.microsoft.com/office/drawing/2014/main" val="2231990356"/>
                    </a:ext>
                  </a:extLst>
                </a:gridCol>
              </a:tblGrid>
              <a:tr h="419100">
                <a:tc>
                  <a:txBody>
                    <a:bodyPr/>
                    <a:lstStyle/>
                    <a:p>
                      <a:pPr algn="ctr" fontAlgn="ctr"/>
                      <a:r>
                        <a:rPr lang="en-US" sz="16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PreTest</a:t>
                      </a:r>
                      <a:endParaRPr lang="en-US" sz="16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6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PostTest</a:t>
                      </a:r>
                      <a:endParaRPr lang="en-US" sz="16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6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Imputation</a:t>
                      </a:r>
                      <a:br>
                        <a:rPr lang="en-US" sz="16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US" sz="16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(Bayesian)</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16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Imputation</a:t>
                      </a:r>
                      <a:br>
                        <a:rPr lang="en-US" sz="16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US" sz="16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(Simple LR)</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465803855"/>
                  </a:ext>
                </a:extLst>
              </a:tr>
              <a:tr h="220980">
                <a:tc>
                  <a:txBody>
                    <a:bodyPr/>
                    <a:lstStyle/>
                    <a:p>
                      <a:pPr algn="ctr" fontAlgn="ctr"/>
                      <a:r>
                        <a:rPr lang="en-US" altLang="zh-TW" sz="16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6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NA</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16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8.887989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16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6.805785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7613441"/>
                  </a:ext>
                </a:extLst>
              </a:tr>
              <a:tr h="220980">
                <a:tc>
                  <a:txBody>
                    <a:bodyPr/>
                    <a:lstStyle/>
                    <a:p>
                      <a:pPr algn="ctr" fontAlgn="ctr"/>
                      <a:r>
                        <a:rPr lang="en-US" altLang="zh-TW" sz="16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6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NA</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16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10.162845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16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7.822314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24176468"/>
                  </a:ext>
                </a:extLst>
              </a:tr>
              <a:tr h="220980">
                <a:tc>
                  <a:txBody>
                    <a:bodyPr/>
                    <a:lstStyle/>
                    <a:p>
                      <a:pPr algn="ctr" fontAlgn="ctr"/>
                      <a:r>
                        <a:rPr lang="en-US" altLang="zh-TW" sz="16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6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NA</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16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8.632587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16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8.5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6803171"/>
                  </a:ext>
                </a:extLst>
              </a:tr>
              <a:tr h="220980">
                <a:tc>
                  <a:txBody>
                    <a:bodyPr/>
                    <a:lstStyle/>
                    <a:p>
                      <a:pPr algn="ctr" fontAlgn="ctr"/>
                      <a:r>
                        <a:rPr lang="en-US" altLang="zh-TW" sz="16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43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6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NA</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16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11.165611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16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12.735537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10684380"/>
                  </a:ext>
                </a:extLst>
              </a:tr>
              <a:tr h="220980">
                <a:tc>
                  <a:txBody>
                    <a:bodyPr/>
                    <a:lstStyle/>
                    <a:p>
                      <a:pPr algn="ctr" fontAlgn="ctr"/>
                      <a:r>
                        <a:rPr lang="en-US" altLang="zh-TW" sz="16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6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NA</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16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8.897715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16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7.31405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14519108"/>
                  </a:ext>
                </a:extLst>
              </a:tr>
              <a:tr h="220980">
                <a:tc>
                  <a:txBody>
                    <a:bodyPr/>
                    <a:lstStyle/>
                    <a:p>
                      <a:pPr algn="ctr" fontAlgn="ctr"/>
                      <a:r>
                        <a:rPr lang="en-US" altLang="zh-TW" sz="16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6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NA</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16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8.307146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16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9.347107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53192759"/>
                  </a:ext>
                </a:extLst>
              </a:tr>
              <a:tr h="220980">
                <a:tc>
                  <a:txBody>
                    <a:bodyPr/>
                    <a:lstStyle/>
                    <a:p>
                      <a:pPr algn="ctr" fontAlgn="ctr"/>
                      <a:r>
                        <a:rPr lang="en-US" altLang="zh-TW" sz="16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6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NA</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16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7.434942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16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11.210744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23689115"/>
                  </a:ext>
                </a:extLst>
              </a:tr>
              <a:tr h="220980">
                <a:tc>
                  <a:txBody>
                    <a:bodyPr/>
                    <a:lstStyle/>
                    <a:p>
                      <a:pPr algn="ctr" fontAlgn="ctr"/>
                      <a:r>
                        <a:rPr lang="en-US" altLang="zh-TW" sz="16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6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NA</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16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4.273565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16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9.855372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86788454"/>
                  </a:ext>
                </a:extLst>
              </a:tr>
              <a:tr h="220980">
                <a:tc>
                  <a:txBody>
                    <a:bodyPr/>
                    <a:lstStyle/>
                    <a:p>
                      <a:pPr algn="ctr" fontAlgn="ctr"/>
                      <a:r>
                        <a:rPr lang="en-US" altLang="zh-TW" sz="16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16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16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16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68568915"/>
                  </a:ext>
                </a:extLst>
              </a:tr>
              <a:tr h="220980">
                <a:tc>
                  <a:txBody>
                    <a:bodyPr/>
                    <a:lstStyle/>
                    <a:p>
                      <a:pPr algn="ctr" fontAlgn="ctr"/>
                      <a:r>
                        <a:rPr lang="en-US" altLang="zh-TW" sz="16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16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16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16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66500703"/>
                  </a:ext>
                </a:extLst>
              </a:tr>
              <a:tr h="220980">
                <a:tc>
                  <a:txBody>
                    <a:bodyPr/>
                    <a:lstStyle/>
                    <a:p>
                      <a:pPr algn="ctr" fontAlgn="ctr"/>
                      <a:r>
                        <a:rPr lang="en-US" altLang="zh-TW" sz="16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6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NA</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16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7.5911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16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7.483471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2721716"/>
                  </a:ext>
                </a:extLst>
              </a:tr>
              <a:tr h="220980">
                <a:tc>
                  <a:txBody>
                    <a:bodyPr/>
                    <a:lstStyle/>
                    <a:p>
                      <a:pPr algn="ctr" fontAlgn="ctr"/>
                      <a:r>
                        <a:rPr lang="en-US" altLang="zh-TW" sz="16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6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NA</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16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4.590946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16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8.330579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59077819"/>
                  </a:ext>
                </a:extLst>
              </a:tr>
              <a:tr h="220980">
                <a:tc>
                  <a:txBody>
                    <a:bodyPr/>
                    <a:lstStyle/>
                    <a:p>
                      <a:pPr algn="ctr" fontAlgn="ctr"/>
                      <a:r>
                        <a:rPr lang="en-US" altLang="zh-TW" sz="16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6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NA</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16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14.075984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16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6.636364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48468059"/>
                  </a:ext>
                </a:extLst>
              </a:tr>
              <a:tr h="220980">
                <a:tc>
                  <a:txBody>
                    <a:bodyPr/>
                    <a:lstStyle/>
                    <a:p>
                      <a:pPr algn="ctr" fontAlgn="ctr"/>
                      <a:r>
                        <a:rPr lang="en-US" altLang="zh-TW" sz="16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6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NA</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16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5.970713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16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8.669421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58641449"/>
                  </a:ext>
                </a:extLst>
              </a:tr>
              <a:tr h="220980">
                <a:tc>
                  <a:txBody>
                    <a:bodyPr/>
                    <a:lstStyle/>
                    <a:p>
                      <a:pPr algn="ctr" fontAlgn="ctr"/>
                      <a:r>
                        <a:rPr lang="en-US" altLang="zh-TW" sz="16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6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NA</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16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11.169172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16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10.024793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2871297"/>
                  </a:ext>
                </a:extLst>
              </a:tr>
            </a:tbl>
          </a:graphicData>
        </a:graphic>
      </p:graphicFrame>
      <p:graphicFrame>
        <p:nvGraphicFramePr>
          <p:cNvPr id="10" name="表格 9">
            <a:extLst>
              <a:ext uri="{FF2B5EF4-FFF2-40B4-BE49-F238E27FC236}">
                <a16:creationId xmlns:a16="http://schemas.microsoft.com/office/drawing/2014/main" id="{E74E0C99-54E8-2248-979B-F20C88797E5C}"/>
              </a:ext>
            </a:extLst>
          </p:cNvPr>
          <p:cNvGraphicFramePr>
            <a:graphicFrameLocks noGrp="1"/>
          </p:cNvGraphicFramePr>
          <p:nvPr>
            <p:extLst>
              <p:ext uri="{D42A27DB-BD31-4B8C-83A1-F6EECF244321}">
                <p14:modId xmlns:p14="http://schemas.microsoft.com/office/powerpoint/2010/main" val="2154391792"/>
              </p:ext>
            </p:extLst>
          </p:nvPr>
        </p:nvGraphicFramePr>
        <p:xfrm>
          <a:off x="6553697" y="2634953"/>
          <a:ext cx="4195483" cy="937260"/>
        </p:xfrm>
        <a:graphic>
          <a:graphicData uri="http://schemas.openxmlformats.org/drawingml/2006/table">
            <a:tbl>
              <a:tblPr/>
              <a:tblGrid>
                <a:gridCol w="1271627">
                  <a:extLst>
                    <a:ext uri="{9D8B030D-6E8A-4147-A177-3AD203B41FA5}">
                      <a16:colId xmlns:a16="http://schemas.microsoft.com/office/drawing/2014/main" val="3993428737"/>
                    </a:ext>
                  </a:extLst>
                </a:gridCol>
                <a:gridCol w="1461928">
                  <a:extLst>
                    <a:ext uri="{9D8B030D-6E8A-4147-A177-3AD203B41FA5}">
                      <a16:colId xmlns:a16="http://schemas.microsoft.com/office/drawing/2014/main" val="2161664515"/>
                    </a:ext>
                  </a:extLst>
                </a:gridCol>
                <a:gridCol w="1461928">
                  <a:extLst>
                    <a:ext uri="{9D8B030D-6E8A-4147-A177-3AD203B41FA5}">
                      <a16:colId xmlns:a16="http://schemas.microsoft.com/office/drawing/2014/main" val="81110010"/>
                    </a:ext>
                  </a:extLst>
                </a:gridCol>
              </a:tblGrid>
              <a:tr h="213360">
                <a:tc>
                  <a:txBody>
                    <a:bodyPr/>
                    <a:lstStyle/>
                    <a:p>
                      <a:pPr algn="ctr" fontAlgn="ct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zh-TW" altLang="en-US" sz="2000" b="0" i="0" u="none" strike="noStrike" dirty="0">
                          <a:solidFill>
                            <a:srgbClr val="000000"/>
                          </a:solidFill>
                          <a:effectLst/>
                          <a:latin typeface="微軟正黑體" panose="020B0604030504040204" pitchFamily="34" charset="-120"/>
                          <a:ea typeface="微軟正黑體" panose="020B0604030504040204" pitchFamily="34" charset="-120"/>
                        </a:rPr>
                        <a:t>統計量</a:t>
                      </a: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2000" b="0" i="0" u="none" strike="noStrike" dirty="0">
                          <a:solidFill>
                            <a:srgbClr val="000000"/>
                          </a:solidFill>
                          <a:effectLst/>
                          <a:latin typeface="微軟正黑體" panose="020B0604030504040204" pitchFamily="34" charset="-120"/>
                          <a:ea typeface="微軟正黑體" panose="020B0604030504040204" pitchFamily="34" charset="-120"/>
                        </a:rPr>
                        <a:t>p-value</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4200870"/>
                  </a:ext>
                </a:extLst>
              </a:tr>
              <a:tr h="220980">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T test</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dirty="0"/>
                        <a:t>5.69</a:t>
                      </a:r>
                      <a:endPar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kern="1200" dirty="0">
                          <a:solidFill>
                            <a:srgbClr val="00B050"/>
                          </a:solidFill>
                          <a:latin typeface="微軟正黑體" panose="020B0604030504040204" pitchFamily="34" charset="-120"/>
                          <a:ea typeface="微軟正黑體" panose="020B0604030504040204" pitchFamily="34" charset="-120"/>
                          <a:cs typeface="+mn-cs"/>
                        </a:rPr>
                        <a:t>9.87e-07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1513865"/>
                  </a:ext>
                </a:extLst>
              </a:tr>
              <a:tr h="220980">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Wilcoxon</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616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kern="1200" dirty="0">
                          <a:solidFill>
                            <a:srgbClr val="00B050"/>
                          </a:solidFill>
                          <a:latin typeface="微軟正黑體" panose="020B0604030504040204" pitchFamily="34" charset="-120"/>
                          <a:ea typeface="微軟正黑體" panose="020B0604030504040204" pitchFamily="34" charset="-120"/>
                          <a:cs typeface="+mn-cs"/>
                        </a:rPr>
                        <a:t>4.37e-06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5705361"/>
                  </a:ext>
                </a:extLst>
              </a:tr>
            </a:tbl>
          </a:graphicData>
        </a:graphic>
      </p:graphicFrame>
      <p:sp>
        <p:nvSpPr>
          <p:cNvPr id="12" name="文字方塊 11">
            <a:extLst>
              <a:ext uri="{FF2B5EF4-FFF2-40B4-BE49-F238E27FC236}">
                <a16:creationId xmlns:a16="http://schemas.microsoft.com/office/drawing/2014/main" id="{D1DD13CE-1C96-8555-4776-69797A54A81A}"/>
              </a:ext>
            </a:extLst>
          </p:cNvPr>
          <p:cNvSpPr txBox="1"/>
          <p:nvPr/>
        </p:nvSpPr>
        <p:spPr>
          <a:xfrm>
            <a:off x="5818420" y="1866800"/>
            <a:ext cx="5666038" cy="461665"/>
          </a:xfrm>
          <a:prstGeom prst="rect">
            <a:avLst/>
          </a:prstGeom>
          <a:noFill/>
        </p:spPr>
        <p:txBody>
          <a:bodyPr wrap="none" rtlCol="0">
            <a:spAutoFit/>
          </a:bodyPr>
          <a:lstStyle/>
          <a:p>
            <a:r>
              <a:rPr lang="zh-TW" altLang="en-US" sz="2400" b="1" dirty="0">
                <a:latin typeface="微軟正黑體" panose="020B0604030504040204" pitchFamily="34" charset="-120"/>
                <a:ea typeface="微軟正黑體" panose="020B0604030504040204" pitchFamily="34" charset="-120"/>
              </a:rPr>
              <a:t>檢定結果 </a:t>
            </a:r>
            <a:r>
              <a:rPr lang="en-US" altLang="zh-TW" sz="2400" b="1" dirty="0">
                <a:latin typeface="微軟正黑體" panose="020B0604030504040204" pitchFamily="34" charset="-120"/>
                <a:ea typeface="微軟正黑體" panose="020B0604030504040204" pitchFamily="34" charset="-120"/>
              </a:rPr>
              <a:t>(Bayesian Ridge Regression)</a:t>
            </a:r>
          </a:p>
        </p:txBody>
      </p:sp>
      <p:sp>
        <p:nvSpPr>
          <p:cNvPr id="13" name="文字方塊 12">
            <a:extLst>
              <a:ext uri="{FF2B5EF4-FFF2-40B4-BE49-F238E27FC236}">
                <a16:creationId xmlns:a16="http://schemas.microsoft.com/office/drawing/2014/main" id="{045B8714-FFF8-A005-023E-B2FA2D6FAED5}"/>
              </a:ext>
            </a:extLst>
          </p:cNvPr>
          <p:cNvSpPr txBox="1"/>
          <p:nvPr/>
        </p:nvSpPr>
        <p:spPr>
          <a:xfrm>
            <a:off x="5818420" y="3954234"/>
            <a:ext cx="5343899" cy="461665"/>
          </a:xfrm>
          <a:prstGeom prst="rect">
            <a:avLst/>
          </a:prstGeom>
          <a:noFill/>
        </p:spPr>
        <p:txBody>
          <a:bodyPr wrap="none" rtlCol="0">
            <a:spAutoFit/>
          </a:bodyPr>
          <a:lstStyle/>
          <a:p>
            <a:r>
              <a:rPr lang="zh-TW" altLang="en-US" sz="2400" b="1" dirty="0">
                <a:latin typeface="微軟正黑體" panose="020B0604030504040204" pitchFamily="34" charset="-120"/>
                <a:ea typeface="微軟正黑體" panose="020B0604030504040204" pitchFamily="34" charset="-120"/>
              </a:rPr>
              <a:t>檢定結果 </a:t>
            </a:r>
            <a:r>
              <a:rPr lang="en-US" altLang="zh-TW" sz="2400" b="1" dirty="0">
                <a:latin typeface="微軟正黑體" panose="020B0604030504040204" pitchFamily="34" charset="-120"/>
                <a:ea typeface="微軟正黑體" panose="020B0604030504040204" pitchFamily="34" charset="-120"/>
              </a:rPr>
              <a:t>(Simple linear Regression)</a:t>
            </a:r>
          </a:p>
        </p:txBody>
      </p:sp>
      <p:graphicFrame>
        <p:nvGraphicFramePr>
          <p:cNvPr id="14" name="表格 13">
            <a:extLst>
              <a:ext uri="{FF2B5EF4-FFF2-40B4-BE49-F238E27FC236}">
                <a16:creationId xmlns:a16="http://schemas.microsoft.com/office/drawing/2014/main" id="{2B328843-3871-A1FC-463B-19BACFE31A74}"/>
              </a:ext>
            </a:extLst>
          </p:cNvPr>
          <p:cNvGraphicFramePr>
            <a:graphicFrameLocks noGrp="1"/>
          </p:cNvGraphicFramePr>
          <p:nvPr>
            <p:extLst>
              <p:ext uri="{D42A27DB-BD31-4B8C-83A1-F6EECF244321}">
                <p14:modId xmlns:p14="http://schemas.microsoft.com/office/powerpoint/2010/main" val="2988283938"/>
              </p:ext>
            </p:extLst>
          </p:nvPr>
        </p:nvGraphicFramePr>
        <p:xfrm>
          <a:off x="6553696" y="4842989"/>
          <a:ext cx="4195483" cy="937260"/>
        </p:xfrm>
        <a:graphic>
          <a:graphicData uri="http://schemas.openxmlformats.org/drawingml/2006/table">
            <a:tbl>
              <a:tblPr/>
              <a:tblGrid>
                <a:gridCol w="1271627">
                  <a:extLst>
                    <a:ext uri="{9D8B030D-6E8A-4147-A177-3AD203B41FA5}">
                      <a16:colId xmlns:a16="http://schemas.microsoft.com/office/drawing/2014/main" val="3993428737"/>
                    </a:ext>
                  </a:extLst>
                </a:gridCol>
                <a:gridCol w="1461928">
                  <a:extLst>
                    <a:ext uri="{9D8B030D-6E8A-4147-A177-3AD203B41FA5}">
                      <a16:colId xmlns:a16="http://schemas.microsoft.com/office/drawing/2014/main" val="2161664515"/>
                    </a:ext>
                  </a:extLst>
                </a:gridCol>
                <a:gridCol w="1461928">
                  <a:extLst>
                    <a:ext uri="{9D8B030D-6E8A-4147-A177-3AD203B41FA5}">
                      <a16:colId xmlns:a16="http://schemas.microsoft.com/office/drawing/2014/main" val="81110010"/>
                    </a:ext>
                  </a:extLst>
                </a:gridCol>
              </a:tblGrid>
              <a:tr h="250659">
                <a:tc>
                  <a:txBody>
                    <a:bodyPr/>
                    <a:lstStyle/>
                    <a:p>
                      <a:pPr algn="ctr" fontAlgn="ct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zh-TW" altLang="en-US" sz="2000" b="0" i="0" u="none" strike="noStrike" dirty="0">
                          <a:solidFill>
                            <a:srgbClr val="000000"/>
                          </a:solidFill>
                          <a:effectLst/>
                          <a:latin typeface="微軟正黑體" panose="020B0604030504040204" pitchFamily="34" charset="-120"/>
                          <a:ea typeface="微軟正黑體" panose="020B0604030504040204" pitchFamily="34" charset="-120"/>
                        </a:rPr>
                        <a:t>統計量</a:t>
                      </a: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2000" b="0" i="0" u="none" strike="noStrike" dirty="0">
                          <a:solidFill>
                            <a:srgbClr val="000000"/>
                          </a:solidFill>
                          <a:effectLst/>
                          <a:latin typeface="微軟正黑體" panose="020B0604030504040204" pitchFamily="34" charset="-120"/>
                          <a:ea typeface="微軟正黑體" panose="020B0604030504040204" pitchFamily="34" charset="-120"/>
                        </a:rPr>
                        <a:t>p-value</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4200870"/>
                  </a:ext>
                </a:extLst>
              </a:tr>
              <a:tr h="220980">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T test</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dirty="0"/>
                        <a:t>6.98</a:t>
                      </a:r>
                      <a:endPar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kern="1200" dirty="0">
                          <a:solidFill>
                            <a:srgbClr val="00B050"/>
                          </a:solidFill>
                          <a:latin typeface="微軟正黑體" panose="020B0604030504040204" pitchFamily="34" charset="-120"/>
                          <a:ea typeface="微軟正黑體" panose="020B0604030504040204" pitchFamily="34" charset="-120"/>
                          <a:cs typeface="+mn-cs"/>
                        </a:rPr>
                        <a:t>2e-08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1513865"/>
                  </a:ext>
                </a:extLst>
              </a:tr>
              <a:tr h="220980">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Wilcoxon</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652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kern="1200" dirty="0">
                          <a:solidFill>
                            <a:srgbClr val="00B050"/>
                          </a:solidFill>
                          <a:latin typeface="微軟正黑體" panose="020B0604030504040204" pitchFamily="34" charset="-120"/>
                          <a:ea typeface="微軟正黑體" panose="020B0604030504040204" pitchFamily="34" charset="-120"/>
                          <a:cs typeface="+mn-cs"/>
                        </a:rPr>
                        <a:t>2.67e-07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5705361"/>
                  </a:ext>
                </a:extLst>
              </a:tr>
            </a:tbl>
          </a:graphicData>
        </a:graphic>
      </p:graphicFrame>
      <p:sp>
        <p:nvSpPr>
          <p:cNvPr id="15" name="文字方塊 14">
            <a:extLst>
              <a:ext uri="{FF2B5EF4-FFF2-40B4-BE49-F238E27FC236}">
                <a16:creationId xmlns:a16="http://schemas.microsoft.com/office/drawing/2014/main" id="{692833B4-CEE1-722E-89DF-E8432F8BF2AC}"/>
              </a:ext>
            </a:extLst>
          </p:cNvPr>
          <p:cNvSpPr txBox="1"/>
          <p:nvPr/>
        </p:nvSpPr>
        <p:spPr>
          <a:xfrm>
            <a:off x="1975479" y="1248408"/>
            <a:ext cx="1723549" cy="461665"/>
          </a:xfrm>
          <a:prstGeom prst="rect">
            <a:avLst/>
          </a:prstGeom>
          <a:noFill/>
        </p:spPr>
        <p:txBody>
          <a:bodyPr wrap="none" rtlCol="0">
            <a:spAutoFit/>
          </a:bodyPr>
          <a:lstStyle/>
          <a:p>
            <a:r>
              <a:rPr lang="zh-TW" altLang="en-US" sz="2400" b="1" dirty="0">
                <a:latin typeface="微軟正黑體" panose="020B0604030504040204" pitchFamily="34" charset="-120"/>
                <a:ea typeface="微軟正黑體" panose="020B0604030504040204" pitchFamily="34" charset="-120"/>
              </a:rPr>
              <a:t>部分預測值</a:t>
            </a:r>
          </a:p>
        </p:txBody>
      </p:sp>
    </p:spTree>
    <p:extLst>
      <p:ext uri="{BB962C8B-B14F-4D97-AF65-F5344CB8AC3E}">
        <p14:creationId xmlns:p14="http://schemas.microsoft.com/office/powerpoint/2010/main" val="1254903342"/>
      </p:ext>
    </p:extLst>
  </p:cSld>
  <p:clrMapOvr>
    <a:masterClrMapping/>
  </p:clrMapOvr>
  <mc:AlternateContent xmlns:mc="http://schemas.openxmlformats.org/markup-compatibility/2006" xmlns:p14="http://schemas.microsoft.com/office/powerpoint/2010/main">
    <mc:Choice Requires="p14">
      <p:transition spd="slow" p14:dur="1250" advClick="0">
        <p14:pan dir="u"/>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58536" y="107592"/>
            <a:ext cx="5928672" cy="9840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70"/>
            <a:endParaRPr lang="en-US">
              <a:solidFill>
                <a:prstClr val="white"/>
              </a:solidFill>
              <a:latin typeface="思源黑体 CN Medium" panose="020B0600000000000000" pitchFamily="34" charset="-122"/>
              <a:ea typeface="思源黑体 CN Medium" panose="020B0600000000000000" pitchFamily="34" charset="-122"/>
              <a:sym typeface="字魂59号-创粗黑" panose="00000500000000000000" pitchFamily="2" charset="-122"/>
            </a:endParaRPr>
          </a:p>
        </p:txBody>
      </p:sp>
      <p:pic>
        <p:nvPicPr>
          <p:cNvPr id="17" name="图片 16">
            <a:extLst>
              <a:ext uri="{FF2B5EF4-FFF2-40B4-BE49-F238E27FC236}">
                <a16:creationId xmlns:a16="http://schemas.microsoft.com/office/drawing/2014/main" id="{05E72798-6899-42A6-9FEE-703EF4EFCDB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86" b="100000" l="0" r="100000">
                        <a14:foregroundMark x1="82171" y1="51131" x2="59408" y2="50679"/>
                        <a14:backgroundMark x1="91473" y1="41991" x2="86047" y2="34299"/>
                        <a14:backgroundMark x1="91966" y1="54118" x2="88090" y2="67059"/>
                        <a14:backgroundMark x1="84426" y1="75023" x2="75405" y2="81719"/>
                        <a14:backgroundMark x1="77026" y1="32217" x2="73573" y2="31493"/>
                        <a14:backgroundMark x1="67583" y1="33575" x2="65257" y2="31312"/>
                      </a14:backgroundRemoval>
                    </a14:imgEffect>
                  </a14:imgLayer>
                </a14:imgProps>
              </a:ext>
              <a:ext uri="{28A0092B-C50C-407E-A947-70E740481C1C}">
                <a14:useLocalDpi xmlns:a14="http://schemas.microsoft.com/office/drawing/2010/main" val="0"/>
              </a:ext>
            </a:extLst>
          </a:blip>
          <a:stretch>
            <a:fillRect/>
          </a:stretch>
        </p:blipFill>
        <p:spPr>
          <a:xfrm rot="277819">
            <a:off x="-1366951" y="-490407"/>
            <a:ext cx="3108709" cy="2420806"/>
          </a:xfrm>
          <a:prstGeom prst="rect">
            <a:avLst/>
          </a:prstGeom>
        </p:spPr>
      </p:pic>
      <p:sp>
        <p:nvSpPr>
          <p:cNvPr id="2" name="矩形 1">
            <a:extLst>
              <a:ext uri="{FF2B5EF4-FFF2-40B4-BE49-F238E27FC236}">
                <a16:creationId xmlns:a16="http://schemas.microsoft.com/office/drawing/2014/main" id="{CDACD7A8-3A6E-4C27-9240-791E721F0C74}"/>
              </a:ext>
            </a:extLst>
          </p:cNvPr>
          <p:cNvSpPr/>
          <p:nvPr/>
        </p:nvSpPr>
        <p:spPr>
          <a:xfrm>
            <a:off x="1570514" y="337965"/>
            <a:ext cx="4764972" cy="548443"/>
          </a:xfrm>
          <a:prstGeom prst="rect">
            <a:avLst/>
          </a:prstGeom>
        </p:spPr>
        <p:txBody>
          <a:bodyPr wrap="none">
            <a:normAutofit/>
          </a:bodyPr>
          <a:lstStyle/>
          <a:p>
            <a:r>
              <a:rPr lang="en-US" altLang="zh-TW" sz="2800" dirty="0">
                <a:solidFill>
                  <a:prstClr val="black">
                    <a:lumMod val="75000"/>
                    <a:lumOff val="25000"/>
                  </a:prstClr>
                </a:solidFill>
                <a:latin typeface="Source Han Sans TC"/>
                <a:ea typeface="Source Han Sans TC"/>
                <a:sym typeface="字魂59号-创粗黑" panose="00000500000000000000" pitchFamily="2" charset="-122"/>
              </a:rPr>
              <a:t>Data analysis –</a:t>
            </a:r>
            <a:r>
              <a:rPr lang="zh-TW" altLang="en-US" sz="2800" dirty="0">
                <a:solidFill>
                  <a:srgbClr val="0070C0"/>
                </a:solidFill>
                <a:latin typeface="Source Han Sans TC"/>
                <a:ea typeface="Source Han Sans TC"/>
                <a:sym typeface="字魂59号-创粗黑" panose="00000500000000000000" pitchFamily="2" charset="-122"/>
              </a:rPr>
              <a:t>肛失禁患者</a:t>
            </a:r>
            <a:endParaRPr lang="en-US" altLang="zh-TW" sz="2800" dirty="0">
              <a:solidFill>
                <a:srgbClr val="0070C0"/>
              </a:solidFill>
              <a:latin typeface="Source Han Sans TC"/>
              <a:ea typeface="Source Han Sans TC"/>
              <a:sym typeface="字魂59号-创粗黑" panose="00000500000000000000" pitchFamily="2" charset="-122"/>
            </a:endParaRPr>
          </a:p>
          <a:p>
            <a:endParaRPr lang="en-US" altLang="zh-TW" sz="2800" b="1" dirty="0">
              <a:solidFill>
                <a:srgbClr val="0070C0"/>
              </a:solidFill>
              <a:latin typeface="微軟正黑體" panose="020B0604030504040204" pitchFamily="34" charset="-120"/>
              <a:ea typeface="微軟正黑體" panose="020B0604030504040204" pitchFamily="34" charset="-120"/>
              <a:cs typeface="Calibri" panose="020F0502020204030204" pitchFamily="34" charset="0"/>
            </a:endParaRPr>
          </a:p>
        </p:txBody>
      </p:sp>
      <p:graphicFrame>
        <p:nvGraphicFramePr>
          <p:cNvPr id="5" name="表格 4">
            <a:extLst>
              <a:ext uri="{FF2B5EF4-FFF2-40B4-BE49-F238E27FC236}">
                <a16:creationId xmlns:a16="http://schemas.microsoft.com/office/drawing/2014/main" id="{9EAE96B9-A5B8-5954-AB88-E3F5B2DBF5A9}"/>
              </a:ext>
            </a:extLst>
          </p:cNvPr>
          <p:cNvGraphicFramePr>
            <a:graphicFrameLocks noGrp="1"/>
          </p:cNvGraphicFramePr>
          <p:nvPr>
            <p:extLst>
              <p:ext uri="{D42A27DB-BD31-4B8C-83A1-F6EECF244321}">
                <p14:modId xmlns:p14="http://schemas.microsoft.com/office/powerpoint/2010/main" val="2770720479"/>
              </p:ext>
            </p:extLst>
          </p:nvPr>
        </p:nvGraphicFramePr>
        <p:xfrm>
          <a:off x="1689202" y="3906375"/>
          <a:ext cx="2195594" cy="2613660"/>
        </p:xfrm>
        <a:graphic>
          <a:graphicData uri="http://schemas.openxmlformats.org/drawingml/2006/table">
            <a:tbl>
              <a:tblPr/>
              <a:tblGrid>
                <a:gridCol w="1021372">
                  <a:extLst>
                    <a:ext uri="{9D8B030D-6E8A-4147-A177-3AD203B41FA5}">
                      <a16:colId xmlns:a16="http://schemas.microsoft.com/office/drawing/2014/main" val="3993428737"/>
                    </a:ext>
                  </a:extLst>
                </a:gridCol>
                <a:gridCol w="1174222">
                  <a:extLst>
                    <a:ext uri="{9D8B030D-6E8A-4147-A177-3AD203B41FA5}">
                      <a16:colId xmlns:a16="http://schemas.microsoft.com/office/drawing/2014/main" val="2161664515"/>
                    </a:ext>
                  </a:extLst>
                </a:gridCol>
              </a:tblGrid>
              <a:tr h="213360">
                <a:tc>
                  <a:txBody>
                    <a:bodyPr/>
                    <a:lstStyle/>
                    <a:p>
                      <a:pPr algn="ctr" fontAlgn="ctr"/>
                      <a:r>
                        <a:rPr lang="en-US" sz="24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PreTest</a:t>
                      </a:r>
                      <a:endParaRPr lang="en-US" sz="24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24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PostTest</a:t>
                      </a:r>
                      <a:endParaRPr lang="en-US" sz="24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474200870"/>
                  </a:ext>
                </a:extLst>
              </a:tr>
              <a:tr h="220980">
                <a:tc>
                  <a:txBody>
                    <a:bodyPr/>
                    <a:lstStyle/>
                    <a:p>
                      <a:pPr marL="0" algn="ctr" defTabSz="1219170" rtl="0" eaLnBrk="1" fontAlgn="ctr" latinLnBrk="0" hangingPunct="1"/>
                      <a:r>
                        <a:rPr lang="en-US" altLang="zh-TW" sz="2400" kern="1200" dirty="0">
                          <a:solidFill>
                            <a:schemeClr val="tx1"/>
                          </a:solidFill>
                          <a:latin typeface="微軟正黑體" panose="020B0604030504040204" pitchFamily="34" charset="-120"/>
                          <a:ea typeface="微軟正黑體" panose="020B0604030504040204" pitchFamily="34" charset="-120"/>
                          <a:cs typeface="+mn-cs"/>
                        </a:rPr>
                        <a:t>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2400" kern="1200">
                          <a:solidFill>
                            <a:schemeClr val="tx1"/>
                          </a:solidFill>
                          <a:latin typeface="微軟正黑體" panose="020B0604030504040204" pitchFamily="34" charset="-120"/>
                          <a:ea typeface="微軟正黑體" panose="020B0604030504040204" pitchFamily="34" charset="-120"/>
                          <a:cs typeface="+mn-cs"/>
                        </a:rPr>
                        <a:t>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1513865"/>
                  </a:ext>
                </a:extLst>
              </a:tr>
              <a:tr h="220980">
                <a:tc>
                  <a:txBody>
                    <a:bodyPr/>
                    <a:lstStyle/>
                    <a:p>
                      <a:pPr marL="0" algn="ctr" defTabSz="1219170" rtl="0" eaLnBrk="1" fontAlgn="ctr" latinLnBrk="0" hangingPunct="1"/>
                      <a:r>
                        <a:rPr lang="en-US" altLang="zh-TW" sz="2400" kern="1200">
                          <a:solidFill>
                            <a:schemeClr val="tx1"/>
                          </a:solidFill>
                          <a:latin typeface="微軟正黑體" panose="020B0604030504040204" pitchFamily="34" charset="-120"/>
                          <a:ea typeface="微軟正黑體" panose="020B0604030504040204" pitchFamily="34" charset="-120"/>
                          <a:cs typeface="+mn-cs"/>
                        </a:rPr>
                        <a:t>17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2400" kern="1200" dirty="0">
                          <a:solidFill>
                            <a:schemeClr val="tx1"/>
                          </a:solidFill>
                          <a:latin typeface="微軟正黑體" panose="020B0604030504040204" pitchFamily="34" charset="-120"/>
                          <a:ea typeface="微軟正黑體" panose="020B0604030504040204" pitchFamily="34" charset="-120"/>
                          <a:cs typeface="+mn-cs"/>
                        </a:rPr>
                        <a:t>12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5705361"/>
                  </a:ext>
                </a:extLst>
              </a:tr>
              <a:tr h="220980">
                <a:tc>
                  <a:txBody>
                    <a:bodyPr/>
                    <a:lstStyle/>
                    <a:p>
                      <a:pPr marL="0" algn="ctr" defTabSz="1219170" rtl="0" eaLnBrk="1" fontAlgn="ctr" latinLnBrk="0" hangingPunct="1"/>
                      <a:r>
                        <a:rPr lang="en-US" altLang="zh-TW" sz="2400" kern="1200">
                          <a:solidFill>
                            <a:schemeClr val="tx1"/>
                          </a:solidFill>
                          <a:latin typeface="微軟正黑體" panose="020B0604030504040204" pitchFamily="34" charset="-120"/>
                          <a:ea typeface="微軟正黑體" panose="020B0604030504040204" pitchFamily="34" charset="-120"/>
                          <a:cs typeface="+mn-cs"/>
                        </a:rPr>
                        <a:t>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2400" kern="1200" dirty="0">
                          <a:solidFill>
                            <a:schemeClr val="tx1"/>
                          </a:solidFill>
                          <a:latin typeface="微軟正黑體" panose="020B0604030504040204" pitchFamily="34" charset="-120"/>
                          <a:ea typeface="微軟正黑體" panose="020B0604030504040204" pitchFamily="34" charset="-120"/>
                          <a:cs typeface="+mn-cs"/>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5502309"/>
                  </a:ext>
                </a:extLst>
              </a:tr>
              <a:tr h="213360">
                <a:tc>
                  <a:txBody>
                    <a:bodyPr/>
                    <a:lstStyle/>
                    <a:p>
                      <a:pPr marL="0" algn="ctr" defTabSz="1219170" rtl="0" eaLnBrk="1" fontAlgn="ctr" latinLnBrk="0" hangingPunct="1"/>
                      <a:r>
                        <a:rPr lang="en-US" altLang="zh-TW" sz="2400" kern="1200">
                          <a:solidFill>
                            <a:schemeClr val="tx1"/>
                          </a:solidFill>
                          <a:latin typeface="微軟正黑體" panose="020B0604030504040204" pitchFamily="34" charset="-120"/>
                          <a:ea typeface="微軟正黑體" panose="020B0604030504040204" pitchFamily="34" charset="-120"/>
                          <a:cs typeface="+mn-cs"/>
                        </a:rPr>
                        <a:t>11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2400" kern="1200" dirty="0">
                          <a:solidFill>
                            <a:schemeClr val="tx1"/>
                          </a:solidFill>
                          <a:latin typeface="微軟正黑體" panose="020B0604030504040204" pitchFamily="34" charset="-120"/>
                          <a:ea typeface="微軟正黑體" panose="020B0604030504040204" pitchFamily="34" charset="-120"/>
                          <a:cs typeface="+mn-cs"/>
                        </a:rPr>
                        <a:t>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4610899"/>
                  </a:ext>
                </a:extLst>
              </a:tr>
              <a:tr h="213360">
                <a:tc>
                  <a:txBody>
                    <a:bodyPr/>
                    <a:lstStyle/>
                    <a:p>
                      <a:pPr marL="0" algn="ctr" defTabSz="1219170" rtl="0" eaLnBrk="1" fontAlgn="ctr" latinLnBrk="0" hangingPunct="1"/>
                      <a:r>
                        <a:rPr lang="en-US" altLang="zh-TW" sz="2400" kern="1200">
                          <a:solidFill>
                            <a:schemeClr val="tx1"/>
                          </a:solidFill>
                          <a:latin typeface="微軟正黑體" panose="020B0604030504040204" pitchFamily="34" charset="-120"/>
                          <a:ea typeface="微軟正黑體" panose="020B0604030504040204" pitchFamily="34" charset="-120"/>
                          <a:cs typeface="+mn-cs"/>
                        </a:rPr>
                        <a:t>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2400" kern="1200" dirty="0">
                          <a:solidFill>
                            <a:schemeClr val="tx1"/>
                          </a:solidFill>
                          <a:latin typeface="微軟正黑體" panose="020B0604030504040204" pitchFamily="34" charset="-120"/>
                          <a:ea typeface="微軟正黑體" panose="020B0604030504040204" pitchFamily="34" charset="-120"/>
                          <a:cs typeface="+mn-cs"/>
                        </a:rPr>
                        <a:t>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81405225"/>
                  </a:ext>
                </a:extLst>
              </a:tr>
              <a:tr h="213360">
                <a:tc>
                  <a:txBody>
                    <a:bodyPr/>
                    <a:lstStyle/>
                    <a:p>
                      <a:pPr marL="0" algn="ctr" defTabSz="1219170" rtl="0" eaLnBrk="1" fontAlgn="ctr" latinLnBrk="0" hangingPunct="1"/>
                      <a:r>
                        <a:rPr lang="en-US" altLang="zh-TW" sz="2400" kern="1200">
                          <a:solidFill>
                            <a:schemeClr val="tx1"/>
                          </a:solidFill>
                          <a:latin typeface="微軟正黑體" panose="020B0604030504040204" pitchFamily="34" charset="-120"/>
                          <a:ea typeface="微軟正黑體" panose="020B0604030504040204" pitchFamily="34" charset="-120"/>
                          <a:cs typeface="+mn-cs"/>
                        </a:rPr>
                        <a:t>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2400" kern="1200" dirty="0">
                          <a:solidFill>
                            <a:schemeClr val="tx1"/>
                          </a:solidFill>
                          <a:latin typeface="微軟正黑體" panose="020B0604030504040204" pitchFamily="34" charset="-120"/>
                          <a:ea typeface="微軟正黑體" panose="020B0604030504040204" pitchFamily="34" charset="-120"/>
                          <a:cs typeface="+mn-cs"/>
                        </a:rPr>
                        <a:t>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2103026"/>
                  </a:ext>
                </a:extLst>
              </a:tr>
            </a:tbl>
          </a:graphicData>
        </a:graphic>
      </p:graphicFrame>
      <p:sp>
        <p:nvSpPr>
          <p:cNvPr id="7" name="文字方塊 6">
            <a:extLst>
              <a:ext uri="{FF2B5EF4-FFF2-40B4-BE49-F238E27FC236}">
                <a16:creationId xmlns:a16="http://schemas.microsoft.com/office/drawing/2014/main" id="{F36FF8FF-6BA0-209F-2116-3F8DD34B989C}"/>
              </a:ext>
            </a:extLst>
          </p:cNvPr>
          <p:cNvSpPr txBox="1"/>
          <p:nvPr/>
        </p:nvSpPr>
        <p:spPr>
          <a:xfrm>
            <a:off x="1358536" y="1373886"/>
            <a:ext cx="10602582" cy="1323439"/>
          </a:xfrm>
          <a:prstGeom prst="rect">
            <a:avLst/>
          </a:prstGeom>
          <a:noFill/>
        </p:spPr>
        <p:txBody>
          <a:bodyPr wrap="none" rtlCol="0">
            <a:spAutoFit/>
          </a:bodyPr>
          <a:lstStyle/>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我們使用相同的手法來針對肛失進患者進行分析，肛失禁患者具有的完整資料比便秘患者</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而言還要多了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2</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 筆，且根據這六筆資料的檢定結果，我們同樣觀察到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T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檢定在顯著水準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0.05 </a:t>
            </a: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的情況下會顯著拒絕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H0</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，而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Wilcoxon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統計量在顯著水準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0.1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的情況下也會顯著拒絕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H0</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這兩個檢定結果也都告訴我們治療效果對於肛失禁患者而言有達統計上的顯著水準。</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8" name="文字方塊 7">
            <a:extLst>
              <a:ext uri="{FF2B5EF4-FFF2-40B4-BE49-F238E27FC236}">
                <a16:creationId xmlns:a16="http://schemas.microsoft.com/office/drawing/2014/main" id="{38376C39-1C05-2DA1-373D-6ABFFDA24D2D}"/>
              </a:ext>
            </a:extLst>
          </p:cNvPr>
          <p:cNvSpPr txBox="1"/>
          <p:nvPr/>
        </p:nvSpPr>
        <p:spPr>
          <a:xfrm>
            <a:off x="1689202" y="3318714"/>
            <a:ext cx="2339102" cy="461665"/>
          </a:xfrm>
          <a:prstGeom prst="rect">
            <a:avLst/>
          </a:prstGeom>
          <a:noFill/>
        </p:spPr>
        <p:txBody>
          <a:bodyPr wrap="none" rtlCol="0">
            <a:spAutoFit/>
          </a:bodyPr>
          <a:lstStyle/>
          <a:p>
            <a:r>
              <a:rPr lang="zh-TW" altLang="en-US" sz="2400" b="1" dirty="0">
                <a:latin typeface="微軟正黑體" panose="020B0604030504040204" pitchFamily="34" charset="-120"/>
                <a:ea typeface="微軟正黑體" panose="020B0604030504040204" pitchFamily="34" charset="-120"/>
              </a:rPr>
              <a:t>完整的問卷資料</a:t>
            </a:r>
          </a:p>
        </p:txBody>
      </p:sp>
      <p:sp>
        <p:nvSpPr>
          <p:cNvPr id="12" name="文字方塊 11">
            <a:extLst>
              <a:ext uri="{FF2B5EF4-FFF2-40B4-BE49-F238E27FC236}">
                <a16:creationId xmlns:a16="http://schemas.microsoft.com/office/drawing/2014/main" id="{25373F1C-E324-7135-F32E-0A4628E9D524}"/>
              </a:ext>
            </a:extLst>
          </p:cNvPr>
          <p:cNvSpPr txBox="1"/>
          <p:nvPr/>
        </p:nvSpPr>
        <p:spPr>
          <a:xfrm>
            <a:off x="7606420" y="3347670"/>
            <a:ext cx="1415772" cy="461665"/>
          </a:xfrm>
          <a:prstGeom prst="rect">
            <a:avLst/>
          </a:prstGeom>
          <a:noFill/>
        </p:spPr>
        <p:txBody>
          <a:bodyPr wrap="none" rtlCol="0">
            <a:spAutoFit/>
          </a:bodyPr>
          <a:lstStyle/>
          <a:p>
            <a:r>
              <a:rPr lang="zh-TW" altLang="en-US" sz="2400" b="1" dirty="0">
                <a:latin typeface="微軟正黑體" panose="020B0604030504040204" pitchFamily="34" charset="-120"/>
                <a:ea typeface="微軟正黑體" panose="020B0604030504040204" pitchFamily="34" charset="-120"/>
              </a:rPr>
              <a:t>檢定結果</a:t>
            </a:r>
          </a:p>
        </p:txBody>
      </p:sp>
      <p:graphicFrame>
        <p:nvGraphicFramePr>
          <p:cNvPr id="13" name="表格 12">
            <a:extLst>
              <a:ext uri="{FF2B5EF4-FFF2-40B4-BE49-F238E27FC236}">
                <a16:creationId xmlns:a16="http://schemas.microsoft.com/office/drawing/2014/main" id="{2574A360-7A21-4663-364F-D5FEF1C874BB}"/>
              </a:ext>
            </a:extLst>
          </p:cNvPr>
          <p:cNvGraphicFramePr>
            <a:graphicFrameLocks noGrp="1"/>
          </p:cNvGraphicFramePr>
          <p:nvPr>
            <p:extLst>
              <p:ext uri="{D42A27DB-BD31-4B8C-83A1-F6EECF244321}">
                <p14:modId xmlns:p14="http://schemas.microsoft.com/office/powerpoint/2010/main" val="3793829329"/>
              </p:ext>
            </p:extLst>
          </p:nvPr>
        </p:nvGraphicFramePr>
        <p:xfrm>
          <a:off x="6171304" y="4160675"/>
          <a:ext cx="4195483" cy="937260"/>
        </p:xfrm>
        <a:graphic>
          <a:graphicData uri="http://schemas.openxmlformats.org/drawingml/2006/table">
            <a:tbl>
              <a:tblPr/>
              <a:tblGrid>
                <a:gridCol w="1271627">
                  <a:extLst>
                    <a:ext uri="{9D8B030D-6E8A-4147-A177-3AD203B41FA5}">
                      <a16:colId xmlns:a16="http://schemas.microsoft.com/office/drawing/2014/main" val="3993428737"/>
                    </a:ext>
                  </a:extLst>
                </a:gridCol>
                <a:gridCol w="1461928">
                  <a:extLst>
                    <a:ext uri="{9D8B030D-6E8A-4147-A177-3AD203B41FA5}">
                      <a16:colId xmlns:a16="http://schemas.microsoft.com/office/drawing/2014/main" val="2161664515"/>
                    </a:ext>
                  </a:extLst>
                </a:gridCol>
                <a:gridCol w="1461928">
                  <a:extLst>
                    <a:ext uri="{9D8B030D-6E8A-4147-A177-3AD203B41FA5}">
                      <a16:colId xmlns:a16="http://schemas.microsoft.com/office/drawing/2014/main" val="81110010"/>
                    </a:ext>
                  </a:extLst>
                </a:gridCol>
              </a:tblGrid>
              <a:tr h="213360">
                <a:tc>
                  <a:txBody>
                    <a:bodyPr/>
                    <a:lstStyle/>
                    <a:p>
                      <a:pPr algn="ctr" fontAlgn="ct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zh-TW" altLang="en-US" sz="2000" b="0" i="0" u="none" strike="noStrike" dirty="0">
                          <a:solidFill>
                            <a:srgbClr val="000000"/>
                          </a:solidFill>
                          <a:effectLst/>
                          <a:latin typeface="微軟正黑體" panose="020B0604030504040204" pitchFamily="34" charset="-120"/>
                          <a:ea typeface="微軟正黑體" panose="020B0604030504040204" pitchFamily="34" charset="-120"/>
                        </a:rPr>
                        <a:t>統計量</a:t>
                      </a: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2000" b="0" i="0" u="none" strike="noStrike" dirty="0">
                          <a:solidFill>
                            <a:srgbClr val="000000"/>
                          </a:solidFill>
                          <a:effectLst/>
                          <a:latin typeface="微軟正黑體" panose="020B0604030504040204" pitchFamily="34" charset="-120"/>
                          <a:ea typeface="微軟正黑體" panose="020B0604030504040204" pitchFamily="34" charset="-120"/>
                        </a:rPr>
                        <a:t>p-value</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4200870"/>
                  </a:ext>
                </a:extLst>
              </a:tr>
              <a:tr h="220980">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T test</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dirty="0">
                          <a:latin typeface="微軟正黑體" panose="020B0604030504040204" pitchFamily="34" charset="-120"/>
                          <a:ea typeface="微軟正黑體" panose="020B0604030504040204" pitchFamily="34" charset="-120"/>
                        </a:rPr>
                        <a:t>2.41</a:t>
                      </a:r>
                      <a:endPar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dirty="0">
                          <a:solidFill>
                            <a:srgbClr val="00B050"/>
                          </a:solidFill>
                          <a:latin typeface="微軟正黑體" panose="020B0604030504040204" pitchFamily="34" charset="-120"/>
                          <a:ea typeface="微軟正黑體" panose="020B0604030504040204" pitchFamily="34" charset="-120"/>
                        </a:rPr>
                        <a:t>0.0305</a:t>
                      </a:r>
                      <a:endParaRPr lang="en-US" altLang="zh-TW" sz="2000" b="0" i="0" u="none" strike="noStrike" dirty="0">
                        <a:solidFill>
                          <a:srgbClr val="00B05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1513865"/>
                  </a:ext>
                </a:extLst>
              </a:tr>
              <a:tr h="220980">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Wilcoxon</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dirty="0">
                          <a:latin typeface="微軟正黑體" panose="020B0604030504040204" pitchFamily="34" charset="-120"/>
                          <a:ea typeface="微軟正黑體" panose="020B0604030504040204" pitchFamily="34" charset="-120"/>
                        </a:rPr>
                        <a:t>18</a:t>
                      </a:r>
                      <a:endPar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dirty="0">
                          <a:solidFill>
                            <a:srgbClr val="00B050"/>
                          </a:solidFill>
                          <a:latin typeface="微軟正黑體" panose="020B0604030504040204" pitchFamily="34" charset="-120"/>
                          <a:ea typeface="微軟正黑體" panose="020B0604030504040204" pitchFamily="34" charset="-120"/>
                        </a:rPr>
                        <a:t>0.0781</a:t>
                      </a:r>
                      <a:endParaRPr lang="en-US" altLang="zh-TW" sz="2000" b="0" i="0" u="none" strike="noStrike" dirty="0">
                        <a:solidFill>
                          <a:srgbClr val="00B05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5705361"/>
                  </a:ext>
                </a:extLst>
              </a:tr>
            </a:tbl>
          </a:graphicData>
        </a:graphic>
      </p:graphicFrame>
    </p:spTree>
    <p:extLst>
      <p:ext uri="{BB962C8B-B14F-4D97-AF65-F5344CB8AC3E}">
        <p14:creationId xmlns:p14="http://schemas.microsoft.com/office/powerpoint/2010/main" val="1592894788"/>
      </p:ext>
    </p:extLst>
  </p:cSld>
  <p:clrMapOvr>
    <a:masterClrMapping/>
  </p:clrMapOvr>
  <mc:AlternateContent xmlns:mc="http://schemas.openxmlformats.org/markup-compatibility/2006" xmlns:p14="http://schemas.microsoft.com/office/powerpoint/2010/main">
    <mc:Choice Requires="p14">
      <p:transition spd="slow" p14:dur="1250" advClick="0">
        <p14:pan dir="u"/>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58536" y="107592"/>
            <a:ext cx="5928672" cy="9840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70"/>
            <a:endParaRPr lang="en-US">
              <a:solidFill>
                <a:prstClr val="white"/>
              </a:solidFill>
              <a:latin typeface="思源黑体 CN Medium" panose="020B0600000000000000" pitchFamily="34" charset="-122"/>
              <a:ea typeface="思源黑体 CN Medium" panose="020B0600000000000000" pitchFamily="34" charset="-122"/>
              <a:sym typeface="字魂59号-创粗黑" panose="00000500000000000000" pitchFamily="2" charset="-122"/>
            </a:endParaRPr>
          </a:p>
        </p:txBody>
      </p:sp>
      <p:pic>
        <p:nvPicPr>
          <p:cNvPr id="17" name="图片 16">
            <a:extLst>
              <a:ext uri="{FF2B5EF4-FFF2-40B4-BE49-F238E27FC236}">
                <a16:creationId xmlns:a16="http://schemas.microsoft.com/office/drawing/2014/main" id="{05E72798-6899-42A6-9FEE-703EF4EFCDB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86" b="100000" l="0" r="100000">
                        <a14:foregroundMark x1="82171" y1="51131" x2="59408" y2="50679"/>
                        <a14:backgroundMark x1="91473" y1="41991" x2="86047" y2="34299"/>
                        <a14:backgroundMark x1="91966" y1="54118" x2="88090" y2="67059"/>
                        <a14:backgroundMark x1="84426" y1="75023" x2="75405" y2="81719"/>
                        <a14:backgroundMark x1="77026" y1="32217" x2="73573" y2="31493"/>
                        <a14:backgroundMark x1="67583" y1="33575" x2="65257" y2="31312"/>
                      </a14:backgroundRemoval>
                    </a14:imgEffect>
                  </a14:imgLayer>
                </a14:imgProps>
              </a:ext>
              <a:ext uri="{28A0092B-C50C-407E-A947-70E740481C1C}">
                <a14:useLocalDpi xmlns:a14="http://schemas.microsoft.com/office/drawing/2010/main" val="0"/>
              </a:ext>
            </a:extLst>
          </a:blip>
          <a:stretch>
            <a:fillRect/>
          </a:stretch>
        </p:blipFill>
        <p:spPr>
          <a:xfrm rot="277819">
            <a:off x="-1366951" y="-490407"/>
            <a:ext cx="3108709" cy="2420806"/>
          </a:xfrm>
          <a:prstGeom prst="rect">
            <a:avLst/>
          </a:prstGeom>
        </p:spPr>
      </p:pic>
      <p:sp>
        <p:nvSpPr>
          <p:cNvPr id="2" name="矩形 1">
            <a:extLst>
              <a:ext uri="{FF2B5EF4-FFF2-40B4-BE49-F238E27FC236}">
                <a16:creationId xmlns:a16="http://schemas.microsoft.com/office/drawing/2014/main" id="{CDACD7A8-3A6E-4C27-9240-791E721F0C74}"/>
              </a:ext>
            </a:extLst>
          </p:cNvPr>
          <p:cNvSpPr/>
          <p:nvPr/>
        </p:nvSpPr>
        <p:spPr>
          <a:xfrm>
            <a:off x="1570514" y="337965"/>
            <a:ext cx="4764972" cy="548443"/>
          </a:xfrm>
          <a:prstGeom prst="rect">
            <a:avLst/>
          </a:prstGeom>
        </p:spPr>
        <p:txBody>
          <a:bodyPr wrap="none">
            <a:normAutofit/>
          </a:bodyPr>
          <a:lstStyle/>
          <a:p>
            <a:r>
              <a:rPr lang="en-US" altLang="zh-TW" sz="2800" dirty="0">
                <a:solidFill>
                  <a:prstClr val="black">
                    <a:lumMod val="75000"/>
                    <a:lumOff val="25000"/>
                  </a:prstClr>
                </a:solidFill>
                <a:latin typeface="Source Han Sans TC"/>
                <a:ea typeface="Source Han Sans TC"/>
                <a:sym typeface="字魂59号-创粗黑" panose="00000500000000000000" pitchFamily="2" charset="-122"/>
              </a:rPr>
              <a:t>Data analysis –</a:t>
            </a:r>
            <a:r>
              <a:rPr lang="zh-TW" altLang="en-US" sz="2800" dirty="0">
                <a:solidFill>
                  <a:srgbClr val="0070C0"/>
                </a:solidFill>
                <a:latin typeface="Source Han Sans TC"/>
                <a:ea typeface="Source Han Sans TC"/>
                <a:sym typeface="字魂59号-创粗黑" panose="00000500000000000000" pitchFamily="2" charset="-122"/>
              </a:rPr>
              <a:t>肛失禁患者</a:t>
            </a:r>
            <a:endParaRPr lang="en-US" altLang="zh-TW" sz="2800" dirty="0">
              <a:solidFill>
                <a:srgbClr val="0070C0"/>
              </a:solidFill>
              <a:latin typeface="Source Han Sans TC"/>
              <a:ea typeface="Source Han Sans TC"/>
              <a:sym typeface="字魂59号-创粗黑" panose="00000500000000000000" pitchFamily="2" charset="-122"/>
            </a:endParaRPr>
          </a:p>
          <a:p>
            <a:endParaRPr lang="en-US" altLang="zh-TW" sz="2800" b="1" dirty="0">
              <a:solidFill>
                <a:srgbClr val="0070C0"/>
              </a:solidFill>
              <a:latin typeface="微軟正黑體" panose="020B0604030504040204" pitchFamily="34" charset="-120"/>
              <a:ea typeface="微軟正黑體" panose="020B0604030504040204" pitchFamily="34" charset="-120"/>
              <a:cs typeface="Calibri" panose="020F0502020204030204" pitchFamily="34" charset="0"/>
            </a:endParaRPr>
          </a:p>
        </p:txBody>
      </p:sp>
      <p:sp>
        <p:nvSpPr>
          <p:cNvPr id="7" name="文字方塊 6">
            <a:extLst>
              <a:ext uri="{FF2B5EF4-FFF2-40B4-BE49-F238E27FC236}">
                <a16:creationId xmlns:a16="http://schemas.microsoft.com/office/drawing/2014/main" id="{F36FF8FF-6BA0-209F-2116-3F8DD34B989C}"/>
              </a:ext>
            </a:extLst>
          </p:cNvPr>
          <p:cNvSpPr txBox="1"/>
          <p:nvPr/>
        </p:nvSpPr>
        <p:spPr>
          <a:xfrm>
            <a:off x="1358536" y="1344040"/>
            <a:ext cx="10187404" cy="707886"/>
          </a:xfrm>
          <a:prstGeom prst="rect">
            <a:avLst/>
          </a:prstGeom>
          <a:noFill/>
        </p:spPr>
        <p:txBody>
          <a:bodyPr wrap="none" rtlCol="0">
            <a:spAutoFit/>
          </a:bodyPr>
          <a:lstStyle/>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我們也使用相同的手法進行補值，並且針對補值後的資料進行檢定，同樣地，我們把前測</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資料為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NA</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 的資料拿掉，最後一共剩下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24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筆資料，其中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6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筆有完整的前後測資料。</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graphicFrame>
        <p:nvGraphicFramePr>
          <p:cNvPr id="3" name="表格 2">
            <a:extLst>
              <a:ext uri="{FF2B5EF4-FFF2-40B4-BE49-F238E27FC236}">
                <a16:creationId xmlns:a16="http://schemas.microsoft.com/office/drawing/2014/main" id="{534E70C7-2DE4-97C8-684D-8FE1571F1DA8}"/>
              </a:ext>
            </a:extLst>
          </p:cNvPr>
          <p:cNvGraphicFramePr>
            <a:graphicFrameLocks noGrp="1"/>
          </p:cNvGraphicFramePr>
          <p:nvPr>
            <p:extLst>
              <p:ext uri="{D42A27DB-BD31-4B8C-83A1-F6EECF244321}">
                <p14:modId xmlns:p14="http://schemas.microsoft.com/office/powerpoint/2010/main" val="1241480908"/>
              </p:ext>
            </p:extLst>
          </p:nvPr>
        </p:nvGraphicFramePr>
        <p:xfrm>
          <a:off x="665873" y="3468835"/>
          <a:ext cx="3678514" cy="2003507"/>
        </p:xfrm>
        <a:graphic>
          <a:graphicData uri="http://schemas.openxmlformats.org/drawingml/2006/table">
            <a:tbl>
              <a:tblPr/>
              <a:tblGrid>
                <a:gridCol w="782371">
                  <a:extLst>
                    <a:ext uri="{9D8B030D-6E8A-4147-A177-3AD203B41FA5}">
                      <a16:colId xmlns:a16="http://schemas.microsoft.com/office/drawing/2014/main" val="3160178594"/>
                    </a:ext>
                  </a:extLst>
                </a:gridCol>
                <a:gridCol w="878451">
                  <a:extLst>
                    <a:ext uri="{9D8B030D-6E8A-4147-A177-3AD203B41FA5}">
                      <a16:colId xmlns:a16="http://schemas.microsoft.com/office/drawing/2014/main" val="2847855402"/>
                    </a:ext>
                  </a:extLst>
                </a:gridCol>
                <a:gridCol w="960806">
                  <a:extLst>
                    <a:ext uri="{9D8B030D-6E8A-4147-A177-3AD203B41FA5}">
                      <a16:colId xmlns:a16="http://schemas.microsoft.com/office/drawing/2014/main" val="1432881911"/>
                    </a:ext>
                  </a:extLst>
                </a:gridCol>
                <a:gridCol w="1056886">
                  <a:extLst>
                    <a:ext uri="{9D8B030D-6E8A-4147-A177-3AD203B41FA5}">
                      <a16:colId xmlns:a16="http://schemas.microsoft.com/office/drawing/2014/main" val="1543460996"/>
                    </a:ext>
                  </a:extLst>
                </a:gridCol>
              </a:tblGrid>
              <a:tr h="414772">
                <a:tc>
                  <a:txBody>
                    <a:bodyPr/>
                    <a:lstStyle/>
                    <a:p>
                      <a:pPr marL="0" algn="ctr" defTabSz="1219170" rtl="0" eaLnBrk="1" fontAlgn="ctr" latinLnBrk="0" hangingPunct="1"/>
                      <a:r>
                        <a:rPr lang="en-US" sz="1600" b="0" i="0" u="none" strike="noStrike" kern="12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PreTest</a:t>
                      </a:r>
                      <a:endPar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541" marR="7541" marT="75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1219170" rtl="0" eaLnBrk="1" fontAlgn="ctr" latinLnBrk="0" hangingPunct="1"/>
                      <a:r>
                        <a:rPr lang="en-US" sz="1600" b="0" i="0" u="none" strike="noStrike" kern="12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PostTest</a:t>
                      </a:r>
                      <a:endPar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541" marR="7541" marT="75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1219170" rtl="0" eaLnBrk="1" fontAlgn="ctr" latinLnBrk="0" hangingPunct="1"/>
                      <a:r>
                        <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Imputation</a:t>
                      </a:r>
                      <a:br>
                        <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(Bayesian)</a:t>
                      </a:r>
                    </a:p>
                  </a:txBody>
                  <a:tcPr marL="7541" marR="7541" marT="75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1219170" rtl="0" eaLnBrk="1" fontAlgn="ctr" latinLnBrk="0" hangingPunct="1"/>
                      <a:r>
                        <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Imputation</a:t>
                      </a:r>
                      <a:br>
                        <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(Simple LR)</a:t>
                      </a:r>
                    </a:p>
                  </a:txBody>
                  <a:tcPr marL="7541" marR="7541" marT="75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267315624"/>
                  </a:ext>
                </a:extLst>
              </a:tr>
              <a:tr h="218698">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8</a:t>
                      </a:r>
                    </a:p>
                  </a:txBody>
                  <a:tcPr marL="7541" marR="7541" marT="75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9</a:t>
                      </a:r>
                    </a:p>
                  </a:txBody>
                  <a:tcPr marL="7541" marR="7541" marT="75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9</a:t>
                      </a:r>
                    </a:p>
                  </a:txBody>
                  <a:tcPr marL="7541" marR="7541" marT="75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9</a:t>
                      </a:r>
                    </a:p>
                  </a:txBody>
                  <a:tcPr marL="7541" marR="7541" marT="75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95268873"/>
                  </a:ext>
                </a:extLst>
              </a:tr>
              <a:tr h="218698">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3</a:t>
                      </a:r>
                    </a:p>
                  </a:txBody>
                  <a:tcPr marL="7541" marR="7541" marT="75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NA</a:t>
                      </a:r>
                    </a:p>
                  </a:txBody>
                  <a:tcPr marL="7541" marR="7541" marT="75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3.662179</a:t>
                      </a:r>
                    </a:p>
                  </a:txBody>
                  <a:tcPr marL="7541" marR="7541" marT="75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1.485075</a:t>
                      </a:r>
                    </a:p>
                  </a:txBody>
                  <a:tcPr marL="7541" marR="7541" marT="75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19877658"/>
                  </a:ext>
                </a:extLst>
              </a:tr>
              <a:tr h="218698">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17</a:t>
                      </a:r>
                    </a:p>
                  </a:txBody>
                  <a:tcPr marL="7541" marR="7541" marT="75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12</a:t>
                      </a:r>
                    </a:p>
                  </a:txBody>
                  <a:tcPr marL="7541" marR="7541" marT="75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12</a:t>
                      </a:r>
                    </a:p>
                  </a:txBody>
                  <a:tcPr marL="7541" marR="7541" marT="75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12</a:t>
                      </a:r>
                    </a:p>
                  </a:txBody>
                  <a:tcPr marL="7541" marR="7541" marT="75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1032646"/>
                  </a:ext>
                </a:extLst>
              </a:tr>
              <a:tr h="218698">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7</a:t>
                      </a:r>
                    </a:p>
                  </a:txBody>
                  <a:tcPr marL="7541" marR="7541" marT="75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0</a:t>
                      </a:r>
                    </a:p>
                  </a:txBody>
                  <a:tcPr marL="7541" marR="7541" marT="75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a:t>
                      </a:r>
                    </a:p>
                  </a:txBody>
                  <a:tcPr marL="7541" marR="7541" marT="75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0</a:t>
                      </a:r>
                    </a:p>
                  </a:txBody>
                  <a:tcPr marL="7541" marR="7541" marT="75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38207966"/>
                  </a:ext>
                </a:extLst>
              </a:tr>
              <a:tr h="218698">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9</a:t>
                      </a:r>
                    </a:p>
                  </a:txBody>
                  <a:tcPr marL="7541" marR="7541" marT="75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NA</a:t>
                      </a:r>
                    </a:p>
                  </a:txBody>
                  <a:tcPr marL="7541" marR="7541" marT="75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9.727323</a:t>
                      </a:r>
                    </a:p>
                  </a:txBody>
                  <a:tcPr marL="7541" marR="7541" marT="75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5.604478</a:t>
                      </a:r>
                    </a:p>
                  </a:txBody>
                  <a:tcPr marL="7541" marR="7541" marT="75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6500610"/>
                  </a:ext>
                </a:extLst>
              </a:tr>
              <a:tr h="218698">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8</a:t>
                      </a:r>
                    </a:p>
                  </a:txBody>
                  <a:tcPr marL="7541" marR="7541" marT="75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NA</a:t>
                      </a:r>
                    </a:p>
                  </a:txBody>
                  <a:tcPr marL="7541" marR="7541" marT="75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1.031749</a:t>
                      </a:r>
                    </a:p>
                  </a:txBody>
                  <a:tcPr marL="7541" marR="7541" marT="75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4.91791</a:t>
                      </a:r>
                    </a:p>
                  </a:txBody>
                  <a:tcPr marL="7541" marR="7541" marT="754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45914066"/>
                  </a:ext>
                </a:extLst>
              </a:tr>
            </a:tbl>
          </a:graphicData>
        </a:graphic>
      </p:graphicFrame>
      <p:sp>
        <p:nvSpPr>
          <p:cNvPr id="6" name="文字方塊 5">
            <a:extLst>
              <a:ext uri="{FF2B5EF4-FFF2-40B4-BE49-F238E27FC236}">
                <a16:creationId xmlns:a16="http://schemas.microsoft.com/office/drawing/2014/main" id="{5B7A2F85-465C-21AB-9763-6E24399FF4E0}"/>
              </a:ext>
            </a:extLst>
          </p:cNvPr>
          <p:cNvSpPr txBox="1"/>
          <p:nvPr/>
        </p:nvSpPr>
        <p:spPr>
          <a:xfrm>
            <a:off x="1592028" y="2813692"/>
            <a:ext cx="1723549" cy="461665"/>
          </a:xfrm>
          <a:prstGeom prst="rect">
            <a:avLst/>
          </a:prstGeom>
          <a:noFill/>
        </p:spPr>
        <p:txBody>
          <a:bodyPr wrap="none" rtlCol="0">
            <a:spAutoFit/>
          </a:bodyPr>
          <a:lstStyle/>
          <a:p>
            <a:r>
              <a:rPr lang="zh-TW" altLang="en-US" sz="2400" b="1" dirty="0">
                <a:latin typeface="微軟正黑體" panose="020B0604030504040204" pitchFamily="34" charset="-120"/>
                <a:ea typeface="微軟正黑體" panose="020B0604030504040204" pitchFamily="34" charset="-120"/>
              </a:rPr>
              <a:t>部分預測值</a:t>
            </a:r>
          </a:p>
        </p:txBody>
      </p:sp>
      <p:graphicFrame>
        <p:nvGraphicFramePr>
          <p:cNvPr id="9" name="表格 8">
            <a:extLst>
              <a:ext uri="{FF2B5EF4-FFF2-40B4-BE49-F238E27FC236}">
                <a16:creationId xmlns:a16="http://schemas.microsoft.com/office/drawing/2014/main" id="{2B05BD72-464E-7C45-734A-A15DFA5253F4}"/>
              </a:ext>
            </a:extLst>
          </p:cNvPr>
          <p:cNvGraphicFramePr>
            <a:graphicFrameLocks noGrp="1"/>
          </p:cNvGraphicFramePr>
          <p:nvPr>
            <p:extLst>
              <p:ext uri="{D42A27DB-BD31-4B8C-83A1-F6EECF244321}">
                <p14:modId xmlns:p14="http://schemas.microsoft.com/office/powerpoint/2010/main" val="1736686701"/>
              </p:ext>
            </p:extLst>
          </p:nvPr>
        </p:nvGraphicFramePr>
        <p:xfrm>
          <a:off x="6317028" y="3191512"/>
          <a:ext cx="4195483" cy="966767"/>
        </p:xfrm>
        <a:graphic>
          <a:graphicData uri="http://schemas.openxmlformats.org/drawingml/2006/table">
            <a:tbl>
              <a:tblPr/>
              <a:tblGrid>
                <a:gridCol w="1271627">
                  <a:extLst>
                    <a:ext uri="{9D8B030D-6E8A-4147-A177-3AD203B41FA5}">
                      <a16:colId xmlns:a16="http://schemas.microsoft.com/office/drawing/2014/main" val="3993428737"/>
                    </a:ext>
                  </a:extLst>
                </a:gridCol>
                <a:gridCol w="1461928">
                  <a:extLst>
                    <a:ext uri="{9D8B030D-6E8A-4147-A177-3AD203B41FA5}">
                      <a16:colId xmlns:a16="http://schemas.microsoft.com/office/drawing/2014/main" val="2161664515"/>
                    </a:ext>
                  </a:extLst>
                </a:gridCol>
                <a:gridCol w="1461928">
                  <a:extLst>
                    <a:ext uri="{9D8B030D-6E8A-4147-A177-3AD203B41FA5}">
                      <a16:colId xmlns:a16="http://schemas.microsoft.com/office/drawing/2014/main" val="81110010"/>
                    </a:ext>
                  </a:extLst>
                </a:gridCol>
              </a:tblGrid>
              <a:tr h="213360">
                <a:tc>
                  <a:txBody>
                    <a:bodyPr/>
                    <a:lstStyle/>
                    <a:p>
                      <a:pPr algn="ctr" fontAlgn="ct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zh-TW" altLang="en-US" sz="2000" b="0" i="0" u="none" strike="noStrike" dirty="0">
                          <a:solidFill>
                            <a:srgbClr val="000000"/>
                          </a:solidFill>
                          <a:effectLst/>
                          <a:latin typeface="微軟正黑體" panose="020B0604030504040204" pitchFamily="34" charset="-120"/>
                          <a:ea typeface="微軟正黑體" panose="020B0604030504040204" pitchFamily="34" charset="-120"/>
                        </a:rPr>
                        <a:t>統計量</a:t>
                      </a: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2000" b="0" i="0" u="none" strike="noStrike" dirty="0">
                          <a:solidFill>
                            <a:srgbClr val="000000"/>
                          </a:solidFill>
                          <a:effectLst/>
                          <a:latin typeface="微軟正黑體" panose="020B0604030504040204" pitchFamily="34" charset="-120"/>
                          <a:ea typeface="微軟正黑體" panose="020B0604030504040204" pitchFamily="34" charset="-120"/>
                        </a:rPr>
                        <a:t>p-value</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4200870"/>
                  </a:ext>
                </a:extLst>
              </a:tr>
              <a:tr h="341927">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T test</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dirty="0"/>
                        <a:t>4.6</a:t>
                      </a:r>
                      <a:endPar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kern="1200" dirty="0">
                          <a:solidFill>
                            <a:srgbClr val="00B050"/>
                          </a:solidFill>
                          <a:latin typeface="微軟正黑體" panose="020B0604030504040204" pitchFamily="34" charset="-120"/>
                          <a:ea typeface="微軟正黑體" panose="020B0604030504040204" pitchFamily="34" charset="-120"/>
                          <a:cs typeface="+mn-cs"/>
                        </a:rPr>
                        <a:t>6.38e-05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1513865"/>
                  </a:ext>
                </a:extLst>
              </a:tr>
              <a:tr h="220980">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Wilcoxon</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268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kern="1200" dirty="0">
                          <a:solidFill>
                            <a:srgbClr val="00B050"/>
                          </a:solidFill>
                          <a:latin typeface="微軟正黑體" panose="020B0604030504040204" pitchFamily="34" charset="-120"/>
                          <a:ea typeface="微軟正黑體" panose="020B0604030504040204" pitchFamily="34" charset="-120"/>
                          <a:cs typeface="+mn-cs"/>
                        </a:rPr>
                        <a:t>0.00016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5705361"/>
                  </a:ext>
                </a:extLst>
              </a:tr>
            </a:tbl>
          </a:graphicData>
        </a:graphic>
      </p:graphicFrame>
      <p:sp>
        <p:nvSpPr>
          <p:cNvPr id="10" name="文字方塊 9">
            <a:extLst>
              <a:ext uri="{FF2B5EF4-FFF2-40B4-BE49-F238E27FC236}">
                <a16:creationId xmlns:a16="http://schemas.microsoft.com/office/drawing/2014/main" id="{3871BFE2-7923-9502-5AB0-071C2E990588}"/>
              </a:ext>
            </a:extLst>
          </p:cNvPr>
          <p:cNvSpPr txBox="1"/>
          <p:nvPr/>
        </p:nvSpPr>
        <p:spPr>
          <a:xfrm>
            <a:off x="5581751" y="2423359"/>
            <a:ext cx="5666038" cy="461665"/>
          </a:xfrm>
          <a:prstGeom prst="rect">
            <a:avLst/>
          </a:prstGeom>
          <a:noFill/>
        </p:spPr>
        <p:txBody>
          <a:bodyPr wrap="none" rtlCol="0">
            <a:spAutoFit/>
          </a:bodyPr>
          <a:lstStyle/>
          <a:p>
            <a:r>
              <a:rPr lang="zh-TW" altLang="en-US" sz="2400" b="1" dirty="0">
                <a:latin typeface="微軟正黑體" panose="020B0604030504040204" pitchFamily="34" charset="-120"/>
                <a:ea typeface="微軟正黑體" panose="020B0604030504040204" pitchFamily="34" charset="-120"/>
              </a:rPr>
              <a:t>檢定結果 </a:t>
            </a:r>
            <a:r>
              <a:rPr lang="en-US" altLang="zh-TW" sz="2400" b="1" dirty="0">
                <a:latin typeface="微軟正黑體" panose="020B0604030504040204" pitchFamily="34" charset="-120"/>
                <a:ea typeface="微軟正黑體" panose="020B0604030504040204" pitchFamily="34" charset="-120"/>
              </a:rPr>
              <a:t>(Bayesian Ridge Regression)</a:t>
            </a:r>
          </a:p>
        </p:txBody>
      </p:sp>
      <p:sp>
        <p:nvSpPr>
          <p:cNvPr id="11" name="文字方塊 10">
            <a:extLst>
              <a:ext uri="{FF2B5EF4-FFF2-40B4-BE49-F238E27FC236}">
                <a16:creationId xmlns:a16="http://schemas.microsoft.com/office/drawing/2014/main" id="{5ABABF25-AA30-1453-8224-A4821EBCA46C}"/>
              </a:ext>
            </a:extLst>
          </p:cNvPr>
          <p:cNvSpPr txBox="1"/>
          <p:nvPr/>
        </p:nvSpPr>
        <p:spPr>
          <a:xfrm>
            <a:off x="5581751" y="4510793"/>
            <a:ext cx="5343899" cy="461665"/>
          </a:xfrm>
          <a:prstGeom prst="rect">
            <a:avLst/>
          </a:prstGeom>
          <a:noFill/>
        </p:spPr>
        <p:txBody>
          <a:bodyPr wrap="none" rtlCol="0">
            <a:spAutoFit/>
          </a:bodyPr>
          <a:lstStyle/>
          <a:p>
            <a:r>
              <a:rPr lang="zh-TW" altLang="en-US" sz="2400" b="1" dirty="0">
                <a:latin typeface="微軟正黑體" panose="020B0604030504040204" pitchFamily="34" charset="-120"/>
                <a:ea typeface="微軟正黑體" panose="020B0604030504040204" pitchFamily="34" charset="-120"/>
              </a:rPr>
              <a:t>檢定結果 </a:t>
            </a:r>
            <a:r>
              <a:rPr lang="en-US" altLang="zh-TW" sz="2400" b="1" dirty="0">
                <a:latin typeface="微軟正黑體" panose="020B0604030504040204" pitchFamily="34" charset="-120"/>
                <a:ea typeface="微軟正黑體" panose="020B0604030504040204" pitchFamily="34" charset="-120"/>
              </a:rPr>
              <a:t>(Simple linear Regression)</a:t>
            </a:r>
          </a:p>
        </p:txBody>
      </p:sp>
      <p:graphicFrame>
        <p:nvGraphicFramePr>
          <p:cNvPr id="14" name="表格 13">
            <a:extLst>
              <a:ext uri="{FF2B5EF4-FFF2-40B4-BE49-F238E27FC236}">
                <a16:creationId xmlns:a16="http://schemas.microsoft.com/office/drawing/2014/main" id="{A83664AA-CFF1-D13C-3631-1DC482852CEC}"/>
              </a:ext>
            </a:extLst>
          </p:cNvPr>
          <p:cNvGraphicFramePr>
            <a:graphicFrameLocks noGrp="1"/>
          </p:cNvGraphicFramePr>
          <p:nvPr>
            <p:extLst>
              <p:ext uri="{D42A27DB-BD31-4B8C-83A1-F6EECF244321}">
                <p14:modId xmlns:p14="http://schemas.microsoft.com/office/powerpoint/2010/main" val="1687449993"/>
              </p:ext>
            </p:extLst>
          </p:nvPr>
        </p:nvGraphicFramePr>
        <p:xfrm>
          <a:off x="6317027" y="5399548"/>
          <a:ext cx="4195483" cy="937260"/>
        </p:xfrm>
        <a:graphic>
          <a:graphicData uri="http://schemas.openxmlformats.org/drawingml/2006/table">
            <a:tbl>
              <a:tblPr/>
              <a:tblGrid>
                <a:gridCol w="1271627">
                  <a:extLst>
                    <a:ext uri="{9D8B030D-6E8A-4147-A177-3AD203B41FA5}">
                      <a16:colId xmlns:a16="http://schemas.microsoft.com/office/drawing/2014/main" val="3993428737"/>
                    </a:ext>
                  </a:extLst>
                </a:gridCol>
                <a:gridCol w="1461928">
                  <a:extLst>
                    <a:ext uri="{9D8B030D-6E8A-4147-A177-3AD203B41FA5}">
                      <a16:colId xmlns:a16="http://schemas.microsoft.com/office/drawing/2014/main" val="2161664515"/>
                    </a:ext>
                  </a:extLst>
                </a:gridCol>
                <a:gridCol w="1461928">
                  <a:extLst>
                    <a:ext uri="{9D8B030D-6E8A-4147-A177-3AD203B41FA5}">
                      <a16:colId xmlns:a16="http://schemas.microsoft.com/office/drawing/2014/main" val="81110010"/>
                    </a:ext>
                  </a:extLst>
                </a:gridCol>
              </a:tblGrid>
              <a:tr h="250659">
                <a:tc>
                  <a:txBody>
                    <a:bodyPr/>
                    <a:lstStyle/>
                    <a:p>
                      <a:pPr algn="ctr" fontAlgn="ct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zh-TW" altLang="en-US" sz="2000" b="0" i="0" u="none" strike="noStrike" dirty="0">
                          <a:solidFill>
                            <a:srgbClr val="000000"/>
                          </a:solidFill>
                          <a:effectLst/>
                          <a:latin typeface="微軟正黑體" panose="020B0604030504040204" pitchFamily="34" charset="-120"/>
                          <a:ea typeface="微軟正黑體" panose="020B0604030504040204" pitchFamily="34" charset="-120"/>
                        </a:rPr>
                        <a:t>統計量</a:t>
                      </a: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2000" b="0" i="0" u="none" strike="noStrike" dirty="0">
                          <a:solidFill>
                            <a:srgbClr val="000000"/>
                          </a:solidFill>
                          <a:effectLst/>
                          <a:latin typeface="微軟正黑體" panose="020B0604030504040204" pitchFamily="34" charset="-120"/>
                          <a:ea typeface="微軟正黑體" panose="020B0604030504040204" pitchFamily="34" charset="-120"/>
                        </a:rPr>
                        <a:t>p-value</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4200870"/>
                  </a:ext>
                </a:extLst>
              </a:tr>
              <a:tr h="220980">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T test</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9.4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kern="1200" dirty="0">
                          <a:solidFill>
                            <a:srgbClr val="00B050"/>
                          </a:solidFill>
                          <a:latin typeface="微軟正黑體" panose="020B0604030504040204" pitchFamily="34" charset="-120"/>
                          <a:ea typeface="微軟正黑體" panose="020B0604030504040204" pitchFamily="34" charset="-120"/>
                          <a:cs typeface="+mn-cs"/>
                        </a:rPr>
                        <a:t>1.22e-09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1513865"/>
                  </a:ext>
                </a:extLst>
              </a:tr>
              <a:tr h="220980">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Wilcoxon</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297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kern="1200" dirty="0">
                          <a:solidFill>
                            <a:srgbClr val="00B050"/>
                          </a:solidFill>
                          <a:latin typeface="微軟正黑體" panose="020B0604030504040204" pitchFamily="34" charset="-120"/>
                          <a:ea typeface="微軟正黑體" panose="020B0604030504040204" pitchFamily="34" charset="-120"/>
                          <a:cs typeface="+mn-cs"/>
                        </a:rPr>
                        <a:t>2.98e-07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5705361"/>
                  </a:ext>
                </a:extLst>
              </a:tr>
            </a:tbl>
          </a:graphicData>
        </a:graphic>
      </p:graphicFrame>
    </p:spTree>
    <p:extLst>
      <p:ext uri="{BB962C8B-B14F-4D97-AF65-F5344CB8AC3E}">
        <p14:creationId xmlns:p14="http://schemas.microsoft.com/office/powerpoint/2010/main" val="1712791113"/>
      </p:ext>
    </p:extLst>
  </p:cSld>
  <p:clrMapOvr>
    <a:masterClrMapping/>
  </p:clrMapOvr>
  <mc:AlternateContent xmlns:mc="http://schemas.openxmlformats.org/markup-compatibility/2006" xmlns:p14="http://schemas.microsoft.com/office/powerpoint/2010/main">
    <mc:Choice Requires="p14">
      <p:transition spd="slow" p14:dur="1250" advClick="0">
        <p14:pan dir="u"/>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58536" y="107592"/>
            <a:ext cx="5928672" cy="9840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70"/>
            <a:endParaRPr lang="en-US">
              <a:solidFill>
                <a:prstClr val="white"/>
              </a:solidFill>
              <a:latin typeface="思源黑体 CN Medium" panose="020B0600000000000000" pitchFamily="34" charset="-122"/>
              <a:ea typeface="思源黑体 CN Medium" panose="020B0600000000000000" pitchFamily="34" charset="-122"/>
              <a:sym typeface="字魂59号-创粗黑" panose="00000500000000000000" pitchFamily="2" charset="-122"/>
            </a:endParaRPr>
          </a:p>
        </p:txBody>
      </p:sp>
      <p:pic>
        <p:nvPicPr>
          <p:cNvPr id="17" name="图片 16">
            <a:extLst>
              <a:ext uri="{FF2B5EF4-FFF2-40B4-BE49-F238E27FC236}">
                <a16:creationId xmlns:a16="http://schemas.microsoft.com/office/drawing/2014/main" id="{05E72798-6899-42A6-9FEE-703EF4EFCDB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86" b="100000" l="0" r="100000">
                        <a14:foregroundMark x1="82171" y1="51131" x2="59408" y2="50679"/>
                        <a14:backgroundMark x1="91473" y1="41991" x2="86047" y2="34299"/>
                        <a14:backgroundMark x1="91966" y1="54118" x2="88090" y2="67059"/>
                        <a14:backgroundMark x1="84426" y1="75023" x2="75405" y2="81719"/>
                        <a14:backgroundMark x1="77026" y1="32217" x2="73573" y2="31493"/>
                        <a14:backgroundMark x1="67583" y1="33575" x2="65257" y2="31312"/>
                      </a14:backgroundRemoval>
                    </a14:imgEffect>
                  </a14:imgLayer>
                </a14:imgProps>
              </a:ext>
              <a:ext uri="{28A0092B-C50C-407E-A947-70E740481C1C}">
                <a14:useLocalDpi xmlns:a14="http://schemas.microsoft.com/office/drawing/2010/main" val="0"/>
              </a:ext>
            </a:extLst>
          </a:blip>
          <a:stretch>
            <a:fillRect/>
          </a:stretch>
        </p:blipFill>
        <p:spPr>
          <a:xfrm rot="277819">
            <a:off x="-1366951" y="-490407"/>
            <a:ext cx="3108709" cy="2420806"/>
          </a:xfrm>
          <a:prstGeom prst="rect">
            <a:avLst/>
          </a:prstGeom>
        </p:spPr>
      </p:pic>
      <p:sp>
        <p:nvSpPr>
          <p:cNvPr id="2" name="矩形 1">
            <a:extLst>
              <a:ext uri="{FF2B5EF4-FFF2-40B4-BE49-F238E27FC236}">
                <a16:creationId xmlns:a16="http://schemas.microsoft.com/office/drawing/2014/main" id="{CDACD7A8-3A6E-4C27-9240-791E721F0C74}"/>
              </a:ext>
            </a:extLst>
          </p:cNvPr>
          <p:cNvSpPr/>
          <p:nvPr/>
        </p:nvSpPr>
        <p:spPr>
          <a:xfrm>
            <a:off x="1570514" y="337965"/>
            <a:ext cx="4764972" cy="548443"/>
          </a:xfrm>
          <a:prstGeom prst="rect">
            <a:avLst/>
          </a:prstGeom>
        </p:spPr>
        <p:txBody>
          <a:bodyPr wrap="none">
            <a:normAutofit/>
          </a:bodyPr>
          <a:lstStyle/>
          <a:p>
            <a:r>
              <a:rPr lang="en-US" altLang="zh-TW" sz="2800" dirty="0">
                <a:solidFill>
                  <a:prstClr val="black">
                    <a:lumMod val="75000"/>
                    <a:lumOff val="25000"/>
                  </a:prstClr>
                </a:solidFill>
                <a:latin typeface="Source Han Sans TC"/>
                <a:ea typeface="Source Han Sans TC"/>
                <a:sym typeface="字魂59号-创粗黑" panose="00000500000000000000" pitchFamily="2" charset="-122"/>
              </a:rPr>
              <a:t>Data analysis –</a:t>
            </a:r>
            <a:r>
              <a:rPr lang="zh-TW" altLang="en-US" sz="2800" dirty="0">
                <a:solidFill>
                  <a:srgbClr val="0070C0"/>
                </a:solidFill>
                <a:latin typeface="Source Han Sans TC"/>
                <a:ea typeface="Source Han Sans TC"/>
                <a:sym typeface="字魂59号-创粗黑" panose="00000500000000000000" pitchFamily="2" charset="-122"/>
              </a:rPr>
              <a:t>尿失禁患者</a:t>
            </a:r>
            <a:endParaRPr lang="en-US" altLang="zh-TW" sz="2800" dirty="0">
              <a:solidFill>
                <a:srgbClr val="0070C0"/>
              </a:solidFill>
              <a:latin typeface="Source Han Sans TC"/>
              <a:ea typeface="Source Han Sans TC"/>
              <a:sym typeface="字魂59号-创粗黑" panose="00000500000000000000" pitchFamily="2" charset="-122"/>
            </a:endParaRPr>
          </a:p>
          <a:p>
            <a:endParaRPr lang="en-US" altLang="zh-TW" sz="2800" b="1" dirty="0">
              <a:solidFill>
                <a:srgbClr val="0070C0"/>
              </a:solidFill>
              <a:latin typeface="微軟正黑體" panose="020B0604030504040204" pitchFamily="34" charset="-120"/>
              <a:ea typeface="微軟正黑體" panose="020B0604030504040204" pitchFamily="34" charset="-120"/>
              <a:cs typeface="Calibri" panose="020F0502020204030204" pitchFamily="34" charset="0"/>
            </a:endParaRPr>
          </a:p>
        </p:txBody>
      </p:sp>
      <p:sp>
        <p:nvSpPr>
          <p:cNvPr id="7" name="文字方塊 6">
            <a:extLst>
              <a:ext uri="{FF2B5EF4-FFF2-40B4-BE49-F238E27FC236}">
                <a16:creationId xmlns:a16="http://schemas.microsoft.com/office/drawing/2014/main" id="{F36FF8FF-6BA0-209F-2116-3F8DD34B989C}"/>
              </a:ext>
            </a:extLst>
          </p:cNvPr>
          <p:cNvSpPr txBox="1"/>
          <p:nvPr/>
        </p:nvSpPr>
        <p:spPr>
          <a:xfrm>
            <a:off x="1358536" y="1185067"/>
            <a:ext cx="10488320" cy="1938992"/>
          </a:xfrm>
          <a:prstGeom prst="rect">
            <a:avLst/>
          </a:prstGeom>
          <a:noFill/>
        </p:spPr>
        <p:txBody>
          <a:bodyPr wrap="none" rtlCol="0">
            <a:spAutoFit/>
          </a:bodyPr>
          <a:lstStyle/>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我們接下來使用相同的方法在尿失禁的患者上，但這次不同的是我們發現有兩筆資料是沒有</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後測的問卷分數，但卻有收縮力量、撐住時間等等量測數值，因此我們可以先利用這些衡量</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數值來對該兩筆後測的問卷分數進行預測，接著再進行我們上面採用的手法來進行分析。</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而我用來對該兩筆後測分數進行預測的模型是使用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random forest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的方法，而該兩筆的預測</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結果為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11.7</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3" name="圖片 2" descr="一張含有 文字, 螢幕擷取畫面, 數字, 行 的圖片&#10;&#10;自動產生的描述">
            <a:extLst>
              <a:ext uri="{FF2B5EF4-FFF2-40B4-BE49-F238E27FC236}">
                <a16:creationId xmlns:a16="http://schemas.microsoft.com/office/drawing/2014/main" id="{DD2F7110-77E1-A82E-8F68-4F3042A6B836}"/>
              </a:ext>
            </a:extLst>
          </p:cNvPr>
          <p:cNvPicPr>
            <a:picLocks noChangeAspect="1"/>
          </p:cNvPicPr>
          <p:nvPr/>
        </p:nvPicPr>
        <p:blipFill>
          <a:blip r:embed="rId5"/>
          <a:stretch>
            <a:fillRect/>
          </a:stretch>
        </p:blipFill>
        <p:spPr>
          <a:xfrm>
            <a:off x="1578772" y="3523608"/>
            <a:ext cx="8947290" cy="2770579"/>
          </a:xfrm>
          <a:prstGeom prst="rect">
            <a:avLst/>
          </a:prstGeom>
          <a:ln>
            <a:solidFill>
              <a:schemeClr val="tx1"/>
            </a:solidFill>
          </a:ln>
        </p:spPr>
      </p:pic>
    </p:spTree>
    <p:extLst>
      <p:ext uri="{BB962C8B-B14F-4D97-AF65-F5344CB8AC3E}">
        <p14:creationId xmlns:p14="http://schemas.microsoft.com/office/powerpoint/2010/main" val="1356410858"/>
      </p:ext>
    </p:extLst>
  </p:cSld>
  <p:clrMapOvr>
    <a:masterClrMapping/>
  </p:clrMapOvr>
  <mc:AlternateContent xmlns:mc="http://schemas.openxmlformats.org/markup-compatibility/2006" xmlns:p14="http://schemas.microsoft.com/office/powerpoint/2010/main">
    <mc:Choice Requires="p14">
      <p:transition spd="slow" p14:dur="1250" advClick="0">
        <p14:pan dir="u"/>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58536" y="107592"/>
            <a:ext cx="5928672" cy="9840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70"/>
            <a:endParaRPr lang="en-US">
              <a:solidFill>
                <a:prstClr val="white"/>
              </a:solidFill>
              <a:latin typeface="思源黑体 CN Medium" panose="020B0600000000000000" pitchFamily="34" charset="-122"/>
              <a:ea typeface="思源黑体 CN Medium" panose="020B0600000000000000" pitchFamily="34" charset="-122"/>
              <a:sym typeface="字魂59号-创粗黑" panose="00000500000000000000" pitchFamily="2" charset="-122"/>
            </a:endParaRPr>
          </a:p>
        </p:txBody>
      </p:sp>
      <p:pic>
        <p:nvPicPr>
          <p:cNvPr id="17" name="图片 16">
            <a:extLst>
              <a:ext uri="{FF2B5EF4-FFF2-40B4-BE49-F238E27FC236}">
                <a16:creationId xmlns:a16="http://schemas.microsoft.com/office/drawing/2014/main" id="{05E72798-6899-42A6-9FEE-703EF4EFCDB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86" b="100000" l="0" r="100000">
                        <a14:foregroundMark x1="82171" y1="51131" x2="59408" y2="50679"/>
                        <a14:backgroundMark x1="91473" y1="41991" x2="86047" y2="34299"/>
                        <a14:backgroundMark x1="91966" y1="54118" x2="88090" y2="67059"/>
                        <a14:backgroundMark x1="84426" y1="75023" x2="75405" y2="81719"/>
                        <a14:backgroundMark x1="77026" y1="32217" x2="73573" y2="31493"/>
                        <a14:backgroundMark x1="67583" y1="33575" x2="65257" y2="31312"/>
                      </a14:backgroundRemoval>
                    </a14:imgEffect>
                  </a14:imgLayer>
                </a14:imgProps>
              </a:ext>
              <a:ext uri="{28A0092B-C50C-407E-A947-70E740481C1C}">
                <a14:useLocalDpi xmlns:a14="http://schemas.microsoft.com/office/drawing/2010/main" val="0"/>
              </a:ext>
            </a:extLst>
          </a:blip>
          <a:stretch>
            <a:fillRect/>
          </a:stretch>
        </p:blipFill>
        <p:spPr>
          <a:xfrm rot="277819">
            <a:off x="-1366951" y="-490407"/>
            <a:ext cx="3108709" cy="2420806"/>
          </a:xfrm>
          <a:prstGeom prst="rect">
            <a:avLst/>
          </a:prstGeom>
        </p:spPr>
      </p:pic>
      <p:sp>
        <p:nvSpPr>
          <p:cNvPr id="2" name="矩形 1">
            <a:extLst>
              <a:ext uri="{FF2B5EF4-FFF2-40B4-BE49-F238E27FC236}">
                <a16:creationId xmlns:a16="http://schemas.microsoft.com/office/drawing/2014/main" id="{CDACD7A8-3A6E-4C27-9240-791E721F0C74}"/>
              </a:ext>
            </a:extLst>
          </p:cNvPr>
          <p:cNvSpPr/>
          <p:nvPr/>
        </p:nvSpPr>
        <p:spPr>
          <a:xfrm>
            <a:off x="1570514" y="337965"/>
            <a:ext cx="4764972" cy="548443"/>
          </a:xfrm>
          <a:prstGeom prst="rect">
            <a:avLst/>
          </a:prstGeom>
        </p:spPr>
        <p:txBody>
          <a:bodyPr wrap="none">
            <a:normAutofit/>
          </a:bodyPr>
          <a:lstStyle/>
          <a:p>
            <a:r>
              <a:rPr lang="en-US" altLang="zh-TW" sz="2800" dirty="0">
                <a:solidFill>
                  <a:prstClr val="black">
                    <a:lumMod val="75000"/>
                    <a:lumOff val="25000"/>
                  </a:prstClr>
                </a:solidFill>
                <a:latin typeface="Source Han Sans TC"/>
                <a:ea typeface="Source Han Sans TC"/>
                <a:sym typeface="字魂59号-创粗黑" panose="00000500000000000000" pitchFamily="2" charset="-122"/>
              </a:rPr>
              <a:t>Data analysis –</a:t>
            </a:r>
            <a:r>
              <a:rPr lang="zh-TW" altLang="en-US" sz="2800" dirty="0">
                <a:solidFill>
                  <a:srgbClr val="0070C0"/>
                </a:solidFill>
                <a:latin typeface="Source Han Sans TC"/>
                <a:ea typeface="Source Han Sans TC"/>
                <a:sym typeface="字魂59号-创粗黑" panose="00000500000000000000" pitchFamily="2" charset="-122"/>
              </a:rPr>
              <a:t>尿失禁患者</a:t>
            </a:r>
            <a:endParaRPr lang="en-US" altLang="zh-TW" sz="2800" dirty="0">
              <a:solidFill>
                <a:srgbClr val="0070C0"/>
              </a:solidFill>
              <a:latin typeface="Source Han Sans TC"/>
              <a:ea typeface="Source Han Sans TC"/>
              <a:sym typeface="字魂59号-创粗黑" panose="00000500000000000000" pitchFamily="2" charset="-122"/>
            </a:endParaRPr>
          </a:p>
          <a:p>
            <a:endParaRPr lang="en-US" altLang="zh-TW" sz="2800" b="1" dirty="0">
              <a:solidFill>
                <a:srgbClr val="0070C0"/>
              </a:solidFill>
              <a:latin typeface="微軟正黑體" panose="020B0604030504040204" pitchFamily="34" charset="-120"/>
              <a:ea typeface="微軟正黑體" panose="020B0604030504040204" pitchFamily="34" charset="-120"/>
              <a:cs typeface="Calibri" panose="020F0502020204030204" pitchFamily="34" charset="0"/>
            </a:endParaRPr>
          </a:p>
        </p:txBody>
      </p:sp>
      <p:graphicFrame>
        <p:nvGraphicFramePr>
          <p:cNvPr id="5" name="表格 4">
            <a:extLst>
              <a:ext uri="{FF2B5EF4-FFF2-40B4-BE49-F238E27FC236}">
                <a16:creationId xmlns:a16="http://schemas.microsoft.com/office/drawing/2014/main" id="{9EAE96B9-A5B8-5954-AB88-E3F5B2DBF5A9}"/>
              </a:ext>
            </a:extLst>
          </p:cNvPr>
          <p:cNvGraphicFramePr>
            <a:graphicFrameLocks noGrp="1"/>
          </p:cNvGraphicFramePr>
          <p:nvPr>
            <p:extLst>
              <p:ext uri="{D42A27DB-BD31-4B8C-83A1-F6EECF244321}">
                <p14:modId xmlns:p14="http://schemas.microsoft.com/office/powerpoint/2010/main" val="3976788329"/>
              </p:ext>
            </p:extLst>
          </p:nvPr>
        </p:nvGraphicFramePr>
        <p:xfrm>
          <a:off x="1689202" y="3906375"/>
          <a:ext cx="2195594" cy="1866900"/>
        </p:xfrm>
        <a:graphic>
          <a:graphicData uri="http://schemas.openxmlformats.org/drawingml/2006/table">
            <a:tbl>
              <a:tblPr/>
              <a:tblGrid>
                <a:gridCol w="1021372">
                  <a:extLst>
                    <a:ext uri="{9D8B030D-6E8A-4147-A177-3AD203B41FA5}">
                      <a16:colId xmlns:a16="http://schemas.microsoft.com/office/drawing/2014/main" val="3993428737"/>
                    </a:ext>
                  </a:extLst>
                </a:gridCol>
                <a:gridCol w="1174222">
                  <a:extLst>
                    <a:ext uri="{9D8B030D-6E8A-4147-A177-3AD203B41FA5}">
                      <a16:colId xmlns:a16="http://schemas.microsoft.com/office/drawing/2014/main" val="2161664515"/>
                    </a:ext>
                  </a:extLst>
                </a:gridCol>
              </a:tblGrid>
              <a:tr h="213360">
                <a:tc>
                  <a:txBody>
                    <a:bodyPr/>
                    <a:lstStyle/>
                    <a:p>
                      <a:pPr algn="ctr" fontAlgn="ctr"/>
                      <a:r>
                        <a:rPr lang="en-US" sz="24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PreTest</a:t>
                      </a:r>
                      <a:endParaRPr lang="en-US" sz="24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fontAlgn="ctr"/>
                      <a:r>
                        <a:rPr lang="en-US" sz="2400" b="0" i="0" u="none" strike="noStrike"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PostTest</a:t>
                      </a:r>
                      <a:endParaRPr lang="en-US" sz="24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474200870"/>
                  </a:ext>
                </a:extLst>
              </a:tr>
              <a:tr h="220980">
                <a:tc>
                  <a:txBody>
                    <a:bodyPr/>
                    <a:lstStyle/>
                    <a:p>
                      <a:pPr marL="0" algn="ctr" defTabSz="1219170" rtl="0" eaLnBrk="1" fontAlgn="ctr" latinLnBrk="0" hangingPunct="1"/>
                      <a:r>
                        <a:rPr lang="en-US" altLang="zh-TW" sz="2400" kern="1200" dirty="0">
                          <a:solidFill>
                            <a:schemeClr val="tx1"/>
                          </a:solidFill>
                          <a:latin typeface="微軟正黑體" panose="020B0604030504040204" pitchFamily="34" charset="-120"/>
                          <a:ea typeface="微軟正黑體" panose="020B0604030504040204" pitchFamily="34" charset="-120"/>
                          <a:cs typeface="+mn-cs"/>
                        </a:rPr>
                        <a:t>16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2400" kern="1200">
                          <a:solidFill>
                            <a:schemeClr val="tx1"/>
                          </a:solidFill>
                          <a:latin typeface="微軟正黑體" panose="020B0604030504040204" pitchFamily="34" charset="-120"/>
                          <a:ea typeface="微軟正黑體" panose="020B0604030504040204" pitchFamily="34" charset="-120"/>
                          <a:cs typeface="+mn-cs"/>
                        </a:rPr>
                        <a:t>14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1513865"/>
                  </a:ext>
                </a:extLst>
              </a:tr>
              <a:tr h="220980">
                <a:tc>
                  <a:txBody>
                    <a:bodyPr/>
                    <a:lstStyle/>
                    <a:p>
                      <a:pPr marL="0" algn="ctr" defTabSz="1219170" rtl="0" eaLnBrk="1" fontAlgn="ctr" latinLnBrk="0" hangingPunct="1"/>
                      <a:r>
                        <a:rPr lang="en-US" altLang="zh-TW" sz="2400" kern="1200">
                          <a:solidFill>
                            <a:schemeClr val="tx1"/>
                          </a:solidFill>
                          <a:latin typeface="微軟正黑體" panose="020B0604030504040204" pitchFamily="34" charset="-120"/>
                          <a:ea typeface="微軟正黑體" panose="020B0604030504040204" pitchFamily="34" charset="-120"/>
                          <a:cs typeface="+mn-cs"/>
                        </a:rPr>
                        <a:t>19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2400" kern="1200" dirty="0">
                          <a:solidFill>
                            <a:schemeClr val="tx1"/>
                          </a:solidFill>
                          <a:latin typeface="微軟正黑體" panose="020B0604030504040204" pitchFamily="34" charset="-120"/>
                          <a:ea typeface="微軟正黑體" panose="020B0604030504040204" pitchFamily="34" charset="-120"/>
                          <a:cs typeface="+mn-cs"/>
                        </a:rPr>
                        <a:t>11.7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635705361"/>
                  </a:ext>
                </a:extLst>
              </a:tr>
              <a:tr h="220980">
                <a:tc>
                  <a:txBody>
                    <a:bodyPr/>
                    <a:lstStyle/>
                    <a:p>
                      <a:pPr marL="0" algn="ctr" defTabSz="1219170" rtl="0" eaLnBrk="1" fontAlgn="ctr" latinLnBrk="0" hangingPunct="1"/>
                      <a:r>
                        <a:rPr lang="en-US" altLang="zh-TW" sz="2400" kern="1200">
                          <a:solidFill>
                            <a:schemeClr val="tx1"/>
                          </a:solidFill>
                          <a:latin typeface="微軟正黑體" panose="020B0604030504040204" pitchFamily="34" charset="-120"/>
                          <a:ea typeface="微軟正黑體" panose="020B0604030504040204" pitchFamily="34" charset="-120"/>
                          <a:cs typeface="+mn-cs"/>
                        </a:rPr>
                        <a:t>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2400" kern="1200" dirty="0">
                          <a:solidFill>
                            <a:schemeClr val="tx1"/>
                          </a:solidFill>
                          <a:latin typeface="微軟正黑體" panose="020B0604030504040204" pitchFamily="34" charset="-120"/>
                          <a:ea typeface="微軟正黑體" panose="020B0604030504040204" pitchFamily="34" charset="-120"/>
                          <a:cs typeface="+mn-cs"/>
                        </a:rPr>
                        <a:t>11.7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695502309"/>
                  </a:ext>
                </a:extLst>
              </a:tr>
              <a:tr h="213360">
                <a:tc>
                  <a:txBody>
                    <a:bodyPr/>
                    <a:lstStyle/>
                    <a:p>
                      <a:pPr marL="0" algn="ctr" defTabSz="1219170" rtl="0" eaLnBrk="1" fontAlgn="ctr" latinLnBrk="0" hangingPunct="1"/>
                      <a:r>
                        <a:rPr lang="en-US" altLang="zh-TW" sz="2400" kern="1200">
                          <a:solidFill>
                            <a:schemeClr val="tx1"/>
                          </a:solidFill>
                          <a:latin typeface="微軟正黑體" panose="020B0604030504040204" pitchFamily="34" charset="-120"/>
                          <a:ea typeface="微軟正黑體" panose="020B0604030504040204" pitchFamily="34" charset="-120"/>
                          <a:cs typeface="+mn-cs"/>
                        </a:rPr>
                        <a:t>13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2400" kern="1200" dirty="0">
                          <a:solidFill>
                            <a:schemeClr val="tx1"/>
                          </a:solidFill>
                          <a:latin typeface="微軟正黑體" panose="020B0604030504040204" pitchFamily="34" charset="-120"/>
                          <a:ea typeface="微軟正黑體" panose="020B0604030504040204" pitchFamily="34" charset="-120"/>
                          <a:cs typeface="+mn-cs"/>
                        </a:rPr>
                        <a:t>11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4610899"/>
                  </a:ext>
                </a:extLst>
              </a:tr>
            </a:tbl>
          </a:graphicData>
        </a:graphic>
      </p:graphicFrame>
      <p:sp>
        <p:nvSpPr>
          <p:cNvPr id="7" name="文字方塊 6">
            <a:extLst>
              <a:ext uri="{FF2B5EF4-FFF2-40B4-BE49-F238E27FC236}">
                <a16:creationId xmlns:a16="http://schemas.microsoft.com/office/drawing/2014/main" id="{F36FF8FF-6BA0-209F-2116-3F8DD34B989C}"/>
              </a:ext>
            </a:extLst>
          </p:cNvPr>
          <p:cNvSpPr txBox="1"/>
          <p:nvPr/>
        </p:nvSpPr>
        <p:spPr>
          <a:xfrm>
            <a:off x="1358536" y="1373886"/>
            <a:ext cx="10669011" cy="1323439"/>
          </a:xfrm>
          <a:prstGeom prst="rect">
            <a:avLst/>
          </a:prstGeom>
          <a:noFill/>
        </p:spPr>
        <p:txBody>
          <a:bodyPr wrap="none" rtlCol="0">
            <a:spAutoFit/>
          </a:bodyPr>
          <a:lstStyle/>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我們一樣使用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T</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test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跟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Wilcoxon Sign Rank Test</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 來對以下四筆資料進行檢定，值得注意的是</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該四筆資料中其中兩筆後測資料為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11.7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為我們使用隨機森林的預測結果。而兩個檢定結果在</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顯著水準為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0.01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的情況下皆不顯著拒絕虛無假設，</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因此在尚未補值之前，尿失禁的問卷分析</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結果並不支持治療有顯著的成效。 </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8" name="文字方塊 7">
            <a:extLst>
              <a:ext uri="{FF2B5EF4-FFF2-40B4-BE49-F238E27FC236}">
                <a16:creationId xmlns:a16="http://schemas.microsoft.com/office/drawing/2014/main" id="{38376C39-1C05-2DA1-373D-6ABFFDA24D2D}"/>
              </a:ext>
            </a:extLst>
          </p:cNvPr>
          <p:cNvSpPr txBox="1"/>
          <p:nvPr/>
        </p:nvSpPr>
        <p:spPr>
          <a:xfrm>
            <a:off x="1689202" y="3318714"/>
            <a:ext cx="2339102" cy="461665"/>
          </a:xfrm>
          <a:prstGeom prst="rect">
            <a:avLst/>
          </a:prstGeom>
          <a:noFill/>
        </p:spPr>
        <p:txBody>
          <a:bodyPr wrap="none" rtlCol="0">
            <a:spAutoFit/>
          </a:bodyPr>
          <a:lstStyle/>
          <a:p>
            <a:r>
              <a:rPr lang="zh-TW" altLang="en-US" sz="2400" b="1" dirty="0">
                <a:latin typeface="微軟正黑體" panose="020B0604030504040204" pitchFamily="34" charset="-120"/>
                <a:ea typeface="微軟正黑體" panose="020B0604030504040204" pitchFamily="34" charset="-120"/>
              </a:rPr>
              <a:t>完整的問卷資料</a:t>
            </a:r>
          </a:p>
        </p:txBody>
      </p:sp>
      <p:sp>
        <p:nvSpPr>
          <p:cNvPr id="12" name="文字方塊 11">
            <a:extLst>
              <a:ext uri="{FF2B5EF4-FFF2-40B4-BE49-F238E27FC236}">
                <a16:creationId xmlns:a16="http://schemas.microsoft.com/office/drawing/2014/main" id="{25373F1C-E324-7135-F32E-0A4628E9D524}"/>
              </a:ext>
            </a:extLst>
          </p:cNvPr>
          <p:cNvSpPr txBox="1"/>
          <p:nvPr/>
        </p:nvSpPr>
        <p:spPr>
          <a:xfrm>
            <a:off x="7606420" y="3347670"/>
            <a:ext cx="1415772" cy="461665"/>
          </a:xfrm>
          <a:prstGeom prst="rect">
            <a:avLst/>
          </a:prstGeom>
          <a:noFill/>
        </p:spPr>
        <p:txBody>
          <a:bodyPr wrap="none" rtlCol="0">
            <a:spAutoFit/>
          </a:bodyPr>
          <a:lstStyle/>
          <a:p>
            <a:r>
              <a:rPr lang="zh-TW" altLang="en-US" sz="2400" b="1" dirty="0">
                <a:latin typeface="微軟正黑體" panose="020B0604030504040204" pitchFamily="34" charset="-120"/>
                <a:ea typeface="微軟正黑體" panose="020B0604030504040204" pitchFamily="34" charset="-120"/>
              </a:rPr>
              <a:t>檢定結果</a:t>
            </a:r>
          </a:p>
        </p:txBody>
      </p:sp>
      <p:graphicFrame>
        <p:nvGraphicFramePr>
          <p:cNvPr id="13" name="表格 12">
            <a:extLst>
              <a:ext uri="{FF2B5EF4-FFF2-40B4-BE49-F238E27FC236}">
                <a16:creationId xmlns:a16="http://schemas.microsoft.com/office/drawing/2014/main" id="{2574A360-7A21-4663-364F-D5FEF1C874BB}"/>
              </a:ext>
            </a:extLst>
          </p:cNvPr>
          <p:cNvGraphicFramePr>
            <a:graphicFrameLocks noGrp="1"/>
          </p:cNvGraphicFramePr>
          <p:nvPr>
            <p:extLst>
              <p:ext uri="{D42A27DB-BD31-4B8C-83A1-F6EECF244321}">
                <p14:modId xmlns:p14="http://schemas.microsoft.com/office/powerpoint/2010/main" val="1540148829"/>
              </p:ext>
            </p:extLst>
          </p:nvPr>
        </p:nvGraphicFramePr>
        <p:xfrm>
          <a:off x="6171304" y="4160675"/>
          <a:ext cx="4195483" cy="937260"/>
        </p:xfrm>
        <a:graphic>
          <a:graphicData uri="http://schemas.openxmlformats.org/drawingml/2006/table">
            <a:tbl>
              <a:tblPr/>
              <a:tblGrid>
                <a:gridCol w="1271627">
                  <a:extLst>
                    <a:ext uri="{9D8B030D-6E8A-4147-A177-3AD203B41FA5}">
                      <a16:colId xmlns:a16="http://schemas.microsoft.com/office/drawing/2014/main" val="3993428737"/>
                    </a:ext>
                  </a:extLst>
                </a:gridCol>
                <a:gridCol w="1461928">
                  <a:extLst>
                    <a:ext uri="{9D8B030D-6E8A-4147-A177-3AD203B41FA5}">
                      <a16:colId xmlns:a16="http://schemas.microsoft.com/office/drawing/2014/main" val="2161664515"/>
                    </a:ext>
                  </a:extLst>
                </a:gridCol>
                <a:gridCol w="1461928">
                  <a:extLst>
                    <a:ext uri="{9D8B030D-6E8A-4147-A177-3AD203B41FA5}">
                      <a16:colId xmlns:a16="http://schemas.microsoft.com/office/drawing/2014/main" val="81110010"/>
                    </a:ext>
                  </a:extLst>
                </a:gridCol>
              </a:tblGrid>
              <a:tr h="213360">
                <a:tc>
                  <a:txBody>
                    <a:bodyPr/>
                    <a:lstStyle/>
                    <a:p>
                      <a:pPr algn="ctr" fontAlgn="ct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zh-TW" altLang="en-US" sz="2000" b="0" i="0" u="none" strike="noStrike" dirty="0">
                          <a:solidFill>
                            <a:srgbClr val="000000"/>
                          </a:solidFill>
                          <a:effectLst/>
                          <a:latin typeface="微軟正黑體" panose="020B0604030504040204" pitchFamily="34" charset="-120"/>
                          <a:ea typeface="微軟正黑體" panose="020B0604030504040204" pitchFamily="34" charset="-120"/>
                        </a:rPr>
                        <a:t>統計量</a:t>
                      </a: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2000" b="0" i="0" u="none" strike="noStrike" dirty="0">
                          <a:solidFill>
                            <a:srgbClr val="000000"/>
                          </a:solidFill>
                          <a:effectLst/>
                          <a:latin typeface="微軟正黑體" panose="020B0604030504040204" pitchFamily="34" charset="-120"/>
                          <a:ea typeface="微軟正黑體" panose="020B0604030504040204" pitchFamily="34" charset="-120"/>
                        </a:rPr>
                        <a:t>p-value</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4200870"/>
                  </a:ext>
                </a:extLst>
              </a:tr>
              <a:tr h="220980">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T test</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1.05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dirty="0">
                          <a:solidFill>
                            <a:srgbClr val="FF0000"/>
                          </a:solidFill>
                          <a:latin typeface="微軟正黑體" panose="020B0604030504040204" pitchFamily="34" charset="-120"/>
                          <a:ea typeface="微軟正黑體" panose="020B0604030504040204" pitchFamily="34" charset="-120"/>
                        </a:rPr>
                        <a:t>0.185</a:t>
                      </a:r>
                      <a:endParaRPr lang="en-US" altLang="zh-TW" sz="2000" b="0" i="0" u="none" strike="noStrike" dirty="0">
                        <a:solidFill>
                          <a:srgbClr val="FF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1513865"/>
                  </a:ext>
                </a:extLst>
              </a:tr>
              <a:tr h="220980">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Wilcoxon</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dirty="0">
                          <a:solidFill>
                            <a:srgbClr val="FF0000"/>
                          </a:solidFill>
                          <a:latin typeface="微軟正黑體" panose="020B0604030504040204" pitchFamily="34" charset="-120"/>
                          <a:ea typeface="微軟正黑體" panose="020B0604030504040204" pitchFamily="34" charset="-120"/>
                        </a:rPr>
                        <a:t>0.312</a:t>
                      </a:r>
                      <a:endParaRPr lang="en-US" altLang="zh-TW" sz="2000" b="0" i="0" u="none" strike="noStrike" dirty="0">
                        <a:solidFill>
                          <a:srgbClr val="FF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5705361"/>
                  </a:ext>
                </a:extLst>
              </a:tr>
            </a:tbl>
          </a:graphicData>
        </a:graphic>
      </p:graphicFrame>
    </p:spTree>
    <p:extLst>
      <p:ext uri="{BB962C8B-B14F-4D97-AF65-F5344CB8AC3E}">
        <p14:creationId xmlns:p14="http://schemas.microsoft.com/office/powerpoint/2010/main" val="2106112611"/>
      </p:ext>
    </p:extLst>
  </p:cSld>
  <p:clrMapOvr>
    <a:masterClrMapping/>
  </p:clrMapOvr>
  <mc:AlternateContent xmlns:mc="http://schemas.openxmlformats.org/markup-compatibility/2006" xmlns:p14="http://schemas.microsoft.com/office/powerpoint/2010/main">
    <mc:Choice Requires="p14">
      <p:transition spd="slow" p14:dur="1250" advClick="0">
        <p14:pan dir="u"/>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58536" y="107592"/>
            <a:ext cx="5928672" cy="9840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70"/>
            <a:endParaRPr lang="en-US">
              <a:solidFill>
                <a:prstClr val="white"/>
              </a:solidFill>
              <a:latin typeface="思源黑体 CN Medium" panose="020B0600000000000000" pitchFamily="34" charset="-122"/>
              <a:ea typeface="思源黑体 CN Medium" panose="020B0600000000000000" pitchFamily="34" charset="-122"/>
              <a:sym typeface="字魂59号-创粗黑" panose="00000500000000000000" pitchFamily="2" charset="-122"/>
            </a:endParaRPr>
          </a:p>
        </p:txBody>
      </p:sp>
      <p:pic>
        <p:nvPicPr>
          <p:cNvPr id="17" name="图片 16">
            <a:extLst>
              <a:ext uri="{FF2B5EF4-FFF2-40B4-BE49-F238E27FC236}">
                <a16:creationId xmlns:a16="http://schemas.microsoft.com/office/drawing/2014/main" id="{05E72798-6899-42A6-9FEE-703EF4EFCDB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86" b="100000" l="0" r="100000">
                        <a14:foregroundMark x1="82171" y1="51131" x2="59408" y2="50679"/>
                        <a14:backgroundMark x1="91473" y1="41991" x2="86047" y2="34299"/>
                        <a14:backgroundMark x1="91966" y1="54118" x2="88090" y2="67059"/>
                        <a14:backgroundMark x1="84426" y1="75023" x2="75405" y2="81719"/>
                        <a14:backgroundMark x1="77026" y1="32217" x2="73573" y2="31493"/>
                        <a14:backgroundMark x1="67583" y1="33575" x2="65257" y2="31312"/>
                      </a14:backgroundRemoval>
                    </a14:imgEffect>
                  </a14:imgLayer>
                </a14:imgProps>
              </a:ext>
              <a:ext uri="{28A0092B-C50C-407E-A947-70E740481C1C}">
                <a14:useLocalDpi xmlns:a14="http://schemas.microsoft.com/office/drawing/2010/main" val="0"/>
              </a:ext>
            </a:extLst>
          </a:blip>
          <a:stretch>
            <a:fillRect/>
          </a:stretch>
        </p:blipFill>
        <p:spPr>
          <a:xfrm rot="277819">
            <a:off x="-1366951" y="-490407"/>
            <a:ext cx="3108709" cy="2420806"/>
          </a:xfrm>
          <a:prstGeom prst="rect">
            <a:avLst/>
          </a:prstGeom>
        </p:spPr>
      </p:pic>
      <p:sp>
        <p:nvSpPr>
          <p:cNvPr id="2" name="矩形 1">
            <a:extLst>
              <a:ext uri="{FF2B5EF4-FFF2-40B4-BE49-F238E27FC236}">
                <a16:creationId xmlns:a16="http://schemas.microsoft.com/office/drawing/2014/main" id="{CDACD7A8-3A6E-4C27-9240-791E721F0C74}"/>
              </a:ext>
            </a:extLst>
          </p:cNvPr>
          <p:cNvSpPr/>
          <p:nvPr/>
        </p:nvSpPr>
        <p:spPr>
          <a:xfrm>
            <a:off x="1570514" y="337965"/>
            <a:ext cx="4764972" cy="548443"/>
          </a:xfrm>
          <a:prstGeom prst="rect">
            <a:avLst/>
          </a:prstGeom>
        </p:spPr>
        <p:txBody>
          <a:bodyPr wrap="none">
            <a:normAutofit/>
          </a:bodyPr>
          <a:lstStyle/>
          <a:p>
            <a:r>
              <a:rPr lang="en-US" altLang="zh-TW" sz="2800" dirty="0">
                <a:solidFill>
                  <a:prstClr val="black">
                    <a:lumMod val="75000"/>
                    <a:lumOff val="25000"/>
                  </a:prstClr>
                </a:solidFill>
                <a:latin typeface="Source Han Sans TC"/>
                <a:ea typeface="Source Han Sans TC"/>
                <a:sym typeface="字魂59号-创粗黑" panose="00000500000000000000" pitchFamily="2" charset="-122"/>
              </a:rPr>
              <a:t>Data analysis –</a:t>
            </a:r>
            <a:r>
              <a:rPr lang="zh-TW" altLang="en-US" sz="2800" dirty="0">
                <a:solidFill>
                  <a:srgbClr val="0070C0"/>
                </a:solidFill>
                <a:latin typeface="Source Han Sans TC"/>
                <a:ea typeface="Source Han Sans TC"/>
                <a:sym typeface="字魂59号-创粗黑" panose="00000500000000000000" pitchFamily="2" charset="-122"/>
              </a:rPr>
              <a:t>尿失禁患者</a:t>
            </a:r>
            <a:endParaRPr lang="en-US" altLang="zh-TW" sz="2800" dirty="0">
              <a:solidFill>
                <a:srgbClr val="0070C0"/>
              </a:solidFill>
              <a:latin typeface="Source Han Sans TC"/>
              <a:ea typeface="Source Han Sans TC"/>
              <a:sym typeface="字魂59号-创粗黑" panose="00000500000000000000" pitchFamily="2" charset="-122"/>
            </a:endParaRPr>
          </a:p>
          <a:p>
            <a:endParaRPr lang="en-US" altLang="zh-TW" sz="2800" b="1" dirty="0">
              <a:solidFill>
                <a:srgbClr val="0070C0"/>
              </a:solidFill>
              <a:latin typeface="微軟正黑體" panose="020B0604030504040204" pitchFamily="34" charset="-120"/>
              <a:ea typeface="微軟正黑體" panose="020B0604030504040204" pitchFamily="34" charset="-120"/>
              <a:cs typeface="Calibri" panose="020F0502020204030204" pitchFamily="34" charset="0"/>
            </a:endParaRPr>
          </a:p>
        </p:txBody>
      </p:sp>
      <p:sp>
        <p:nvSpPr>
          <p:cNvPr id="7" name="文字方塊 6">
            <a:extLst>
              <a:ext uri="{FF2B5EF4-FFF2-40B4-BE49-F238E27FC236}">
                <a16:creationId xmlns:a16="http://schemas.microsoft.com/office/drawing/2014/main" id="{F36FF8FF-6BA0-209F-2116-3F8DD34B989C}"/>
              </a:ext>
            </a:extLst>
          </p:cNvPr>
          <p:cNvSpPr txBox="1"/>
          <p:nvPr/>
        </p:nvSpPr>
        <p:spPr>
          <a:xfrm>
            <a:off x="1358536" y="1215605"/>
            <a:ext cx="9721892" cy="1015663"/>
          </a:xfrm>
          <a:prstGeom prst="rect">
            <a:avLst/>
          </a:prstGeom>
          <a:noFill/>
        </p:spPr>
        <p:txBody>
          <a:bodyPr wrap="none" rtlCol="0">
            <a:spAutoFit/>
          </a:bodyPr>
          <a:lstStyle/>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我們也使用相同的手法進行補值接著進行檢定，結果發現補值後的檢定都非常不顯著</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且不論是在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simple linear regression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或是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Bayesian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的方法進行補值都得到相同的結</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果，因此在主觀的問卷資料上，</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我們無法說明治療對於尿失禁患者而言具有統計顯著</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6" name="文字方塊 5">
            <a:extLst>
              <a:ext uri="{FF2B5EF4-FFF2-40B4-BE49-F238E27FC236}">
                <a16:creationId xmlns:a16="http://schemas.microsoft.com/office/drawing/2014/main" id="{5B7A2F85-465C-21AB-9763-6E24399FF4E0}"/>
              </a:ext>
            </a:extLst>
          </p:cNvPr>
          <p:cNvSpPr txBox="1"/>
          <p:nvPr/>
        </p:nvSpPr>
        <p:spPr>
          <a:xfrm>
            <a:off x="1570514" y="2660928"/>
            <a:ext cx="1723549" cy="461665"/>
          </a:xfrm>
          <a:prstGeom prst="rect">
            <a:avLst/>
          </a:prstGeom>
          <a:noFill/>
        </p:spPr>
        <p:txBody>
          <a:bodyPr wrap="none" rtlCol="0">
            <a:spAutoFit/>
          </a:bodyPr>
          <a:lstStyle/>
          <a:p>
            <a:r>
              <a:rPr lang="zh-TW" altLang="en-US" sz="2400" b="1" dirty="0">
                <a:latin typeface="微軟正黑體" panose="020B0604030504040204" pitchFamily="34" charset="-120"/>
                <a:ea typeface="微軟正黑體" panose="020B0604030504040204" pitchFamily="34" charset="-120"/>
              </a:rPr>
              <a:t>部分預測值</a:t>
            </a:r>
          </a:p>
        </p:txBody>
      </p:sp>
      <p:graphicFrame>
        <p:nvGraphicFramePr>
          <p:cNvPr id="9" name="表格 8">
            <a:extLst>
              <a:ext uri="{FF2B5EF4-FFF2-40B4-BE49-F238E27FC236}">
                <a16:creationId xmlns:a16="http://schemas.microsoft.com/office/drawing/2014/main" id="{2B05BD72-464E-7C45-734A-A15DFA5253F4}"/>
              </a:ext>
            </a:extLst>
          </p:cNvPr>
          <p:cNvGraphicFramePr>
            <a:graphicFrameLocks noGrp="1"/>
          </p:cNvGraphicFramePr>
          <p:nvPr>
            <p:extLst>
              <p:ext uri="{D42A27DB-BD31-4B8C-83A1-F6EECF244321}">
                <p14:modId xmlns:p14="http://schemas.microsoft.com/office/powerpoint/2010/main" val="509893797"/>
              </p:ext>
            </p:extLst>
          </p:nvPr>
        </p:nvGraphicFramePr>
        <p:xfrm>
          <a:off x="6317028" y="3191512"/>
          <a:ext cx="4195483" cy="966767"/>
        </p:xfrm>
        <a:graphic>
          <a:graphicData uri="http://schemas.openxmlformats.org/drawingml/2006/table">
            <a:tbl>
              <a:tblPr/>
              <a:tblGrid>
                <a:gridCol w="1271627">
                  <a:extLst>
                    <a:ext uri="{9D8B030D-6E8A-4147-A177-3AD203B41FA5}">
                      <a16:colId xmlns:a16="http://schemas.microsoft.com/office/drawing/2014/main" val="3993428737"/>
                    </a:ext>
                  </a:extLst>
                </a:gridCol>
                <a:gridCol w="1461928">
                  <a:extLst>
                    <a:ext uri="{9D8B030D-6E8A-4147-A177-3AD203B41FA5}">
                      <a16:colId xmlns:a16="http://schemas.microsoft.com/office/drawing/2014/main" val="2161664515"/>
                    </a:ext>
                  </a:extLst>
                </a:gridCol>
                <a:gridCol w="1461928">
                  <a:extLst>
                    <a:ext uri="{9D8B030D-6E8A-4147-A177-3AD203B41FA5}">
                      <a16:colId xmlns:a16="http://schemas.microsoft.com/office/drawing/2014/main" val="81110010"/>
                    </a:ext>
                  </a:extLst>
                </a:gridCol>
              </a:tblGrid>
              <a:tr h="213360">
                <a:tc>
                  <a:txBody>
                    <a:bodyPr/>
                    <a:lstStyle/>
                    <a:p>
                      <a:pPr algn="ctr" fontAlgn="ct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zh-TW" altLang="en-US" sz="2000" b="0" i="0" u="none" strike="noStrike" dirty="0">
                          <a:solidFill>
                            <a:srgbClr val="000000"/>
                          </a:solidFill>
                          <a:effectLst/>
                          <a:latin typeface="微軟正黑體" panose="020B0604030504040204" pitchFamily="34" charset="-120"/>
                          <a:ea typeface="微軟正黑體" panose="020B0604030504040204" pitchFamily="34" charset="-120"/>
                        </a:rPr>
                        <a:t>統計量</a:t>
                      </a: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2000" b="0" i="0" u="none" strike="noStrike" dirty="0">
                          <a:solidFill>
                            <a:srgbClr val="000000"/>
                          </a:solidFill>
                          <a:effectLst/>
                          <a:latin typeface="微軟正黑體" panose="020B0604030504040204" pitchFamily="34" charset="-120"/>
                          <a:ea typeface="微軟正黑體" panose="020B0604030504040204" pitchFamily="34" charset="-120"/>
                        </a:rPr>
                        <a:t>p-value</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4200870"/>
                  </a:ext>
                </a:extLst>
              </a:tr>
              <a:tr h="341927">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T test</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-1.44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2000" kern="1200" dirty="0">
                          <a:solidFill>
                            <a:srgbClr val="FF0000"/>
                          </a:solidFill>
                          <a:latin typeface="微軟正黑體" panose="020B0604030504040204" pitchFamily="34" charset="-120"/>
                          <a:ea typeface="微軟正黑體" panose="020B0604030504040204" pitchFamily="34" charset="-120"/>
                          <a:cs typeface="+mn-cs"/>
                        </a:rPr>
                        <a:t>0.917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1513865"/>
                  </a:ext>
                </a:extLst>
              </a:tr>
              <a:tr h="220980">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Wilcoxon</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81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2000" kern="1200" dirty="0">
                          <a:solidFill>
                            <a:srgbClr val="FF0000"/>
                          </a:solidFill>
                          <a:latin typeface="微軟正黑體" panose="020B0604030504040204" pitchFamily="34" charset="-120"/>
                          <a:ea typeface="微軟正黑體" panose="020B0604030504040204" pitchFamily="34" charset="-120"/>
                          <a:cs typeface="+mn-cs"/>
                        </a:rPr>
                        <a:t>0.931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5705361"/>
                  </a:ext>
                </a:extLst>
              </a:tr>
            </a:tbl>
          </a:graphicData>
        </a:graphic>
      </p:graphicFrame>
      <p:sp>
        <p:nvSpPr>
          <p:cNvPr id="10" name="文字方塊 9">
            <a:extLst>
              <a:ext uri="{FF2B5EF4-FFF2-40B4-BE49-F238E27FC236}">
                <a16:creationId xmlns:a16="http://schemas.microsoft.com/office/drawing/2014/main" id="{3871BFE2-7923-9502-5AB0-071C2E990588}"/>
              </a:ext>
            </a:extLst>
          </p:cNvPr>
          <p:cNvSpPr txBox="1"/>
          <p:nvPr/>
        </p:nvSpPr>
        <p:spPr>
          <a:xfrm>
            <a:off x="5581751" y="2423359"/>
            <a:ext cx="5666038" cy="461665"/>
          </a:xfrm>
          <a:prstGeom prst="rect">
            <a:avLst/>
          </a:prstGeom>
          <a:noFill/>
        </p:spPr>
        <p:txBody>
          <a:bodyPr wrap="none" rtlCol="0">
            <a:spAutoFit/>
          </a:bodyPr>
          <a:lstStyle/>
          <a:p>
            <a:r>
              <a:rPr lang="zh-TW" altLang="en-US" sz="2400" b="1" dirty="0">
                <a:latin typeface="微軟正黑體" panose="020B0604030504040204" pitchFamily="34" charset="-120"/>
                <a:ea typeface="微軟正黑體" panose="020B0604030504040204" pitchFamily="34" charset="-120"/>
              </a:rPr>
              <a:t>檢定結果 </a:t>
            </a:r>
            <a:r>
              <a:rPr lang="en-US" altLang="zh-TW" sz="2400" b="1" dirty="0">
                <a:latin typeface="微軟正黑體" panose="020B0604030504040204" pitchFamily="34" charset="-120"/>
                <a:ea typeface="微軟正黑體" panose="020B0604030504040204" pitchFamily="34" charset="-120"/>
              </a:rPr>
              <a:t>(Bayesian Ridge Regression)</a:t>
            </a:r>
          </a:p>
        </p:txBody>
      </p:sp>
      <p:sp>
        <p:nvSpPr>
          <p:cNvPr id="11" name="文字方塊 10">
            <a:extLst>
              <a:ext uri="{FF2B5EF4-FFF2-40B4-BE49-F238E27FC236}">
                <a16:creationId xmlns:a16="http://schemas.microsoft.com/office/drawing/2014/main" id="{5ABABF25-AA30-1453-8224-A4821EBCA46C}"/>
              </a:ext>
            </a:extLst>
          </p:cNvPr>
          <p:cNvSpPr txBox="1"/>
          <p:nvPr/>
        </p:nvSpPr>
        <p:spPr>
          <a:xfrm>
            <a:off x="5581751" y="4510793"/>
            <a:ext cx="5343899" cy="461665"/>
          </a:xfrm>
          <a:prstGeom prst="rect">
            <a:avLst/>
          </a:prstGeom>
          <a:noFill/>
        </p:spPr>
        <p:txBody>
          <a:bodyPr wrap="none" rtlCol="0">
            <a:spAutoFit/>
          </a:bodyPr>
          <a:lstStyle/>
          <a:p>
            <a:r>
              <a:rPr lang="zh-TW" altLang="en-US" sz="2400" b="1" dirty="0">
                <a:latin typeface="微軟正黑體" panose="020B0604030504040204" pitchFamily="34" charset="-120"/>
                <a:ea typeface="微軟正黑體" panose="020B0604030504040204" pitchFamily="34" charset="-120"/>
              </a:rPr>
              <a:t>檢定結果 </a:t>
            </a:r>
            <a:r>
              <a:rPr lang="en-US" altLang="zh-TW" sz="2400" b="1" dirty="0">
                <a:latin typeface="微軟正黑體" panose="020B0604030504040204" pitchFamily="34" charset="-120"/>
                <a:ea typeface="微軟正黑體" panose="020B0604030504040204" pitchFamily="34" charset="-120"/>
              </a:rPr>
              <a:t>(Simple linear Regression)</a:t>
            </a:r>
          </a:p>
        </p:txBody>
      </p:sp>
      <p:graphicFrame>
        <p:nvGraphicFramePr>
          <p:cNvPr id="14" name="表格 13">
            <a:extLst>
              <a:ext uri="{FF2B5EF4-FFF2-40B4-BE49-F238E27FC236}">
                <a16:creationId xmlns:a16="http://schemas.microsoft.com/office/drawing/2014/main" id="{A83664AA-CFF1-D13C-3631-1DC482852CEC}"/>
              </a:ext>
            </a:extLst>
          </p:cNvPr>
          <p:cNvGraphicFramePr>
            <a:graphicFrameLocks noGrp="1"/>
          </p:cNvGraphicFramePr>
          <p:nvPr>
            <p:extLst>
              <p:ext uri="{D42A27DB-BD31-4B8C-83A1-F6EECF244321}">
                <p14:modId xmlns:p14="http://schemas.microsoft.com/office/powerpoint/2010/main" val="306536522"/>
              </p:ext>
            </p:extLst>
          </p:nvPr>
        </p:nvGraphicFramePr>
        <p:xfrm>
          <a:off x="6317027" y="5399548"/>
          <a:ext cx="4195483" cy="937260"/>
        </p:xfrm>
        <a:graphic>
          <a:graphicData uri="http://schemas.openxmlformats.org/drawingml/2006/table">
            <a:tbl>
              <a:tblPr/>
              <a:tblGrid>
                <a:gridCol w="1271627">
                  <a:extLst>
                    <a:ext uri="{9D8B030D-6E8A-4147-A177-3AD203B41FA5}">
                      <a16:colId xmlns:a16="http://schemas.microsoft.com/office/drawing/2014/main" val="3993428737"/>
                    </a:ext>
                  </a:extLst>
                </a:gridCol>
                <a:gridCol w="1461928">
                  <a:extLst>
                    <a:ext uri="{9D8B030D-6E8A-4147-A177-3AD203B41FA5}">
                      <a16:colId xmlns:a16="http://schemas.microsoft.com/office/drawing/2014/main" val="2161664515"/>
                    </a:ext>
                  </a:extLst>
                </a:gridCol>
                <a:gridCol w="1461928">
                  <a:extLst>
                    <a:ext uri="{9D8B030D-6E8A-4147-A177-3AD203B41FA5}">
                      <a16:colId xmlns:a16="http://schemas.microsoft.com/office/drawing/2014/main" val="81110010"/>
                    </a:ext>
                  </a:extLst>
                </a:gridCol>
              </a:tblGrid>
              <a:tr h="250659">
                <a:tc>
                  <a:txBody>
                    <a:bodyPr/>
                    <a:lstStyle/>
                    <a:p>
                      <a:pPr algn="ctr" fontAlgn="ct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zh-TW" altLang="en-US" sz="2000" b="0" i="0" u="none" strike="noStrike" dirty="0">
                          <a:solidFill>
                            <a:srgbClr val="000000"/>
                          </a:solidFill>
                          <a:effectLst/>
                          <a:latin typeface="微軟正黑體" panose="020B0604030504040204" pitchFamily="34" charset="-120"/>
                          <a:ea typeface="微軟正黑體" panose="020B0604030504040204" pitchFamily="34" charset="-120"/>
                        </a:rPr>
                        <a:t>統計量</a:t>
                      </a: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2000" b="0" i="0" u="none" strike="noStrike" dirty="0">
                          <a:solidFill>
                            <a:srgbClr val="000000"/>
                          </a:solidFill>
                          <a:effectLst/>
                          <a:latin typeface="微軟正黑體" panose="020B0604030504040204" pitchFamily="34" charset="-120"/>
                          <a:ea typeface="微軟正黑體" panose="020B0604030504040204" pitchFamily="34" charset="-120"/>
                        </a:rPr>
                        <a:t>p-value</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4200870"/>
                  </a:ext>
                </a:extLst>
              </a:tr>
              <a:tr h="220980">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T test</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-1.32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2000" kern="1200" dirty="0">
                          <a:solidFill>
                            <a:srgbClr val="FF0000"/>
                          </a:solidFill>
                          <a:latin typeface="微軟正黑體" panose="020B0604030504040204" pitchFamily="34" charset="-120"/>
                          <a:ea typeface="微軟正黑體" panose="020B0604030504040204" pitchFamily="34" charset="-120"/>
                          <a:cs typeface="+mn-cs"/>
                        </a:rPr>
                        <a:t>0.899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1513865"/>
                  </a:ext>
                </a:extLst>
              </a:tr>
              <a:tr h="220980">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Wilcoxon</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86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2000" kern="1200" dirty="0">
                          <a:solidFill>
                            <a:srgbClr val="FF0000"/>
                          </a:solidFill>
                          <a:latin typeface="微軟正黑體" panose="020B0604030504040204" pitchFamily="34" charset="-120"/>
                          <a:ea typeface="微軟正黑體" panose="020B0604030504040204" pitchFamily="34" charset="-120"/>
                          <a:cs typeface="+mn-cs"/>
                        </a:rPr>
                        <a:t>0.906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5705361"/>
                  </a:ext>
                </a:extLst>
              </a:tr>
            </a:tbl>
          </a:graphicData>
        </a:graphic>
      </p:graphicFrame>
      <p:graphicFrame>
        <p:nvGraphicFramePr>
          <p:cNvPr id="8" name="表格 7">
            <a:extLst>
              <a:ext uri="{FF2B5EF4-FFF2-40B4-BE49-F238E27FC236}">
                <a16:creationId xmlns:a16="http://schemas.microsoft.com/office/drawing/2014/main" id="{13D1D723-0597-60FA-0074-723740837244}"/>
              </a:ext>
            </a:extLst>
          </p:cNvPr>
          <p:cNvGraphicFramePr>
            <a:graphicFrameLocks noGrp="1"/>
          </p:cNvGraphicFramePr>
          <p:nvPr>
            <p:extLst>
              <p:ext uri="{D42A27DB-BD31-4B8C-83A1-F6EECF244321}">
                <p14:modId xmlns:p14="http://schemas.microsoft.com/office/powerpoint/2010/main" val="4213277488"/>
              </p:ext>
            </p:extLst>
          </p:nvPr>
        </p:nvGraphicFramePr>
        <p:xfrm>
          <a:off x="379160" y="3191512"/>
          <a:ext cx="4437141" cy="3512820"/>
        </p:xfrm>
        <a:graphic>
          <a:graphicData uri="http://schemas.openxmlformats.org/drawingml/2006/table">
            <a:tbl>
              <a:tblPr/>
              <a:tblGrid>
                <a:gridCol w="965332">
                  <a:extLst>
                    <a:ext uri="{9D8B030D-6E8A-4147-A177-3AD203B41FA5}">
                      <a16:colId xmlns:a16="http://schemas.microsoft.com/office/drawing/2014/main" val="4123150174"/>
                    </a:ext>
                  </a:extLst>
                </a:gridCol>
                <a:gridCol w="1083882">
                  <a:extLst>
                    <a:ext uri="{9D8B030D-6E8A-4147-A177-3AD203B41FA5}">
                      <a16:colId xmlns:a16="http://schemas.microsoft.com/office/drawing/2014/main" val="51147448"/>
                    </a:ext>
                  </a:extLst>
                </a:gridCol>
                <a:gridCol w="1134688">
                  <a:extLst>
                    <a:ext uri="{9D8B030D-6E8A-4147-A177-3AD203B41FA5}">
                      <a16:colId xmlns:a16="http://schemas.microsoft.com/office/drawing/2014/main" val="2784925367"/>
                    </a:ext>
                  </a:extLst>
                </a:gridCol>
                <a:gridCol w="1253239">
                  <a:extLst>
                    <a:ext uri="{9D8B030D-6E8A-4147-A177-3AD203B41FA5}">
                      <a16:colId xmlns:a16="http://schemas.microsoft.com/office/drawing/2014/main" val="308827257"/>
                    </a:ext>
                  </a:extLst>
                </a:gridCol>
              </a:tblGrid>
              <a:tr h="419100">
                <a:tc>
                  <a:txBody>
                    <a:bodyPr/>
                    <a:lstStyle/>
                    <a:p>
                      <a:pPr marL="0" algn="ctr" defTabSz="1219170" rtl="0" eaLnBrk="1" fontAlgn="ctr" latinLnBrk="0" hangingPunct="1"/>
                      <a:r>
                        <a:rPr lang="en-US" sz="1600" b="0" i="0" u="none" strike="noStrike" kern="12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PreTest</a:t>
                      </a:r>
                      <a:endPar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1219170" rtl="0" eaLnBrk="1" fontAlgn="ctr" latinLnBrk="0" hangingPunct="1"/>
                      <a:r>
                        <a:rPr lang="en-US" sz="1600" b="0" i="0" u="none" strike="noStrike" kern="12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PostTest</a:t>
                      </a:r>
                      <a:endPar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1219170" rtl="0" eaLnBrk="1" fontAlgn="ctr" latinLnBrk="0" hangingPunct="1"/>
                      <a:r>
                        <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Imputation</a:t>
                      </a:r>
                      <a:br>
                        <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(Bayesian)</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1219170" rtl="0" eaLnBrk="1" fontAlgn="ctr" latinLnBrk="0" hangingPunct="1"/>
                      <a:r>
                        <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Imputation</a:t>
                      </a:r>
                      <a:br>
                        <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(Simple LR)</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308628453"/>
                  </a:ext>
                </a:extLst>
              </a:tr>
              <a:tr h="22098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5204093"/>
                  </a:ext>
                </a:extLst>
              </a:tr>
              <a:tr h="22098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NA</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12.437854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11.272146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9070753"/>
                  </a:ext>
                </a:extLst>
              </a:tr>
              <a:tr h="22098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NA</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13.194905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11.988128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9743194"/>
                  </a:ext>
                </a:extLst>
              </a:tr>
              <a:tr h="22098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NA</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10.944712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11.093151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38301806"/>
                  </a:ext>
                </a:extLst>
              </a:tr>
              <a:tr h="22098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NA</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9.711495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11.630137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3106279"/>
                  </a:ext>
                </a:extLst>
              </a:tr>
              <a:tr h="22098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NA</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10.405044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11.719635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6368239"/>
                  </a:ext>
                </a:extLst>
              </a:tr>
              <a:tr h="22098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NA</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12.055546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11.630137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89969711"/>
                  </a:ext>
                </a:extLst>
              </a:tr>
              <a:tr h="22098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NA</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12.419784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12.435616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7301132"/>
                  </a:ext>
                </a:extLst>
              </a:tr>
              <a:tr h="22098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11.7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11.7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11.7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9205925"/>
                  </a:ext>
                </a:extLst>
              </a:tr>
              <a:tr h="22098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NA</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12.287867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11.272146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78234976"/>
                  </a:ext>
                </a:extLst>
              </a:tr>
              <a:tr h="22098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11.7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F0"/>
                    </a:solid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11.7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11.7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72200093"/>
                  </a:ext>
                </a:extLst>
              </a:tr>
              <a:tr h="22098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NA</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11.547763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10.914155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5573406"/>
                  </a:ext>
                </a:extLst>
              </a:tr>
            </a:tbl>
          </a:graphicData>
        </a:graphic>
      </p:graphicFrame>
    </p:spTree>
    <p:extLst>
      <p:ext uri="{BB962C8B-B14F-4D97-AF65-F5344CB8AC3E}">
        <p14:creationId xmlns:p14="http://schemas.microsoft.com/office/powerpoint/2010/main" val="3626974933"/>
      </p:ext>
    </p:extLst>
  </p:cSld>
  <p:clrMapOvr>
    <a:masterClrMapping/>
  </p:clrMapOvr>
  <mc:AlternateContent xmlns:mc="http://schemas.openxmlformats.org/markup-compatibility/2006" xmlns:p14="http://schemas.microsoft.com/office/powerpoint/2010/main">
    <mc:Choice Requires="p14">
      <p:transition spd="slow" p14:dur="1250" advClick="0">
        <p14:pan dir="u"/>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 name="矩形 46">
            <a:extLst>
              <a:ext uri="{FF2B5EF4-FFF2-40B4-BE49-F238E27FC236}">
                <a16:creationId xmlns:a16="http://schemas.microsoft.com/office/drawing/2014/main" id="{70EE9815-1850-4526-B0D3-EAB935340875}"/>
              </a:ext>
            </a:extLst>
          </p:cNvPr>
          <p:cNvSpPr/>
          <p:nvPr/>
        </p:nvSpPr>
        <p:spPr>
          <a:xfrm>
            <a:off x="3030944" y="2481175"/>
            <a:ext cx="6669949" cy="1097280"/>
          </a:xfrm>
          <a:prstGeom prst="rect">
            <a:avLst/>
          </a:prstGeom>
        </p:spPr>
        <p:txBody>
          <a:bodyPr wrap="square">
            <a:norm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zh-TW" altLang="zh-TW" sz="6600" b="1" i="0" u="none" strike="noStrike" kern="1200" cap="none" spc="400" normalizeH="0" baseline="0" noProof="0" dirty="0">
                <a:ln>
                  <a:noFill/>
                </a:ln>
                <a:solidFill>
                  <a:srgbClr val="E49140"/>
                </a:solidFill>
                <a:effectLst/>
                <a:uLnTx/>
                <a:uFillTx/>
                <a:latin typeface="Source Han Sans TC"/>
                <a:ea typeface="Source Han Sans TC"/>
                <a:cs typeface="+mn-ea"/>
                <a:sym typeface="字魂59号-创粗黑" panose="00000500000000000000" pitchFamily="2" charset="-122"/>
              </a:rPr>
              <a:t>PART 0</a:t>
            </a:r>
            <a:r>
              <a:rPr lang="en-US" altLang="zh-TW" sz="6600" b="1" spc="400" dirty="0">
                <a:solidFill>
                  <a:srgbClr val="E49140"/>
                </a:solidFill>
                <a:latin typeface="Source Han Sans TC"/>
                <a:ea typeface="Source Han Sans TC"/>
                <a:cs typeface="+mn-ea"/>
                <a:sym typeface="字魂59号-创粗黑" panose="00000500000000000000" pitchFamily="2" charset="-122"/>
              </a:rPr>
              <a:t>3</a:t>
            </a:r>
            <a:endParaRPr kumimoji="0" lang="zh-CN" altLang="en-US" sz="6600" b="1" i="0" u="none" strike="noStrike" kern="1200" cap="none" spc="400" normalizeH="0" baseline="0" noProof="0" dirty="0">
              <a:ln>
                <a:noFill/>
              </a:ln>
              <a:solidFill>
                <a:srgbClr val="E49140"/>
              </a:solidFill>
              <a:effectLst/>
              <a:uLnTx/>
              <a:uFillTx/>
              <a:latin typeface="思源黑体 CN Heavy" panose="020B0A00000000000000" pitchFamily="34" charset="-122"/>
              <a:ea typeface="思源黑体 CN Heavy" panose="020B0A00000000000000" pitchFamily="34" charset="-122"/>
              <a:cs typeface="+mn-ea"/>
              <a:sym typeface="字魂59号-创粗黑" panose="00000500000000000000" pitchFamily="2" charset="-122"/>
            </a:endParaRPr>
          </a:p>
        </p:txBody>
      </p:sp>
      <p:sp>
        <p:nvSpPr>
          <p:cNvPr id="49" name="矩形 48">
            <a:extLst>
              <a:ext uri="{FF2B5EF4-FFF2-40B4-BE49-F238E27FC236}">
                <a16:creationId xmlns:a16="http://schemas.microsoft.com/office/drawing/2014/main" id="{BB8A81A3-EA05-47BC-845F-3082E80D5039}"/>
              </a:ext>
            </a:extLst>
          </p:cNvPr>
          <p:cNvSpPr/>
          <p:nvPr/>
        </p:nvSpPr>
        <p:spPr>
          <a:xfrm>
            <a:off x="1703232" y="3816727"/>
            <a:ext cx="7197590" cy="876598"/>
          </a:xfrm>
          <a:prstGeom prst="rect">
            <a:avLst/>
          </a:prstGeom>
        </p:spPr>
        <p:txBody>
          <a:bodyPr wrap="square">
            <a:norm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altLang="zh-TW" sz="4800" b="0" i="0" u="none" strike="noStrike" kern="1200" cap="none" spc="600" normalizeH="0" baseline="0" noProof="0" dirty="0">
                <a:ln>
                  <a:noFill/>
                </a:ln>
                <a:solidFill>
                  <a:srgbClr val="E49140"/>
                </a:solidFill>
                <a:effectLst/>
                <a:uLnTx/>
                <a:uFillTx/>
                <a:latin typeface="Source Han Sans TC"/>
                <a:ea typeface="Source Han Sans TC"/>
                <a:cs typeface="+mn-ea"/>
                <a:sym typeface="字魂59号-创粗黑" panose="00000500000000000000" pitchFamily="2" charset="-122"/>
              </a:rPr>
              <a:t>Data analysis-</a:t>
            </a:r>
            <a:r>
              <a:rPr lang="zh-TW" altLang="en-US" sz="4000" spc="600" dirty="0">
                <a:solidFill>
                  <a:srgbClr val="E49140"/>
                </a:solidFill>
                <a:latin typeface="Source Han Sans TC"/>
                <a:ea typeface="Source Han Sans TC"/>
                <a:cs typeface="+mn-ea"/>
                <a:sym typeface="字魂59号-创粗黑" panose="00000500000000000000" pitchFamily="2" charset="-122"/>
              </a:rPr>
              <a:t>客觀</a:t>
            </a:r>
            <a:r>
              <a:rPr kumimoji="0" lang="zh-TW" altLang="en-US" sz="4000" b="0" i="0" u="none" strike="noStrike" kern="1200" cap="none" spc="600" normalizeH="0" baseline="0" noProof="0" dirty="0">
                <a:ln>
                  <a:noFill/>
                </a:ln>
                <a:solidFill>
                  <a:srgbClr val="E49140"/>
                </a:solidFill>
                <a:effectLst/>
                <a:uLnTx/>
                <a:uFillTx/>
                <a:latin typeface="Source Han Sans TC"/>
                <a:ea typeface="Source Han Sans TC"/>
                <a:cs typeface="+mn-ea"/>
                <a:sym typeface="字魂59号-创粗黑" panose="00000500000000000000" pitchFamily="2" charset="-122"/>
              </a:rPr>
              <a:t>資料</a:t>
            </a:r>
            <a:endParaRPr kumimoji="0" lang="zh-CN" altLang="en-US" sz="4800" b="0" i="0" u="none" strike="noStrike" kern="1200" cap="none" spc="600" normalizeH="0" baseline="0" noProof="0" dirty="0">
              <a:ln>
                <a:noFill/>
              </a:ln>
              <a:solidFill>
                <a:srgbClr val="E49140"/>
              </a:solidFill>
              <a:effectLst/>
              <a:uLnTx/>
              <a:uFillTx/>
              <a:latin typeface="思源黑体 CN Medium" panose="020B0600000000000000" pitchFamily="34" charset="-122"/>
              <a:ea typeface="思源黑体 CN Medium" panose="020B0600000000000000" pitchFamily="34" charset="-122"/>
              <a:cs typeface="+mn-ea"/>
              <a:sym typeface="字魂59号-创粗黑" panose="00000500000000000000" pitchFamily="2" charset="-122"/>
            </a:endParaRPr>
          </a:p>
        </p:txBody>
      </p:sp>
      <p:grpSp>
        <p:nvGrpSpPr>
          <p:cNvPr id="4" name="组合 3">
            <a:extLst>
              <a:ext uri="{FF2B5EF4-FFF2-40B4-BE49-F238E27FC236}">
                <a16:creationId xmlns:a16="http://schemas.microsoft.com/office/drawing/2014/main" id="{E68C55C8-0BEF-498E-B166-DD1E58CB3EEA}"/>
              </a:ext>
            </a:extLst>
          </p:cNvPr>
          <p:cNvGrpSpPr/>
          <p:nvPr/>
        </p:nvGrpSpPr>
        <p:grpSpPr>
          <a:xfrm>
            <a:off x="3076664" y="5368500"/>
            <a:ext cx="1249680" cy="213360"/>
            <a:chOff x="929640" y="5638800"/>
            <a:chExt cx="1249680" cy="213360"/>
          </a:xfrm>
        </p:grpSpPr>
        <p:sp>
          <p:nvSpPr>
            <p:cNvPr id="3" name="椭圆 2">
              <a:extLst>
                <a:ext uri="{FF2B5EF4-FFF2-40B4-BE49-F238E27FC236}">
                  <a16:creationId xmlns:a16="http://schemas.microsoft.com/office/drawing/2014/main" id="{4011037E-1C59-4F57-B6F9-06CCB328088E}"/>
                </a:ext>
              </a:extLst>
            </p:cNvPr>
            <p:cNvSpPr/>
            <p:nvPr/>
          </p:nvSpPr>
          <p:spPr>
            <a:xfrm>
              <a:off x="929640" y="5638800"/>
              <a:ext cx="213360" cy="213360"/>
            </a:xfrm>
            <a:prstGeom prst="ellipse">
              <a:avLst/>
            </a:prstGeom>
            <a:solidFill>
              <a:srgbClr val="3942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思源黑体 CN Medium" panose="020B0600000000000000" pitchFamily="34" charset="-122"/>
                <a:ea typeface="思源黑体 CN Medium" panose="020B0600000000000000" pitchFamily="34" charset="-122"/>
                <a:cs typeface="Arial"/>
                <a:sym typeface="字魂59号-创粗黑" panose="00000500000000000000" pitchFamily="2" charset="-122"/>
              </a:endParaRPr>
            </a:p>
          </p:txBody>
        </p:sp>
        <p:sp>
          <p:nvSpPr>
            <p:cNvPr id="55" name="椭圆 54">
              <a:extLst>
                <a:ext uri="{FF2B5EF4-FFF2-40B4-BE49-F238E27FC236}">
                  <a16:creationId xmlns:a16="http://schemas.microsoft.com/office/drawing/2014/main" id="{D4943364-C55E-43AC-914B-3D57014E4C76}"/>
                </a:ext>
              </a:extLst>
            </p:cNvPr>
            <p:cNvSpPr/>
            <p:nvPr/>
          </p:nvSpPr>
          <p:spPr>
            <a:xfrm>
              <a:off x="1447800" y="5638800"/>
              <a:ext cx="213360" cy="213360"/>
            </a:xfrm>
            <a:prstGeom prst="ellipse">
              <a:avLst/>
            </a:prstGeom>
            <a:solidFill>
              <a:srgbClr val="3942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思源黑体 CN Medium" panose="020B0600000000000000" pitchFamily="34" charset="-122"/>
                <a:ea typeface="思源黑体 CN Medium" panose="020B0600000000000000" pitchFamily="34" charset="-122"/>
                <a:cs typeface="Arial"/>
                <a:sym typeface="字魂59号-创粗黑" panose="00000500000000000000" pitchFamily="2" charset="-122"/>
              </a:endParaRPr>
            </a:p>
          </p:txBody>
        </p:sp>
        <p:sp>
          <p:nvSpPr>
            <p:cNvPr id="56" name="椭圆 55">
              <a:extLst>
                <a:ext uri="{FF2B5EF4-FFF2-40B4-BE49-F238E27FC236}">
                  <a16:creationId xmlns:a16="http://schemas.microsoft.com/office/drawing/2014/main" id="{8866947B-A247-4CED-BB16-BAB90312DD36}"/>
                </a:ext>
              </a:extLst>
            </p:cNvPr>
            <p:cNvSpPr/>
            <p:nvPr/>
          </p:nvSpPr>
          <p:spPr>
            <a:xfrm>
              <a:off x="1965960" y="5638800"/>
              <a:ext cx="213360" cy="213360"/>
            </a:xfrm>
            <a:prstGeom prst="ellipse">
              <a:avLst/>
            </a:prstGeom>
            <a:solidFill>
              <a:srgbClr val="3942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思源黑体 CN Medium" panose="020B0600000000000000" pitchFamily="34" charset="-122"/>
                <a:ea typeface="思源黑体 CN Medium" panose="020B0600000000000000" pitchFamily="34" charset="-122"/>
                <a:cs typeface="Arial"/>
                <a:sym typeface="字魂59号-创粗黑" panose="00000500000000000000" pitchFamily="2" charset="-122"/>
              </a:endParaRPr>
            </a:p>
          </p:txBody>
        </p:sp>
      </p:grpSp>
      <p:pic>
        <p:nvPicPr>
          <p:cNvPr id="12" name="图片 11">
            <a:extLst>
              <a:ext uri="{FF2B5EF4-FFF2-40B4-BE49-F238E27FC236}">
                <a16:creationId xmlns:a16="http://schemas.microsoft.com/office/drawing/2014/main" id="{882FDD6E-DFB9-4E68-86B8-3544D98CAB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0800000">
            <a:off x="6981865" y="202103"/>
            <a:ext cx="4515868" cy="3516585"/>
          </a:xfrm>
          <a:prstGeom prst="rect">
            <a:avLst/>
          </a:prstGeom>
        </p:spPr>
      </p:pic>
    </p:spTree>
    <p:extLst>
      <p:ext uri="{BB962C8B-B14F-4D97-AF65-F5344CB8AC3E}">
        <p14:creationId xmlns:p14="http://schemas.microsoft.com/office/powerpoint/2010/main" val="4112835864"/>
      </p:ext>
    </p:extLst>
  </p:cSld>
  <p:clrMapOvr>
    <a:masterClrMapping/>
  </p:clrMapOvr>
  <mc:AlternateContent xmlns:mc="http://schemas.openxmlformats.org/markup-compatibility/2006" xmlns:p14="http://schemas.microsoft.com/office/powerpoint/2010/main">
    <mc:Choice Requires="p14">
      <p:transition spd="slow" p14:dur="1250" advClick="0">
        <p14:pan dir="u"/>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fltVal val="0"/>
                                          </p:val>
                                        </p:tav>
                                        <p:tav tm="100000">
                                          <p:val>
                                            <p:strVal val="#ppt_w"/>
                                          </p:val>
                                        </p:tav>
                                      </p:tavLst>
                                    </p:anim>
                                    <p:anim calcmode="lin" valueType="num">
                                      <p:cBhvr>
                                        <p:cTn id="8" dur="500" fill="hold"/>
                                        <p:tgtEl>
                                          <p:spTgt spid="47"/>
                                        </p:tgtEl>
                                        <p:attrNameLst>
                                          <p:attrName>ppt_h</p:attrName>
                                        </p:attrNameLst>
                                      </p:cBhvr>
                                      <p:tavLst>
                                        <p:tav tm="0">
                                          <p:val>
                                            <p:fltVal val="0"/>
                                          </p:val>
                                        </p:tav>
                                        <p:tav tm="100000">
                                          <p:val>
                                            <p:strVal val="#ppt_h"/>
                                          </p:val>
                                        </p:tav>
                                      </p:tavLst>
                                    </p:anim>
                                    <p:animEffect transition="in" filter="fade">
                                      <p:cBhvr>
                                        <p:cTn id="9" dur="500"/>
                                        <p:tgtEl>
                                          <p:spTgt spid="47"/>
                                        </p:tgtEl>
                                      </p:cBhvr>
                                    </p:animEffect>
                                  </p:childTnLst>
                                </p:cTn>
                              </p:par>
                            </p:childTnLst>
                          </p:cTn>
                        </p:par>
                        <p:par>
                          <p:cTn id="10" fill="hold" nodeType="afterGroup">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49"/>
                                        </p:tgtEl>
                                        <p:attrNameLst>
                                          <p:attrName>style.visibility</p:attrName>
                                        </p:attrNameLst>
                                      </p:cBhvr>
                                      <p:to>
                                        <p:strVal val="visible"/>
                                      </p:to>
                                    </p:set>
                                    <p:animEffect transition="in" filter="wipe(left)">
                                      <p:cBhvr>
                                        <p:cTn id="13"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4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58536" y="107592"/>
            <a:ext cx="5928672" cy="9840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70"/>
            <a:endParaRPr lang="en-US">
              <a:solidFill>
                <a:prstClr val="white"/>
              </a:solidFill>
              <a:latin typeface="思源黑体 CN Medium" panose="020B0600000000000000" pitchFamily="34" charset="-122"/>
              <a:ea typeface="思源黑体 CN Medium" panose="020B0600000000000000" pitchFamily="34" charset="-122"/>
              <a:sym typeface="字魂59号-创粗黑" panose="00000500000000000000" pitchFamily="2" charset="-122"/>
            </a:endParaRPr>
          </a:p>
        </p:txBody>
      </p:sp>
      <p:pic>
        <p:nvPicPr>
          <p:cNvPr id="17" name="图片 16">
            <a:extLst>
              <a:ext uri="{FF2B5EF4-FFF2-40B4-BE49-F238E27FC236}">
                <a16:creationId xmlns:a16="http://schemas.microsoft.com/office/drawing/2014/main" id="{05E72798-6899-42A6-9FEE-703EF4EFCDB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86" b="100000" l="0" r="100000">
                        <a14:foregroundMark x1="82171" y1="51131" x2="59408" y2="50679"/>
                        <a14:backgroundMark x1="91473" y1="41991" x2="86047" y2="34299"/>
                        <a14:backgroundMark x1="91966" y1="54118" x2="88090" y2="67059"/>
                        <a14:backgroundMark x1="84426" y1="75023" x2="75405" y2="81719"/>
                        <a14:backgroundMark x1="77026" y1="32217" x2="73573" y2="31493"/>
                        <a14:backgroundMark x1="67583" y1="33575" x2="65257" y2="31312"/>
                      </a14:backgroundRemoval>
                    </a14:imgEffect>
                  </a14:imgLayer>
                </a14:imgProps>
              </a:ext>
              <a:ext uri="{28A0092B-C50C-407E-A947-70E740481C1C}">
                <a14:useLocalDpi xmlns:a14="http://schemas.microsoft.com/office/drawing/2010/main" val="0"/>
              </a:ext>
            </a:extLst>
          </a:blip>
          <a:stretch>
            <a:fillRect/>
          </a:stretch>
        </p:blipFill>
        <p:spPr>
          <a:xfrm rot="277819">
            <a:off x="-1366951" y="-490407"/>
            <a:ext cx="3108709" cy="2420806"/>
          </a:xfrm>
          <a:prstGeom prst="rect">
            <a:avLst/>
          </a:prstGeom>
        </p:spPr>
      </p:pic>
      <p:sp>
        <p:nvSpPr>
          <p:cNvPr id="2" name="矩形 1">
            <a:extLst>
              <a:ext uri="{FF2B5EF4-FFF2-40B4-BE49-F238E27FC236}">
                <a16:creationId xmlns:a16="http://schemas.microsoft.com/office/drawing/2014/main" id="{CDACD7A8-3A6E-4C27-9240-791E721F0C74}"/>
              </a:ext>
            </a:extLst>
          </p:cNvPr>
          <p:cNvSpPr/>
          <p:nvPr/>
        </p:nvSpPr>
        <p:spPr>
          <a:xfrm>
            <a:off x="1570514" y="337965"/>
            <a:ext cx="4764972" cy="548443"/>
          </a:xfrm>
          <a:prstGeom prst="rect">
            <a:avLst/>
          </a:prstGeom>
        </p:spPr>
        <p:txBody>
          <a:bodyPr wrap="none">
            <a:normAutofit/>
          </a:bodyPr>
          <a:lstStyle/>
          <a:p>
            <a:r>
              <a:rPr lang="en-US" altLang="zh-TW" sz="2800" dirty="0">
                <a:solidFill>
                  <a:prstClr val="black">
                    <a:lumMod val="75000"/>
                    <a:lumOff val="25000"/>
                  </a:prstClr>
                </a:solidFill>
                <a:latin typeface="Source Han Sans TC"/>
                <a:ea typeface="Source Han Sans TC"/>
                <a:sym typeface="字魂59号-创粗黑" panose="00000500000000000000" pitchFamily="2" charset="-122"/>
              </a:rPr>
              <a:t>Data analysis –</a:t>
            </a:r>
            <a:r>
              <a:rPr lang="zh-TW" altLang="en-US" sz="2800" dirty="0">
                <a:solidFill>
                  <a:prstClr val="black">
                    <a:lumMod val="75000"/>
                    <a:lumOff val="25000"/>
                  </a:prstClr>
                </a:solidFill>
                <a:latin typeface="Source Han Sans TC"/>
                <a:ea typeface="Source Han Sans TC"/>
                <a:sym typeface="字魂59号-创粗黑" panose="00000500000000000000" pitchFamily="2" charset="-122"/>
              </a:rPr>
              <a:t> </a:t>
            </a:r>
            <a:r>
              <a:rPr lang="zh-TW" altLang="en-US" sz="2800" dirty="0">
                <a:solidFill>
                  <a:srgbClr val="0070C0"/>
                </a:solidFill>
                <a:latin typeface="Source Han Sans TC"/>
                <a:ea typeface="Source Han Sans TC"/>
                <a:sym typeface="字魂59号-创粗黑" panose="00000500000000000000" pitchFamily="2" charset="-122"/>
              </a:rPr>
              <a:t>便祕患者</a:t>
            </a:r>
            <a:endParaRPr lang="en-US" altLang="zh-TW" sz="2800" dirty="0">
              <a:solidFill>
                <a:srgbClr val="0070C0"/>
              </a:solidFill>
              <a:latin typeface="Source Han Sans TC"/>
              <a:ea typeface="Source Han Sans TC"/>
              <a:sym typeface="字魂59号-创粗黑" panose="00000500000000000000" pitchFamily="2" charset="-122"/>
            </a:endParaRPr>
          </a:p>
          <a:p>
            <a:endParaRPr lang="en-US" altLang="zh-TW" sz="2800" b="1" dirty="0">
              <a:solidFill>
                <a:srgbClr val="0070C0"/>
              </a:solidFill>
              <a:latin typeface="微軟正黑體" panose="020B0604030504040204" pitchFamily="34" charset="-120"/>
              <a:ea typeface="微軟正黑體" panose="020B0604030504040204" pitchFamily="34" charset="-120"/>
              <a:cs typeface="Calibri" panose="020F0502020204030204" pitchFamily="34" charset="0"/>
            </a:endParaRPr>
          </a:p>
        </p:txBody>
      </p:sp>
      <p:sp>
        <p:nvSpPr>
          <p:cNvPr id="6" name="文字方塊 5">
            <a:extLst>
              <a:ext uri="{FF2B5EF4-FFF2-40B4-BE49-F238E27FC236}">
                <a16:creationId xmlns:a16="http://schemas.microsoft.com/office/drawing/2014/main" id="{0C7BF970-2010-34C5-D523-4B00C33F18F6}"/>
              </a:ext>
            </a:extLst>
          </p:cNvPr>
          <p:cNvSpPr txBox="1"/>
          <p:nvPr/>
        </p:nvSpPr>
        <p:spPr>
          <a:xfrm>
            <a:off x="1235154" y="1082430"/>
            <a:ext cx="10721205" cy="1323439"/>
          </a:xfrm>
          <a:prstGeom prst="rect">
            <a:avLst/>
          </a:prstGeom>
          <a:noFill/>
        </p:spPr>
        <p:txBody>
          <a:bodyPr wrap="none" rtlCol="0">
            <a:spAutoFit/>
          </a:bodyPr>
          <a:lstStyle/>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我們接下來要分析便祕的肌電圖，如同我們上面所述，我們必須先針對資料進行最大值扣除基</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準值，然後再根據前後測之差異進行分析，而下圖即為具有完整前後測資料的肌電圖以及根據</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這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8</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 筆數據的檢定結果，值得注意的是，我們的檢定一樣是單邊檢定，</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只是這次我們做的是左</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尾檢定，因為我們想知道 </a:t>
            </a:r>
            <a:r>
              <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rPr>
              <a:t>Post test </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是否有顯著地大於 </a:t>
            </a:r>
            <a:r>
              <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rPr>
              <a:t>Pre test</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graphicFrame>
        <p:nvGraphicFramePr>
          <p:cNvPr id="5" name="表格 4">
            <a:extLst>
              <a:ext uri="{FF2B5EF4-FFF2-40B4-BE49-F238E27FC236}">
                <a16:creationId xmlns:a16="http://schemas.microsoft.com/office/drawing/2014/main" id="{63761857-2B5B-99CE-AA4D-0910207075F8}"/>
              </a:ext>
            </a:extLst>
          </p:cNvPr>
          <p:cNvGraphicFramePr>
            <a:graphicFrameLocks noGrp="1"/>
          </p:cNvGraphicFramePr>
          <p:nvPr>
            <p:extLst>
              <p:ext uri="{D42A27DB-BD31-4B8C-83A1-F6EECF244321}">
                <p14:modId xmlns:p14="http://schemas.microsoft.com/office/powerpoint/2010/main" val="2644466918"/>
              </p:ext>
            </p:extLst>
          </p:nvPr>
        </p:nvGraphicFramePr>
        <p:xfrm>
          <a:off x="498227" y="3512430"/>
          <a:ext cx="6788981" cy="2263140"/>
        </p:xfrm>
        <a:graphic>
          <a:graphicData uri="http://schemas.openxmlformats.org/drawingml/2006/table">
            <a:tbl>
              <a:tblPr/>
              <a:tblGrid>
                <a:gridCol w="487831">
                  <a:extLst>
                    <a:ext uri="{9D8B030D-6E8A-4147-A177-3AD203B41FA5}">
                      <a16:colId xmlns:a16="http://schemas.microsoft.com/office/drawing/2014/main" val="1757560969"/>
                    </a:ext>
                  </a:extLst>
                </a:gridCol>
                <a:gridCol w="1094493">
                  <a:extLst>
                    <a:ext uri="{9D8B030D-6E8A-4147-A177-3AD203B41FA5}">
                      <a16:colId xmlns:a16="http://schemas.microsoft.com/office/drawing/2014/main" val="1512275295"/>
                    </a:ext>
                  </a:extLst>
                </a:gridCol>
                <a:gridCol w="672331">
                  <a:extLst>
                    <a:ext uri="{9D8B030D-6E8A-4147-A177-3AD203B41FA5}">
                      <a16:colId xmlns:a16="http://schemas.microsoft.com/office/drawing/2014/main" val="2766805503"/>
                    </a:ext>
                  </a:extLst>
                </a:gridCol>
                <a:gridCol w="672331">
                  <a:extLst>
                    <a:ext uri="{9D8B030D-6E8A-4147-A177-3AD203B41FA5}">
                      <a16:colId xmlns:a16="http://schemas.microsoft.com/office/drawing/2014/main" val="3114714214"/>
                    </a:ext>
                  </a:extLst>
                </a:gridCol>
                <a:gridCol w="781781">
                  <a:extLst>
                    <a:ext uri="{9D8B030D-6E8A-4147-A177-3AD203B41FA5}">
                      <a16:colId xmlns:a16="http://schemas.microsoft.com/office/drawing/2014/main" val="846457313"/>
                    </a:ext>
                  </a:extLst>
                </a:gridCol>
                <a:gridCol w="1094493">
                  <a:extLst>
                    <a:ext uri="{9D8B030D-6E8A-4147-A177-3AD203B41FA5}">
                      <a16:colId xmlns:a16="http://schemas.microsoft.com/office/drawing/2014/main" val="1093279325"/>
                    </a:ext>
                  </a:extLst>
                </a:gridCol>
                <a:gridCol w="547246">
                  <a:extLst>
                    <a:ext uri="{9D8B030D-6E8A-4147-A177-3AD203B41FA5}">
                      <a16:colId xmlns:a16="http://schemas.microsoft.com/office/drawing/2014/main" val="1991242701"/>
                    </a:ext>
                  </a:extLst>
                </a:gridCol>
                <a:gridCol w="547246">
                  <a:extLst>
                    <a:ext uri="{9D8B030D-6E8A-4147-A177-3AD203B41FA5}">
                      <a16:colId xmlns:a16="http://schemas.microsoft.com/office/drawing/2014/main" val="3239662666"/>
                    </a:ext>
                  </a:extLst>
                </a:gridCol>
                <a:gridCol w="891229">
                  <a:extLst>
                    <a:ext uri="{9D8B030D-6E8A-4147-A177-3AD203B41FA5}">
                      <a16:colId xmlns:a16="http://schemas.microsoft.com/office/drawing/2014/main" val="1506685394"/>
                    </a:ext>
                  </a:extLst>
                </a:gridCol>
              </a:tblGrid>
              <a:tr h="250231">
                <a:tc>
                  <a:txBody>
                    <a:bodyPr/>
                    <a:lstStyle/>
                    <a:p>
                      <a:pPr algn="ctr" fontAlgn="ctr"/>
                      <a:r>
                        <a:rPr lang="zh-TW" altLang="en-US" sz="1600" b="0" i="0" u="none" strike="noStrike" dirty="0">
                          <a:solidFill>
                            <a:srgbClr val="000000"/>
                          </a:solidFill>
                          <a:effectLst/>
                          <a:highlight>
                            <a:srgbClr val="D0CECE"/>
                          </a:highlight>
                          <a:latin typeface="標楷體" panose="03000509000000000000" pitchFamily="65" charset="-120"/>
                          <a:ea typeface="標楷體" panose="03000509000000000000" pitchFamily="65" charset="-120"/>
                        </a:rPr>
                        <a:t>年齡</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zh-TW" altLang="en-US" sz="1600" b="0" i="0" u="none" strike="noStrike" dirty="0">
                          <a:solidFill>
                            <a:srgbClr val="000000"/>
                          </a:solidFill>
                          <a:effectLst/>
                          <a:highlight>
                            <a:srgbClr val="FFE699"/>
                          </a:highlight>
                          <a:latin typeface="標楷體" panose="03000509000000000000" pitchFamily="65" charset="-120"/>
                          <a:ea typeface="標楷體" panose="03000509000000000000" pitchFamily="65" charset="-120"/>
                        </a:rPr>
                        <a:t>初測日期</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ctr" fontAlgn="ctr"/>
                      <a:r>
                        <a:rPr lang="zh-TW" altLang="en-US" sz="1600" b="0" i="0" u="none" strike="noStrike" dirty="0">
                          <a:solidFill>
                            <a:srgbClr val="000000"/>
                          </a:solidFill>
                          <a:effectLst/>
                          <a:highlight>
                            <a:srgbClr val="D0CECE"/>
                          </a:highlight>
                          <a:latin typeface="標楷體" panose="03000509000000000000" pitchFamily="65" charset="-120"/>
                          <a:ea typeface="標楷體" panose="03000509000000000000" pitchFamily="65" charset="-120"/>
                        </a:rPr>
                        <a:t>基準</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zh-TW" altLang="en-US" sz="1600" b="0" i="0" u="none" strike="noStrike">
                          <a:solidFill>
                            <a:srgbClr val="000000"/>
                          </a:solidFill>
                          <a:effectLst/>
                          <a:highlight>
                            <a:srgbClr val="D0CECE"/>
                          </a:highlight>
                          <a:latin typeface="標楷體" panose="03000509000000000000" pitchFamily="65" charset="-120"/>
                          <a:ea typeface="標楷體" panose="03000509000000000000" pitchFamily="65" charset="-120"/>
                        </a:rPr>
                        <a:t>最大</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1600" b="0" i="0" u="none" strike="noStrike">
                          <a:solidFill>
                            <a:srgbClr val="000000"/>
                          </a:solidFill>
                          <a:effectLst/>
                          <a:latin typeface="標楷體" panose="03000509000000000000" pitchFamily="65" charset="-120"/>
                          <a:ea typeface="標楷體" panose="03000509000000000000" pitchFamily="65" charset="-120"/>
                        </a:rPr>
                        <a:t>PreTest</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TW" altLang="en-US" sz="1600" b="0" i="0" u="none" strike="noStrike">
                          <a:solidFill>
                            <a:srgbClr val="000000"/>
                          </a:solidFill>
                          <a:effectLst/>
                          <a:highlight>
                            <a:srgbClr val="C6E0B4"/>
                          </a:highlight>
                          <a:latin typeface="標楷體" panose="03000509000000000000" pitchFamily="65" charset="-120"/>
                          <a:ea typeface="標楷體" panose="03000509000000000000" pitchFamily="65" charset="-120"/>
                        </a:rPr>
                        <a:t>後測日期</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zh-TW" altLang="en-US" sz="1600" b="0" i="0" u="none" strike="noStrike" dirty="0">
                          <a:solidFill>
                            <a:srgbClr val="000000"/>
                          </a:solidFill>
                          <a:effectLst/>
                          <a:highlight>
                            <a:srgbClr val="D0CECE"/>
                          </a:highlight>
                          <a:latin typeface="標楷體" panose="03000509000000000000" pitchFamily="65" charset="-120"/>
                          <a:ea typeface="標楷體" panose="03000509000000000000" pitchFamily="65" charset="-120"/>
                        </a:rPr>
                        <a:t>基準</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zh-TW" altLang="en-US" sz="1600" b="0" i="0" u="none" strike="noStrike">
                          <a:solidFill>
                            <a:srgbClr val="000000"/>
                          </a:solidFill>
                          <a:effectLst/>
                          <a:highlight>
                            <a:srgbClr val="D0CECE"/>
                          </a:highlight>
                          <a:latin typeface="標楷體" panose="03000509000000000000" pitchFamily="65" charset="-120"/>
                          <a:ea typeface="標楷體" panose="03000509000000000000" pitchFamily="65" charset="-120"/>
                        </a:rPr>
                        <a:t>最大</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US" sz="1600" b="0" i="0" u="none" strike="noStrike" dirty="0" err="1">
                          <a:solidFill>
                            <a:srgbClr val="000000"/>
                          </a:solidFill>
                          <a:effectLst/>
                          <a:latin typeface="標楷體" panose="03000509000000000000" pitchFamily="65" charset="-120"/>
                          <a:ea typeface="標楷體" panose="03000509000000000000" pitchFamily="65" charset="-120"/>
                        </a:rPr>
                        <a:t>PostTest</a:t>
                      </a:r>
                      <a:endParaRPr lang="en-US" sz="1600" b="0" i="0" u="none" strike="noStrike" dirty="0">
                        <a:solidFill>
                          <a:srgbClr val="000000"/>
                        </a:solidFill>
                        <a:effectLst/>
                        <a:latin typeface="標楷體" panose="03000509000000000000" pitchFamily="65" charset="-120"/>
                        <a:ea typeface="標楷體" panose="03000509000000000000" pitchFamily="65" charset="-12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94142437"/>
                  </a:ext>
                </a:extLst>
              </a:tr>
              <a:tr h="250231">
                <a:tc>
                  <a:txBody>
                    <a:bodyPr/>
                    <a:lstStyle/>
                    <a:p>
                      <a:pPr algn="ctr" fontAlgn="ctr"/>
                      <a:r>
                        <a:rPr lang="en-US" altLang="zh-TW" sz="1600" b="0" i="0" u="none" strike="noStrike">
                          <a:solidFill>
                            <a:srgbClr val="000000"/>
                          </a:solidFill>
                          <a:effectLst/>
                          <a:highlight>
                            <a:srgbClr val="E7E6E6"/>
                          </a:highlight>
                          <a:latin typeface="標楷體" panose="03000509000000000000" pitchFamily="65" charset="-120"/>
                          <a:ea typeface="標楷體" panose="03000509000000000000" pitchFamily="65" charset="-120"/>
                        </a:rPr>
                        <a:t>32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ctr"/>
                      <a:r>
                        <a:rPr lang="en-US" altLang="zh-TW" sz="1600" b="0" i="0" u="none" strike="noStrike">
                          <a:solidFill>
                            <a:srgbClr val="000000"/>
                          </a:solidFill>
                          <a:effectLst/>
                          <a:highlight>
                            <a:srgbClr val="FFF2CC"/>
                          </a:highlight>
                          <a:latin typeface="標楷體" panose="03000509000000000000" pitchFamily="65" charset="-120"/>
                          <a:ea typeface="標楷體" panose="03000509000000000000" pitchFamily="65" charset="-120"/>
                        </a:rPr>
                        <a:t>2021/6/30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fontAlgn="ctr"/>
                      <a:r>
                        <a:rPr lang="en-US" altLang="zh-TW" sz="1600" b="0" i="0" u="none" strike="noStrike">
                          <a:solidFill>
                            <a:srgbClr val="000000"/>
                          </a:solidFill>
                          <a:effectLst/>
                          <a:latin typeface="標楷體" panose="03000509000000000000" pitchFamily="65" charset="-120"/>
                          <a:ea typeface="標楷體" panose="03000509000000000000" pitchFamily="65" charset="-120"/>
                        </a:rPr>
                        <a:t>250.7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altLang="zh-TW" sz="1600" b="0" i="0" u="none" strike="noStrike">
                          <a:solidFill>
                            <a:srgbClr val="000000"/>
                          </a:solidFill>
                          <a:effectLst/>
                          <a:latin typeface="標楷體" panose="03000509000000000000" pitchFamily="65" charset="-120"/>
                          <a:ea typeface="標楷體" panose="03000509000000000000" pitchFamily="65" charset="-120"/>
                        </a:rPr>
                        <a:t>255.5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altLang="zh-TW" sz="1600" b="0" i="0" u="none" strike="noStrike">
                          <a:solidFill>
                            <a:srgbClr val="000000"/>
                          </a:solidFill>
                          <a:effectLst/>
                          <a:latin typeface="標楷體" panose="03000509000000000000" pitchFamily="65" charset="-120"/>
                          <a:ea typeface="標楷體" panose="03000509000000000000" pitchFamily="65" charset="-120"/>
                        </a:rPr>
                        <a:t>4.8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TW" sz="1600" b="0" i="0" u="none" strike="noStrike">
                          <a:solidFill>
                            <a:srgbClr val="000000"/>
                          </a:solidFill>
                          <a:effectLst/>
                          <a:highlight>
                            <a:srgbClr val="E2EFDA"/>
                          </a:highlight>
                          <a:latin typeface="標楷體" panose="03000509000000000000" pitchFamily="65" charset="-120"/>
                          <a:ea typeface="標楷體" panose="03000509000000000000" pitchFamily="65" charset="-120"/>
                        </a:rPr>
                        <a:t>2021/12/1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r" fontAlgn="ctr"/>
                      <a:r>
                        <a:rPr lang="en-US" altLang="zh-TW" sz="1600" b="0" i="0" u="none" strike="noStrike" dirty="0">
                          <a:solidFill>
                            <a:srgbClr val="000000"/>
                          </a:solidFill>
                          <a:effectLst/>
                          <a:latin typeface="標楷體" panose="03000509000000000000" pitchFamily="65" charset="-120"/>
                          <a:ea typeface="標楷體" panose="03000509000000000000" pitchFamily="65" charset="-120"/>
                        </a:rPr>
                        <a:t>129.2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altLang="zh-TW" sz="1600" b="0" i="0" u="none" strike="noStrike">
                          <a:solidFill>
                            <a:srgbClr val="000000"/>
                          </a:solidFill>
                          <a:effectLst/>
                          <a:latin typeface="標楷體" panose="03000509000000000000" pitchFamily="65" charset="-120"/>
                          <a:ea typeface="標楷體" panose="03000509000000000000" pitchFamily="65" charset="-120"/>
                        </a:rPr>
                        <a:t>136.5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altLang="zh-TW" sz="1600" b="0" i="0" u="none" strike="noStrike">
                          <a:solidFill>
                            <a:srgbClr val="000000"/>
                          </a:solidFill>
                          <a:effectLst/>
                          <a:latin typeface="標楷體" panose="03000509000000000000" pitchFamily="65" charset="-120"/>
                          <a:ea typeface="標楷體" panose="03000509000000000000" pitchFamily="65" charset="-120"/>
                        </a:rPr>
                        <a:t>7.3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16882493"/>
                  </a:ext>
                </a:extLst>
              </a:tr>
              <a:tr h="231695">
                <a:tc>
                  <a:txBody>
                    <a:bodyPr/>
                    <a:lstStyle/>
                    <a:p>
                      <a:pPr algn="ctr" fontAlgn="ctr"/>
                      <a:r>
                        <a:rPr lang="en-US" altLang="zh-TW" sz="1600" b="0" i="0" u="none" strike="noStrike" dirty="0">
                          <a:solidFill>
                            <a:srgbClr val="000000"/>
                          </a:solidFill>
                          <a:effectLst/>
                          <a:highlight>
                            <a:srgbClr val="E7E6E6"/>
                          </a:highlight>
                          <a:latin typeface="標楷體" panose="03000509000000000000" pitchFamily="65" charset="-120"/>
                          <a:ea typeface="標楷體" panose="03000509000000000000" pitchFamily="65" charset="-120"/>
                        </a:rPr>
                        <a:t>27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ctr"/>
                      <a:r>
                        <a:rPr lang="en-US" altLang="zh-TW" sz="1600" b="0" i="0" u="none" strike="noStrike">
                          <a:solidFill>
                            <a:srgbClr val="000000"/>
                          </a:solidFill>
                          <a:effectLst/>
                          <a:highlight>
                            <a:srgbClr val="FFF2CC"/>
                          </a:highlight>
                          <a:latin typeface="標楷體" panose="03000509000000000000" pitchFamily="65" charset="-120"/>
                          <a:ea typeface="標楷體" panose="03000509000000000000" pitchFamily="65" charset="-120"/>
                        </a:rPr>
                        <a:t>2022/3/14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fontAlgn="ctr"/>
                      <a:r>
                        <a:rPr lang="en-US" altLang="zh-TW" sz="1600" b="0" i="0" u="none" strike="noStrike">
                          <a:solidFill>
                            <a:srgbClr val="000000"/>
                          </a:solidFill>
                          <a:effectLst/>
                          <a:latin typeface="標楷體" panose="03000509000000000000" pitchFamily="65" charset="-120"/>
                          <a:ea typeface="標楷體" panose="03000509000000000000" pitchFamily="65" charset="-120"/>
                        </a:rPr>
                        <a:t>98.7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altLang="zh-TW" sz="1600" b="0" i="0" u="none" strike="noStrike">
                          <a:solidFill>
                            <a:srgbClr val="000000"/>
                          </a:solidFill>
                          <a:effectLst/>
                          <a:latin typeface="標楷體" panose="03000509000000000000" pitchFamily="65" charset="-120"/>
                          <a:ea typeface="標楷體" panose="03000509000000000000" pitchFamily="65" charset="-120"/>
                        </a:rPr>
                        <a:t>170.8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altLang="zh-TW" sz="1600" b="0" i="0" u="none" strike="noStrike" dirty="0">
                          <a:solidFill>
                            <a:srgbClr val="000000"/>
                          </a:solidFill>
                          <a:effectLst/>
                          <a:latin typeface="標楷體" panose="03000509000000000000" pitchFamily="65" charset="-120"/>
                          <a:ea typeface="標楷體" panose="03000509000000000000" pitchFamily="65" charset="-120"/>
                        </a:rPr>
                        <a:t>72.1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TW" sz="1600" b="0" i="0" u="none" strike="noStrike">
                          <a:solidFill>
                            <a:srgbClr val="000000"/>
                          </a:solidFill>
                          <a:effectLst/>
                          <a:highlight>
                            <a:srgbClr val="E2EFDA"/>
                          </a:highlight>
                          <a:latin typeface="標楷體" panose="03000509000000000000" pitchFamily="65" charset="-120"/>
                          <a:ea typeface="標楷體" panose="03000509000000000000" pitchFamily="65" charset="-120"/>
                        </a:rPr>
                        <a:t>2022/8/30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r" fontAlgn="ctr"/>
                      <a:r>
                        <a:rPr lang="en-US" altLang="zh-TW" sz="1600" b="0" i="0" u="none" strike="noStrike">
                          <a:solidFill>
                            <a:srgbClr val="000000"/>
                          </a:solidFill>
                          <a:effectLst/>
                          <a:latin typeface="標楷體" panose="03000509000000000000" pitchFamily="65" charset="-120"/>
                          <a:ea typeface="標楷體" panose="03000509000000000000" pitchFamily="65" charset="-120"/>
                        </a:rPr>
                        <a:t>96.9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altLang="zh-TW" sz="1600" b="0" i="0" u="none" strike="noStrike">
                          <a:solidFill>
                            <a:srgbClr val="000000"/>
                          </a:solidFill>
                          <a:effectLst/>
                          <a:latin typeface="標楷體" panose="03000509000000000000" pitchFamily="65" charset="-120"/>
                          <a:ea typeface="標楷體" panose="03000509000000000000" pitchFamily="65" charset="-120"/>
                        </a:rPr>
                        <a:t>238.5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altLang="zh-TW" sz="1600" b="0" i="0" u="none" strike="noStrike">
                          <a:solidFill>
                            <a:srgbClr val="000000"/>
                          </a:solidFill>
                          <a:effectLst/>
                          <a:latin typeface="標楷體" panose="03000509000000000000" pitchFamily="65" charset="-120"/>
                          <a:ea typeface="標楷體" panose="03000509000000000000" pitchFamily="65" charset="-120"/>
                        </a:rPr>
                        <a:t>141.6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8328239"/>
                  </a:ext>
                </a:extLst>
              </a:tr>
              <a:tr h="250231">
                <a:tc>
                  <a:txBody>
                    <a:bodyPr/>
                    <a:lstStyle/>
                    <a:p>
                      <a:pPr algn="ctr" fontAlgn="ctr"/>
                      <a:r>
                        <a:rPr lang="en-US" altLang="zh-TW" sz="1600" b="0" i="0" u="none" strike="noStrike">
                          <a:solidFill>
                            <a:srgbClr val="000000"/>
                          </a:solidFill>
                          <a:effectLst/>
                          <a:highlight>
                            <a:srgbClr val="E7E6E6"/>
                          </a:highlight>
                          <a:latin typeface="標楷體" panose="03000509000000000000" pitchFamily="65" charset="-120"/>
                          <a:ea typeface="標楷體" panose="03000509000000000000" pitchFamily="65" charset="-120"/>
                        </a:rPr>
                        <a:t>78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ctr"/>
                      <a:r>
                        <a:rPr lang="en-US" altLang="zh-TW" sz="1600" b="0" i="0" u="none" strike="noStrike">
                          <a:solidFill>
                            <a:srgbClr val="000000"/>
                          </a:solidFill>
                          <a:effectLst/>
                          <a:highlight>
                            <a:srgbClr val="FFF2CC"/>
                          </a:highlight>
                          <a:latin typeface="標楷體" panose="03000509000000000000" pitchFamily="65" charset="-120"/>
                          <a:ea typeface="標楷體" panose="03000509000000000000" pitchFamily="65" charset="-120"/>
                        </a:rPr>
                        <a:t>2022/4/13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fontAlgn="ctr"/>
                      <a:r>
                        <a:rPr lang="en-US" altLang="zh-TW" sz="1600" b="0" i="0" u="none" strike="noStrike">
                          <a:solidFill>
                            <a:srgbClr val="000000"/>
                          </a:solidFill>
                          <a:effectLst/>
                          <a:latin typeface="標楷體" panose="03000509000000000000" pitchFamily="65" charset="-120"/>
                          <a:ea typeface="標楷體" panose="03000509000000000000" pitchFamily="65" charset="-120"/>
                        </a:rPr>
                        <a:t>79.3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altLang="zh-TW" sz="1600" b="0" i="0" u="none" strike="noStrike">
                          <a:solidFill>
                            <a:srgbClr val="000000"/>
                          </a:solidFill>
                          <a:effectLst/>
                          <a:latin typeface="標楷體" panose="03000509000000000000" pitchFamily="65" charset="-120"/>
                          <a:ea typeface="標楷體" panose="03000509000000000000" pitchFamily="65" charset="-120"/>
                        </a:rPr>
                        <a:t>83.8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altLang="zh-TW" sz="1600" b="0" i="0" u="none" strike="noStrike" dirty="0">
                          <a:solidFill>
                            <a:srgbClr val="000000"/>
                          </a:solidFill>
                          <a:effectLst/>
                          <a:latin typeface="標楷體" panose="03000509000000000000" pitchFamily="65" charset="-120"/>
                          <a:ea typeface="標楷體" panose="03000509000000000000" pitchFamily="65" charset="-120"/>
                        </a:rPr>
                        <a:t>4.5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TW" sz="1600" b="0" i="0" u="none" strike="noStrike">
                          <a:solidFill>
                            <a:srgbClr val="000000"/>
                          </a:solidFill>
                          <a:effectLst/>
                          <a:highlight>
                            <a:srgbClr val="E2EFDA"/>
                          </a:highlight>
                          <a:latin typeface="標楷體" panose="03000509000000000000" pitchFamily="65" charset="-120"/>
                          <a:ea typeface="標楷體" panose="03000509000000000000" pitchFamily="65" charset="-120"/>
                        </a:rPr>
                        <a:t>2022/10/19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r" fontAlgn="ctr"/>
                      <a:r>
                        <a:rPr lang="en-US" altLang="zh-TW" sz="1600" b="0" i="0" u="none" strike="noStrike">
                          <a:solidFill>
                            <a:srgbClr val="000000"/>
                          </a:solidFill>
                          <a:effectLst/>
                          <a:latin typeface="標楷體" panose="03000509000000000000" pitchFamily="65" charset="-120"/>
                          <a:ea typeface="標楷體" panose="03000509000000000000" pitchFamily="65" charset="-120"/>
                        </a:rPr>
                        <a:t>142.7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altLang="zh-TW" sz="1600" b="0" i="0" u="none" strike="noStrike">
                          <a:solidFill>
                            <a:srgbClr val="000000"/>
                          </a:solidFill>
                          <a:effectLst/>
                          <a:latin typeface="標楷體" panose="03000509000000000000" pitchFamily="65" charset="-120"/>
                          <a:ea typeface="標楷體" panose="03000509000000000000" pitchFamily="65" charset="-120"/>
                        </a:rPr>
                        <a:t>150.1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altLang="zh-TW" sz="1600" b="0" i="0" u="none" strike="noStrike">
                          <a:solidFill>
                            <a:srgbClr val="000000"/>
                          </a:solidFill>
                          <a:effectLst/>
                          <a:latin typeface="標楷體" panose="03000509000000000000" pitchFamily="65" charset="-120"/>
                          <a:ea typeface="標楷體" panose="03000509000000000000" pitchFamily="65" charset="-120"/>
                        </a:rPr>
                        <a:t>7.4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54209659"/>
                  </a:ext>
                </a:extLst>
              </a:tr>
              <a:tr h="250231">
                <a:tc>
                  <a:txBody>
                    <a:bodyPr/>
                    <a:lstStyle/>
                    <a:p>
                      <a:pPr algn="ctr" fontAlgn="ctr"/>
                      <a:r>
                        <a:rPr lang="en-US" altLang="zh-TW" sz="1600" b="0" i="0" u="none" strike="noStrike">
                          <a:solidFill>
                            <a:srgbClr val="000000"/>
                          </a:solidFill>
                          <a:effectLst/>
                          <a:highlight>
                            <a:srgbClr val="E7E6E6"/>
                          </a:highlight>
                          <a:latin typeface="標楷體" panose="03000509000000000000" pitchFamily="65" charset="-120"/>
                          <a:ea typeface="標楷體" panose="03000509000000000000" pitchFamily="65" charset="-120"/>
                        </a:rPr>
                        <a:t>87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ctr"/>
                      <a:r>
                        <a:rPr lang="en-US" altLang="zh-TW" sz="1600" b="0" i="0" u="none" strike="noStrike">
                          <a:solidFill>
                            <a:srgbClr val="000000"/>
                          </a:solidFill>
                          <a:effectLst/>
                          <a:highlight>
                            <a:srgbClr val="FFF2CC"/>
                          </a:highlight>
                          <a:latin typeface="標楷體" panose="03000509000000000000" pitchFamily="65" charset="-120"/>
                          <a:ea typeface="標楷體" panose="03000509000000000000" pitchFamily="65" charset="-120"/>
                        </a:rPr>
                        <a:t>2022/4/28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fontAlgn="ctr"/>
                      <a:r>
                        <a:rPr lang="en-US" altLang="zh-TW" sz="1600" b="0" i="0" u="none" strike="noStrike" dirty="0">
                          <a:solidFill>
                            <a:srgbClr val="000000"/>
                          </a:solidFill>
                          <a:effectLst/>
                          <a:latin typeface="標楷體" panose="03000509000000000000" pitchFamily="65" charset="-120"/>
                          <a:ea typeface="標楷體" panose="03000509000000000000" pitchFamily="65" charset="-120"/>
                        </a:rPr>
                        <a:t>86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altLang="zh-TW" sz="1600" b="0" i="0" u="none" strike="noStrike" dirty="0">
                          <a:solidFill>
                            <a:srgbClr val="000000"/>
                          </a:solidFill>
                          <a:effectLst/>
                          <a:latin typeface="標楷體" panose="03000509000000000000" pitchFamily="65" charset="-120"/>
                          <a:ea typeface="標楷體" panose="03000509000000000000" pitchFamily="65" charset="-120"/>
                        </a:rPr>
                        <a:t>119.8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altLang="zh-TW" sz="1600" b="0" i="0" u="none" strike="noStrike">
                          <a:solidFill>
                            <a:srgbClr val="000000"/>
                          </a:solidFill>
                          <a:effectLst/>
                          <a:latin typeface="標楷體" panose="03000509000000000000" pitchFamily="65" charset="-120"/>
                          <a:ea typeface="標楷體" panose="03000509000000000000" pitchFamily="65" charset="-120"/>
                        </a:rPr>
                        <a:t>33.8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TW" sz="1600" b="0" i="0" u="none" strike="noStrike">
                          <a:solidFill>
                            <a:srgbClr val="000000"/>
                          </a:solidFill>
                          <a:effectLst/>
                          <a:highlight>
                            <a:srgbClr val="E2EFDA"/>
                          </a:highlight>
                          <a:latin typeface="標楷體" panose="03000509000000000000" pitchFamily="65" charset="-120"/>
                          <a:ea typeface="標楷體" panose="03000509000000000000" pitchFamily="65" charset="-120"/>
                        </a:rPr>
                        <a:t>2022/7/12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r" fontAlgn="ctr"/>
                      <a:r>
                        <a:rPr lang="en-US" altLang="zh-TW" sz="1600" b="0" i="0" u="none" strike="noStrike">
                          <a:solidFill>
                            <a:srgbClr val="000000"/>
                          </a:solidFill>
                          <a:effectLst/>
                          <a:latin typeface="標楷體" panose="03000509000000000000" pitchFamily="65" charset="-120"/>
                          <a:ea typeface="標楷體" panose="03000509000000000000" pitchFamily="65" charset="-120"/>
                        </a:rPr>
                        <a:t>93.5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altLang="zh-TW" sz="1600" b="0" i="0" u="none" strike="noStrike">
                          <a:solidFill>
                            <a:srgbClr val="000000"/>
                          </a:solidFill>
                          <a:effectLst/>
                          <a:latin typeface="標楷體" panose="03000509000000000000" pitchFamily="65" charset="-120"/>
                          <a:ea typeface="標楷體" panose="03000509000000000000" pitchFamily="65" charset="-120"/>
                        </a:rPr>
                        <a:t>130.8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altLang="zh-TW" sz="1600" b="0" i="0" u="none" strike="noStrike">
                          <a:solidFill>
                            <a:srgbClr val="000000"/>
                          </a:solidFill>
                          <a:effectLst/>
                          <a:latin typeface="標楷體" panose="03000509000000000000" pitchFamily="65" charset="-120"/>
                          <a:ea typeface="標楷體" panose="03000509000000000000" pitchFamily="65" charset="-120"/>
                        </a:rPr>
                        <a:t>37.3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59754994"/>
                  </a:ext>
                </a:extLst>
              </a:tr>
              <a:tr h="250231">
                <a:tc>
                  <a:txBody>
                    <a:bodyPr/>
                    <a:lstStyle/>
                    <a:p>
                      <a:pPr algn="ctr" fontAlgn="ctr"/>
                      <a:r>
                        <a:rPr lang="en-US" altLang="zh-TW" sz="1600" b="0" i="0" u="none" strike="noStrike" dirty="0">
                          <a:solidFill>
                            <a:srgbClr val="000000"/>
                          </a:solidFill>
                          <a:effectLst/>
                          <a:highlight>
                            <a:srgbClr val="E7E6E6"/>
                          </a:highlight>
                          <a:latin typeface="標楷體" panose="03000509000000000000" pitchFamily="65" charset="-120"/>
                          <a:ea typeface="標楷體" panose="03000509000000000000" pitchFamily="65" charset="-120"/>
                        </a:rPr>
                        <a:t>67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6E6"/>
                    </a:solidFill>
                  </a:tcPr>
                </a:tc>
                <a:tc>
                  <a:txBody>
                    <a:bodyPr/>
                    <a:lstStyle/>
                    <a:p>
                      <a:pPr algn="ctr" fontAlgn="ctr"/>
                      <a:r>
                        <a:rPr lang="en-US" altLang="zh-TW" sz="1600" b="0" i="0" u="none" strike="noStrike" dirty="0">
                          <a:solidFill>
                            <a:srgbClr val="000000"/>
                          </a:solidFill>
                          <a:effectLst/>
                          <a:highlight>
                            <a:srgbClr val="FFF2CC"/>
                          </a:highlight>
                          <a:latin typeface="標楷體" panose="03000509000000000000" pitchFamily="65" charset="-120"/>
                          <a:ea typeface="標楷體" panose="03000509000000000000" pitchFamily="65" charset="-120"/>
                        </a:rPr>
                        <a:t>2022/7/27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fontAlgn="ctr"/>
                      <a:r>
                        <a:rPr lang="en-US" altLang="zh-TW" sz="1600" b="0" i="0" u="none" strike="noStrike" dirty="0">
                          <a:solidFill>
                            <a:srgbClr val="000000"/>
                          </a:solidFill>
                          <a:effectLst/>
                          <a:latin typeface="標楷體" panose="03000509000000000000" pitchFamily="65" charset="-120"/>
                          <a:ea typeface="標楷體" panose="03000509000000000000" pitchFamily="65" charset="-120"/>
                        </a:rPr>
                        <a:t>88.7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altLang="zh-TW" sz="1600" b="0" i="0" u="none" strike="noStrike">
                          <a:solidFill>
                            <a:srgbClr val="000000"/>
                          </a:solidFill>
                          <a:effectLst/>
                          <a:latin typeface="標楷體" panose="03000509000000000000" pitchFamily="65" charset="-120"/>
                          <a:ea typeface="標楷體" panose="03000509000000000000" pitchFamily="65" charset="-120"/>
                        </a:rPr>
                        <a:t>95.7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altLang="zh-TW" sz="1600" b="0" i="0" u="none" strike="noStrike">
                          <a:solidFill>
                            <a:srgbClr val="000000"/>
                          </a:solidFill>
                          <a:effectLst/>
                          <a:latin typeface="標楷體" panose="03000509000000000000" pitchFamily="65" charset="-120"/>
                          <a:ea typeface="標楷體" panose="03000509000000000000" pitchFamily="65" charset="-120"/>
                        </a:rPr>
                        <a:t>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TW" sz="1600" b="0" i="0" u="none" strike="noStrike">
                          <a:solidFill>
                            <a:srgbClr val="000000"/>
                          </a:solidFill>
                          <a:effectLst/>
                          <a:highlight>
                            <a:srgbClr val="E2EFDA"/>
                          </a:highlight>
                          <a:latin typeface="標楷體" panose="03000509000000000000" pitchFamily="65" charset="-120"/>
                          <a:ea typeface="標楷體" panose="03000509000000000000" pitchFamily="65" charset="-120"/>
                        </a:rPr>
                        <a:t>2022/10/19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r" fontAlgn="ctr"/>
                      <a:r>
                        <a:rPr lang="en-US" altLang="zh-TW" sz="1600" b="0" i="0" u="none" strike="noStrike">
                          <a:solidFill>
                            <a:srgbClr val="000000"/>
                          </a:solidFill>
                          <a:effectLst/>
                          <a:latin typeface="標楷體" panose="03000509000000000000" pitchFamily="65" charset="-120"/>
                          <a:ea typeface="標楷體" panose="03000509000000000000" pitchFamily="65" charset="-120"/>
                        </a:rPr>
                        <a:t>111.1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altLang="zh-TW" sz="1600" b="0" i="0" u="none" strike="noStrike">
                          <a:solidFill>
                            <a:srgbClr val="000000"/>
                          </a:solidFill>
                          <a:effectLst/>
                          <a:latin typeface="標楷體" panose="03000509000000000000" pitchFamily="65" charset="-120"/>
                          <a:ea typeface="標楷體" panose="03000509000000000000" pitchFamily="65" charset="-120"/>
                        </a:rPr>
                        <a:t>123.9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altLang="zh-TW" sz="1600" b="0" i="0" u="none" strike="noStrike">
                          <a:solidFill>
                            <a:srgbClr val="000000"/>
                          </a:solidFill>
                          <a:effectLst/>
                          <a:latin typeface="標楷體" panose="03000509000000000000" pitchFamily="65" charset="-120"/>
                          <a:ea typeface="標楷體" panose="03000509000000000000" pitchFamily="65" charset="-120"/>
                        </a:rPr>
                        <a:t>12.8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42834060"/>
                  </a:ext>
                </a:extLst>
              </a:tr>
              <a:tr h="250231">
                <a:tc>
                  <a:txBody>
                    <a:bodyPr/>
                    <a:lstStyle/>
                    <a:p>
                      <a:pPr algn="ctr" fontAlgn="ctr"/>
                      <a:r>
                        <a:rPr lang="en-US" altLang="zh-TW" sz="1600" b="0" i="0" u="none" strike="noStrike" dirty="0">
                          <a:solidFill>
                            <a:srgbClr val="000000"/>
                          </a:solidFill>
                          <a:effectLst/>
                          <a:highlight>
                            <a:srgbClr val="EDEDED"/>
                          </a:highlight>
                          <a:latin typeface="標楷體" panose="03000509000000000000" pitchFamily="65" charset="-120"/>
                          <a:ea typeface="標楷體" panose="03000509000000000000" pitchFamily="65" charset="-120"/>
                        </a:rPr>
                        <a:t>74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EDED"/>
                    </a:solidFill>
                  </a:tcPr>
                </a:tc>
                <a:tc>
                  <a:txBody>
                    <a:bodyPr/>
                    <a:lstStyle/>
                    <a:p>
                      <a:pPr algn="ctr" fontAlgn="ctr"/>
                      <a:r>
                        <a:rPr lang="en-US" altLang="zh-TW" sz="1600" b="0" i="0" u="none" strike="noStrike">
                          <a:solidFill>
                            <a:srgbClr val="000000"/>
                          </a:solidFill>
                          <a:effectLst/>
                          <a:highlight>
                            <a:srgbClr val="FFF2CC"/>
                          </a:highlight>
                          <a:latin typeface="標楷體" panose="03000509000000000000" pitchFamily="65" charset="-120"/>
                          <a:ea typeface="標楷體" panose="03000509000000000000" pitchFamily="65" charset="-120"/>
                        </a:rPr>
                        <a:t>2022/9/14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fontAlgn="ctr"/>
                      <a:r>
                        <a:rPr lang="en-US" altLang="zh-TW" sz="1600" b="0" i="0" u="none" strike="noStrike">
                          <a:solidFill>
                            <a:srgbClr val="000000"/>
                          </a:solidFill>
                          <a:effectLst/>
                          <a:latin typeface="標楷體" panose="03000509000000000000" pitchFamily="65" charset="-120"/>
                          <a:ea typeface="標楷體" panose="03000509000000000000" pitchFamily="65" charset="-120"/>
                        </a:rPr>
                        <a:t>74.6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altLang="zh-TW" sz="1600" b="0" i="0" u="none" strike="noStrike">
                          <a:solidFill>
                            <a:srgbClr val="000000"/>
                          </a:solidFill>
                          <a:effectLst/>
                          <a:latin typeface="標楷體" panose="03000509000000000000" pitchFamily="65" charset="-120"/>
                          <a:ea typeface="標楷體" panose="03000509000000000000" pitchFamily="65" charset="-120"/>
                        </a:rPr>
                        <a:t>80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altLang="zh-TW" sz="1600" b="0" i="0" u="none" strike="noStrike">
                          <a:solidFill>
                            <a:srgbClr val="000000"/>
                          </a:solidFill>
                          <a:effectLst/>
                          <a:latin typeface="標楷體" panose="03000509000000000000" pitchFamily="65" charset="-120"/>
                          <a:ea typeface="標楷體" panose="03000509000000000000" pitchFamily="65" charset="-120"/>
                        </a:rPr>
                        <a:t>5.4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TW" sz="1600" b="0" i="0" u="none" strike="noStrike">
                          <a:solidFill>
                            <a:srgbClr val="000000"/>
                          </a:solidFill>
                          <a:effectLst/>
                          <a:highlight>
                            <a:srgbClr val="E2EFDA"/>
                          </a:highlight>
                          <a:latin typeface="標楷體" panose="03000509000000000000" pitchFamily="65" charset="-120"/>
                          <a:ea typeface="標楷體" panose="03000509000000000000" pitchFamily="65" charset="-120"/>
                        </a:rPr>
                        <a:t>2022/12/14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r" fontAlgn="ctr"/>
                      <a:r>
                        <a:rPr lang="en-US" altLang="zh-TW" sz="1600" b="0" i="0" u="none" strike="noStrike">
                          <a:solidFill>
                            <a:srgbClr val="000000"/>
                          </a:solidFill>
                          <a:effectLst/>
                          <a:latin typeface="標楷體" panose="03000509000000000000" pitchFamily="65" charset="-120"/>
                          <a:ea typeface="標楷體" panose="03000509000000000000" pitchFamily="65" charset="-120"/>
                        </a:rPr>
                        <a:t>75.2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altLang="zh-TW" sz="1600" b="0" i="0" u="none" strike="noStrike">
                          <a:solidFill>
                            <a:srgbClr val="000000"/>
                          </a:solidFill>
                          <a:effectLst/>
                          <a:latin typeface="標楷體" panose="03000509000000000000" pitchFamily="65" charset="-120"/>
                          <a:ea typeface="標楷體" panose="03000509000000000000" pitchFamily="65" charset="-120"/>
                        </a:rPr>
                        <a:t>80.2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altLang="zh-TW" sz="1600" b="0" i="0" u="none" strike="noStrike" dirty="0">
                          <a:solidFill>
                            <a:srgbClr val="000000"/>
                          </a:solidFill>
                          <a:effectLst/>
                          <a:latin typeface="標楷體" panose="03000509000000000000" pitchFamily="65" charset="-120"/>
                          <a:ea typeface="標楷體" panose="03000509000000000000" pitchFamily="65" charset="-120"/>
                        </a:rPr>
                        <a:t>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54832544"/>
                  </a:ext>
                </a:extLst>
              </a:tr>
              <a:tr h="250231">
                <a:tc>
                  <a:txBody>
                    <a:bodyPr/>
                    <a:lstStyle/>
                    <a:p>
                      <a:pPr algn="ctr" fontAlgn="ctr"/>
                      <a:r>
                        <a:rPr lang="en-US" altLang="zh-TW" sz="1600" b="0" i="0" u="none" strike="noStrike" dirty="0">
                          <a:solidFill>
                            <a:srgbClr val="000000"/>
                          </a:solidFill>
                          <a:effectLst/>
                          <a:highlight>
                            <a:srgbClr val="EDEDED"/>
                          </a:highlight>
                          <a:latin typeface="標楷體" panose="03000509000000000000" pitchFamily="65" charset="-120"/>
                          <a:ea typeface="標楷體" panose="03000509000000000000" pitchFamily="65" charset="-120"/>
                        </a:rPr>
                        <a:t>64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EDED"/>
                    </a:solidFill>
                  </a:tcPr>
                </a:tc>
                <a:tc>
                  <a:txBody>
                    <a:bodyPr/>
                    <a:lstStyle/>
                    <a:p>
                      <a:pPr algn="ctr" fontAlgn="ctr"/>
                      <a:r>
                        <a:rPr lang="en-US" altLang="zh-TW" sz="1600" b="0" i="0" u="none" strike="noStrike">
                          <a:solidFill>
                            <a:srgbClr val="000000"/>
                          </a:solidFill>
                          <a:effectLst/>
                          <a:highlight>
                            <a:srgbClr val="FFF2CC"/>
                          </a:highlight>
                          <a:latin typeface="標楷體" panose="03000509000000000000" pitchFamily="65" charset="-120"/>
                          <a:ea typeface="標楷體" panose="03000509000000000000" pitchFamily="65" charset="-120"/>
                        </a:rPr>
                        <a:t>2022/9/14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fontAlgn="ctr"/>
                      <a:r>
                        <a:rPr lang="en-US" altLang="zh-TW" sz="1600" b="0" i="0" u="none" strike="noStrike">
                          <a:solidFill>
                            <a:srgbClr val="000000"/>
                          </a:solidFill>
                          <a:effectLst/>
                          <a:latin typeface="標楷體" panose="03000509000000000000" pitchFamily="65" charset="-120"/>
                          <a:ea typeface="標楷體" panose="03000509000000000000" pitchFamily="65" charset="-120"/>
                        </a:rPr>
                        <a:t>78.5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altLang="zh-TW" sz="1600" b="0" i="0" u="none" strike="noStrike">
                          <a:solidFill>
                            <a:srgbClr val="000000"/>
                          </a:solidFill>
                          <a:effectLst/>
                          <a:latin typeface="標楷體" panose="03000509000000000000" pitchFamily="65" charset="-120"/>
                          <a:ea typeface="標楷體" panose="03000509000000000000" pitchFamily="65" charset="-120"/>
                        </a:rPr>
                        <a:t>84.4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altLang="zh-TW" sz="1600" b="0" i="0" u="none" strike="noStrike">
                          <a:solidFill>
                            <a:srgbClr val="000000"/>
                          </a:solidFill>
                          <a:effectLst/>
                          <a:latin typeface="標楷體" panose="03000509000000000000" pitchFamily="65" charset="-120"/>
                          <a:ea typeface="標楷體" panose="03000509000000000000" pitchFamily="65" charset="-120"/>
                        </a:rPr>
                        <a:t>5.9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TW" sz="1600" b="0" i="0" u="none" strike="noStrike">
                          <a:solidFill>
                            <a:srgbClr val="000000"/>
                          </a:solidFill>
                          <a:effectLst/>
                          <a:highlight>
                            <a:srgbClr val="E2EFDA"/>
                          </a:highlight>
                          <a:latin typeface="標楷體" panose="03000509000000000000" pitchFamily="65" charset="-120"/>
                          <a:ea typeface="標楷體" panose="03000509000000000000" pitchFamily="65" charset="-120"/>
                        </a:rPr>
                        <a:t>2023/2/22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r" fontAlgn="ctr"/>
                      <a:r>
                        <a:rPr lang="en-US" altLang="zh-TW" sz="1600" b="0" i="0" u="none" strike="noStrike">
                          <a:solidFill>
                            <a:srgbClr val="000000"/>
                          </a:solidFill>
                          <a:effectLst/>
                          <a:latin typeface="標楷體" panose="03000509000000000000" pitchFamily="65" charset="-120"/>
                          <a:ea typeface="標楷體" panose="03000509000000000000" pitchFamily="65" charset="-120"/>
                        </a:rPr>
                        <a:t>88.3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altLang="zh-TW" sz="1600" b="0" i="0" u="none" strike="noStrike">
                          <a:solidFill>
                            <a:srgbClr val="000000"/>
                          </a:solidFill>
                          <a:effectLst/>
                          <a:latin typeface="標楷體" panose="03000509000000000000" pitchFamily="65" charset="-120"/>
                          <a:ea typeface="標楷體" panose="03000509000000000000" pitchFamily="65" charset="-120"/>
                        </a:rPr>
                        <a:t>96.5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altLang="zh-TW" sz="1600" b="0" i="0" u="none" strike="noStrike" dirty="0">
                          <a:solidFill>
                            <a:srgbClr val="000000"/>
                          </a:solidFill>
                          <a:effectLst/>
                          <a:latin typeface="標楷體" panose="03000509000000000000" pitchFamily="65" charset="-120"/>
                          <a:ea typeface="標楷體" panose="03000509000000000000" pitchFamily="65" charset="-120"/>
                        </a:rPr>
                        <a:t>8.2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52611743"/>
                  </a:ext>
                </a:extLst>
              </a:tr>
              <a:tr h="250231">
                <a:tc>
                  <a:txBody>
                    <a:bodyPr/>
                    <a:lstStyle/>
                    <a:p>
                      <a:pPr algn="ctr" fontAlgn="ctr"/>
                      <a:r>
                        <a:rPr lang="en-US" altLang="zh-TW" sz="1600" b="0" i="0" u="none" strike="noStrike" dirty="0">
                          <a:solidFill>
                            <a:srgbClr val="000000"/>
                          </a:solidFill>
                          <a:effectLst/>
                          <a:highlight>
                            <a:srgbClr val="EDEDED"/>
                          </a:highlight>
                          <a:latin typeface="標楷體" panose="03000509000000000000" pitchFamily="65" charset="-120"/>
                          <a:ea typeface="標楷體" panose="03000509000000000000" pitchFamily="65" charset="-120"/>
                        </a:rPr>
                        <a:t>52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EDED"/>
                    </a:solidFill>
                  </a:tcPr>
                </a:tc>
                <a:tc>
                  <a:txBody>
                    <a:bodyPr/>
                    <a:lstStyle/>
                    <a:p>
                      <a:pPr algn="ctr" fontAlgn="ctr"/>
                      <a:r>
                        <a:rPr lang="en-US" altLang="zh-TW" sz="1600" b="0" i="0" u="none" strike="noStrike">
                          <a:solidFill>
                            <a:srgbClr val="000000"/>
                          </a:solidFill>
                          <a:effectLst/>
                          <a:highlight>
                            <a:srgbClr val="FFF2CC"/>
                          </a:highlight>
                          <a:latin typeface="標楷體" panose="03000509000000000000" pitchFamily="65" charset="-120"/>
                          <a:ea typeface="標楷體" panose="03000509000000000000" pitchFamily="65" charset="-120"/>
                        </a:rPr>
                        <a:t>2022/10/20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r" fontAlgn="ctr"/>
                      <a:r>
                        <a:rPr lang="en-US" altLang="zh-TW" sz="1600" b="0" i="0" u="none" strike="noStrike" dirty="0">
                          <a:solidFill>
                            <a:srgbClr val="000000"/>
                          </a:solidFill>
                          <a:effectLst/>
                          <a:latin typeface="標楷體" panose="03000509000000000000" pitchFamily="65" charset="-120"/>
                          <a:ea typeface="標楷體" panose="03000509000000000000" pitchFamily="65" charset="-120"/>
                        </a:rPr>
                        <a:t>80.4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altLang="zh-TW" sz="1600" b="0" i="0" u="none" strike="noStrike">
                          <a:solidFill>
                            <a:srgbClr val="000000"/>
                          </a:solidFill>
                          <a:effectLst/>
                          <a:latin typeface="標楷體" panose="03000509000000000000" pitchFamily="65" charset="-120"/>
                          <a:ea typeface="標楷體" panose="03000509000000000000" pitchFamily="65" charset="-120"/>
                        </a:rPr>
                        <a:t>89.5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altLang="zh-TW" sz="1600" b="0" i="0" u="none" strike="noStrike">
                          <a:solidFill>
                            <a:srgbClr val="000000"/>
                          </a:solidFill>
                          <a:effectLst/>
                          <a:latin typeface="標楷體" panose="03000509000000000000" pitchFamily="65" charset="-120"/>
                          <a:ea typeface="標楷體" panose="03000509000000000000" pitchFamily="65" charset="-120"/>
                        </a:rPr>
                        <a:t>9.1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altLang="zh-TW" sz="1600" b="0" i="0" u="none" strike="noStrike">
                          <a:solidFill>
                            <a:srgbClr val="000000"/>
                          </a:solidFill>
                          <a:effectLst/>
                          <a:highlight>
                            <a:srgbClr val="E2EFDA"/>
                          </a:highlight>
                          <a:latin typeface="標楷體" panose="03000509000000000000" pitchFamily="65" charset="-120"/>
                          <a:ea typeface="標楷體" panose="03000509000000000000" pitchFamily="65" charset="-120"/>
                        </a:rPr>
                        <a:t>2023/2/14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r" fontAlgn="ctr"/>
                      <a:r>
                        <a:rPr lang="en-US" altLang="zh-TW" sz="1600" b="0" i="0" u="none" strike="noStrike" dirty="0">
                          <a:solidFill>
                            <a:srgbClr val="000000"/>
                          </a:solidFill>
                          <a:effectLst/>
                          <a:latin typeface="標楷體" panose="03000509000000000000" pitchFamily="65" charset="-120"/>
                          <a:ea typeface="標楷體" panose="03000509000000000000" pitchFamily="65" charset="-120"/>
                        </a:rPr>
                        <a:t>90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altLang="zh-TW" sz="1600" b="0" i="0" u="none" strike="noStrike">
                          <a:solidFill>
                            <a:srgbClr val="000000"/>
                          </a:solidFill>
                          <a:effectLst/>
                          <a:latin typeface="標楷體" panose="03000509000000000000" pitchFamily="65" charset="-120"/>
                          <a:ea typeface="標楷體" panose="03000509000000000000" pitchFamily="65" charset="-120"/>
                        </a:rPr>
                        <a:t>112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ctr"/>
                      <a:r>
                        <a:rPr lang="en-US" altLang="zh-TW" sz="1600" b="0" i="0" u="none" strike="noStrike" dirty="0">
                          <a:solidFill>
                            <a:srgbClr val="000000"/>
                          </a:solidFill>
                          <a:effectLst/>
                          <a:latin typeface="標楷體" panose="03000509000000000000" pitchFamily="65" charset="-120"/>
                          <a:ea typeface="標楷體" panose="03000509000000000000" pitchFamily="65" charset="-120"/>
                        </a:rPr>
                        <a:t>22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93001870"/>
                  </a:ext>
                </a:extLst>
              </a:tr>
            </a:tbl>
          </a:graphicData>
        </a:graphic>
      </p:graphicFrame>
      <p:graphicFrame>
        <p:nvGraphicFramePr>
          <p:cNvPr id="7" name="表格 6">
            <a:extLst>
              <a:ext uri="{FF2B5EF4-FFF2-40B4-BE49-F238E27FC236}">
                <a16:creationId xmlns:a16="http://schemas.microsoft.com/office/drawing/2014/main" id="{EA9E1D85-09AE-1120-162B-5D2CBA90BF51}"/>
              </a:ext>
            </a:extLst>
          </p:cNvPr>
          <p:cNvGraphicFramePr>
            <a:graphicFrameLocks noGrp="1"/>
          </p:cNvGraphicFramePr>
          <p:nvPr>
            <p:extLst>
              <p:ext uri="{D42A27DB-BD31-4B8C-83A1-F6EECF244321}">
                <p14:modId xmlns:p14="http://schemas.microsoft.com/office/powerpoint/2010/main" val="1962921656"/>
              </p:ext>
            </p:extLst>
          </p:nvPr>
        </p:nvGraphicFramePr>
        <p:xfrm>
          <a:off x="8078993" y="4408010"/>
          <a:ext cx="3877366" cy="937260"/>
        </p:xfrm>
        <a:graphic>
          <a:graphicData uri="http://schemas.openxmlformats.org/drawingml/2006/table">
            <a:tbl>
              <a:tblPr/>
              <a:tblGrid>
                <a:gridCol w="1175208">
                  <a:extLst>
                    <a:ext uri="{9D8B030D-6E8A-4147-A177-3AD203B41FA5}">
                      <a16:colId xmlns:a16="http://schemas.microsoft.com/office/drawing/2014/main" val="3993428737"/>
                    </a:ext>
                  </a:extLst>
                </a:gridCol>
                <a:gridCol w="1351079">
                  <a:extLst>
                    <a:ext uri="{9D8B030D-6E8A-4147-A177-3AD203B41FA5}">
                      <a16:colId xmlns:a16="http://schemas.microsoft.com/office/drawing/2014/main" val="2161664515"/>
                    </a:ext>
                  </a:extLst>
                </a:gridCol>
                <a:gridCol w="1351079">
                  <a:extLst>
                    <a:ext uri="{9D8B030D-6E8A-4147-A177-3AD203B41FA5}">
                      <a16:colId xmlns:a16="http://schemas.microsoft.com/office/drawing/2014/main" val="81110010"/>
                    </a:ext>
                  </a:extLst>
                </a:gridCol>
              </a:tblGrid>
              <a:tr h="213360">
                <a:tc>
                  <a:txBody>
                    <a:bodyPr/>
                    <a:lstStyle/>
                    <a:p>
                      <a:pPr algn="ctr" fontAlgn="ct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zh-TW" altLang="en-US" sz="2000" b="0" i="0" u="none" strike="noStrike" dirty="0">
                          <a:solidFill>
                            <a:srgbClr val="000000"/>
                          </a:solidFill>
                          <a:effectLst/>
                          <a:latin typeface="微軟正黑體" panose="020B0604030504040204" pitchFamily="34" charset="-120"/>
                          <a:ea typeface="微軟正黑體" panose="020B0604030504040204" pitchFamily="34" charset="-120"/>
                        </a:rPr>
                        <a:t>統計量</a:t>
                      </a: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2000" b="0" i="0" u="none" strike="noStrike" dirty="0">
                          <a:solidFill>
                            <a:srgbClr val="000000"/>
                          </a:solidFill>
                          <a:effectLst/>
                          <a:latin typeface="微軟正黑體" panose="020B0604030504040204" pitchFamily="34" charset="-120"/>
                          <a:ea typeface="微軟正黑體" panose="020B0604030504040204" pitchFamily="34" charset="-120"/>
                        </a:rPr>
                        <a:t>p-value</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4200870"/>
                  </a:ext>
                </a:extLst>
              </a:tr>
              <a:tr h="220980">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T test</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-1.49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dirty="0">
                          <a:solidFill>
                            <a:srgbClr val="00B050"/>
                          </a:solidFill>
                          <a:latin typeface="微軟正黑體" panose="020B0604030504040204" pitchFamily="34" charset="-120"/>
                          <a:ea typeface="微軟正黑體" panose="020B0604030504040204" pitchFamily="34" charset="-120"/>
                        </a:rPr>
                        <a:t>0.089</a:t>
                      </a:r>
                      <a:endParaRPr lang="en-US" altLang="zh-TW" sz="2000" b="0" i="0" u="none" strike="noStrike" dirty="0">
                        <a:solidFill>
                          <a:srgbClr val="00B05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1513865"/>
                  </a:ext>
                </a:extLst>
              </a:tr>
              <a:tr h="220980">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Wilcoxon</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B050"/>
                          </a:solidFill>
                          <a:effectLst/>
                          <a:latin typeface="微軟正黑體" panose="020B0604030504040204" pitchFamily="34" charset="-120"/>
                          <a:ea typeface="微軟正黑體" panose="020B0604030504040204" pitchFamily="34" charset="-120"/>
                        </a:rPr>
                        <a:t>0.0078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5705361"/>
                  </a:ext>
                </a:extLst>
              </a:tr>
            </a:tbl>
          </a:graphicData>
        </a:graphic>
      </p:graphicFrame>
      <p:sp>
        <p:nvSpPr>
          <p:cNvPr id="8" name="文字方塊 7">
            <a:extLst>
              <a:ext uri="{FF2B5EF4-FFF2-40B4-BE49-F238E27FC236}">
                <a16:creationId xmlns:a16="http://schemas.microsoft.com/office/drawing/2014/main" id="{75C50B69-F66C-FEFB-5325-FDD1CF26EFAB}"/>
              </a:ext>
            </a:extLst>
          </p:cNvPr>
          <p:cNvSpPr txBox="1"/>
          <p:nvPr/>
        </p:nvSpPr>
        <p:spPr>
          <a:xfrm>
            <a:off x="9424463" y="3688484"/>
            <a:ext cx="1415772" cy="461665"/>
          </a:xfrm>
          <a:prstGeom prst="rect">
            <a:avLst/>
          </a:prstGeom>
          <a:noFill/>
        </p:spPr>
        <p:txBody>
          <a:bodyPr wrap="none" rtlCol="0">
            <a:spAutoFit/>
          </a:bodyPr>
          <a:lstStyle/>
          <a:p>
            <a:r>
              <a:rPr lang="zh-TW" altLang="en-US" sz="2400" b="1" dirty="0">
                <a:latin typeface="微軟正黑體" panose="020B0604030504040204" pitchFamily="34" charset="-120"/>
                <a:ea typeface="微軟正黑體" panose="020B0604030504040204" pitchFamily="34" charset="-120"/>
              </a:rPr>
              <a:t>檢定結果</a:t>
            </a:r>
          </a:p>
        </p:txBody>
      </p:sp>
    </p:spTree>
    <p:extLst>
      <p:ext uri="{BB962C8B-B14F-4D97-AF65-F5344CB8AC3E}">
        <p14:creationId xmlns:p14="http://schemas.microsoft.com/office/powerpoint/2010/main" val="1241776984"/>
      </p:ext>
    </p:extLst>
  </p:cSld>
  <p:clrMapOvr>
    <a:masterClrMapping/>
  </p:clrMapOvr>
  <mc:AlternateContent xmlns:mc="http://schemas.openxmlformats.org/markup-compatibility/2006" xmlns:p14="http://schemas.microsoft.com/office/powerpoint/2010/main">
    <mc:Choice Requires="p14">
      <p:transition spd="slow" p14:dur="1250" advClick="0">
        <p14:pan dir="u"/>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58536" y="107592"/>
            <a:ext cx="5928672" cy="9840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70"/>
            <a:endParaRPr lang="en-US">
              <a:solidFill>
                <a:prstClr val="white"/>
              </a:solidFill>
              <a:latin typeface="思源黑体 CN Medium" panose="020B0600000000000000" pitchFamily="34" charset="-122"/>
              <a:ea typeface="思源黑体 CN Medium" panose="020B0600000000000000" pitchFamily="34" charset="-122"/>
              <a:sym typeface="字魂59号-创粗黑" panose="00000500000000000000" pitchFamily="2" charset="-122"/>
            </a:endParaRPr>
          </a:p>
        </p:txBody>
      </p:sp>
      <p:pic>
        <p:nvPicPr>
          <p:cNvPr id="17" name="图片 16">
            <a:extLst>
              <a:ext uri="{FF2B5EF4-FFF2-40B4-BE49-F238E27FC236}">
                <a16:creationId xmlns:a16="http://schemas.microsoft.com/office/drawing/2014/main" id="{05E72798-6899-42A6-9FEE-703EF4EFCDB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86" b="100000" l="0" r="100000">
                        <a14:foregroundMark x1="82171" y1="51131" x2="59408" y2="50679"/>
                        <a14:backgroundMark x1="91473" y1="41991" x2="86047" y2="34299"/>
                        <a14:backgroundMark x1="91966" y1="54118" x2="88090" y2="67059"/>
                        <a14:backgroundMark x1="84426" y1="75023" x2="75405" y2="81719"/>
                        <a14:backgroundMark x1="77026" y1="32217" x2="73573" y2="31493"/>
                        <a14:backgroundMark x1="67583" y1="33575" x2="65257" y2="31312"/>
                      </a14:backgroundRemoval>
                    </a14:imgEffect>
                  </a14:imgLayer>
                </a14:imgProps>
              </a:ext>
              <a:ext uri="{28A0092B-C50C-407E-A947-70E740481C1C}">
                <a14:useLocalDpi xmlns:a14="http://schemas.microsoft.com/office/drawing/2010/main" val="0"/>
              </a:ext>
            </a:extLst>
          </a:blip>
          <a:stretch>
            <a:fillRect/>
          </a:stretch>
        </p:blipFill>
        <p:spPr>
          <a:xfrm rot="277819">
            <a:off x="-1366951" y="-490407"/>
            <a:ext cx="3108709" cy="2420806"/>
          </a:xfrm>
          <a:prstGeom prst="rect">
            <a:avLst/>
          </a:prstGeom>
        </p:spPr>
      </p:pic>
      <p:sp>
        <p:nvSpPr>
          <p:cNvPr id="2" name="矩形 1">
            <a:extLst>
              <a:ext uri="{FF2B5EF4-FFF2-40B4-BE49-F238E27FC236}">
                <a16:creationId xmlns:a16="http://schemas.microsoft.com/office/drawing/2014/main" id="{CDACD7A8-3A6E-4C27-9240-791E721F0C74}"/>
              </a:ext>
            </a:extLst>
          </p:cNvPr>
          <p:cNvSpPr/>
          <p:nvPr/>
        </p:nvSpPr>
        <p:spPr>
          <a:xfrm>
            <a:off x="1570514" y="337965"/>
            <a:ext cx="4764972" cy="548443"/>
          </a:xfrm>
          <a:prstGeom prst="rect">
            <a:avLst/>
          </a:prstGeom>
        </p:spPr>
        <p:txBody>
          <a:bodyPr wrap="none">
            <a:normAutofit/>
          </a:bodyPr>
          <a:lstStyle/>
          <a:p>
            <a:r>
              <a:rPr lang="en-US" altLang="zh-TW" sz="2800" dirty="0">
                <a:solidFill>
                  <a:prstClr val="black">
                    <a:lumMod val="75000"/>
                    <a:lumOff val="25000"/>
                  </a:prstClr>
                </a:solidFill>
                <a:latin typeface="Source Han Sans TC"/>
                <a:ea typeface="Source Han Sans TC"/>
                <a:sym typeface="字魂59号-创粗黑" panose="00000500000000000000" pitchFamily="2" charset="-122"/>
              </a:rPr>
              <a:t>Data analysis –</a:t>
            </a:r>
            <a:r>
              <a:rPr lang="zh-TW" altLang="en-US" sz="2800" dirty="0">
                <a:solidFill>
                  <a:srgbClr val="0070C0"/>
                </a:solidFill>
                <a:latin typeface="Source Han Sans TC"/>
                <a:sym typeface="字魂59号-创粗黑" panose="00000500000000000000" pitchFamily="2" charset="-122"/>
              </a:rPr>
              <a:t>便秘</a:t>
            </a:r>
            <a:r>
              <a:rPr lang="zh-TW" altLang="en-US" sz="2800" dirty="0">
                <a:solidFill>
                  <a:srgbClr val="0070C0"/>
                </a:solidFill>
                <a:latin typeface="Source Han Sans TC"/>
                <a:ea typeface="Source Han Sans TC"/>
                <a:sym typeface="字魂59号-创粗黑" panose="00000500000000000000" pitchFamily="2" charset="-122"/>
              </a:rPr>
              <a:t>患者</a:t>
            </a:r>
            <a:endParaRPr lang="en-US" altLang="zh-TW" sz="2800" dirty="0">
              <a:solidFill>
                <a:srgbClr val="0070C0"/>
              </a:solidFill>
              <a:latin typeface="Source Han Sans TC"/>
              <a:ea typeface="Source Han Sans TC"/>
              <a:sym typeface="字魂59号-创粗黑" panose="00000500000000000000" pitchFamily="2" charset="-122"/>
            </a:endParaRPr>
          </a:p>
          <a:p>
            <a:endParaRPr lang="en-US" altLang="zh-TW" sz="2800" b="1" dirty="0">
              <a:solidFill>
                <a:srgbClr val="0070C0"/>
              </a:solidFill>
              <a:latin typeface="微軟正黑體" panose="020B0604030504040204" pitchFamily="34" charset="-120"/>
              <a:ea typeface="微軟正黑體" panose="020B0604030504040204" pitchFamily="34" charset="-120"/>
              <a:cs typeface="Calibri" panose="020F0502020204030204" pitchFamily="34" charset="0"/>
            </a:endParaRPr>
          </a:p>
        </p:txBody>
      </p:sp>
      <p:sp>
        <p:nvSpPr>
          <p:cNvPr id="7" name="文字方塊 6">
            <a:extLst>
              <a:ext uri="{FF2B5EF4-FFF2-40B4-BE49-F238E27FC236}">
                <a16:creationId xmlns:a16="http://schemas.microsoft.com/office/drawing/2014/main" id="{F36FF8FF-6BA0-209F-2116-3F8DD34B989C}"/>
              </a:ext>
            </a:extLst>
          </p:cNvPr>
          <p:cNvSpPr txBox="1"/>
          <p:nvPr/>
        </p:nvSpPr>
        <p:spPr>
          <a:xfrm>
            <a:off x="1549000" y="992809"/>
            <a:ext cx="9977027" cy="1323439"/>
          </a:xfrm>
          <a:prstGeom prst="rect">
            <a:avLst/>
          </a:prstGeom>
          <a:noFill/>
        </p:spPr>
        <p:txBody>
          <a:bodyPr wrap="none" rtlCol="0">
            <a:spAutoFit/>
          </a:bodyPr>
          <a:lstStyle/>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我們使用前面提到的補值手法並進行檢定，發現不論是使用哪種手法，我們都顯著拒絕</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虛無假設，值得一提的是因為我們要先排除掉沒有前測數值的資料，因此最終我們只剩</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下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16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筆資料，再加上資料或許不是那麼符合常態假設，所以反而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Wilcoxon Rank Test </a:t>
            </a: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比起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T test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更顯著拒絕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H0</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6" name="文字方塊 5">
            <a:extLst>
              <a:ext uri="{FF2B5EF4-FFF2-40B4-BE49-F238E27FC236}">
                <a16:creationId xmlns:a16="http://schemas.microsoft.com/office/drawing/2014/main" id="{5B7A2F85-465C-21AB-9763-6E24399FF4E0}"/>
              </a:ext>
            </a:extLst>
          </p:cNvPr>
          <p:cNvSpPr txBox="1"/>
          <p:nvPr/>
        </p:nvSpPr>
        <p:spPr>
          <a:xfrm>
            <a:off x="1570514" y="2720974"/>
            <a:ext cx="1723549" cy="461665"/>
          </a:xfrm>
          <a:prstGeom prst="rect">
            <a:avLst/>
          </a:prstGeom>
          <a:noFill/>
        </p:spPr>
        <p:txBody>
          <a:bodyPr wrap="none" rtlCol="0">
            <a:spAutoFit/>
          </a:bodyPr>
          <a:lstStyle/>
          <a:p>
            <a:r>
              <a:rPr lang="zh-TW" altLang="en-US" sz="2400" b="1" dirty="0">
                <a:latin typeface="微軟正黑體" panose="020B0604030504040204" pitchFamily="34" charset="-120"/>
                <a:ea typeface="微軟正黑體" panose="020B0604030504040204" pitchFamily="34" charset="-120"/>
              </a:rPr>
              <a:t>部分預測值</a:t>
            </a:r>
          </a:p>
        </p:txBody>
      </p:sp>
      <p:graphicFrame>
        <p:nvGraphicFramePr>
          <p:cNvPr id="9" name="表格 8">
            <a:extLst>
              <a:ext uri="{FF2B5EF4-FFF2-40B4-BE49-F238E27FC236}">
                <a16:creationId xmlns:a16="http://schemas.microsoft.com/office/drawing/2014/main" id="{2B05BD72-464E-7C45-734A-A15DFA5253F4}"/>
              </a:ext>
            </a:extLst>
          </p:cNvPr>
          <p:cNvGraphicFramePr>
            <a:graphicFrameLocks noGrp="1"/>
          </p:cNvGraphicFramePr>
          <p:nvPr>
            <p:extLst>
              <p:ext uri="{D42A27DB-BD31-4B8C-83A1-F6EECF244321}">
                <p14:modId xmlns:p14="http://schemas.microsoft.com/office/powerpoint/2010/main" val="3444992817"/>
              </p:ext>
            </p:extLst>
          </p:nvPr>
        </p:nvGraphicFramePr>
        <p:xfrm>
          <a:off x="6317028" y="3191512"/>
          <a:ext cx="4195483" cy="966767"/>
        </p:xfrm>
        <a:graphic>
          <a:graphicData uri="http://schemas.openxmlformats.org/drawingml/2006/table">
            <a:tbl>
              <a:tblPr/>
              <a:tblGrid>
                <a:gridCol w="1271627">
                  <a:extLst>
                    <a:ext uri="{9D8B030D-6E8A-4147-A177-3AD203B41FA5}">
                      <a16:colId xmlns:a16="http://schemas.microsoft.com/office/drawing/2014/main" val="3993428737"/>
                    </a:ext>
                  </a:extLst>
                </a:gridCol>
                <a:gridCol w="1461928">
                  <a:extLst>
                    <a:ext uri="{9D8B030D-6E8A-4147-A177-3AD203B41FA5}">
                      <a16:colId xmlns:a16="http://schemas.microsoft.com/office/drawing/2014/main" val="2161664515"/>
                    </a:ext>
                  </a:extLst>
                </a:gridCol>
                <a:gridCol w="1461928">
                  <a:extLst>
                    <a:ext uri="{9D8B030D-6E8A-4147-A177-3AD203B41FA5}">
                      <a16:colId xmlns:a16="http://schemas.microsoft.com/office/drawing/2014/main" val="81110010"/>
                    </a:ext>
                  </a:extLst>
                </a:gridCol>
              </a:tblGrid>
              <a:tr h="213360">
                <a:tc>
                  <a:txBody>
                    <a:bodyPr/>
                    <a:lstStyle/>
                    <a:p>
                      <a:pPr algn="ctr" fontAlgn="ct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zh-TW" altLang="en-US" sz="2000" b="0" i="0" u="none" strike="noStrike" dirty="0">
                          <a:solidFill>
                            <a:srgbClr val="000000"/>
                          </a:solidFill>
                          <a:effectLst/>
                          <a:latin typeface="微軟正黑體" panose="020B0604030504040204" pitchFamily="34" charset="-120"/>
                          <a:ea typeface="微軟正黑體" panose="020B0604030504040204" pitchFamily="34" charset="-120"/>
                        </a:rPr>
                        <a:t>統計量</a:t>
                      </a: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2000" b="0" i="0" u="none" strike="noStrike" dirty="0">
                          <a:solidFill>
                            <a:srgbClr val="000000"/>
                          </a:solidFill>
                          <a:effectLst/>
                          <a:latin typeface="微軟正黑體" panose="020B0604030504040204" pitchFamily="34" charset="-120"/>
                          <a:ea typeface="微軟正黑體" panose="020B0604030504040204" pitchFamily="34" charset="-120"/>
                        </a:rPr>
                        <a:t>p-value</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4200870"/>
                  </a:ext>
                </a:extLst>
              </a:tr>
              <a:tr h="341927">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T test</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-3.01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kern="1200" dirty="0">
                          <a:solidFill>
                            <a:srgbClr val="00B050"/>
                          </a:solidFill>
                          <a:latin typeface="微軟正黑體" panose="020B0604030504040204" pitchFamily="34" charset="-120"/>
                          <a:ea typeface="微軟正黑體" panose="020B0604030504040204" pitchFamily="34" charset="-120"/>
                          <a:cs typeface="+mn-cs"/>
                        </a:rPr>
                        <a:t>0.004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1513865"/>
                  </a:ext>
                </a:extLst>
              </a:tr>
              <a:tr h="220980">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Wilcoxon</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kern="1200" dirty="0">
                          <a:solidFill>
                            <a:srgbClr val="00B050"/>
                          </a:solidFill>
                          <a:latin typeface="微軟正黑體" panose="020B0604030504040204" pitchFamily="34" charset="-120"/>
                          <a:ea typeface="微軟正黑體" panose="020B0604030504040204" pitchFamily="34" charset="-120"/>
                          <a:cs typeface="+mn-cs"/>
                        </a:rPr>
                        <a:t>7.63e-05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5705361"/>
                  </a:ext>
                </a:extLst>
              </a:tr>
            </a:tbl>
          </a:graphicData>
        </a:graphic>
      </p:graphicFrame>
      <p:sp>
        <p:nvSpPr>
          <p:cNvPr id="10" name="文字方塊 9">
            <a:extLst>
              <a:ext uri="{FF2B5EF4-FFF2-40B4-BE49-F238E27FC236}">
                <a16:creationId xmlns:a16="http://schemas.microsoft.com/office/drawing/2014/main" id="{3871BFE2-7923-9502-5AB0-071C2E990588}"/>
              </a:ext>
            </a:extLst>
          </p:cNvPr>
          <p:cNvSpPr txBox="1"/>
          <p:nvPr/>
        </p:nvSpPr>
        <p:spPr>
          <a:xfrm>
            <a:off x="5581751" y="2423359"/>
            <a:ext cx="5666038" cy="461665"/>
          </a:xfrm>
          <a:prstGeom prst="rect">
            <a:avLst/>
          </a:prstGeom>
          <a:noFill/>
        </p:spPr>
        <p:txBody>
          <a:bodyPr wrap="none" rtlCol="0">
            <a:spAutoFit/>
          </a:bodyPr>
          <a:lstStyle/>
          <a:p>
            <a:r>
              <a:rPr lang="zh-TW" altLang="en-US" sz="2400" b="1" dirty="0">
                <a:latin typeface="微軟正黑體" panose="020B0604030504040204" pitchFamily="34" charset="-120"/>
                <a:ea typeface="微軟正黑體" panose="020B0604030504040204" pitchFamily="34" charset="-120"/>
              </a:rPr>
              <a:t>檢定結果 </a:t>
            </a:r>
            <a:r>
              <a:rPr lang="en-US" altLang="zh-TW" sz="2400" b="1" dirty="0">
                <a:latin typeface="微軟正黑體" panose="020B0604030504040204" pitchFamily="34" charset="-120"/>
                <a:ea typeface="微軟正黑體" panose="020B0604030504040204" pitchFamily="34" charset="-120"/>
              </a:rPr>
              <a:t>(Bayesian Ridge Regression)</a:t>
            </a:r>
          </a:p>
        </p:txBody>
      </p:sp>
      <p:sp>
        <p:nvSpPr>
          <p:cNvPr id="11" name="文字方塊 10">
            <a:extLst>
              <a:ext uri="{FF2B5EF4-FFF2-40B4-BE49-F238E27FC236}">
                <a16:creationId xmlns:a16="http://schemas.microsoft.com/office/drawing/2014/main" id="{5ABABF25-AA30-1453-8224-A4821EBCA46C}"/>
              </a:ext>
            </a:extLst>
          </p:cNvPr>
          <p:cNvSpPr txBox="1"/>
          <p:nvPr/>
        </p:nvSpPr>
        <p:spPr>
          <a:xfrm>
            <a:off x="5581751" y="4510793"/>
            <a:ext cx="5343899" cy="461665"/>
          </a:xfrm>
          <a:prstGeom prst="rect">
            <a:avLst/>
          </a:prstGeom>
          <a:noFill/>
        </p:spPr>
        <p:txBody>
          <a:bodyPr wrap="none" rtlCol="0">
            <a:spAutoFit/>
          </a:bodyPr>
          <a:lstStyle/>
          <a:p>
            <a:r>
              <a:rPr lang="zh-TW" altLang="en-US" sz="2400" b="1" dirty="0">
                <a:latin typeface="微軟正黑體" panose="020B0604030504040204" pitchFamily="34" charset="-120"/>
                <a:ea typeface="微軟正黑體" panose="020B0604030504040204" pitchFamily="34" charset="-120"/>
              </a:rPr>
              <a:t>檢定結果 </a:t>
            </a:r>
            <a:r>
              <a:rPr lang="en-US" altLang="zh-TW" sz="2400" b="1" dirty="0">
                <a:latin typeface="微軟正黑體" panose="020B0604030504040204" pitchFamily="34" charset="-120"/>
                <a:ea typeface="微軟正黑體" panose="020B0604030504040204" pitchFamily="34" charset="-120"/>
              </a:rPr>
              <a:t>(Simple linear Regression)</a:t>
            </a:r>
          </a:p>
        </p:txBody>
      </p:sp>
      <p:graphicFrame>
        <p:nvGraphicFramePr>
          <p:cNvPr id="14" name="表格 13">
            <a:extLst>
              <a:ext uri="{FF2B5EF4-FFF2-40B4-BE49-F238E27FC236}">
                <a16:creationId xmlns:a16="http://schemas.microsoft.com/office/drawing/2014/main" id="{A83664AA-CFF1-D13C-3631-1DC482852CEC}"/>
              </a:ext>
            </a:extLst>
          </p:cNvPr>
          <p:cNvGraphicFramePr>
            <a:graphicFrameLocks noGrp="1"/>
          </p:cNvGraphicFramePr>
          <p:nvPr>
            <p:extLst>
              <p:ext uri="{D42A27DB-BD31-4B8C-83A1-F6EECF244321}">
                <p14:modId xmlns:p14="http://schemas.microsoft.com/office/powerpoint/2010/main" val="197252227"/>
              </p:ext>
            </p:extLst>
          </p:nvPr>
        </p:nvGraphicFramePr>
        <p:xfrm>
          <a:off x="6317027" y="5399548"/>
          <a:ext cx="4195483" cy="937260"/>
        </p:xfrm>
        <a:graphic>
          <a:graphicData uri="http://schemas.openxmlformats.org/drawingml/2006/table">
            <a:tbl>
              <a:tblPr/>
              <a:tblGrid>
                <a:gridCol w="1271627">
                  <a:extLst>
                    <a:ext uri="{9D8B030D-6E8A-4147-A177-3AD203B41FA5}">
                      <a16:colId xmlns:a16="http://schemas.microsoft.com/office/drawing/2014/main" val="3993428737"/>
                    </a:ext>
                  </a:extLst>
                </a:gridCol>
                <a:gridCol w="1461928">
                  <a:extLst>
                    <a:ext uri="{9D8B030D-6E8A-4147-A177-3AD203B41FA5}">
                      <a16:colId xmlns:a16="http://schemas.microsoft.com/office/drawing/2014/main" val="2161664515"/>
                    </a:ext>
                  </a:extLst>
                </a:gridCol>
                <a:gridCol w="1461928">
                  <a:extLst>
                    <a:ext uri="{9D8B030D-6E8A-4147-A177-3AD203B41FA5}">
                      <a16:colId xmlns:a16="http://schemas.microsoft.com/office/drawing/2014/main" val="81110010"/>
                    </a:ext>
                  </a:extLst>
                </a:gridCol>
              </a:tblGrid>
              <a:tr h="250659">
                <a:tc>
                  <a:txBody>
                    <a:bodyPr/>
                    <a:lstStyle/>
                    <a:p>
                      <a:pPr algn="ctr" fontAlgn="ct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zh-TW" altLang="en-US" sz="2000" b="0" i="0" u="none" strike="noStrike" dirty="0">
                          <a:solidFill>
                            <a:srgbClr val="000000"/>
                          </a:solidFill>
                          <a:effectLst/>
                          <a:latin typeface="微軟正黑體" panose="020B0604030504040204" pitchFamily="34" charset="-120"/>
                          <a:ea typeface="微軟正黑體" panose="020B0604030504040204" pitchFamily="34" charset="-120"/>
                        </a:rPr>
                        <a:t>統計量</a:t>
                      </a: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2000" b="0" i="0" u="none" strike="noStrike" dirty="0">
                          <a:solidFill>
                            <a:srgbClr val="000000"/>
                          </a:solidFill>
                          <a:effectLst/>
                          <a:latin typeface="微軟正黑體" panose="020B0604030504040204" pitchFamily="34" charset="-120"/>
                          <a:ea typeface="微軟正黑體" panose="020B0604030504040204" pitchFamily="34" charset="-120"/>
                        </a:rPr>
                        <a:t>p-value</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4200870"/>
                  </a:ext>
                </a:extLst>
              </a:tr>
              <a:tr h="220980">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T test</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-2.82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kern="1200" dirty="0">
                          <a:solidFill>
                            <a:srgbClr val="00B050"/>
                          </a:solidFill>
                          <a:latin typeface="微軟正黑體" panose="020B0604030504040204" pitchFamily="34" charset="-120"/>
                          <a:ea typeface="微軟正黑體" panose="020B0604030504040204" pitchFamily="34" charset="-120"/>
                          <a:cs typeface="+mn-cs"/>
                        </a:rPr>
                        <a:t>0.0065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1513865"/>
                  </a:ext>
                </a:extLst>
              </a:tr>
              <a:tr h="220980">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Wilcoxon</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kern="1200" dirty="0">
                          <a:solidFill>
                            <a:srgbClr val="00B050"/>
                          </a:solidFill>
                          <a:latin typeface="微軟正黑體" panose="020B0604030504040204" pitchFamily="34" charset="-120"/>
                          <a:ea typeface="微軟正黑體" panose="020B0604030504040204" pitchFamily="34" charset="-120"/>
                          <a:cs typeface="+mn-cs"/>
                        </a:rPr>
                        <a:t>3.05e-05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5705361"/>
                  </a:ext>
                </a:extLst>
              </a:tr>
            </a:tbl>
          </a:graphicData>
        </a:graphic>
      </p:graphicFrame>
      <p:graphicFrame>
        <p:nvGraphicFramePr>
          <p:cNvPr id="5" name="表格 4">
            <a:extLst>
              <a:ext uri="{FF2B5EF4-FFF2-40B4-BE49-F238E27FC236}">
                <a16:creationId xmlns:a16="http://schemas.microsoft.com/office/drawing/2014/main" id="{2811A4DD-3196-6F78-6545-AFE976D9C4E7}"/>
              </a:ext>
            </a:extLst>
          </p:cNvPr>
          <p:cNvGraphicFramePr>
            <a:graphicFrameLocks noGrp="1"/>
          </p:cNvGraphicFramePr>
          <p:nvPr>
            <p:extLst>
              <p:ext uri="{D42A27DB-BD31-4B8C-83A1-F6EECF244321}">
                <p14:modId xmlns:p14="http://schemas.microsoft.com/office/powerpoint/2010/main" val="1071743033"/>
              </p:ext>
            </p:extLst>
          </p:nvPr>
        </p:nvGraphicFramePr>
        <p:xfrm>
          <a:off x="794565" y="3510135"/>
          <a:ext cx="3626829" cy="3009900"/>
        </p:xfrm>
        <a:graphic>
          <a:graphicData uri="http://schemas.openxmlformats.org/drawingml/2006/table">
            <a:tbl>
              <a:tblPr/>
              <a:tblGrid>
                <a:gridCol w="719609">
                  <a:extLst>
                    <a:ext uri="{9D8B030D-6E8A-4147-A177-3AD203B41FA5}">
                      <a16:colId xmlns:a16="http://schemas.microsoft.com/office/drawing/2014/main" val="2308458833"/>
                    </a:ext>
                  </a:extLst>
                </a:gridCol>
                <a:gridCol w="820354">
                  <a:extLst>
                    <a:ext uri="{9D8B030D-6E8A-4147-A177-3AD203B41FA5}">
                      <a16:colId xmlns:a16="http://schemas.microsoft.com/office/drawing/2014/main" val="12725514"/>
                    </a:ext>
                  </a:extLst>
                </a:gridCol>
                <a:gridCol w="1050629">
                  <a:extLst>
                    <a:ext uri="{9D8B030D-6E8A-4147-A177-3AD203B41FA5}">
                      <a16:colId xmlns:a16="http://schemas.microsoft.com/office/drawing/2014/main" val="1616214365"/>
                    </a:ext>
                  </a:extLst>
                </a:gridCol>
                <a:gridCol w="1036237">
                  <a:extLst>
                    <a:ext uri="{9D8B030D-6E8A-4147-A177-3AD203B41FA5}">
                      <a16:colId xmlns:a16="http://schemas.microsoft.com/office/drawing/2014/main" val="2958420482"/>
                    </a:ext>
                  </a:extLst>
                </a:gridCol>
              </a:tblGrid>
              <a:tr h="411480">
                <a:tc>
                  <a:txBody>
                    <a:bodyPr/>
                    <a:lstStyle/>
                    <a:p>
                      <a:pPr marL="0" algn="ctr" defTabSz="1219170" rtl="0" eaLnBrk="1" fontAlgn="ctr" latinLnBrk="0" hangingPunct="1"/>
                      <a:r>
                        <a:rPr lang="en-US" sz="1600" b="0" i="0" u="none" strike="noStrike" kern="12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PreTest</a:t>
                      </a:r>
                      <a:endPar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1219170" rtl="0" eaLnBrk="1" fontAlgn="ctr" latinLnBrk="0" hangingPunct="1"/>
                      <a:r>
                        <a:rPr lang="en-US" sz="1600" b="0" i="0" u="none" strike="noStrike" kern="12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PostTest</a:t>
                      </a:r>
                      <a:endPar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1219170" rtl="0" eaLnBrk="1" fontAlgn="ctr" latinLnBrk="0" hangingPunct="1"/>
                      <a:r>
                        <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Imputation</a:t>
                      </a:r>
                      <a:br>
                        <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(Bayesian)</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1219170" rtl="0" eaLnBrk="1" fontAlgn="ctr" latinLnBrk="0" hangingPunct="1"/>
                      <a:r>
                        <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Imputation</a:t>
                      </a:r>
                      <a:br>
                        <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(Simple LR)</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582113283"/>
                  </a:ext>
                </a:extLst>
              </a:tr>
              <a:tr h="20574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62.1</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zh-TW" altLang="en-US" sz="1600" b="0" i="0" u="none" strike="noStrike" kern="1200">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97.781432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113.497512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32958581"/>
                  </a:ext>
                </a:extLst>
              </a:tr>
              <a:tr h="20574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4.8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7.3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7.3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7.3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26168012"/>
                  </a:ext>
                </a:extLst>
              </a:tr>
              <a:tr h="20574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27.2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zh-TW" altLang="en-US" sz="1600" b="0" i="0" u="none" strike="noStrike" kern="1200" dirty="0">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57.159321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47.837813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30361147"/>
                  </a:ext>
                </a:extLst>
              </a:tr>
              <a:tr h="20574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72.1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141.6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141.6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141.6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35103680"/>
                  </a:ext>
                </a:extLst>
              </a:tr>
              <a:tr h="20574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4.5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7.4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7.4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7.4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11054718"/>
                  </a:ext>
                </a:extLst>
              </a:tr>
              <a:tr h="20574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33.8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37.3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37.3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37.3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1390743"/>
                  </a:ext>
                </a:extLst>
              </a:tr>
              <a:tr h="20574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10.9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zh-TW" altLang="en-US" sz="1600" b="0" i="0" u="none" strike="noStrike" kern="1200">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14.630149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17.171535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83085949"/>
                  </a:ext>
                </a:extLst>
              </a:tr>
              <a:tr h="20574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12.8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12.8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12.8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03835822"/>
                  </a:ext>
                </a:extLst>
              </a:tr>
              <a:tr h="20574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13.4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zh-TW" altLang="en-US" sz="1600" b="0" i="0" u="none" strike="noStrike" kern="1200">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11.98878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21.874952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12058721"/>
                  </a:ext>
                </a:extLst>
              </a:tr>
              <a:tr h="20574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6.6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zh-TW" altLang="en-US" sz="1600" b="0" i="0" u="none" strike="noStrike" kern="1200">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23.889884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9.081658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39446907"/>
                  </a:ext>
                </a:extLst>
              </a:tr>
            </a:tbl>
          </a:graphicData>
        </a:graphic>
      </p:graphicFrame>
    </p:spTree>
    <p:extLst>
      <p:ext uri="{BB962C8B-B14F-4D97-AF65-F5344CB8AC3E}">
        <p14:creationId xmlns:p14="http://schemas.microsoft.com/office/powerpoint/2010/main" val="3992701729"/>
      </p:ext>
    </p:extLst>
  </p:cSld>
  <p:clrMapOvr>
    <a:masterClrMapping/>
  </p:clrMapOvr>
  <mc:AlternateContent xmlns:mc="http://schemas.openxmlformats.org/markup-compatibility/2006" xmlns:p14="http://schemas.microsoft.com/office/powerpoint/2010/main">
    <mc:Choice Requires="p14">
      <p:transition spd="slow" p14:dur="1250" advClick="0">
        <p14:pan dir="u"/>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58536" y="107592"/>
            <a:ext cx="5928672" cy="9840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70"/>
            <a:endParaRPr lang="en-US">
              <a:solidFill>
                <a:prstClr val="white"/>
              </a:solidFill>
              <a:latin typeface="思源黑体 CN Medium" panose="020B0600000000000000" pitchFamily="34" charset="-122"/>
              <a:ea typeface="思源黑体 CN Medium" panose="020B0600000000000000" pitchFamily="34" charset="-122"/>
              <a:sym typeface="字魂59号-创粗黑" panose="00000500000000000000" pitchFamily="2" charset="-122"/>
            </a:endParaRPr>
          </a:p>
        </p:txBody>
      </p:sp>
      <p:pic>
        <p:nvPicPr>
          <p:cNvPr id="17" name="图片 16">
            <a:extLst>
              <a:ext uri="{FF2B5EF4-FFF2-40B4-BE49-F238E27FC236}">
                <a16:creationId xmlns:a16="http://schemas.microsoft.com/office/drawing/2014/main" id="{05E72798-6899-42A6-9FEE-703EF4EFCDB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86" b="100000" l="0" r="100000">
                        <a14:foregroundMark x1="82171" y1="51131" x2="59408" y2="50679"/>
                        <a14:backgroundMark x1="91473" y1="41991" x2="86047" y2="34299"/>
                        <a14:backgroundMark x1="91966" y1="54118" x2="88090" y2="67059"/>
                        <a14:backgroundMark x1="84426" y1="75023" x2="75405" y2="81719"/>
                        <a14:backgroundMark x1="77026" y1="32217" x2="73573" y2="31493"/>
                        <a14:backgroundMark x1="67583" y1="33575" x2="65257" y2="31312"/>
                      </a14:backgroundRemoval>
                    </a14:imgEffect>
                  </a14:imgLayer>
                </a14:imgProps>
              </a:ext>
              <a:ext uri="{28A0092B-C50C-407E-A947-70E740481C1C}">
                <a14:useLocalDpi xmlns:a14="http://schemas.microsoft.com/office/drawing/2010/main" val="0"/>
              </a:ext>
            </a:extLst>
          </a:blip>
          <a:stretch>
            <a:fillRect/>
          </a:stretch>
        </p:blipFill>
        <p:spPr>
          <a:xfrm rot="277819">
            <a:off x="-1366951" y="-490407"/>
            <a:ext cx="3108709" cy="2420806"/>
          </a:xfrm>
          <a:prstGeom prst="rect">
            <a:avLst/>
          </a:prstGeom>
        </p:spPr>
      </p:pic>
      <p:sp>
        <p:nvSpPr>
          <p:cNvPr id="2" name="矩形 1">
            <a:extLst>
              <a:ext uri="{FF2B5EF4-FFF2-40B4-BE49-F238E27FC236}">
                <a16:creationId xmlns:a16="http://schemas.microsoft.com/office/drawing/2014/main" id="{CDACD7A8-3A6E-4C27-9240-791E721F0C74}"/>
              </a:ext>
            </a:extLst>
          </p:cNvPr>
          <p:cNvSpPr/>
          <p:nvPr/>
        </p:nvSpPr>
        <p:spPr>
          <a:xfrm>
            <a:off x="1570514" y="337965"/>
            <a:ext cx="4764972" cy="548443"/>
          </a:xfrm>
          <a:prstGeom prst="rect">
            <a:avLst/>
          </a:prstGeom>
        </p:spPr>
        <p:txBody>
          <a:bodyPr wrap="none">
            <a:normAutofit/>
          </a:bodyPr>
          <a:lstStyle/>
          <a:p>
            <a:r>
              <a:rPr lang="en-US" altLang="zh-TW" sz="2800" dirty="0">
                <a:solidFill>
                  <a:prstClr val="black">
                    <a:lumMod val="75000"/>
                    <a:lumOff val="25000"/>
                  </a:prstClr>
                </a:solidFill>
                <a:latin typeface="Source Han Sans TC"/>
                <a:ea typeface="Source Han Sans TC"/>
                <a:sym typeface="字魂59号-创粗黑" panose="00000500000000000000" pitchFamily="2" charset="-122"/>
              </a:rPr>
              <a:t>Data analysis –</a:t>
            </a:r>
            <a:r>
              <a:rPr lang="zh-TW" altLang="en-US" sz="2800" dirty="0">
                <a:solidFill>
                  <a:srgbClr val="0070C0"/>
                </a:solidFill>
                <a:latin typeface="Source Han Sans TC"/>
                <a:sym typeface="字魂59号-创粗黑" panose="00000500000000000000" pitchFamily="2" charset="-122"/>
              </a:rPr>
              <a:t>便秘</a:t>
            </a:r>
            <a:r>
              <a:rPr lang="zh-TW" altLang="en-US" sz="2800" dirty="0">
                <a:solidFill>
                  <a:srgbClr val="0070C0"/>
                </a:solidFill>
                <a:latin typeface="Source Han Sans TC"/>
                <a:ea typeface="Source Han Sans TC"/>
                <a:sym typeface="字魂59号-创粗黑" panose="00000500000000000000" pitchFamily="2" charset="-122"/>
              </a:rPr>
              <a:t>患者</a:t>
            </a:r>
            <a:endParaRPr lang="en-US" altLang="zh-TW" sz="2800" dirty="0">
              <a:solidFill>
                <a:srgbClr val="0070C0"/>
              </a:solidFill>
              <a:latin typeface="Source Han Sans TC"/>
              <a:ea typeface="Source Han Sans TC"/>
              <a:sym typeface="字魂59号-创粗黑" panose="00000500000000000000" pitchFamily="2" charset="-122"/>
            </a:endParaRPr>
          </a:p>
          <a:p>
            <a:endParaRPr lang="en-US" altLang="zh-TW" sz="2800" b="1" dirty="0">
              <a:solidFill>
                <a:srgbClr val="0070C0"/>
              </a:solidFill>
              <a:latin typeface="微軟正黑體" panose="020B0604030504040204" pitchFamily="34" charset="-120"/>
              <a:ea typeface="微軟正黑體" panose="020B0604030504040204" pitchFamily="34" charset="-120"/>
              <a:cs typeface="Calibri" panose="020F0502020204030204" pitchFamily="34" charset="0"/>
            </a:endParaRPr>
          </a:p>
        </p:txBody>
      </p:sp>
      <p:sp>
        <p:nvSpPr>
          <p:cNvPr id="7" name="文字方塊 6">
            <a:extLst>
              <a:ext uri="{FF2B5EF4-FFF2-40B4-BE49-F238E27FC236}">
                <a16:creationId xmlns:a16="http://schemas.microsoft.com/office/drawing/2014/main" id="{F36FF8FF-6BA0-209F-2116-3F8DD34B989C}"/>
              </a:ext>
            </a:extLst>
          </p:cNvPr>
          <p:cNvSpPr txBox="1"/>
          <p:nvPr/>
        </p:nvSpPr>
        <p:spPr>
          <a:xfrm>
            <a:off x="1549000" y="992809"/>
            <a:ext cx="10675871" cy="1938992"/>
          </a:xfrm>
          <a:prstGeom prst="rect">
            <a:avLst/>
          </a:prstGeom>
          <a:noFill/>
        </p:spPr>
        <p:txBody>
          <a:bodyPr wrap="none" rtlCol="0">
            <a:spAutoFit/>
          </a:bodyPr>
          <a:lstStyle/>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根據前面的檢定結果，我們知道最大值與基準值之間的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pre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跟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post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有顯著的差異，因此我們</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想了解，是否在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pre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跟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post data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上，最大值平均而言差不多，但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post data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的基準值下降，</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表示患者更懂得放鬆，但實際上分析出來的結果並不如預期，最大的原因在於即使是同一個</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患者，在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pre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跟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post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的資料收集上，很可能因為機台、當天的身體狀況等等因素，導致基準</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值跟最大值都有明顯的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drift</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，因此直接比較基準值跟最大值的數值可能會有所偏誤，</a:t>
            </a:r>
            <a:r>
              <a:rPr lang="zh-TW" altLang="en-US" sz="2000" b="1" dirty="0">
                <a:solidFill>
                  <a:schemeClr val="accent2">
                    <a:lumMod val="75000"/>
                  </a:schemeClr>
                </a:solidFill>
                <a:latin typeface="微軟正黑體" panose="020B0604030504040204" pitchFamily="34" charset="-120"/>
                <a:ea typeface="微軟正黑體" panose="020B0604030504040204" pitchFamily="34" charset="-120"/>
              </a:rPr>
              <a:t>除非我</a:t>
            </a:r>
            <a:endParaRPr lang="en-US" altLang="zh-TW" sz="2000" b="1" dirty="0">
              <a:solidFill>
                <a:schemeClr val="accent2">
                  <a:lumMod val="75000"/>
                </a:schemeClr>
              </a:solidFill>
              <a:latin typeface="微軟正黑體" panose="020B0604030504040204" pitchFamily="34" charset="-120"/>
              <a:ea typeface="微軟正黑體" panose="020B0604030504040204" pitchFamily="34" charset="-120"/>
            </a:endParaRPr>
          </a:p>
          <a:p>
            <a:r>
              <a:rPr lang="zh-TW" altLang="en-US" sz="2000" b="1" dirty="0">
                <a:solidFill>
                  <a:schemeClr val="accent2">
                    <a:lumMod val="75000"/>
                  </a:schemeClr>
                </a:solidFill>
                <a:latin typeface="微軟正黑體" panose="020B0604030504040204" pitchFamily="34" charset="-120"/>
                <a:ea typeface="微軟正黑體" panose="020B0604030504040204" pitchFamily="34" charset="-120"/>
              </a:rPr>
              <a:t>們可以針對該 </a:t>
            </a:r>
            <a:r>
              <a:rPr lang="en-US" altLang="zh-TW" sz="2000" b="1" dirty="0">
                <a:solidFill>
                  <a:schemeClr val="accent2">
                    <a:lumMod val="75000"/>
                  </a:schemeClr>
                </a:solidFill>
                <a:latin typeface="微軟正黑體" panose="020B0604030504040204" pitchFamily="34" charset="-120"/>
                <a:ea typeface="微軟正黑體" panose="020B0604030504040204" pitchFamily="34" charset="-120"/>
              </a:rPr>
              <a:t>drift </a:t>
            </a:r>
            <a:r>
              <a:rPr lang="zh-TW" altLang="en-US" sz="2000" b="1" dirty="0">
                <a:solidFill>
                  <a:schemeClr val="accent2">
                    <a:lumMod val="75000"/>
                  </a:schemeClr>
                </a:solidFill>
                <a:latin typeface="微軟正黑體" panose="020B0604030504040204" pitchFamily="34" charset="-120"/>
                <a:ea typeface="微軟正黑體" panose="020B0604030504040204" pitchFamily="34" charset="-120"/>
              </a:rPr>
              <a:t>進行修正，才有其比較的意義。</a:t>
            </a:r>
            <a:endParaRPr lang="en-US" altLang="zh-TW" sz="2000" b="1" dirty="0">
              <a:solidFill>
                <a:schemeClr val="accent2">
                  <a:lumMod val="75000"/>
                </a:schemeClr>
              </a:solidFill>
              <a:latin typeface="微軟正黑體" panose="020B0604030504040204" pitchFamily="34" charset="-120"/>
              <a:ea typeface="微軟正黑體" panose="020B0604030504040204" pitchFamily="34" charset="-120"/>
            </a:endParaRPr>
          </a:p>
        </p:txBody>
      </p:sp>
      <p:pic>
        <p:nvPicPr>
          <p:cNvPr id="3" name="圖片 2">
            <a:extLst>
              <a:ext uri="{FF2B5EF4-FFF2-40B4-BE49-F238E27FC236}">
                <a16:creationId xmlns:a16="http://schemas.microsoft.com/office/drawing/2014/main" id="{6CEC55FF-B1FF-4BFB-88D3-B14FE220777E}"/>
              </a:ext>
            </a:extLst>
          </p:cNvPr>
          <p:cNvPicPr>
            <a:picLocks noChangeAspect="1"/>
          </p:cNvPicPr>
          <p:nvPr/>
        </p:nvPicPr>
        <p:blipFill>
          <a:blip r:embed="rId5"/>
          <a:stretch>
            <a:fillRect/>
          </a:stretch>
        </p:blipFill>
        <p:spPr>
          <a:xfrm>
            <a:off x="6872515" y="2951243"/>
            <a:ext cx="4765542" cy="3701805"/>
          </a:xfrm>
          <a:prstGeom prst="rect">
            <a:avLst/>
          </a:prstGeom>
          <a:ln>
            <a:solidFill>
              <a:schemeClr val="tx1"/>
            </a:solidFill>
          </a:ln>
        </p:spPr>
      </p:pic>
      <p:pic>
        <p:nvPicPr>
          <p:cNvPr id="1028" name="Picture 4">
            <a:extLst>
              <a:ext uri="{FF2B5EF4-FFF2-40B4-BE49-F238E27FC236}">
                <a16:creationId xmlns:a16="http://schemas.microsoft.com/office/drawing/2014/main" id="{EF866FA3-84E6-7232-9AE1-C827C75AC0C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58535" y="2951243"/>
            <a:ext cx="4600831" cy="370180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6281414"/>
      </p:ext>
    </p:extLst>
  </p:cSld>
  <p:clrMapOvr>
    <a:masterClrMapping/>
  </p:clrMapOvr>
  <mc:AlternateContent xmlns:mc="http://schemas.openxmlformats.org/markup-compatibility/2006" xmlns:p14="http://schemas.microsoft.com/office/powerpoint/2010/main">
    <mc:Choice Requires="p14">
      <p:transition spd="slow" p14:dur="1250" advClick="0">
        <p14:pan dir="u"/>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58536" y="107592"/>
            <a:ext cx="5928672" cy="9840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70"/>
            <a:endParaRPr lang="en-US">
              <a:solidFill>
                <a:prstClr val="white"/>
              </a:solidFill>
              <a:latin typeface="思源黑体 CN Medium" panose="020B0600000000000000" pitchFamily="34" charset="-122"/>
              <a:ea typeface="思源黑体 CN Medium" panose="020B0600000000000000" pitchFamily="34" charset="-122"/>
              <a:sym typeface="字魂59号-创粗黑" panose="00000500000000000000" pitchFamily="2" charset="-122"/>
            </a:endParaRPr>
          </a:p>
        </p:txBody>
      </p:sp>
      <p:pic>
        <p:nvPicPr>
          <p:cNvPr id="17" name="图片 16">
            <a:extLst>
              <a:ext uri="{FF2B5EF4-FFF2-40B4-BE49-F238E27FC236}">
                <a16:creationId xmlns:a16="http://schemas.microsoft.com/office/drawing/2014/main" id="{05E72798-6899-42A6-9FEE-703EF4EFCDB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86" b="100000" l="0" r="100000">
                        <a14:foregroundMark x1="82171" y1="51131" x2="59408" y2="50679"/>
                        <a14:backgroundMark x1="91473" y1="41991" x2="86047" y2="34299"/>
                        <a14:backgroundMark x1="91966" y1="54118" x2="88090" y2="67059"/>
                        <a14:backgroundMark x1="84426" y1="75023" x2="75405" y2="81719"/>
                        <a14:backgroundMark x1="77026" y1="32217" x2="73573" y2="31493"/>
                        <a14:backgroundMark x1="67583" y1="33575" x2="65257" y2="31312"/>
                      </a14:backgroundRemoval>
                    </a14:imgEffect>
                  </a14:imgLayer>
                </a14:imgProps>
              </a:ext>
              <a:ext uri="{28A0092B-C50C-407E-A947-70E740481C1C}">
                <a14:useLocalDpi xmlns:a14="http://schemas.microsoft.com/office/drawing/2010/main" val="0"/>
              </a:ext>
            </a:extLst>
          </a:blip>
          <a:stretch>
            <a:fillRect/>
          </a:stretch>
        </p:blipFill>
        <p:spPr>
          <a:xfrm rot="277819">
            <a:off x="-1366951" y="-490407"/>
            <a:ext cx="3108709" cy="2420806"/>
          </a:xfrm>
          <a:prstGeom prst="rect">
            <a:avLst/>
          </a:prstGeom>
        </p:spPr>
      </p:pic>
      <p:sp>
        <p:nvSpPr>
          <p:cNvPr id="2" name="矩形 1">
            <a:extLst>
              <a:ext uri="{FF2B5EF4-FFF2-40B4-BE49-F238E27FC236}">
                <a16:creationId xmlns:a16="http://schemas.microsoft.com/office/drawing/2014/main" id="{CDACD7A8-3A6E-4C27-9240-791E721F0C74}"/>
              </a:ext>
            </a:extLst>
          </p:cNvPr>
          <p:cNvSpPr/>
          <p:nvPr/>
        </p:nvSpPr>
        <p:spPr>
          <a:xfrm>
            <a:off x="1570514" y="337965"/>
            <a:ext cx="4764972" cy="548443"/>
          </a:xfrm>
          <a:prstGeom prst="rect">
            <a:avLst/>
          </a:prstGeom>
        </p:spPr>
        <p:txBody>
          <a:bodyPr wrap="none">
            <a:normAutofit/>
          </a:bodyPr>
          <a:lstStyle/>
          <a:p>
            <a:r>
              <a:rPr lang="en-US" altLang="zh-TW" sz="2800" dirty="0">
                <a:solidFill>
                  <a:prstClr val="black">
                    <a:lumMod val="75000"/>
                    <a:lumOff val="25000"/>
                  </a:prstClr>
                </a:solidFill>
                <a:latin typeface="Source Han Sans TC"/>
                <a:ea typeface="Source Han Sans TC"/>
                <a:sym typeface="字魂59号-创粗黑" panose="00000500000000000000" pitchFamily="2" charset="-122"/>
              </a:rPr>
              <a:t>Data analysis –</a:t>
            </a:r>
            <a:r>
              <a:rPr lang="zh-TW" altLang="en-US" sz="2800" dirty="0">
                <a:solidFill>
                  <a:srgbClr val="0070C0"/>
                </a:solidFill>
                <a:latin typeface="Source Han Sans TC"/>
                <a:sym typeface="字魂59号-创粗黑" panose="00000500000000000000" pitchFamily="2" charset="-122"/>
              </a:rPr>
              <a:t>便秘</a:t>
            </a:r>
            <a:r>
              <a:rPr lang="zh-TW" altLang="en-US" sz="2800" dirty="0">
                <a:solidFill>
                  <a:srgbClr val="0070C0"/>
                </a:solidFill>
                <a:latin typeface="Source Han Sans TC"/>
                <a:ea typeface="Source Han Sans TC"/>
                <a:sym typeface="字魂59号-创粗黑" panose="00000500000000000000" pitchFamily="2" charset="-122"/>
              </a:rPr>
              <a:t>患者</a:t>
            </a:r>
            <a:endParaRPr lang="en-US" altLang="zh-TW" sz="2800" dirty="0">
              <a:solidFill>
                <a:srgbClr val="0070C0"/>
              </a:solidFill>
              <a:latin typeface="Source Han Sans TC"/>
              <a:ea typeface="Source Han Sans TC"/>
              <a:sym typeface="字魂59号-创粗黑" panose="00000500000000000000" pitchFamily="2" charset="-122"/>
            </a:endParaRPr>
          </a:p>
          <a:p>
            <a:endParaRPr lang="en-US" altLang="zh-TW" sz="2800" b="1" dirty="0">
              <a:solidFill>
                <a:srgbClr val="0070C0"/>
              </a:solidFill>
              <a:latin typeface="微軟正黑體" panose="020B0604030504040204" pitchFamily="34" charset="-120"/>
              <a:ea typeface="微軟正黑體" panose="020B0604030504040204" pitchFamily="34" charset="-120"/>
              <a:cs typeface="Calibri" panose="020F0502020204030204" pitchFamily="34" charset="0"/>
            </a:endParaRPr>
          </a:p>
        </p:txBody>
      </p:sp>
      <p:sp>
        <p:nvSpPr>
          <p:cNvPr id="7" name="文字方塊 6">
            <a:extLst>
              <a:ext uri="{FF2B5EF4-FFF2-40B4-BE49-F238E27FC236}">
                <a16:creationId xmlns:a16="http://schemas.microsoft.com/office/drawing/2014/main" id="{F36FF8FF-6BA0-209F-2116-3F8DD34B989C}"/>
              </a:ext>
            </a:extLst>
          </p:cNvPr>
          <p:cNvSpPr txBox="1"/>
          <p:nvPr/>
        </p:nvSpPr>
        <p:spPr>
          <a:xfrm>
            <a:off x="1549000" y="992809"/>
            <a:ext cx="9417963" cy="1631216"/>
          </a:xfrm>
          <a:prstGeom prst="rect">
            <a:avLst/>
          </a:prstGeom>
          <a:noFill/>
        </p:spPr>
        <p:txBody>
          <a:bodyPr wrap="none" rtlCol="0">
            <a:spAutoFit/>
          </a:bodyPr>
          <a:lstStyle/>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但我們還是可以將前後測的</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基值</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與</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最大值</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進行檢定來檢查是否真的是不顯著。</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對於基值，我們希望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post base</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 會顯著小於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pre base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表示患者懂得放鬆，因此為</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右尾檢定。而最大值我們則是希望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pre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跟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post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不要有太大的差異。從以下的結果</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我們可以得到跟前一張盒鬚圖相似的結論，基準值在前後測並沒有顯著的下降，且</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最大值也沒有顯著的差異。</a:t>
            </a:r>
            <a:endParaRPr lang="en-US" altLang="zh-TW" sz="2000" dirty="0">
              <a:solidFill>
                <a:schemeClr val="accent2">
                  <a:lumMod val="75000"/>
                </a:schemeClr>
              </a:solidFill>
              <a:latin typeface="微軟正黑體" panose="020B0604030504040204" pitchFamily="34" charset="-120"/>
              <a:ea typeface="微軟正黑體" panose="020B0604030504040204" pitchFamily="34" charset="-120"/>
            </a:endParaRPr>
          </a:p>
        </p:txBody>
      </p:sp>
      <p:graphicFrame>
        <p:nvGraphicFramePr>
          <p:cNvPr id="5" name="表格 4">
            <a:extLst>
              <a:ext uri="{FF2B5EF4-FFF2-40B4-BE49-F238E27FC236}">
                <a16:creationId xmlns:a16="http://schemas.microsoft.com/office/drawing/2014/main" id="{96A105B1-595A-D357-B1E8-2E6A57341A68}"/>
              </a:ext>
            </a:extLst>
          </p:cNvPr>
          <p:cNvGraphicFramePr>
            <a:graphicFrameLocks noGrp="1"/>
          </p:cNvGraphicFramePr>
          <p:nvPr>
            <p:extLst>
              <p:ext uri="{D42A27DB-BD31-4B8C-83A1-F6EECF244321}">
                <p14:modId xmlns:p14="http://schemas.microsoft.com/office/powerpoint/2010/main" val="3451291463"/>
              </p:ext>
            </p:extLst>
          </p:nvPr>
        </p:nvGraphicFramePr>
        <p:xfrm>
          <a:off x="4078323" y="3429000"/>
          <a:ext cx="4195483" cy="966767"/>
        </p:xfrm>
        <a:graphic>
          <a:graphicData uri="http://schemas.openxmlformats.org/drawingml/2006/table">
            <a:tbl>
              <a:tblPr/>
              <a:tblGrid>
                <a:gridCol w="1271627">
                  <a:extLst>
                    <a:ext uri="{9D8B030D-6E8A-4147-A177-3AD203B41FA5}">
                      <a16:colId xmlns:a16="http://schemas.microsoft.com/office/drawing/2014/main" val="3993428737"/>
                    </a:ext>
                  </a:extLst>
                </a:gridCol>
                <a:gridCol w="1461928">
                  <a:extLst>
                    <a:ext uri="{9D8B030D-6E8A-4147-A177-3AD203B41FA5}">
                      <a16:colId xmlns:a16="http://schemas.microsoft.com/office/drawing/2014/main" val="2161664515"/>
                    </a:ext>
                  </a:extLst>
                </a:gridCol>
                <a:gridCol w="1461928">
                  <a:extLst>
                    <a:ext uri="{9D8B030D-6E8A-4147-A177-3AD203B41FA5}">
                      <a16:colId xmlns:a16="http://schemas.microsoft.com/office/drawing/2014/main" val="81110010"/>
                    </a:ext>
                  </a:extLst>
                </a:gridCol>
              </a:tblGrid>
              <a:tr h="213360">
                <a:tc>
                  <a:txBody>
                    <a:bodyPr/>
                    <a:lstStyle/>
                    <a:p>
                      <a:pPr algn="ctr" fontAlgn="ct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zh-TW" altLang="en-US" sz="2000" b="0" i="0" u="none" strike="noStrike" dirty="0">
                          <a:solidFill>
                            <a:srgbClr val="000000"/>
                          </a:solidFill>
                          <a:effectLst/>
                          <a:latin typeface="微軟正黑體" panose="020B0604030504040204" pitchFamily="34" charset="-120"/>
                          <a:ea typeface="微軟正黑體" panose="020B0604030504040204" pitchFamily="34" charset="-120"/>
                        </a:rPr>
                        <a:t>統計量</a:t>
                      </a: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2000" b="0" i="0" u="none" strike="noStrike" dirty="0">
                          <a:solidFill>
                            <a:srgbClr val="000000"/>
                          </a:solidFill>
                          <a:effectLst/>
                          <a:latin typeface="微軟正黑體" panose="020B0604030504040204" pitchFamily="34" charset="-120"/>
                          <a:ea typeface="微軟正黑體" panose="020B0604030504040204" pitchFamily="34" charset="-120"/>
                        </a:rPr>
                        <a:t>p-value</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4200870"/>
                  </a:ext>
                </a:extLst>
              </a:tr>
              <a:tr h="341927">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T test</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0.067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kern="1200" dirty="0">
                          <a:solidFill>
                            <a:srgbClr val="FF0000"/>
                          </a:solidFill>
                          <a:latin typeface="微軟正黑體" panose="020B0604030504040204" pitchFamily="34" charset="-120"/>
                          <a:ea typeface="微軟正黑體" panose="020B0604030504040204" pitchFamily="34" charset="-120"/>
                          <a:cs typeface="+mn-cs"/>
                        </a:rPr>
                        <a:t>0.474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1513865"/>
                  </a:ext>
                </a:extLst>
              </a:tr>
              <a:tr h="220980">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Wilcoxon</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10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kern="1200" dirty="0">
                          <a:solidFill>
                            <a:srgbClr val="FF0000"/>
                          </a:solidFill>
                          <a:latin typeface="微軟正黑體" panose="020B0604030504040204" pitchFamily="34" charset="-120"/>
                          <a:ea typeface="微軟正黑體" panose="020B0604030504040204" pitchFamily="34" charset="-120"/>
                          <a:cs typeface="+mn-cs"/>
                        </a:rPr>
                        <a:t>0.875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5705361"/>
                  </a:ext>
                </a:extLst>
              </a:tr>
            </a:tbl>
          </a:graphicData>
        </a:graphic>
      </p:graphicFrame>
      <p:sp>
        <p:nvSpPr>
          <p:cNvPr id="6" name="文字方塊 5">
            <a:extLst>
              <a:ext uri="{FF2B5EF4-FFF2-40B4-BE49-F238E27FC236}">
                <a16:creationId xmlns:a16="http://schemas.microsoft.com/office/drawing/2014/main" id="{D81D54FA-27CA-5B29-7816-F50647C2B683}"/>
              </a:ext>
            </a:extLst>
          </p:cNvPr>
          <p:cNvSpPr txBox="1"/>
          <p:nvPr/>
        </p:nvSpPr>
        <p:spPr>
          <a:xfrm>
            <a:off x="4246936" y="2639186"/>
            <a:ext cx="3857146" cy="461665"/>
          </a:xfrm>
          <a:prstGeom prst="rect">
            <a:avLst/>
          </a:prstGeom>
          <a:noFill/>
        </p:spPr>
        <p:txBody>
          <a:bodyPr wrap="none" rtlCol="0">
            <a:spAutoFit/>
          </a:bodyPr>
          <a:lstStyle/>
          <a:p>
            <a:r>
              <a:rPr lang="zh-TW" altLang="en-US" sz="2400" b="1" dirty="0">
                <a:latin typeface="微軟正黑體" panose="020B0604030504040204" pitchFamily="34" charset="-120"/>
                <a:ea typeface="微軟正黑體" panose="020B0604030504040204" pitchFamily="34" charset="-120"/>
              </a:rPr>
              <a:t>基準值檢定結果 </a:t>
            </a:r>
            <a:r>
              <a:rPr lang="en-US" altLang="zh-TW" sz="2400" b="1" dirty="0">
                <a:latin typeface="微軟正黑體" panose="020B0604030504040204" pitchFamily="34" charset="-120"/>
                <a:ea typeface="微軟正黑體" panose="020B0604030504040204" pitchFamily="34" charset="-120"/>
              </a:rPr>
              <a:t>– </a:t>
            </a:r>
            <a:r>
              <a:rPr lang="zh-TW" altLang="en-US" sz="2400" b="1" dirty="0">
                <a:latin typeface="微軟正黑體" panose="020B0604030504040204" pitchFamily="34" charset="-120"/>
                <a:ea typeface="微軟正黑體" panose="020B0604030504040204" pitchFamily="34" charset="-120"/>
              </a:rPr>
              <a:t>右尾檢定</a:t>
            </a:r>
            <a:endParaRPr lang="en-US" altLang="zh-TW" sz="2400" b="1" dirty="0">
              <a:latin typeface="微軟正黑體" panose="020B0604030504040204" pitchFamily="34" charset="-120"/>
              <a:ea typeface="微軟正黑體" panose="020B0604030504040204" pitchFamily="34" charset="-120"/>
            </a:endParaRPr>
          </a:p>
        </p:txBody>
      </p:sp>
      <p:sp>
        <p:nvSpPr>
          <p:cNvPr id="8" name="文字方塊 7">
            <a:extLst>
              <a:ext uri="{FF2B5EF4-FFF2-40B4-BE49-F238E27FC236}">
                <a16:creationId xmlns:a16="http://schemas.microsoft.com/office/drawing/2014/main" id="{2E9DF9AD-A5FA-7724-8327-31C639059A41}"/>
              </a:ext>
            </a:extLst>
          </p:cNvPr>
          <p:cNvSpPr txBox="1"/>
          <p:nvPr/>
        </p:nvSpPr>
        <p:spPr>
          <a:xfrm>
            <a:off x="4234158" y="4804910"/>
            <a:ext cx="3857146" cy="461665"/>
          </a:xfrm>
          <a:prstGeom prst="rect">
            <a:avLst/>
          </a:prstGeom>
          <a:noFill/>
        </p:spPr>
        <p:txBody>
          <a:bodyPr wrap="none" rtlCol="0">
            <a:spAutoFit/>
          </a:bodyPr>
          <a:lstStyle/>
          <a:p>
            <a:r>
              <a:rPr lang="zh-TW" altLang="en-US" sz="2400" b="1" dirty="0">
                <a:latin typeface="微軟正黑體" panose="020B0604030504040204" pitchFamily="34" charset="-120"/>
                <a:ea typeface="微軟正黑體" panose="020B0604030504040204" pitchFamily="34" charset="-120"/>
              </a:rPr>
              <a:t>最大值檢定結果 </a:t>
            </a:r>
            <a:r>
              <a:rPr lang="en-US" altLang="zh-TW" sz="2400" b="1" dirty="0">
                <a:latin typeface="微軟正黑體" panose="020B0604030504040204" pitchFamily="34" charset="-120"/>
                <a:ea typeface="微軟正黑體" panose="020B0604030504040204" pitchFamily="34" charset="-120"/>
              </a:rPr>
              <a:t>– </a:t>
            </a:r>
            <a:r>
              <a:rPr lang="zh-TW" altLang="en-US" sz="2400" b="1" dirty="0">
                <a:latin typeface="微軟正黑體" panose="020B0604030504040204" pitchFamily="34" charset="-120"/>
                <a:ea typeface="微軟正黑體" panose="020B0604030504040204" pitchFamily="34" charset="-120"/>
              </a:rPr>
              <a:t>雙尾檢定</a:t>
            </a:r>
            <a:endParaRPr lang="en-US" altLang="zh-TW" sz="2400" b="1" dirty="0">
              <a:latin typeface="微軟正黑體" panose="020B0604030504040204" pitchFamily="34" charset="-120"/>
              <a:ea typeface="微軟正黑體" panose="020B0604030504040204" pitchFamily="34" charset="-120"/>
            </a:endParaRPr>
          </a:p>
        </p:txBody>
      </p:sp>
      <p:graphicFrame>
        <p:nvGraphicFramePr>
          <p:cNvPr id="9" name="表格 8">
            <a:extLst>
              <a:ext uri="{FF2B5EF4-FFF2-40B4-BE49-F238E27FC236}">
                <a16:creationId xmlns:a16="http://schemas.microsoft.com/office/drawing/2014/main" id="{1040B3B6-41D6-0CE7-ECEA-5986B092475B}"/>
              </a:ext>
            </a:extLst>
          </p:cNvPr>
          <p:cNvGraphicFramePr>
            <a:graphicFrameLocks noGrp="1"/>
          </p:cNvGraphicFramePr>
          <p:nvPr>
            <p:extLst>
              <p:ext uri="{D42A27DB-BD31-4B8C-83A1-F6EECF244321}">
                <p14:modId xmlns:p14="http://schemas.microsoft.com/office/powerpoint/2010/main" val="175863320"/>
              </p:ext>
            </p:extLst>
          </p:nvPr>
        </p:nvGraphicFramePr>
        <p:xfrm>
          <a:off x="4078323" y="5582775"/>
          <a:ext cx="4195483" cy="937260"/>
        </p:xfrm>
        <a:graphic>
          <a:graphicData uri="http://schemas.openxmlformats.org/drawingml/2006/table">
            <a:tbl>
              <a:tblPr/>
              <a:tblGrid>
                <a:gridCol w="1271627">
                  <a:extLst>
                    <a:ext uri="{9D8B030D-6E8A-4147-A177-3AD203B41FA5}">
                      <a16:colId xmlns:a16="http://schemas.microsoft.com/office/drawing/2014/main" val="3993428737"/>
                    </a:ext>
                  </a:extLst>
                </a:gridCol>
                <a:gridCol w="1461928">
                  <a:extLst>
                    <a:ext uri="{9D8B030D-6E8A-4147-A177-3AD203B41FA5}">
                      <a16:colId xmlns:a16="http://schemas.microsoft.com/office/drawing/2014/main" val="2161664515"/>
                    </a:ext>
                  </a:extLst>
                </a:gridCol>
                <a:gridCol w="1461928">
                  <a:extLst>
                    <a:ext uri="{9D8B030D-6E8A-4147-A177-3AD203B41FA5}">
                      <a16:colId xmlns:a16="http://schemas.microsoft.com/office/drawing/2014/main" val="81110010"/>
                    </a:ext>
                  </a:extLst>
                </a:gridCol>
              </a:tblGrid>
              <a:tr h="250659">
                <a:tc>
                  <a:txBody>
                    <a:bodyPr/>
                    <a:lstStyle/>
                    <a:p>
                      <a:pPr algn="ctr" fontAlgn="ct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zh-TW" altLang="en-US" sz="2000" b="0" i="0" u="none" strike="noStrike" dirty="0">
                          <a:solidFill>
                            <a:srgbClr val="000000"/>
                          </a:solidFill>
                          <a:effectLst/>
                          <a:latin typeface="微軟正黑體" panose="020B0604030504040204" pitchFamily="34" charset="-120"/>
                          <a:ea typeface="微軟正黑體" panose="020B0604030504040204" pitchFamily="34" charset="-120"/>
                        </a:rPr>
                        <a:t>統計量</a:t>
                      </a: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2000" b="0" i="0" u="none" strike="noStrike" dirty="0">
                          <a:solidFill>
                            <a:srgbClr val="000000"/>
                          </a:solidFill>
                          <a:effectLst/>
                          <a:latin typeface="微軟正黑體" panose="020B0604030504040204" pitchFamily="34" charset="-120"/>
                          <a:ea typeface="微軟正黑體" panose="020B0604030504040204" pitchFamily="34" charset="-120"/>
                        </a:rPr>
                        <a:t>p-value</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4200870"/>
                  </a:ext>
                </a:extLst>
              </a:tr>
              <a:tr h="220980">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T test</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-0.54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kern="1200" dirty="0">
                          <a:solidFill>
                            <a:srgbClr val="FF0000"/>
                          </a:solidFill>
                          <a:latin typeface="微軟正黑體" panose="020B0604030504040204" pitchFamily="34" charset="-120"/>
                          <a:ea typeface="微軟正黑體" panose="020B0604030504040204" pitchFamily="34" charset="-120"/>
                          <a:cs typeface="+mn-cs"/>
                        </a:rPr>
                        <a:t>0.606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1513865"/>
                  </a:ext>
                </a:extLst>
              </a:tr>
              <a:tr h="220980">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Wilcoxon</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kern="1200" dirty="0">
                          <a:solidFill>
                            <a:srgbClr val="FF0000"/>
                          </a:solidFill>
                          <a:latin typeface="微軟正黑體" panose="020B0604030504040204" pitchFamily="34" charset="-120"/>
                          <a:ea typeface="微軟正黑體" panose="020B0604030504040204" pitchFamily="34" charset="-120"/>
                          <a:cs typeface="+mn-cs"/>
                        </a:rPr>
                        <a:t>0.195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5705361"/>
                  </a:ext>
                </a:extLst>
              </a:tr>
            </a:tbl>
          </a:graphicData>
        </a:graphic>
      </p:graphicFrame>
    </p:spTree>
    <p:extLst>
      <p:ext uri="{BB962C8B-B14F-4D97-AF65-F5344CB8AC3E}">
        <p14:creationId xmlns:p14="http://schemas.microsoft.com/office/powerpoint/2010/main" val="300389389"/>
      </p:ext>
    </p:extLst>
  </p:cSld>
  <p:clrMapOvr>
    <a:masterClrMapping/>
  </p:clrMapOvr>
  <mc:AlternateContent xmlns:mc="http://schemas.openxmlformats.org/markup-compatibility/2006" xmlns:p14="http://schemas.microsoft.com/office/powerpoint/2010/main">
    <mc:Choice Requires="p14">
      <p:transition spd="slow" p14:dur="1250" advClick="0">
        <p14:pan dir="u"/>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58536" y="107592"/>
            <a:ext cx="5928672" cy="9840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70"/>
            <a:endParaRPr lang="en-US">
              <a:solidFill>
                <a:prstClr val="white"/>
              </a:solidFill>
              <a:latin typeface="思源黑体 CN Medium" panose="020B0600000000000000" pitchFamily="34" charset="-122"/>
              <a:ea typeface="思源黑体 CN Medium" panose="020B0600000000000000" pitchFamily="34" charset="-122"/>
              <a:sym typeface="字魂59号-创粗黑" panose="00000500000000000000" pitchFamily="2" charset="-122"/>
            </a:endParaRPr>
          </a:p>
        </p:txBody>
      </p:sp>
      <p:pic>
        <p:nvPicPr>
          <p:cNvPr id="17" name="图片 16">
            <a:extLst>
              <a:ext uri="{FF2B5EF4-FFF2-40B4-BE49-F238E27FC236}">
                <a16:creationId xmlns:a16="http://schemas.microsoft.com/office/drawing/2014/main" id="{05E72798-6899-42A6-9FEE-703EF4EFCDB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86" b="100000" l="0" r="100000">
                        <a14:foregroundMark x1="82171" y1="51131" x2="59408" y2="50679"/>
                        <a14:backgroundMark x1="91473" y1="41991" x2="86047" y2="34299"/>
                        <a14:backgroundMark x1="91966" y1="54118" x2="88090" y2="67059"/>
                        <a14:backgroundMark x1="84426" y1="75023" x2="75405" y2="81719"/>
                        <a14:backgroundMark x1="77026" y1="32217" x2="73573" y2="31493"/>
                        <a14:backgroundMark x1="67583" y1="33575" x2="65257" y2="31312"/>
                      </a14:backgroundRemoval>
                    </a14:imgEffect>
                  </a14:imgLayer>
                </a14:imgProps>
              </a:ext>
              <a:ext uri="{28A0092B-C50C-407E-A947-70E740481C1C}">
                <a14:useLocalDpi xmlns:a14="http://schemas.microsoft.com/office/drawing/2010/main" val="0"/>
              </a:ext>
            </a:extLst>
          </a:blip>
          <a:stretch>
            <a:fillRect/>
          </a:stretch>
        </p:blipFill>
        <p:spPr>
          <a:xfrm rot="277819">
            <a:off x="-1366951" y="-490407"/>
            <a:ext cx="3108709" cy="2420806"/>
          </a:xfrm>
          <a:prstGeom prst="rect">
            <a:avLst/>
          </a:prstGeom>
        </p:spPr>
      </p:pic>
      <p:sp>
        <p:nvSpPr>
          <p:cNvPr id="2" name="矩形 1">
            <a:extLst>
              <a:ext uri="{FF2B5EF4-FFF2-40B4-BE49-F238E27FC236}">
                <a16:creationId xmlns:a16="http://schemas.microsoft.com/office/drawing/2014/main" id="{CDACD7A8-3A6E-4C27-9240-791E721F0C74}"/>
              </a:ext>
            </a:extLst>
          </p:cNvPr>
          <p:cNvSpPr/>
          <p:nvPr/>
        </p:nvSpPr>
        <p:spPr>
          <a:xfrm>
            <a:off x="1570514" y="337965"/>
            <a:ext cx="4764972" cy="548443"/>
          </a:xfrm>
          <a:prstGeom prst="rect">
            <a:avLst/>
          </a:prstGeom>
        </p:spPr>
        <p:txBody>
          <a:bodyPr wrap="none">
            <a:normAutofit/>
          </a:bodyPr>
          <a:lstStyle/>
          <a:p>
            <a:r>
              <a:rPr lang="en-US" altLang="zh-TW" sz="2800" dirty="0">
                <a:solidFill>
                  <a:prstClr val="black">
                    <a:lumMod val="75000"/>
                    <a:lumOff val="25000"/>
                  </a:prstClr>
                </a:solidFill>
                <a:latin typeface="Source Han Sans TC"/>
                <a:ea typeface="Source Han Sans TC"/>
                <a:sym typeface="字魂59号-创粗黑" panose="00000500000000000000" pitchFamily="2" charset="-122"/>
              </a:rPr>
              <a:t>Data analysis –</a:t>
            </a:r>
            <a:r>
              <a:rPr lang="zh-TW" altLang="en-US" sz="2800" dirty="0">
                <a:solidFill>
                  <a:srgbClr val="0070C0"/>
                </a:solidFill>
                <a:latin typeface="Source Han Sans TC"/>
                <a:sym typeface="字魂59号-创粗黑" panose="00000500000000000000" pitchFamily="2" charset="-122"/>
              </a:rPr>
              <a:t>便秘</a:t>
            </a:r>
            <a:r>
              <a:rPr lang="zh-TW" altLang="en-US" sz="2800" dirty="0">
                <a:solidFill>
                  <a:srgbClr val="0070C0"/>
                </a:solidFill>
                <a:latin typeface="Source Han Sans TC"/>
                <a:ea typeface="Source Han Sans TC"/>
                <a:sym typeface="字魂59号-创粗黑" panose="00000500000000000000" pitchFamily="2" charset="-122"/>
              </a:rPr>
              <a:t>患者</a:t>
            </a:r>
            <a:endParaRPr lang="en-US" altLang="zh-TW" sz="2800" dirty="0">
              <a:solidFill>
                <a:srgbClr val="0070C0"/>
              </a:solidFill>
              <a:latin typeface="Source Han Sans TC"/>
              <a:ea typeface="Source Han Sans TC"/>
              <a:sym typeface="字魂59号-创粗黑" panose="00000500000000000000" pitchFamily="2" charset="-122"/>
            </a:endParaRPr>
          </a:p>
          <a:p>
            <a:endParaRPr lang="en-US" altLang="zh-TW" sz="2800" b="1" dirty="0">
              <a:solidFill>
                <a:srgbClr val="0070C0"/>
              </a:solidFill>
              <a:latin typeface="微軟正黑體" panose="020B0604030504040204" pitchFamily="34" charset="-120"/>
              <a:ea typeface="微軟正黑體" panose="020B0604030504040204" pitchFamily="34" charset="-120"/>
              <a:cs typeface="Calibri" panose="020F0502020204030204" pitchFamily="34" charset="0"/>
            </a:endParaRPr>
          </a:p>
        </p:txBody>
      </p:sp>
      <p:sp>
        <p:nvSpPr>
          <p:cNvPr id="7" name="文字方塊 6">
            <a:extLst>
              <a:ext uri="{FF2B5EF4-FFF2-40B4-BE49-F238E27FC236}">
                <a16:creationId xmlns:a16="http://schemas.microsoft.com/office/drawing/2014/main" id="{F36FF8FF-6BA0-209F-2116-3F8DD34B989C}"/>
              </a:ext>
            </a:extLst>
          </p:cNvPr>
          <p:cNvSpPr txBox="1"/>
          <p:nvPr/>
        </p:nvSpPr>
        <p:spPr>
          <a:xfrm>
            <a:off x="1549000" y="992809"/>
            <a:ext cx="9710351" cy="1015663"/>
          </a:xfrm>
          <a:prstGeom prst="rect">
            <a:avLst/>
          </a:prstGeom>
          <a:noFill/>
        </p:spPr>
        <p:txBody>
          <a:bodyPr wrap="none" rtlCol="0">
            <a:spAutoFit/>
          </a:bodyPr>
          <a:lstStyle/>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即使如此我們還是可以透過患者在治療前後的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resting tone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來判別該患者是否有真的</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改善，但因為資料缺失的關係，在便祕患者的資料中我們只有一筆完整的資料有前後</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的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resting tone</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，而該筆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resting tone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確實也有改善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從分數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4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下降到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3)</a:t>
            </a:r>
            <a:endParaRPr lang="en-US" altLang="zh-TW" sz="2000" dirty="0">
              <a:solidFill>
                <a:schemeClr val="accent2">
                  <a:lumMod val="75000"/>
                </a:schemeClr>
              </a:solidFill>
              <a:latin typeface="微軟正黑體" panose="020B0604030504040204" pitchFamily="34" charset="-120"/>
              <a:ea typeface="微軟正黑體" panose="020B0604030504040204" pitchFamily="34" charset="-120"/>
            </a:endParaRPr>
          </a:p>
        </p:txBody>
      </p:sp>
      <p:pic>
        <p:nvPicPr>
          <p:cNvPr id="10" name="圖片 9">
            <a:extLst>
              <a:ext uri="{FF2B5EF4-FFF2-40B4-BE49-F238E27FC236}">
                <a16:creationId xmlns:a16="http://schemas.microsoft.com/office/drawing/2014/main" id="{00D32FB7-DFBF-D727-BA6D-7AACC58E602E}"/>
              </a:ext>
            </a:extLst>
          </p:cNvPr>
          <p:cNvPicPr>
            <a:picLocks noChangeAspect="1"/>
          </p:cNvPicPr>
          <p:nvPr/>
        </p:nvPicPr>
        <p:blipFill>
          <a:blip r:embed="rId5"/>
          <a:stretch>
            <a:fillRect/>
          </a:stretch>
        </p:blipFill>
        <p:spPr>
          <a:xfrm>
            <a:off x="2237365" y="2439409"/>
            <a:ext cx="7897669" cy="548873"/>
          </a:xfrm>
          <a:prstGeom prst="rect">
            <a:avLst/>
          </a:prstGeom>
          <a:ln>
            <a:solidFill>
              <a:schemeClr val="tx1"/>
            </a:solidFill>
          </a:ln>
        </p:spPr>
      </p:pic>
      <p:sp>
        <p:nvSpPr>
          <p:cNvPr id="11" name="文字方塊 10">
            <a:extLst>
              <a:ext uri="{FF2B5EF4-FFF2-40B4-BE49-F238E27FC236}">
                <a16:creationId xmlns:a16="http://schemas.microsoft.com/office/drawing/2014/main" id="{F0556E6A-E859-97ED-90C4-DFB88B1F1654}"/>
              </a:ext>
            </a:extLst>
          </p:cNvPr>
          <p:cNvSpPr txBox="1"/>
          <p:nvPr/>
        </p:nvSpPr>
        <p:spPr>
          <a:xfrm>
            <a:off x="1358536" y="3226136"/>
            <a:ext cx="10187404" cy="1015663"/>
          </a:xfrm>
          <a:prstGeom prst="rect">
            <a:avLst/>
          </a:prstGeom>
          <a:noFill/>
        </p:spPr>
        <p:txBody>
          <a:bodyPr wrap="none" rtlCol="0">
            <a:spAutoFit/>
          </a:bodyPr>
          <a:lstStyle/>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且該筆資料在主觀資料的前後測上也呈現分數下降，表示患者主觀感受到有改善，最後</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該患者在客觀資料上也呈現出在接受治療前後之最大值與基準值之差異有顯著提升，表示</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患者更懂得如何控制肛門。</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13" name="圖片 12">
            <a:extLst>
              <a:ext uri="{FF2B5EF4-FFF2-40B4-BE49-F238E27FC236}">
                <a16:creationId xmlns:a16="http://schemas.microsoft.com/office/drawing/2014/main" id="{662E8779-7368-A025-4AF0-6C1A67E81631}"/>
              </a:ext>
            </a:extLst>
          </p:cNvPr>
          <p:cNvPicPr>
            <a:picLocks noChangeAspect="1"/>
          </p:cNvPicPr>
          <p:nvPr/>
        </p:nvPicPr>
        <p:blipFill>
          <a:blip r:embed="rId6"/>
          <a:stretch>
            <a:fillRect/>
          </a:stretch>
        </p:blipFill>
        <p:spPr>
          <a:xfrm>
            <a:off x="1885061" y="4479654"/>
            <a:ext cx="8602275" cy="543001"/>
          </a:xfrm>
          <a:prstGeom prst="rect">
            <a:avLst/>
          </a:prstGeom>
          <a:ln>
            <a:solidFill>
              <a:schemeClr val="tx1"/>
            </a:solidFill>
          </a:ln>
        </p:spPr>
      </p:pic>
      <p:sp>
        <p:nvSpPr>
          <p:cNvPr id="14" name="文字方塊 13">
            <a:extLst>
              <a:ext uri="{FF2B5EF4-FFF2-40B4-BE49-F238E27FC236}">
                <a16:creationId xmlns:a16="http://schemas.microsoft.com/office/drawing/2014/main" id="{81DCCDF7-251F-8A2F-84EE-D152105C1884}"/>
              </a:ext>
            </a:extLst>
          </p:cNvPr>
          <p:cNvSpPr txBox="1"/>
          <p:nvPr/>
        </p:nvSpPr>
        <p:spPr>
          <a:xfrm>
            <a:off x="1358536" y="5416009"/>
            <a:ext cx="9674443" cy="400110"/>
          </a:xfrm>
          <a:prstGeom prst="rect">
            <a:avLst/>
          </a:prstGeom>
          <a:noFill/>
        </p:spPr>
        <p:txBody>
          <a:bodyPr wrap="none" rtlCol="0">
            <a:spAutoFit/>
          </a:bodyPr>
          <a:lstStyle/>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根據以上資料，我們可以宣稱該患者在接受治療後對於便祕問題確實有顯著的改善。</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9172033"/>
      </p:ext>
    </p:extLst>
  </p:cSld>
  <p:clrMapOvr>
    <a:masterClrMapping/>
  </p:clrMapOvr>
  <mc:AlternateContent xmlns:mc="http://schemas.openxmlformats.org/markup-compatibility/2006" xmlns:p14="http://schemas.microsoft.com/office/powerpoint/2010/main">
    <mc:Choice Requires="p14">
      <p:transition spd="slow" p14:dur="1250" advClick="0">
        <p14:pan dir="u"/>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58536" y="107592"/>
            <a:ext cx="5928672" cy="9840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70"/>
            <a:endParaRPr lang="en-US">
              <a:solidFill>
                <a:prstClr val="white"/>
              </a:solidFill>
              <a:latin typeface="思源黑体 CN Medium" panose="020B0600000000000000" pitchFamily="34" charset="-122"/>
              <a:ea typeface="思源黑体 CN Medium" panose="020B0600000000000000" pitchFamily="34" charset="-122"/>
              <a:sym typeface="字魂59号-创粗黑" panose="00000500000000000000" pitchFamily="2" charset="-122"/>
            </a:endParaRPr>
          </a:p>
        </p:txBody>
      </p:sp>
      <p:pic>
        <p:nvPicPr>
          <p:cNvPr id="17" name="图片 16">
            <a:extLst>
              <a:ext uri="{FF2B5EF4-FFF2-40B4-BE49-F238E27FC236}">
                <a16:creationId xmlns:a16="http://schemas.microsoft.com/office/drawing/2014/main" id="{05E72798-6899-42A6-9FEE-703EF4EFCDB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86" b="100000" l="0" r="100000">
                        <a14:foregroundMark x1="82171" y1="51131" x2="59408" y2="50679"/>
                        <a14:backgroundMark x1="91473" y1="41991" x2="86047" y2="34299"/>
                        <a14:backgroundMark x1="91966" y1="54118" x2="88090" y2="67059"/>
                        <a14:backgroundMark x1="84426" y1="75023" x2="75405" y2="81719"/>
                        <a14:backgroundMark x1="77026" y1="32217" x2="73573" y2="31493"/>
                        <a14:backgroundMark x1="67583" y1="33575" x2="65257" y2="31312"/>
                      </a14:backgroundRemoval>
                    </a14:imgEffect>
                  </a14:imgLayer>
                </a14:imgProps>
              </a:ext>
              <a:ext uri="{28A0092B-C50C-407E-A947-70E740481C1C}">
                <a14:useLocalDpi xmlns:a14="http://schemas.microsoft.com/office/drawing/2010/main" val="0"/>
              </a:ext>
            </a:extLst>
          </a:blip>
          <a:stretch>
            <a:fillRect/>
          </a:stretch>
        </p:blipFill>
        <p:spPr>
          <a:xfrm rot="277819">
            <a:off x="-1366951" y="-490407"/>
            <a:ext cx="3108709" cy="2420806"/>
          </a:xfrm>
          <a:prstGeom prst="rect">
            <a:avLst/>
          </a:prstGeom>
        </p:spPr>
      </p:pic>
      <p:sp>
        <p:nvSpPr>
          <p:cNvPr id="2" name="矩形 1">
            <a:extLst>
              <a:ext uri="{FF2B5EF4-FFF2-40B4-BE49-F238E27FC236}">
                <a16:creationId xmlns:a16="http://schemas.microsoft.com/office/drawing/2014/main" id="{CDACD7A8-3A6E-4C27-9240-791E721F0C74}"/>
              </a:ext>
            </a:extLst>
          </p:cNvPr>
          <p:cNvSpPr/>
          <p:nvPr/>
        </p:nvSpPr>
        <p:spPr>
          <a:xfrm>
            <a:off x="1570514" y="337965"/>
            <a:ext cx="4764972" cy="548443"/>
          </a:xfrm>
          <a:prstGeom prst="rect">
            <a:avLst/>
          </a:prstGeom>
        </p:spPr>
        <p:txBody>
          <a:bodyPr wrap="none">
            <a:normAutofit/>
          </a:bodyPr>
          <a:lstStyle/>
          <a:p>
            <a:r>
              <a:rPr lang="en-US" altLang="zh-TW" sz="2800" dirty="0">
                <a:solidFill>
                  <a:prstClr val="black">
                    <a:lumMod val="75000"/>
                    <a:lumOff val="25000"/>
                  </a:prstClr>
                </a:solidFill>
                <a:latin typeface="Source Han Sans TC"/>
                <a:ea typeface="Source Han Sans TC"/>
                <a:sym typeface="字魂59号-创粗黑" panose="00000500000000000000" pitchFamily="2" charset="-122"/>
              </a:rPr>
              <a:t>Data analysis –</a:t>
            </a:r>
            <a:r>
              <a:rPr lang="zh-TW" altLang="en-US" sz="2800" dirty="0">
                <a:solidFill>
                  <a:srgbClr val="0070C0"/>
                </a:solidFill>
                <a:latin typeface="Source Han Sans TC"/>
                <a:ea typeface="Source Han Sans TC"/>
                <a:sym typeface="字魂59号-创粗黑" panose="00000500000000000000" pitchFamily="2" charset="-122"/>
              </a:rPr>
              <a:t>肛失禁患者</a:t>
            </a:r>
            <a:endParaRPr lang="en-US" altLang="zh-TW" sz="2800" dirty="0">
              <a:solidFill>
                <a:srgbClr val="0070C0"/>
              </a:solidFill>
              <a:latin typeface="Source Han Sans TC"/>
              <a:ea typeface="Source Han Sans TC"/>
              <a:sym typeface="字魂59号-创粗黑" panose="00000500000000000000" pitchFamily="2" charset="-122"/>
            </a:endParaRPr>
          </a:p>
          <a:p>
            <a:endParaRPr lang="en-US" altLang="zh-TW" sz="2800" dirty="0">
              <a:solidFill>
                <a:srgbClr val="0070C0"/>
              </a:solidFill>
              <a:latin typeface="Source Han Sans TC"/>
              <a:ea typeface="Source Han Sans TC"/>
              <a:sym typeface="字魂59号-创粗黑" panose="00000500000000000000" pitchFamily="2" charset="-122"/>
            </a:endParaRPr>
          </a:p>
          <a:p>
            <a:endParaRPr lang="en-US" altLang="zh-TW" sz="2800" b="1" dirty="0">
              <a:solidFill>
                <a:srgbClr val="0070C0"/>
              </a:solidFill>
              <a:latin typeface="微軟正黑體" panose="020B0604030504040204" pitchFamily="34" charset="-120"/>
              <a:ea typeface="微軟正黑體" panose="020B0604030504040204" pitchFamily="34" charset="-120"/>
              <a:cs typeface="Calibri" panose="020F0502020204030204" pitchFamily="34" charset="0"/>
            </a:endParaRPr>
          </a:p>
        </p:txBody>
      </p:sp>
      <p:sp>
        <p:nvSpPr>
          <p:cNvPr id="6" name="文字方塊 5">
            <a:extLst>
              <a:ext uri="{FF2B5EF4-FFF2-40B4-BE49-F238E27FC236}">
                <a16:creationId xmlns:a16="http://schemas.microsoft.com/office/drawing/2014/main" id="{0C7BF970-2010-34C5-D523-4B00C33F18F6}"/>
              </a:ext>
            </a:extLst>
          </p:cNvPr>
          <p:cNvSpPr txBox="1"/>
          <p:nvPr/>
        </p:nvSpPr>
        <p:spPr>
          <a:xfrm>
            <a:off x="978674" y="1465858"/>
            <a:ext cx="11213326" cy="1015663"/>
          </a:xfrm>
          <a:prstGeom prst="rect">
            <a:avLst/>
          </a:prstGeom>
          <a:noFill/>
        </p:spPr>
        <p:txBody>
          <a:bodyPr wrap="none" rtlCol="0">
            <a:spAutoFit/>
          </a:bodyPr>
          <a:lstStyle/>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我們接著分析肛失禁患者的肌電圖，下圖即為具有完整前後測資料的肌電圖以及根據這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14</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 筆數據</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的檢定結果，值得注意的是，我們的檢定一樣是單邊檢定，</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只是這次我們做的是左尾檢定，因為我</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們想知道 </a:t>
            </a:r>
            <a:r>
              <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rPr>
              <a:t>Post test </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是否有顯著地大於 </a:t>
            </a:r>
            <a:r>
              <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rPr>
              <a:t>Pre test</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graphicFrame>
        <p:nvGraphicFramePr>
          <p:cNvPr id="7" name="表格 6">
            <a:extLst>
              <a:ext uri="{FF2B5EF4-FFF2-40B4-BE49-F238E27FC236}">
                <a16:creationId xmlns:a16="http://schemas.microsoft.com/office/drawing/2014/main" id="{EA9E1D85-09AE-1120-162B-5D2CBA90BF51}"/>
              </a:ext>
            </a:extLst>
          </p:cNvPr>
          <p:cNvGraphicFramePr>
            <a:graphicFrameLocks noGrp="1"/>
          </p:cNvGraphicFramePr>
          <p:nvPr>
            <p:extLst>
              <p:ext uri="{D42A27DB-BD31-4B8C-83A1-F6EECF244321}">
                <p14:modId xmlns:p14="http://schemas.microsoft.com/office/powerpoint/2010/main" val="3632621174"/>
              </p:ext>
            </p:extLst>
          </p:nvPr>
        </p:nvGraphicFramePr>
        <p:xfrm>
          <a:off x="8314634" y="4376479"/>
          <a:ext cx="3877366" cy="937260"/>
        </p:xfrm>
        <a:graphic>
          <a:graphicData uri="http://schemas.openxmlformats.org/drawingml/2006/table">
            <a:tbl>
              <a:tblPr/>
              <a:tblGrid>
                <a:gridCol w="1175208">
                  <a:extLst>
                    <a:ext uri="{9D8B030D-6E8A-4147-A177-3AD203B41FA5}">
                      <a16:colId xmlns:a16="http://schemas.microsoft.com/office/drawing/2014/main" val="3993428737"/>
                    </a:ext>
                  </a:extLst>
                </a:gridCol>
                <a:gridCol w="1351079">
                  <a:extLst>
                    <a:ext uri="{9D8B030D-6E8A-4147-A177-3AD203B41FA5}">
                      <a16:colId xmlns:a16="http://schemas.microsoft.com/office/drawing/2014/main" val="2161664515"/>
                    </a:ext>
                  </a:extLst>
                </a:gridCol>
                <a:gridCol w="1351079">
                  <a:extLst>
                    <a:ext uri="{9D8B030D-6E8A-4147-A177-3AD203B41FA5}">
                      <a16:colId xmlns:a16="http://schemas.microsoft.com/office/drawing/2014/main" val="81110010"/>
                    </a:ext>
                  </a:extLst>
                </a:gridCol>
              </a:tblGrid>
              <a:tr h="213360">
                <a:tc>
                  <a:txBody>
                    <a:bodyPr/>
                    <a:lstStyle/>
                    <a:p>
                      <a:pPr algn="ctr" fontAlgn="ct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zh-TW" altLang="en-US" sz="2000" b="0" i="0" u="none" strike="noStrike" dirty="0">
                          <a:solidFill>
                            <a:srgbClr val="000000"/>
                          </a:solidFill>
                          <a:effectLst/>
                          <a:latin typeface="微軟正黑體" panose="020B0604030504040204" pitchFamily="34" charset="-120"/>
                          <a:ea typeface="微軟正黑體" panose="020B0604030504040204" pitchFamily="34" charset="-120"/>
                        </a:rPr>
                        <a:t>統計量</a:t>
                      </a: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2000" b="0" i="0" u="none" strike="noStrike" dirty="0">
                          <a:solidFill>
                            <a:srgbClr val="000000"/>
                          </a:solidFill>
                          <a:effectLst/>
                          <a:latin typeface="微軟正黑體" panose="020B0604030504040204" pitchFamily="34" charset="-120"/>
                          <a:ea typeface="微軟正黑體" panose="020B0604030504040204" pitchFamily="34" charset="-120"/>
                        </a:rPr>
                        <a:t>p-value</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4200870"/>
                  </a:ext>
                </a:extLst>
              </a:tr>
              <a:tr h="220980">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T test</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-2.59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B050"/>
                          </a:solidFill>
                          <a:effectLst/>
                          <a:latin typeface="微軟正黑體" panose="020B0604030504040204" pitchFamily="34" charset="-120"/>
                          <a:ea typeface="微軟正黑體" panose="020B0604030504040204" pitchFamily="34" charset="-120"/>
                        </a:rPr>
                        <a:t>0.011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1513865"/>
                  </a:ext>
                </a:extLst>
              </a:tr>
              <a:tr h="220980">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Wilcoxon</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10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B050"/>
                          </a:solidFill>
                          <a:effectLst/>
                          <a:latin typeface="微軟正黑體" panose="020B0604030504040204" pitchFamily="34" charset="-120"/>
                          <a:ea typeface="微軟正黑體" panose="020B0604030504040204" pitchFamily="34" charset="-120"/>
                        </a:rPr>
                        <a:t>0.0026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5705361"/>
                  </a:ext>
                </a:extLst>
              </a:tr>
            </a:tbl>
          </a:graphicData>
        </a:graphic>
      </p:graphicFrame>
      <p:sp>
        <p:nvSpPr>
          <p:cNvPr id="8" name="文字方塊 7">
            <a:extLst>
              <a:ext uri="{FF2B5EF4-FFF2-40B4-BE49-F238E27FC236}">
                <a16:creationId xmlns:a16="http://schemas.microsoft.com/office/drawing/2014/main" id="{75C50B69-F66C-FEFB-5325-FDD1CF26EFAB}"/>
              </a:ext>
            </a:extLst>
          </p:cNvPr>
          <p:cNvSpPr txBox="1"/>
          <p:nvPr/>
        </p:nvSpPr>
        <p:spPr>
          <a:xfrm>
            <a:off x="9424463" y="3688484"/>
            <a:ext cx="1415772" cy="461665"/>
          </a:xfrm>
          <a:prstGeom prst="rect">
            <a:avLst/>
          </a:prstGeom>
          <a:noFill/>
        </p:spPr>
        <p:txBody>
          <a:bodyPr wrap="none" rtlCol="0">
            <a:spAutoFit/>
          </a:bodyPr>
          <a:lstStyle/>
          <a:p>
            <a:r>
              <a:rPr lang="zh-TW" altLang="en-US" sz="2400" b="1" dirty="0">
                <a:latin typeface="微軟正黑體" panose="020B0604030504040204" pitchFamily="34" charset="-120"/>
                <a:ea typeface="微軟正黑體" panose="020B0604030504040204" pitchFamily="34" charset="-120"/>
              </a:rPr>
              <a:t>檢定結果</a:t>
            </a:r>
          </a:p>
        </p:txBody>
      </p:sp>
      <p:graphicFrame>
        <p:nvGraphicFramePr>
          <p:cNvPr id="3" name="表格 2">
            <a:extLst>
              <a:ext uri="{FF2B5EF4-FFF2-40B4-BE49-F238E27FC236}">
                <a16:creationId xmlns:a16="http://schemas.microsoft.com/office/drawing/2014/main" id="{34F7954C-22A3-4DB3-B973-1F972C54FC4F}"/>
              </a:ext>
            </a:extLst>
          </p:cNvPr>
          <p:cNvGraphicFramePr>
            <a:graphicFrameLocks noGrp="1"/>
          </p:cNvGraphicFramePr>
          <p:nvPr>
            <p:extLst>
              <p:ext uri="{D42A27DB-BD31-4B8C-83A1-F6EECF244321}">
                <p14:modId xmlns:p14="http://schemas.microsoft.com/office/powerpoint/2010/main" val="243995187"/>
              </p:ext>
            </p:extLst>
          </p:nvPr>
        </p:nvGraphicFramePr>
        <p:xfrm>
          <a:off x="254540" y="3014835"/>
          <a:ext cx="7954535" cy="3512820"/>
        </p:xfrm>
        <a:graphic>
          <a:graphicData uri="http://schemas.openxmlformats.org/drawingml/2006/table">
            <a:tbl>
              <a:tblPr/>
              <a:tblGrid>
                <a:gridCol w="596422">
                  <a:extLst>
                    <a:ext uri="{9D8B030D-6E8A-4147-A177-3AD203B41FA5}">
                      <a16:colId xmlns:a16="http://schemas.microsoft.com/office/drawing/2014/main" val="2132548560"/>
                    </a:ext>
                  </a:extLst>
                </a:gridCol>
                <a:gridCol w="993140">
                  <a:extLst>
                    <a:ext uri="{9D8B030D-6E8A-4147-A177-3AD203B41FA5}">
                      <a16:colId xmlns:a16="http://schemas.microsoft.com/office/drawing/2014/main" val="2590160965"/>
                    </a:ext>
                  </a:extLst>
                </a:gridCol>
                <a:gridCol w="909281">
                  <a:extLst>
                    <a:ext uri="{9D8B030D-6E8A-4147-A177-3AD203B41FA5}">
                      <a16:colId xmlns:a16="http://schemas.microsoft.com/office/drawing/2014/main" val="1383145280"/>
                    </a:ext>
                  </a:extLst>
                </a:gridCol>
                <a:gridCol w="895505">
                  <a:extLst>
                    <a:ext uri="{9D8B030D-6E8A-4147-A177-3AD203B41FA5}">
                      <a16:colId xmlns:a16="http://schemas.microsoft.com/office/drawing/2014/main" val="2411329759"/>
                    </a:ext>
                  </a:extLst>
                </a:gridCol>
                <a:gridCol w="833415">
                  <a:extLst>
                    <a:ext uri="{9D8B030D-6E8A-4147-A177-3AD203B41FA5}">
                      <a16:colId xmlns:a16="http://schemas.microsoft.com/office/drawing/2014/main" val="1012991171"/>
                    </a:ext>
                  </a:extLst>
                </a:gridCol>
                <a:gridCol w="1042409">
                  <a:extLst>
                    <a:ext uri="{9D8B030D-6E8A-4147-A177-3AD203B41FA5}">
                      <a16:colId xmlns:a16="http://schemas.microsoft.com/office/drawing/2014/main" val="37532012"/>
                    </a:ext>
                  </a:extLst>
                </a:gridCol>
                <a:gridCol w="939200">
                  <a:extLst>
                    <a:ext uri="{9D8B030D-6E8A-4147-A177-3AD203B41FA5}">
                      <a16:colId xmlns:a16="http://schemas.microsoft.com/office/drawing/2014/main" val="1498290620"/>
                    </a:ext>
                  </a:extLst>
                </a:gridCol>
                <a:gridCol w="835992">
                  <a:extLst>
                    <a:ext uri="{9D8B030D-6E8A-4147-A177-3AD203B41FA5}">
                      <a16:colId xmlns:a16="http://schemas.microsoft.com/office/drawing/2014/main" val="1187312162"/>
                    </a:ext>
                  </a:extLst>
                </a:gridCol>
                <a:gridCol w="909171">
                  <a:extLst>
                    <a:ext uri="{9D8B030D-6E8A-4147-A177-3AD203B41FA5}">
                      <a16:colId xmlns:a16="http://schemas.microsoft.com/office/drawing/2014/main" val="3048131892"/>
                    </a:ext>
                  </a:extLst>
                </a:gridCol>
              </a:tblGrid>
              <a:tr h="419100">
                <a:tc>
                  <a:txBody>
                    <a:bodyPr/>
                    <a:lstStyle/>
                    <a:p>
                      <a:pPr marL="0" algn="ctr" defTabSz="1219170" rtl="0" eaLnBrk="1" fontAlgn="ctr" latinLnBrk="0" hangingPunct="1"/>
                      <a:r>
                        <a:rPr lang="zh-TW" altLang="en-US" sz="1600" b="0" i="0" u="none" strike="noStrike" kern="1200" dirty="0">
                          <a:solidFill>
                            <a:srgbClr val="000000"/>
                          </a:solidFill>
                          <a:effectLst/>
                          <a:highlight>
                            <a:srgbClr val="D0CECE"/>
                          </a:highlight>
                          <a:latin typeface="標楷體" panose="03000509000000000000" pitchFamily="65" charset="-120"/>
                          <a:ea typeface="標楷體" panose="03000509000000000000" pitchFamily="65" charset="-120"/>
                          <a:cs typeface="+mn-cs"/>
                        </a:rPr>
                        <a:t>年齡</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CECE"/>
                    </a:solidFill>
                  </a:tcPr>
                </a:tc>
                <a:tc>
                  <a:txBody>
                    <a:bodyPr/>
                    <a:lstStyle/>
                    <a:p>
                      <a:pPr marL="0" algn="ctr" defTabSz="1219170" rtl="0" eaLnBrk="1" fontAlgn="ctr" latinLnBrk="0" hangingPunct="1"/>
                      <a:r>
                        <a:rPr lang="zh-TW" altLang="en-US" sz="1600" b="0" i="0" u="none" strike="noStrike" kern="1200" dirty="0">
                          <a:solidFill>
                            <a:srgbClr val="000000"/>
                          </a:solidFill>
                          <a:effectLst/>
                          <a:highlight>
                            <a:srgbClr val="FFE699"/>
                          </a:highlight>
                          <a:latin typeface="標楷體" panose="03000509000000000000" pitchFamily="65" charset="-120"/>
                          <a:ea typeface="標楷體" panose="03000509000000000000" pitchFamily="65" charset="-120"/>
                          <a:cs typeface="+mn-cs"/>
                        </a:rPr>
                        <a:t>初測日期</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699"/>
                    </a:solidFill>
                  </a:tcPr>
                </a:tc>
                <a:tc>
                  <a:txBody>
                    <a:bodyPr/>
                    <a:lstStyle/>
                    <a:p>
                      <a:pPr marL="0" algn="ctr" defTabSz="1219170" rtl="0" eaLnBrk="1" fontAlgn="ctr" latinLnBrk="0" hangingPunct="1"/>
                      <a:r>
                        <a:rPr lang="en-US" sz="1600" b="0" i="0" u="none" strike="noStrike" kern="1200" dirty="0" err="1">
                          <a:solidFill>
                            <a:srgbClr val="000000"/>
                          </a:solidFill>
                          <a:effectLst/>
                          <a:highlight>
                            <a:srgbClr val="D0CECE"/>
                          </a:highlight>
                          <a:latin typeface="標楷體" panose="03000509000000000000" pitchFamily="65" charset="-120"/>
                          <a:ea typeface="標楷體" panose="03000509000000000000" pitchFamily="65" charset="-120"/>
                          <a:cs typeface="+mn-cs"/>
                        </a:rPr>
                        <a:t>Pre_base</a:t>
                      </a:r>
                      <a:endParaRPr lang="en-US" sz="1600" b="0" i="0" u="none" strike="noStrike" kern="1200" dirty="0">
                        <a:solidFill>
                          <a:srgbClr val="000000"/>
                        </a:solidFill>
                        <a:effectLst/>
                        <a:highlight>
                          <a:srgbClr val="D0CECE"/>
                        </a:highlight>
                        <a:latin typeface="標楷體" panose="03000509000000000000" pitchFamily="65" charset="-120"/>
                        <a:ea typeface="標楷體" panose="03000509000000000000" pitchFamily="65" charset="-120"/>
                        <a:cs typeface="+mn-cs"/>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CECE"/>
                    </a:solidFill>
                  </a:tcPr>
                </a:tc>
                <a:tc>
                  <a:txBody>
                    <a:bodyPr/>
                    <a:lstStyle/>
                    <a:p>
                      <a:pPr marL="0" algn="ctr" defTabSz="1219170" rtl="0" eaLnBrk="1" fontAlgn="ctr" latinLnBrk="0" hangingPunct="1"/>
                      <a:r>
                        <a:rPr lang="en-US" sz="1600" b="0" i="0" u="none" strike="noStrike" kern="1200" dirty="0" err="1">
                          <a:solidFill>
                            <a:srgbClr val="000000"/>
                          </a:solidFill>
                          <a:effectLst/>
                          <a:highlight>
                            <a:srgbClr val="D0CECE"/>
                          </a:highlight>
                          <a:latin typeface="標楷體" panose="03000509000000000000" pitchFamily="65" charset="-120"/>
                          <a:ea typeface="標楷體" panose="03000509000000000000" pitchFamily="65" charset="-120"/>
                          <a:cs typeface="+mn-cs"/>
                        </a:rPr>
                        <a:t>Pre_max</a:t>
                      </a:r>
                      <a:endParaRPr lang="en-US" sz="1600" b="0" i="0" u="none" strike="noStrike" kern="1200" dirty="0">
                        <a:solidFill>
                          <a:srgbClr val="000000"/>
                        </a:solidFill>
                        <a:effectLst/>
                        <a:highlight>
                          <a:srgbClr val="D0CECE"/>
                        </a:highlight>
                        <a:latin typeface="標楷體" panose="03000509000000000000" pitchFamily="65" charset="-120"/>
                        <a:ea typeface="標楷體" panose="03000509000000000000" pitchFamily="65" charset="-120"/>
                        <a:cs typeface="+mn-cs"/>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CECE"/>
                    </a:solidFill>
                  </a:tcPr>
                </a:tc>
                <a:tc>
                  <a:txBody>
                    <a:bodyPr/>
                    <a:lstStyle/>
                    <a:p>
                      <a:pPr marL="0" algn="ctr" defTabSz="1219170" rtl="0" eaLnBrk="1" fontAlgn="ctr" latinLnBrk="0" hangingPunct="1"/>
                      <a:r>
                        <a:rPr lang="en-US" sz="1600" b="0" i="0" u="none" strike="noStrike" kern="1200" dirty="0" err="1">
                          <a:solidFill>
                            <a:srgbClr val="000000"/>
                          </a:solidFill>
                          <a:effectLst/>
                          <a:latin typeface="標楷體" panose="03000509000000000000" pitchFamily="65" charset="-120"/>
                          <a:ea typeface="標楷體" panose="03000509000000000000" pitchFamily="65" charset="-120"/>
                          <a:cs typeface="+mn-cs"/>
                        </a:rPr>
                        <a:t>PreTest</a:t>
                      </a:r>
                      <a:endParaRPr lang="en-US" sz="1600" b="0" i="0" u="none" strike="noStrike" kern="1200" dirty="0">
                        <a:solidFill>
                          <a:srgbClr val="000000"/>
                        </a:solidFill>
                        <a:effectLst/>
                        <a:latin typeface="標楷體" panose="03000509000000000000" pitchFamily="65" charset="-120"/>
                        <a:ea typeface="標楷體" panose="03000509000000000000" pitchFamily="65" charset="-120"/>
                        <a:cs typeface="+mn-cs"/>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zh-TW" altLang="en-US" sz="1600" b="0" i="0" u="none" strike="noStrike" kern="1200" dirty="0">
                          <a:solidFill>
                            <a:srgbClr val="000000"/>
                          </a:solidFill>
                          <a:effectLst/>
                          <a:latin typeface="標楷體" panose="03000509000000000000" pitchFamily="65" charset="-120"/>
                          <a:ea typeface="標楷體" panose="03000509000000000000" pitchFamily="65" charset="-120"/>
                          <a:cs typeface="+mn-cs"/>
                        </a:rPr>
                        <a:t>後測日期</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6E0B4"/>
                    </a:solidFill>
                  </a:tcPr>
                </a:tc>
                <a:tc>
                  <a:txBody>
                    <a:bodyPr/>
                    <a:lstStyle/>
                    <a:p>
                      <a:pPr marL="0" algn="ctr" defTabSz="1219170" rtl="0" eaLnBrk="1" fontAlgn="ctr" latinLnBrk="0" hangingPunct="1"/>
                      <a:r>
                        <a:rPr lang="en-US" sz="1600" b="0" i="0" u="none" strike="noStrike" kern="1200" dirty="0" err="1">
                          <a:solidFill>
                            <a:srgbClr val="000000"/>
                          </a:solidFill>
                          <a:effectLst/>
                          <a:highlight>
                            <a:srgbClr val="D0CECE"/>
                          </a:highlight>
                          <a:latin typeface="標楷體" panose="03000509000000000000" pitchFamily="65" charset="-120"/>
                          <a:ea typeface="標楷體" panose="03000509000000000000" pitchFamily="65" charset="-120"/>
                          <a:cs typeface="+mn-cs"/>
                        </a:rPr>
                        <a:t>Post_base</a:t>
                      </a:r>
                      <a:endParaRPr lang="en-US" sz="1600" b="0" i="0" u="none" strike="noStrike" kern="1200" dirty="0">
                        <a:solidFill>
                          <a:srgbClr val="000000"/>
                        </a:solidFill>
                        <a:effectLst/>
                        <a:highlight>
                          <a:srgbClr val="D0CECE"/>
                        </a:highlight>
                        <a:latin typeface="標楷體" panose="03000509000000000000" pitchFamily="65" charset="-120"/>
                        <a:ea typeface="標楷體" panose="03000509000000000000" pitchFamily="65" charset="-120"/>
                        <a:cs typeface="+mn-cs"/>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CECE"/>
                    </a:solidFill>
                  </a:tcPr>
                </a:tc>
                <a:tc>
                  <a:txBody>
                    <a:bodyPr/>
                    <a:lstStyle/>
                    <a:p>
                      <a:pPr marL="0" algn="ctr" defTabSz="1219170" rtl="0" eaLnBrk="1" fontAlgn="ctr" latinLnBrk="0" hangingPunct="1"/>
                      <a:r>
                        <a:rPr lang="en-US" sz="1600" b="0" i="0" u="none" strike="noStrike" kern="1200" dirty="0" err="1">
                          <a:solidFill>
                            <a:srgbClr val="000000"/>
                          </a:solidFill>
                          <a:effectLst/>
                          <a:highlight>
                            <a:srgbClr val="D0CECE"/>
                          </a:highlight>
                          <a:latin typeface="標楷體" panose="03000509000000000000" pitchFamily="65" charset="-120"/>
                          <a:ea typeface="標楷體" panose="03000509000000000000" pitchFamily="65" charset="-120"/>
                          <a:cs typeface="+mn-cs"/>
                        </a:rPr>
                        <a:t>Post_max</a:t>
                      </a:r>
                      <a:endParaRPr lang="en-US" sz="1600" b="0" i="0" u="none" strike="noStrike" kern="1200" dirty="0">
                        <a:solidFill>
                          <a:srgbClr val="000000"/>
                        </a:solidFill>
                        <a:effectLst/>
                        <a:highlight>
                          <a:srgbClr val="D0CECE"/>
                        </a:highlight>
                        <a:latin typeface="標楷體" panose="03000509000000000000" pitchFamily="65" charset="-120"/>
                        <a:ea typeface="標楷體" panose="03000509000000000000" pitchFamily="65" charset="-120"/>
                        <a:cs typeface="+mn-cs"/>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CECE"/>
                    </a:solidFill>
                  </a:tcPr>
                </a:tc>
                <a:tc>
                  <a:txBody>
                    <a:bodyPr/>
                    <a:lstStyle/>
                    <a:p>
                      <a:pPr marL="0" algn="ctr" defTabSz="1219170" rtl="0" eaLnBrk="1" fontAlgn="ctr" latinLnBrk="0" hangingPunct="1"/>
                      <a:r>
                        <a:rPr lang="en-US" sz="1600" b="0" i="0" u="none" strike="noStrike" kern="1200" dirty="0" err="1">
                          <a:solidFill>
                            <a:srgbClr val="000000"/>
                          </a:solidFill>
                          <a:effectLst/>
                          <a:latin typeface="標楷體" panose="03000509000000000000" pitchFamily="65" charset="-120"/>
                          <a:ea typeface="標楷體" panose="03000509000000000000" pitchFamily="65" charset="-120"/>
                          <a:cs typeface="+mn-cs"/>
                        </a:rPr>
                        <a:t>PostTest</a:t>
                      </a:r>
                      <a:endParaRPr lang="en-US" sz="1600" b="0" i="0" u="none" strike="noStrike" kern="1200" dirty="0">
                        <a:solidFill>
                          <a:srgbClr val="000000"/>
                        </a:solidFill>
                        <a:effectLst/>
                        <a:latin typeface="標楷體" panose="03000509000000000000" pitchFamily="65" charset="-120"/>
                        <a:ea typeface="標楷體" panose="03000509000000000000" pitchFamily="65" charset="-120"/>
                        <a:cs typeface="+mn-cs"/>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09741914"/>
                  </a:ext>
                </a:extLst>
              </a:tr>
              <a:tr h="220980">
                <a:tc>
                  <a:txBody>
                    <a:bodyPr/>
                    <a:lstStyle/>
                    <a:p>
                      <a:pPr marL="0" algn="r" defTabSz="1219170" rtl="0" eaLnBrk="1" fontAlgn="ctr" latinLnBrk="0" hangingPunct="1"/>
                      <a:r>
                        <a:rPr lang="en-US" altLang="zh-TW" sz="1400" b="0" i="0" u="none" strike="noStrike" kern="1200" dirty="0">
                          <a:solidFill>
                            <a:srgbClr val="000000"/>
                          </a:solidFill>
                          <a:effectLst/>
                          <a:latin typeface="標楷體" panose="03000509000000000000" pitchFamily="65" charset="-120"/>
                          <a:ea typeface="標楷體" panose="03000509000000000000" pitchFamily="65" charset="-120"/>
                          <a:cs typeface="+mn-cs"/>
                        </a:rPr>
                        <a:t>62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marL="0" algn="r" defTabSz="1219170" rtl="0" eaLnBrk="1" fontAlgn="ctr" latinLnBrk="0" hangingPunct="1"/>
                      <a:r>
                        <a:rPr lang="zh-TW" altLang="en-US" sz="1400" b="0" i="0" u="none" strike="noStrike" kern="1200" dirty="0">
                          <a:solidFill>
                            <a:srgbClr val="000000"/>
                          </a:solidFill>
                          <a:effectLst/>
                          <a:latin typeface="標楷體" panose="03000509000000000000" pitchFamily="65" charset="-120"/>
                          <a:ea typeface="標楷體" panose="03000509000000000000" pitchFamily="65" charset="-120"/>
                          <a:cs typeface="+mn-cs"/>
                        </a:rPr>
                        <a:t> </a:t>
                      </a:r>
                      <a:r>
                        <a:rPr lang="en-US" altLang="zh-TW" sz="1400" b="0" i="0" u="none" strike="noStrike" kern="1200" dirty="0">
                          <a:solidFill>
                            <a:srgbClr val="000000"/>
                          </a:solidFill>
                          <a:effectLst/>
                          <a:latin typeface="標楷體" panose="03000509000000000000" pitchFamily="65" charset="-120"/>
                          <a:ea typeface="標楷體" panose="03000509000000000000" pitchFamily="65" charset="-120"/>
                          <a:cs typeface="+mn-cs"/>
                        </a:rPr>
                        <a:t>2021/9/15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C"/>
                    </a:solid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119.5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146.7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27.2</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2022/2/9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134.3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161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dirty="0">
                          <a:solidFill>
                            <a:srgbClr val="000000"/>
                          </a:solidFill>
                          <a:effectLst/>
                          <a:latin typeface="標楷體" panose="03000509000000000000" pitchFamily="65" charset="-120"/>
                          <a:ea typeface="標楷體" panose="03000509000000000000" pitchFamily="65" charset="-120"/>
                          <a:cs typeface="+mn-cs"/>
                        </a:rPr>
                        <a:t>26.7</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61814048"/>
                  </a:ext>
                </a:extLst>
              </a:tr>
              <a:tr h="220980">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37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marL="0" algn="r" defTabSz="1219170" rtl="0" eaLnBrk="1" fontAlgn="ctr" latinLnBrk="0" hangingPunct="1"/>
                      <a:r>
                        <a:rPr lang="en-US" altLang="zh-TW" sz="1400" b="0" i="0" u="none" strike="noStrike" kern="1200" dirty="0">
                          <a:solidFill>
                            <a:srgbClr val="000000"/>
                          </a:solidFill>
                          <a:effectLst/>
                          <a:latin typeface="標楷體" panose="03000509000000000000" pitchFamily="65" charset="-120"/>
                          <a:ea typeface="標楷體" panose="03000509000000000000" pitchFamily="65" charset="-120"/>
                          <a:cs typeface="+mn-cs"/>
                        </a:rPr>
                        <a:t>2021/9/22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C"/>
                    </a:solidFill>
                  </a:tcPr>
                </a:tc>
                <a:tc>
                  <a:txBody>
                    <a:bodyPr/>
                    <a:lstStyle/>
                    <a:p>
                      <a:pPr marL="0" algn="r" defTabSz="1219170" rtl="0" eaLnBrk="1" fontAlgn="ctr" latinLnBrk="0" hangingPunct="1"/>
                      <a:r>
                        <a:rPr lang="en-US" altLang="zh-TW" sz="1400" b="0" i="0" u="none" strike="noStrike" kern="1200" dirty="0">
                          <a:solidFill>
                            <a:srgbClr val="000000"/>
                          </a:solidFill>
                          <a:effectLst/>
                          <a:latin typeface="標楷體" panose="03000509000000000000" pitchFamily="65" charset="-120"/>
                          <a:ea typeface="標楷體" panose="03000509000000000000" pitchFamily="65" charset="-120"/>
                          <a:cs typeface="+mn-cs"/>
                        </a:rPr>
                        <a:t>248.5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255.6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7.1</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2021/12/22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137.6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152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14.4</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59702306"/>
                  </a:ext>
                </a:extLst>
              </a:tr>
              <a:tr h="220980">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65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2021/9/8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C"/>
                    </a:solidFill>
                  </a:tcPr>
                </a:tc>
                <a:tc>
                  <a:txBody>
                    <a:bodyPr/>
                    <a:lstStyle/>
                    <a:p>
                      <a:pPr marL="0" algn="r" defTabSz="1219170" rtl="0" eaLnBrk="1" fontAlgn="ctr" latinLnBrk="0" hangingPunct="1"/>
                      <a:r>
                        <a:rPr lang="en-US" altLang="zh-TW" sz="1400" b="0" i="0" u="none" strike="noStrike" kern="1200" dirty="0">
                          <a:solidFill>
                            <a:srgbClr val="000000"/>
                          </a:solidFill>
                          <a:effectLst/>
                          <a:latin typeface="標楷體" panose="03000509000000000000" pitchFamily="65" charset="-120"/>
                          <a:ea typeface="標楷體" panose="03000509000000000000" pitchFamily="65" charset="-120"/>
                          <a:cs typeface="+mn-cs"/>
                        </a:rPr>
                        <a:t>78.8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126.8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48</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2021/12/8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72.5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133.8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dirty="0">
                          <a:solidFill>
                            <a:srgbClr val="000000"/>
                          </a:solidFill>
                          <a:effectLst/>
                          <a:latin typeface="標楷體" panose="03000509000000000000" pitchFamily="65" charset="-120"/>
                          <a:ea typeface="標楷體" panose="03000509000000000000" pitchFamily="65" charset="-120"/>
                          <a:cs typeface="+mn-cs"/>
                        </a:rPr>
                        <a:t>61.3</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7952750"/>
                  </a:ext>
                </a:extLst>
              </a:tr>
              <a:tr h="220980">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73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2021/11/24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C"/>
                    </a:solid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90.1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dirty="0">
                          <a:solidFill>
                            <a:srgbClr val="000000"/>
                          </a:solidFill>
                          <a:effectLst/>
                          <a:latin typeface="標楷體" panose="03000509000000000000" pitchFamily="65" charset="-120"/>
                          <a:ea typeface="標楷體" panose="03000509000000000000" pitchFamily="65" charset="-120"/>
                          <a:cs typeface="+mn-cs"/>
                        </a:rPr>
                        <a:t>95.3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dirty="0">
                          <a:solidFill>
                            <a:srgbClr val="000000"/>
                          </a:solidFill>
                          <a:effectLst/>
                          <a:latin typeface="標楷體" panose="03000509000000000000" pitchFamily="65" charset="-120"/>
                          <a:ea typeface="標楷體" panose="03000509000000000000" pitchFamily="65" charset="-120"/>
                          <a:cs typeface="+mn-cs"/>
                        </a:rPr>
                        <a:t>5.2</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2022/5/18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72.8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82.1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9.3</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73202624"/>
                  </a:ext>
                </a:extLst>
              </a:tr>
              <a:tr h="220980">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75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2021/12/13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C"/>
                    </a:solid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78.2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79.9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dirty="0">
                          <a:solidFill>
                            <a:srgbClr val="000000"/>
                          </a:solidFill>
                          <a:effectLst/>
                          <a:latin typeface="標楷體" panose="03000509000000000000" pitchFamily="65" charset="-120"/>
                          <a:ea typeface="標楷體" panose="03000509000000000000" pitchFamily="65" charset="-120"/>
                          <a:cs typeface="+mn-cs"/>
                        </a:rPr>
                        <a:t>1.7</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2021/12/27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82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83.3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1.3</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07054180"/>
                  </a:ext>
                </a:extLst>
              </a:tr>
              <a:tr h="220980">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83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marL="0" algn="r" defTabSz="1219170" rtl="0" eaLnBrk="1" fontAlgn="ctr" latinLnBrk="0" hangingPunct="1"/>
                      <a:r>
                        <a:rPr lang="en-US" altLang="zh-TW" sz="1400" b="0" i="0" u="none" strike="noStrike" kern="1200" dirty="0">
                          <a:solidFill>
                            <a:srgbClr val="000000"/>
                          </a:solidFill>
                          <a:effectLst/>
                          <a:latin typeface="標楷體" panose="03000509000000000000" pitchFamily="65" charset="-120"/>
                          <a:ea typeface="標楷體" panose="03000509000000000000" pitchFamily="65" charset="-120"/>
                          <a:cs typeface="+mn-cs"/>
                        </a:rPr>
                        <a:t>2022/5/13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C"/>
                    </a:solid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74.2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83.9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9.7</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2022/8/2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68.3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78.1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9.8</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92624245"/>
                  </a:ext>
                </a:extLst>
              </a:tr>
              <a:tr h="220980">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40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2022/2/17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C"/>
                    </a:solid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82.7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93.6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10.9</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dirty="0">
                          <a:solidFill>
                            <a:srgbClr val="000000"/>
                          </a:solidFill>
                          <a:effectLst/>
                          <a:latin typeface="標楷體" panose="03000509000000000000" pitchFamily="65" charset="-120"/>
                          <a:ea typeface="標楷體" panose="03000509000000000000" pitchFamily="65" charset="-120"/>
                          <a:cs typeface="+mn-cs"/>
                        </a:rPr>
                        <a:t>2022/5/19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121.2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138.2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17</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2932801"/>
                  </a:ext>
                </a:extLst>
              </a:tr>
              <a:tr h="220980">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45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2022/7/27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C"/>
                    </a:solid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86.6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100.7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14.1</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2022/11/9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marL="0" algn="r" defTabSz="1219170" rtl="0" eaLnBrk="1" fontAlgn="ctr" latinLnBrk="0" hangingPunct="1"/>
                      <a:r>
                        <a:rPr lang="en-US" altLang="zh-TW" sz="1400" b="0" i="0" u="none" strike="noStrike" kern="1200" dirty="0">
                          <a:solidFill>
                            <a:srgbClr val="000000"/>
                          </a:solidFill>
                          <a:effectLst/>
                          <a:latin typeface="標楷體" panose="03000509000000000000" pitchFamily="65" charset="-120"/>
                          <a:ea typeface="標楷體" panose="03000509000000000000" pitchFamily="65" charset="-120"/>
                          <a:cs typeface="+mn-cs"/>
                        </a:rPr>
                        <a:t>82.7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102.9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20.2</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4238751"/>
                  </a:ext>
                </a:extLst>
              </a:tr>
              <a:tr h="220980">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37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marL="0" algn="r" defTabSz="1219170" rtl="0" eaLnBrk="1" fontAlgn="ctr" latinLnBrk="0" hangingPunct="1"/>
                      <a:r>
                        <a:rPr lang="en-US" altLang="zh-TW" sz="1400" b="0" i="0" u="none" strike="noStrike" kern="1200" dirty="0">
                          <a:solidFill>
                            <a:srgbClr val="000000"/>
                          </a:solidFill>
                          <a:effectLst/>
                          <a:latin typeface="標楷體" panose="03000509000000000000" pitchFamily="65" charset="-120"/>
                          <a:ea typeface="標楷體" panose="03000509000000000000" pitchFamily="65" charset="-120"/>
                          <a:cs typeface="+mn-cs"/>
                        </a:rPr>
                        <a:t>2023/7/7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C"/>
                    </a:solid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104.2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dirty="0">
                          <a:solidFill>
                            <a:srgbClr val="000000"/>
                          </a:solidFill>
                          <a:effectLst/>
                          <a:latin typeface="標楷體" panose="03000509000000000000" pitchFamily="65" charset="-120"/>
                          <a:ea typeface="標楷體" panose="03000509000000000000" pitchFamily="65" charset="-120"/>
                          <a:cs typeface="+mn-cs"/>
                        </a:rPr>
                        <a:t>116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11.8</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2023/9/26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marL="0" algn="r" defTabSz="1219170" rtl="0" eaLnBrk="1" fontAlgn="ctr" latinLnBrk="0" hangingPunct="1"/>
                      <a:r>
                        <a:rPr lang="en-US" altLang="zh-TW" sz="1400" b="0" i="0" u="none" strike="noStrike" kern="1200" dirty="0">
                          <a:solidFill>
                            <a:srgbClr val="000000"/>
                          </a:solidFill>
                          <a:effectLst/>
                          <a:latin typeface="標楷體" panose="03000509000000000000" pitchFamily="65" charset="-120"/>
                          <a:ea typeface="標楷體" panose="03000509000000000000" pitchFamily="65" charset="-120"/>
                          <a:cs typeface="+mn-cs"/>
                        </a:rPr>
                        <a:t>82.7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dirty="0">
                          <a:solidFill>
                            <a:srgbClr val="000000"/>
                          </a:solidFill>
                          <a:effectLst/>
                          <a:latin typeface="標楷體" panose="03000509000000000000" pitchFamily="65" charset="-120"/>
                          <a:ea typeface="標楷體" panose="03000509000000000000" pitchFamily="65" charset="-120"/>
                          <a:cs typeface="+mn-cs"/>
                        </a:rPr>
                        <a:t>93.1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10.4</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62018569"/>
                  </a:ext>
                </a:extLst>
              </a:tr>
              <a:tr h="220980">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47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2023/4/19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C"/>
                    </a:solid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83.5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86.2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2.7</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2023/5/24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117.4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dirty="0">
                          <a:solidFill>
                            <a:srgbClr val="000000"/>
                          </a:solidFill>
                          <a:effectLst/>
                          <a:latin typeface="標楷體" panose="03000509000000000000" pitchFamily="65" charset="-120"/>
                          <a:ea typeface="標楷體" panose="03000509000000000000" pitchFamily="65" charset="-120"/>
                          <a:cs typeface="+mn-cs"/>
                        </a:rPr>
                        <a:t>122.7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5.3</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114718"/>
                  </a:ext>
                </a:extLst>
              </a:tr>
              <a:tr h="220980">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69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2023/3/28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C"/>
                    </a:solid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193.9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199.4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5.5</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2024/1/3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77.7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dirty="0">
                          <a:solidFill>
                            <a:srgbClr val="000000"/>
                          </a:solidFill>
                          <a:effectLst/>
                          <a:latin typeface="標楷體" panose="03000509000000000000" pitchFamily="65" charset="-120"/>
                          <a:ea typeface="標楷體" panose="03000509000000000000" pitchFamily="65" charset="-120"/>
                          <a:cs typeface="+mn-cs"/>
                        </a:rPr>
                        <a:t>110.7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33</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18836096"/>
                  </a:ext>
                </a:extLst>
              </a:tr>
              <a:tr h="220980">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48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2022/12/28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C"/>
                    </a:solid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198.1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205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6.9</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2023/5/10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116.7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dirty="0">
                          <a:solidFill>
                            <a:srgbClr val="000000"/>
                          </a:solidFill>
                          <a:effectLst/>
                          <a:latin typeface="標楷體" panose="03000509000000000000" pitchFamily="65" charset="-120"/>
                          <a:ea typeface="標楷體" panose="03000509000000000000" pitchFamily="65" charset="-120"/>
                          <a:cs typeface="+mn-cs"/>
                        </a:rPr>
                        <a:t>124.6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dirty="0">
                          <a:solidFill>
                            <a:srgbClr val="000000"/>
                          </a:solidFill>
                          <a:effectLst/>
                          <a:latin typeface="標楷體" panose="03000509000000000000" pitchFamily="65" charset="-120"/>
                          <a:ea typeface="標楷體" panose="03000509000000000000" pitchFamily="65" charset="-120"/>
                          <a:cs typeface="+mn-cs"/>
                        </a:rPr>
                        <a:t>7.9</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66101791"/>
                  </a:ext>
                </a:extLst>
              </a:tr>
              <a:tr h="220980">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54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2022/12/21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C"/>
                    </a:solid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86.2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90.9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4.7</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2023/3/15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168.6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175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dirty="0">
                          <a:solidFill>
                            <a:srgbClr val="000000"/>
                          </a:solidFill>
                          <a:effectLst/>
                          <a:latin typeface="標楷體" panose="03000509000000000000" pitchFamily="65" charset="-120"/>
                          <a:ea typeface="標楷體" panose="03000509000000000000" pitchFamily="65" charset="-120"/>
                          <a:cs typeface="+mn-cs"/>
                        </a:rPr>
                        <a:t>6.4</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17797565"/>
                  </a:ext>
                </a:extLst>
              </a:tr>
              <a:tr h="213360">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72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2022/10/19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C"/>
                    </a:solid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76.3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81.9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5.6</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2023/2/8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100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111.1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r" defTabSz="1219170" rtl="0" eaLnBrk="1" fontAlgn="ctr" latinLnBrk="0" hangingPunct="1"/>
                      <a:r>
                        <a:rPr lang="en-US" altLang="zh-TW" sz="1400" b="0" i="0" u="none" strike="noStrike" kern="1200" dirty="0">
                          <a:solidFill>
                            <a:srgbClr val="000000"/>
                          </a:solidFill>
                          <a:effectLst/>
                          <a:latin typeface="標楷體" panose="03000509000000000000" pitchFamily="65" charset="-120"/>
                          <a:ea typeface="標楷體" panose="03000509000000000000" pitchFamily="65" charset="-120"/>
                          <a:cs typeface="+mn-cs"/>
                        </a:rPr>
                        <a:t>11.1</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1872924"/>
                  </a:ext>
                </a:extLst>
              </a:tr>
            </a:tbl>
          </a:graphicData>
        </a:graphic>
      </p:graphicFrame>
    </p:spTree>
    <p:extLst>
      <p:ext uri="{BB962C8B-B14F-4D97-AF65-F5344CB8AC3E}">
        <p14:creationId xmlns:p14="http://schemas.microsoft.com/office/powerpoint/2010/main" val="1691401089"/>
      </p:ext>
    </p:extLst>
  </p:cSld>
  <p:clrMapOvr>
    <a:masterClrMapping/>
  </p:clrMapOvr>
  <mc:AlternateContent xmlns:mc="http://schemas.openxmlformats.org/markup-compatibility/2006" xmlns:p14="http://schemas.microsoft.com/office/powerpoint/2010/main">
    <mc:Choice Requires="p14">
      <p:transition spd="slow" p14:dur="1250" advClick="0">
        <p14:pan dir="u"/>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58536" y="107592"/>
            <a:ext cx="5928672" cy="9840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70"/>
            <a:endParaRPr lang="en-US">
              <a:solidFill>
                <a:prstClr val="white"/>
              </a:solidFill>
              <a:latin typeface="思源黑体 CN Medium" panose="020B0600000000000000" pitchFamily="34" charset="-122"/>
              <a:ea typeface="思源黑体 CN Medium" panose="020B0600000000000000" pitchFamily="34" charset="-122"/>
              <a:sym typeface="字魂59号-创粗黑" panose="00000500000000000000" pitchFamily="2" charset="-122"/>
            </a:endParaRPr>
          </a:p>
        </p:txBody>
      </p:sp>
      <p:pic>
        <p:nvPicPr>
          <p:cNvPr id="17" name="图片 16">
            <a:extLst>
              <a:ext uri="{FF2B5EF4-FFF2-40B4-BE49-F238E27FC236}">
                <a16:creationId xmlns:a16="http://schemas.microsoft.com/office/drawing/2014/main" id="{05E72798-6899-42A6-9FEE-703EF4EFCDB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86" b="100000" l="0" r="100000">
                        <a14:foregroundMark x1="82171" y1="51131" x2="59408" y2="50679"/>
                        <a14:backgroundMark x1="91473" y1="41991" x2="86047" y2="34299"/>
                        <a14:backgroundMark x1="91966" y1="54118" x2="88090" y2="67059"/>
                        <a14:backgroundMark x1="84426" y1="75023" x2="75405" y2="81719"/>
                        <a14:backgroundMark x1="77026" y1="32217" x2="73573" y2="31493"/>
                        <a14:backgroundMark x1="67583" y1="33575" x2="65257" y2="31312"/>
                      </a14:backgroundRemoval>
                    </a14:imgEffect>
                  </a14:imgLayer>
                </a14:imgProps>
              </a:ext>
              <a:ext uri="{28A0092B-C50C-407E-A947-70E740481C1C}">
                <a14:useLocalDpi xmlns:a14="http://schemas.microsoft.com/office/drawing/2010/main" val="0"/>
              </a:ext>
            </a:extLst>
          </a:blip>
          <a:stretch>
            <a:fillRect/>
          </a:stretch>
        </p:blipFill>
        <p:spPr>
          <a:xfrm rot="277819">
            <a:off x="-1366951" y="-490407"/>
            <a:ext cx="3108709" cy="2420806"/>
          </a:xfrm>
          <a:prstGeom prst="rect">
            <a:avLst/>
          </a:prstGeom>
        </p:spPr>
      </p:pic>
      <p:sp>
        <p:nvSpPr>
          <p:cNvPr id="2" name="矩形 1">
            <a:extLst>
              <a:ext uri="{FF2B5EF4-FFF2-40B4-BE49-F238E27FC236}">
                <a16:creationId xmlns:a16="http://schemas.microsoft.com/office/drawing/2014/main" id="{CDACD7A8-3A6E-4C27-9240-791E721F0C74}"/>
              </a:ext>
            </a:extLst>
          </p:cNvPr>
          <p:cNvSpPr/>
          <p:nvPr/>
        </p:nvSpPr>
        <p:spPr>
          <a:xfrm>
            <a:off x="1570514" y="337965"/>
            <a:ext cx="4764972" cy="548443"/>
          </a:xfrm>
          <a:prstGeom prst="rect">
            <a:avLst/>
          </a:prstGeom>
        </p:spPr>
        <p:txBody>
          <a:bodyPr wrap="none">
            <a:normAutofit/>
          </a:bodyPr>
          <a:lstStyle/>
          <a:p>
            <a:r>
              <a:rPr lang="en-US" altLang="zh-TW" sz="2800" dirty="0">
                <a:solidFill>
                  <a:prstClr val="black">
                    <a:lumMod val="75000"/>
                    <a:lumOff val="25000"/>
                  </a:prstClr>
                </a:solidFill>
                <a:latin typeface="Source Han Sans TC"/>
                <a:ea typeface="Source Han Sans TC"/>
                <a:sym typeface="字魂59号-创粗黑" panose="00000500000000000000" pitchFamily="2" charset="-122"/>
              </a:rPr>
              <a:t>Data analysis –</a:t>
            </a:r>
            <a:r>
              <a:rPr lang="zh-TW" altLang="en-US" sz="2800" dirty="0">
                <a:solidFill>
                  <a:srgbClr val="0070C0"/>
                </a:solidFill>
                <a:latin typeface="Source Han Sans TC"/>
                <a:sym typeface="字魂59号-创粗黑" panose="00000500000000000000" pitchFamily="2" charset="-122"/>
              </a:rPr>
              <a:t>肛失禁患者</a:t>
            </a:r>
          </a:p>
          <a:p>
            <a:endParaRPr lang="zh-TW" altLang="en-US" sz="2800" dirty="0">
              <a:solidFill>
                <a:srgbClr val="0070C0"/>
              </a:solidFill>
              <a:latin typeface="Source Han Sans TC"/>
              <a:sym typeface="字魂59号-创粗黑" panose="00000500000000000000" pitchFamily="2" charset="-122"/>
            </a:endParaRPr>
          </a:p>
          <a:p>
            <a:endParaRPr lang="en-US" altLang="zh-TW" sz="2800" b="1" dirty="0">
              <a:solidFill>
                <a:srgbClr val="0070C0"/>
              </a:solidFill>
              <a:latin typeface="微軟正黑體" panose="020B0604030504040204" pitchFamily="34" charset="-120"/>
              <a:ea typeface="微軟正黑體" panose="020B0604030504040204" pitchFamily="34" charset="-120"/>
              <a:cs typeface="Calibri" panose="020F0502020204030204" pitchFamily="34" charset="0"/>
            </a:endParaRPr>
          </a:p>
        </p:txBody>
      </p:sp>
      <p:sp>
        <p:nvSpPr>
          <p:cNvPr id="7" name="文字方塊 6">
            <a:extLst>
              <a:ext uri="{FF2B5EF4-FFF2-40B4-BE49-F238E27FC236}">
                <a16:creationId xmlns:a16="http://schemas.microsoft.com/office/drawing/2014/main" id="{F36FF8FF-6BA0-209F-2116-3F8DD34B989C}"/>
              </a:ext>
            </a:extLst>
          </p:cNvPr>
          <p:cNvSpPr txBox="1"/>
          <p:nvPr/>
        </p:nvSpPr>
        <p:spPr>
          <a:xfrm>
            <a:off x="1549000" y="992809"/>
            <a:ext cx="10187404" cy="1323439"/>
          </a:xfrm>
          <a:prstGeom prst="rect">
            <a:avLst/>
          </a:prstGeom>
          <a:noFill/>
        </p:spPr>
        <p:txBody>
          <a:bodyPr wrap="none" rtlCol="0">
            <a:spAutoFit/>
          </a:bodyPr>
          <a:lstStyle/>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因為肛失禁患者的具有完整前後測的資料筆數比較多，因此在不補值的情況下其檢定結果</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已經滿顯著，但為了本研究的完整性，我們還是對其他沒有後測的資料進行補值，排除掉</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gn="just"/>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前測就已經沒有的資料，我們最終有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22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筆數據，且檢定的結果也顯示不論是使用哪一種</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gn="just"/>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補值方法，都顯著拒絕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H0</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，表示我們的治療是有達到統計上的顯著成效。</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6" name="文字方塊 5">
            <a:extLst>
              <a:ext uri="{FF2B5EF4-FFF2-40B4-BE49-F238E27FC236}">
                <a16:creationId xmlns:a16="http://schemas.microsoft.com/office/drawing/2014/main" id="{5B7A2F85-465C-21AB-9763-6E24399FF4E0}"/>
              </a:ext>
            </a:extLst>
          </p:cNvPr>
          <p:cNvSpPr txBox="1"/>
          <p:nvPr/>
        </p:nvSpPr>
        <p:spPr>
          <a:xfrm>
            <a:off x="1570514" y="2720974"/>
            <a:ext cx="1723549" cy="461665"/>
          </a:xfrm>
          <a:prstGeom prst="rect">
            <a:avLst/>
          </a:prstGeom>
          <a:noFill/>
        </p:spPr>
        <p:txBody>
          <a:bodyPr wrap="none" rtlCol="0">
            <a:spAutoFit/>
          </a:bodyPr>
          <a:lstStyle/>
          <a:p>
            <a:r>
              <a:rPr lang="zh-TW" altLang="en-US" sz="2400" b="1" dirty="0">
                <a:latin typeface="微軟正黑體" panose="020B0604030504040204" pitchFamily="34" charset="-120"/>
                <a:ea typeface="微軟正黑體" panose="020B0604030504040204" pitchFamily="34" charset="-120"/>
              </a:rPr>
              <a:t>部分預測值</a:t>
            </a:r>
          </a:p>
        </p:txBody>
      </p:sp>
      <p:graphicFrame>
        <p:nvGraphicFramePr>
          <p:cNvPr id="9" name="表格 8">
            <a:extLst>
              <a:ext uri="{FF2B5EF4-FFF2-40B4-BE49-F238E27FC236}">
                <a16:creationId xmlns:a16="http://schemas.microsoft.com/office/drawing/2014/main" id="{2B05BD72-464E-7C45-734A-A15DFA5253F4}"/>
              </a:ext>
            </a:extLst>
          </p:cNvPr>
          <p:cNvGraphicFramePr>
            <a:graphicFrameLocks noGrp="1"/>
          </p:cNvGraphicFramePr>
          <p:nvPr>
            <p:extLst>
              <p:ext uri="{D42A27DB-BD31-4B8C-83A1-F6EECF244321}">
                <p14:modId xmlns:p14="http://schemas.microsoft.com/office/powerpoint/2010/main" val="345326715"/>
              </p:ext>
            </p:extLst>
          </p:nvPr>
        </p:nvGraphicFramePr>
        <p:xfrm>
          <a:off x="6317028" y="3191512"/>
          <a:ext cx="4195483" cy="966767"/>
        </p:xfrm>
        <a:graphic>
          <a:graphicData uri="http://schemas.openxmlformats.org/drawingml/2006/table">
            <a:tbl>
              <a:tblPr/>
              <a:tblGrid>
                <a:gridCol w="1271627">
                  <a:extLst>
                    <a:ext uri="{9D8B030D-6E8A-4147-A177-3AD203B41FA5}">
                      <a16:colId xmlns:a16="http://schemas.microsoft.com/office/drawing/2014/main" val="3993428737"/>
                    </a:ext>
                  </a:extLst>
                </a:gridCol>
                <a:gridCol w="1461928">
                  <a:extLst>
                    <a:ext uri="{9D8B030D-6E8A-4147-A177-3AD203B41FA5}">
                      <a16:colId xmlns:a16="http://schemas.microsoft.com/office/drawing/2014/main" val="2161664515"/>
                    </a:ext>
                  </a:extLst>
                </a:gridCol>
                <a:gridCol w="1461928">
                  <a:extLst>
                    <a:ext uri="{9D8B030D-6E8A-4147-A177-3AD203B41FA5}">
                      <a16:colId xmlns:a16="http://schemas.microsoft.com/office/drawing/2014/main" val="81110010"/>
                    </a:ext>
                  </a:extLst>
                </a:gridCol>
              </a:tblGrid>
              <a:tr h="213360">
                <a:tc>
                  <a:txBody>
                    <a:bodyPr/>
                    <a:lstStyle/>
                    <a:p>
                      <a:pPr algn="ctr" fontAlgn="ct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zh-TW" altLang="en-US" sz="2000" b="0" i="0" u="none" strike="noStrike" dirty="0">
                          <a:solidFill>
                            <a:srgbClr val="000000"/>
                          </a:solidFill>
                          <a:effectLst/>
                          <a:latin typeface="微軟正黑體" panose="020B0604030504040204" pitchFamily="34" charset="-120"/>
                          <a:ea typeface="微軟正黑體" panose="020B0604030504040204" pitchFamily="34" charset="-120"/>
                        </a:rPr>
                        <a:t>統計量</a:t>
                      </a: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2000" b="0" i="0" u="none" strike="noStrike" dirty="0">
                          <a:solidFill>
                            <a:srgbClr val="000000"/>
                          </a:solidFill>
                          <a:effectLst/>
                          <a:latin typeface="微軟正黑體" panose="020B0604030504040204" pitchFamily="34" charset="-120"/>
                          <a:ea typeface="微軟正黑體" panose="020B0604030504040204" pitchFamily="34" charset="-120"/>
                        </a:rPr>
                        <a:t>p-value</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4200870"/>
                  </a:ext>
                </a:extLst>
              </a:tr>
              <a:tr h="341927">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T test</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-4.36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kern="1200" dirty="0">
                          <a:solidFill>
                            <a:srgbClr val="00B050"/>
                          </a:solidFill>
                          <a:latin typeface="微軟正黑體" panose="020B0604030504040204" pitchFamily="34" charset="-120"/>
                          <a:ea typeface="微軟正黑體" panose="020B0604030504040204" pitchFamily="34" charset="-120"/>
                          <a:cs typeface="+mn-cs"/>
                        </a:rPr>
                        <a:t>0.00012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1513865"/>
                  </a:ext>
                </a:extLst>
              </a:tr>
              <a:tr h="220980">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Wilcoxon</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11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kern="1200" dirty="0">
                          <a:solidFill>
                            <a:srgbClr val="00B050"/>
                          </a:solidFill>
                          <a:latin typeface="微軟正黑體" panose="020B0604030504040204" pitchFamily="34" charset="-120"/>
                          <a:ea typeface="微軟正黑體" panose="020B0604030504040204" pitchFamily="34" charset="-120"/>
                          <a:cs typeface="+mn-cs"/>
                        </a:rPr>
                        <a:t>6.56e-06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5705361"/>
                  </a:ext>
                </a:extLst>
              </a:tr>
            </a:tbl>
          </a:graphicData>
        </a:graphic>
      </p:graphicFrame>
      <p:sp>
        <p:nvSpPr>
          <p:cNvPr id="10" name="文字方塊 9">
            <a:extLst>
              <a:ext uri="{FF2B5EF4-FFF2-40B4-BE49-F238E27FC236}">
                <a16:creationId xmlns:a16="http://schemas.microsoft.com/office/drawing/2014/main" id="{3871BFE2-7923-9502-5AB0-071C2E990588}"/>
              </a:ext>
            </a:extLst>
          </p:cNvPr>
          <p:cNvSpPr txBox="1"/>
          <p:nvPr/>
        </p:nvSpPr>
        <p:spPr>
          <a:xfrm>
            <a:off x="5581751" y="2423359"/>
            <a:ext cx="5666038" cy="461665"/>
          </a:xfrm>
          <a:prstGeom prst="rect">
            <a:avLst/>
          </a:prstGeom>
          <a:noFill/>
        </p:spPr>
        <p:txBody>
          <a:bodyPr wrap="none" rtlCol="0">
            <a:spAutoFit/>
          </a:bodyPr>
          <a:lstStyle/>
          <a:p>
            <a:r>
              <a:rPr lang="zh-TW" altLang="en-US" sz="2400" b="1" dirty="0">
                <a:latin typeface="微軟正黑體" panose="020B0604030504040204" pitchFamily="34" charset="-120"/>
                <a:ea typeface="微軟正黑體" panose="020B0604030504040204" pitchFamily="34" charset="-120"/>
              </a:rPr>
              <a:t>檢定結果 </a:t>
            </a:r>
            <a:r>
              <a:rPr lang="en-US" altLang="zh-TW" sz="2400" b="1" dirty="0">
                <a:latin typeface="微軟正黑體" panose="020B0604030504040204" pitchFamily="34" charset="-120"/>
                <a:ea typeface="微軟正黑體" panose="020B0604030504040204" pitchFamily="34" charset="-120"/>
              </a:rPr>
              <a:t>(Bayesian Ridge Regression)</a:t>
            </a:r>
          </a:p>
        </p:txBody>
      </p:sp>
      <p:sp>
        <p:nvSpPr>
          <p:cNvPr id="11" name="文字方塊 10">
            <a:extLst>
              <a:ext uri="{FF2B5EF4-FFF2-40B4-BE49-F238E27FC236}">
                <a16:creationId xmlns:a16="http://schemas.microsoft.com/office/drawing/2014/main" id="{5ABABF25-AA30-1453-8224-A4821EBCA46C}"/>
              </a:ext>
            </a:extLst>
          </p:cNvPr>
          <p:cNvSpPr txBox="1"/>
          <p:nvPr/>
        </p:nvSpPr>
        <p:spPr>
          <a:xfrm>
            <a:off x="5581751" y="4510793"/>
            <a:ext cx="5343899" cy="461665"/>
          </a:xfrm>
          <a:prstGeom prst="rect">
            <a:avLst/>
          </a:prstGeom>
          <a:noFill/>
        </p:spPr>
        <p:txBody>
          <a:bodyPr wrap="none" rtlCol="0">
            <a:spAutoFit/>
          </a:bodyPr>
          <a:lstStyle/>
          <a:p>
            <a:r>
              <a:rPr lang="zh-TW" altLang="en-US" sz="2400" b="1" dirty="0">
                <a:latin typeface="微軟正黑體" panose="020B0604030504040204" pitchFamily="34" charset="-120"/>
                <a:ea typeface="微軟正黑體" panose="020B0604030504040204" pitchFamily="34" charset="-120"/>
              </a:rPr>
              <a:t>檢定結果 </a:t>
            </a:r>
            <a:r>
              <a:rPr lang="en-US" altLang="zh-TW" sz="2400" b="1" dirty="0">
                <a:latin typeface="微軟正黑體" panose="020B0604030504040204" pitchFamily="34" charset="-120"/>
                <a:ea typeface="微軟正黑體" panose="020B0604030504040204" pitchFamily="34" charset="-120"/>
              </a:rPr>
              <a:t>(Simple linear Regression)</a:t>
            </a:r>
          </a:p>
        </p:txBody>
      </p:sp>
      <p:graphicFrame>
        <p:nvGraphicFramePr>
          <p:cNvPr id="14" name="表格 13">
            <a:extLst>
              <a:ext uri="{FF2B5EF4-FFF2-40B4-BE49-F238E27FC236}">
                <a16:creationId xmlns:a16="http://schemas.microsoft.com/office/drawing/2014/main" id="{A83664AA-CFF1-D13C-3631-1DC482852CEC}"/>
              </a:ext>
            </a:extLst>
          </p:cNvPr>
          <p:cNvGraphicFramePr>
            <a:graphicFrameLocks noGrp="1"/>
          </p:cNvGraphicFramePr>
          <p:nvPr>
            <p:extLst>
              <p:ext uri="{D42A27DB-BD31-4B8C-83A1-F6EECF244321}">
                <p14:modId xmlns:p14="http://schemas.microsoft.com/office/powerpoint/2010/main" val="351630992"/>
              </p:ext>
            </p:extLst>
          </p:nvPr>
        </p:nvGraphicFramePr>
        <p:xfrm>
          <a:off x="6317027" y="5399548"/>
          <a:ext cx="4195483" cy="937260"/>
        </p:xfrm>
        <a:graphic>
          <a:graphicData uri="http://schemas.openxmlformats.org/drawingml/2006/table">
            <a:tbl>
              <a:tblPr/>
              <a:tblGrid>
                <a:gridCol w="1271627">
                  <a:extLst>
                    <a:ext uri="{9D8B030D-6E8A-4147-A177-3AD203B41FA5}">
                      <a16:colId xmlns:a16="http://schemas.microsoft.com/office/drawing/2014/main" val="3993428737"/>
                    </a:ext>
                  </a:extLst>
                </a:gridCol>
                <a:gridCol w="1461928">
                  <a:extLst>
                    <a:ext uri="{9D8B030D-6E8A-4147-A177-3AD203B41FA5}">
                      <a16:colId xmlns:a16="http://schemas.microsoft.com/office/drawing/2014/main" val="2161664515"/>
                    </a:ext>
                  </a:extLst>
                </a:gridCol>
                <a:gridCol w="1461928">
                  <a:extLst>
                    <a:ext uri="{9D8B030D-6E8A-4147-A177-3AD203B41FA5}">
                      <a16:colId xmlns:a16="http://schemas.microsoft.com/office/drawing/2014/main" val="81110010"/>
                    </a:ext>
                  </a:extLst>
                </a:gridCol>
              </a:tblGrid>
              <a:tr h="250659">
                <a:tc>
                  <a:txBody>
                    <a:bodyPr/>
                    <a:lstStyle/>
                    <a:p>
                      <a:pPr algn="ctr" fontAlgn="ct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zh-TW" altLang="en-US" sz="2000" b="0" i="0" u="none" strike="noStrike" dirty="0">
                          <a:solidFill>
                            <a:srgbClr val="000000"/>
                          </a:solidFill>
                          <a:effectLst/>
                          <a:latin typeface="微軟正黑體" panose="020B0604030504040204" pitchFamily="34" charset="-120"/>
                          <a:ea typeface="微軟正黑體" panose="020B0604030504040204" pitchFamily="34" charset="-120"/>
                        </a:rPr>
                        <a:t>統計量</a:t>
                      </a: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2000" b="0" i="0" u="none" strike="noStrike" dirty="0">
                          <a:solidFill>
                            <a:srgbClr val="000000"/>
                          </a:solidFill>
                          <a:effectLst/>
                          <a:latin typeface="微軟正黑體" panose="020B0604030504040204" pitchFamily="34" charset="-120"/>
                          <a:ea typeface="微軟正黑體" panose="020B0604030504040204" pitchFamily="34" charset="-120"/>
                        </a:rPr>
                        <a:t>p-value</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4200870"/>
                  </a:ext>
                </a:extLst>
              </a:tr>
              <a:tr h="220980">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T test</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-4.64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kern="1200" dirty="0">
                          <a:solidFill>
                            <a:srgbClr val="00B050"/>
                          </a:solidFill>
                          <a:latin typeface="微軟正黑體" panose="020B0604030504040204" pitchFamily="34" charset="-120"/>
                          <a:ea typeface="微軟正黑體" panose="020B0604030504040204" pitchFamily="34" charset="-120"/>
                          <a:cs typeface="+mn-cs"/>
                        </a:rPr>
                        <a:t>6.21e-05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1513865"/>
                  </a:ext>
                </a:extLst>
              </a:tr>
              <a:tr h="220980">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Wilcoxon</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10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kern="1200" dirty="0">
                          <a:solidFill>
                            <a:srgbClr val="00B050"/>
                          </a:solidFill>
                          <a:latin typeface="微軟正黑體" panose="020B0604030504040204" pitchFamily="34" charset="-120"/>
                          <a:ea typeface="微軟正黑體" panose="020B0604030504040204" pitchFamily="34" charset="-120"/>
                          <a:cs typeface="+mn-cs"/>
                        </a:rPr>
                        <a:t>5.13e-06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5705361"/>
                  </a:ext>
                </a:extLst>
              </a:tr>
            </a:tbl>
          </a:graphicData>
        </a:graphic>
      </p:graphicFrame>
      <p:graphicFrame>
        <p:nvGraphicFramePr>
          <p:cNvPr id="5" name="表格 4">
            <a:extLst>
              <a:ext uri="{FF2B5EF4-FFF2-40B4-BE49-F238E27FC236}">
                <a16:creationId xmlns:a16="http://schemas.microsoft.com/office/drawing/2014/main" id="{2811A4DD-3196-6F78-6545-AFE976D9C4E7}"/>
              </a:ext>
            </a:extLst>
          </p:cNvPr>
          <p:cNvGraphicFramePr>
            <a:graphicFrameLocks noGrp="1"/>
          </p:cNvGraphicFramePr>
          <p:nvPr>
            <p:extLst>
              <p:ext uri="{D42A27DB-BD31-4B8C-83A1-F6EECF244321}">
                <p14:modId xmlns:p14="http://schemas.microsoft.com/office/powerpoint/2010/main" val="52935306"/>
              </p:ext>
            </p:extLst>
          </p:nvPr>
        </p:nvGraphicFramePr>
        <p:xfrm>
          <a:off x="794565" y="3510135"/>
          <a:ext cx="3626829" cy="3009900"/>
        </p:xfrm>
        <a:graphic>
          <a:graphicData uri="http://schemas.openxmlformats.org/drawingml/2006/table">
            <a:tbl>
              <a:tblPr/>
              <a:tblGrid>
                <a:gridCol w="719609">
                  <a:extLst>
                    <a:ext uri="{9D8B030D-6E8A-4147-A177-3AD203B41FA5}">
                      <a16:colId xmlns:a16="http://schemas.microsoft.com/office/drawing/2014/main" val="2308458833"/>
                    </a:ext>
                  </a:extLst>
                </a:gridCol>
                <a:gridCol w="820354">
                  <a:extLst>
                    <a:ext uri="{9D8B030D-6E8A-4147-A177-3AD203B41FA5}">
                      <a16:colId xmlns:a16="http://schemas.microsoft.com/office/drawing/2014/main" val="12725514"/>
                    </a:ext>
                  </a:extLst>
                </a:gridCol>
                <a:gridCol w="1050629">
                  <a:extLst>
                    <a:ext uri="{9D8B030D-6E8A-4147-A177-3AD203B41FA5}">
                      <a16:colId xmlns:a16="http://schemas.microsoft.com/office/drawing/2014/main" val="1616214365"/>
                    </a:ext>
                  </a:extLst>
                </a:gridCol>
                <a:gridCol w="1036237">
                  <a:extLst>
                    <a:ext uri="{9D8B030D-6E8A-4147-A177-3AD203B41FA5}">
                      <a16:colId xmlns:a16="http://schemas.microsoft.com/office/drawing/2014/main" val="2958420482"/>
                    </a:ext>
                  </a:extLst>
                </a:gridCol>
              </a:tblGrid>
              <a:tr h="411480">
                <a:tc>
                  <a:txBody>
                    <a:bodyPr/>
                    <a:lstStyle/>
                    <a:p>
                      <a:pPr marL="0" algn="ctr" defTabSz="1219170" rtl="0" eaLnBrk="1" fontAlgn="ctr" latinLnBrk="0" hangingPunct="1"/>
                      <a:r>
                        <a:rPr lang="en-US" sz="1600" b="0" i="0" u="none" strike="noStrike" kern="12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PreTest</a:t>
                      </a:r>
                      <a:endPar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1219170" rtl="0" eaLnBrk="1" fontAlgn="ctr" latinLnBrk="0" hangingPunct="1"/>
                      <a:r>
                        <a:rPr lang="en-US" sz="1600" b="0" i="0" u="none" strike="noStrike" kern="12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PostTest</a:t>
                      </a:r>
                      <a:endPar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1219170" rtl="0" eaLnBrk="1" fontAlgn="ctr" latinLnBrk="0" hangingPunct="1"/>
                      <a:r>
                        <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Imputation</a:t>
                      </a:r>
                      <a:br>
                        <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(Bayesian)</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1219170" rtl="0" eaLnBrk="1" fontAlgn="ctr" latinLnBrk="0" hangingPunct="1"/>
                      <a:r>
                        <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Imputation</a:t>
                      </a:r>
                      <a:br>
                        <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(Simple LR)</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582113283"/>
                  </a:ext>
                </a:extLst>
              </a:tr>
              <a:tr h="205740">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27.2</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26.7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26.7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26.7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32958581"/>
                  </a:ext>
                </a:extLst>
              </a:tr>
              <a:tr h="20574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7.1</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14.4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14.4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14.4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26168012"/>
                  </a:ext>
                </a:extLst>
              </a:tr>
              <a:tr h="20574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48</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61.3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61.3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61.3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30361147"/>
                  </a:ext>
                </a:extLst>
              </a:tr>
              <a:tr h="20574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63.5</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zh-TW" altLang="en-US" sz="1600" b="0" i="0" u="none" strike="noStrike" kern="1200">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76.705457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73.971021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35103680"/>
                  </a:ext>
                </a:extLst>
              </a:tr>
              <a:tr h="20574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5.2</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9.3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9.3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9.3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11054718"/>
                  </a:ext>
                </a:extLst>
              </a:tr>
              <a:tr h="20574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1.7</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1390743"/>
                  </a:ext>
                </a:extLst>
              </a:tr>
              <a:tr h="20574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30.8</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zh-TW" altLang="en-US" sz="1600" b="0" i="0" u="none" strike="noStrike" kern="1200">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43.589113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37.964889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83085949"/>
                  </a:ext>
                </a:extLst>
              </a:tr>
              <a:tr h="20574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9.7</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9.8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9.8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9.8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03835822"/>
                  </a:ext>
                </a:extLst>
              </a:tr>
              <a:tr h="20574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10.9</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12058721"/>
                  </a:ext>
                </a:extLst>
              </a:tr>
              <a:tr h="205740">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14.1</a:t>
                      </a:r>
                    </a:p>
                  </a:txBody>
                  <a:tcPr marL="7620" marR="7620" marT="762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20.2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20.2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20.2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39446907"/>
                  </a:ext>
                </a:extLst>
              </a:tr>
            </a:tbl>
          </a:graphicData>
        </a:graphic>
      </p:graphicFrame>
    </p:spTree>
    <p:extLst>
      <p:ext uri="{BB962C8B-B14F-4D97-AF65-F5344CB8AC3E}">
        <p14:creationId xmlns:p14="http://schemas.microsoft.com/office/powerpoint/2010/main" val="1002130868"/>
      </p:ext>
    </p:extLst>
  </p:cSld>
  <p:clrMapOvr>
    <a:masterClrMapping/>
  </p:clrMapOvr>
  <mc:AlternateContent xmlns:mc="http://schemas.openxmlformats.org/markup-compatibility/2006" xmlns:p14="http://schemas.microsoft.com/office/powerpoint/2010/main">
    <mc:Choice Requires="p14">
      <p:transition spd="slow" p14:dur="1250" advClick="0">
        <p14:pan dir="u"/>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58536" y="107592"/>
            <a:ext cx="5928672" cy="9840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70"/>
            <a:endParaRPr lang="en-US">
              <a:solidFill>
                <a:prstClr val="white"/>
              </a:solidFill>
              <a:latin typeface="思源黑体 CN Medium" panose="020B0600000000000000" pitchFamily="34" charset="-122"/>
              <a:ea typeface="思源黑体 CN Medium" panose="020B0600000000000000" pitchFamily="34" charset="-122"/>
              <a:sym typeface="字魂59号-创粗黑" panose="00000500000000000000" pitchFamily="2" charset="-122"/>
            </a:endParaRPr>
          </a:p>
        </p:txBody>
      </p:sp>
      <p:pic>
        <p:nvPicPr>
          <p:cNvPr id="17" name="图片 16">
            <a:extLst>
              <a:ext uri="{FF2B5EF4-FFF2-40B4-BE49-F238E27FC236}">
                <a16:creationId xmlns:a16="http://schemas.microsoft.com/office/drawing/2014/main" id="{05E72798-6899-42A6-9FEE-703EF4EFCDB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86" b="100000" l="0" r="100000">
                        <a14:foregroundMark x1="82171" y1="51131" x2="59408" y2="50679"/>
                        <a14:backgroundMark x1="91473" y1="41991" x2="86047" y2="34299"/>
                        <a14:backgroundMark x1="91966" y1="54118" x2="88090" y2="67059"/>
                        <a14:backgroundMark x1="84426" y1="75023" x2="75405" y2="81719"/>
                        <a14:backgroundMark x1="77026" y1="32217" x2="73573" y2="31493"/>
                        <a14:backgroundMark x1="67583" y1="33575" x2="65257" y2="31312"/>
                      </a14:backgroundRemoval>
                    </a14:imgEffect>
                  </a14:imgLayer>
                </a14:imgProps>
              </a:ext>
              <a:ext uri="{28A0092B-C50C-407E-A947-70E740481C1C}">
                <a14:useLocalDpi xmlns:a14="http://schemas.microsoft.com/office/drawing/2010/main" val="0"/>
              </a:ext>
            </a:extLst>
          </a:blip>
          <a:stretch>
            <a:fillRect/>
          </a:stretch>
        </p:blipFill>
        <p:spPr>
          <a:xfrm rot="277819">
            <a:off x="-1366951" y="-490407"/>
            <a:ext cx="3108709" cy="2420806"/>
          </a:xfrm>
          <a:prstGeom prst="rect">
            <a:avLst/>
          </a:prstGeom>
        </p:spPr>
      </p:pic>
      <p:sp>
        <p:nvSpPr>
          <p:cNvPr id="2" name="矩形 1">
            <a:extLst>
              <a:ext uri="{FF2B5EF4-FFF2-40B4-BE49-F238E27FC236}">
                <a16:creationId xmlns:a16="http://schemas.microsoft.com/office/drawing/2014/main" id="{CDACD7A8-3A6E-4C27-9240-791E721F0C74}"/>
              </a:ext>
            </a:extLst>
          </p:cNvPr>
          <p:cNvSpPr/>
          <p:nvPr/>
        </p:nvSpPr>
        <p:spPr>
          <a:xfrm>
            <a:off x="1570514" y="337965"/>
            <a:ext cx="4764972" cy="548443"/>
          </a:xfrm>
          <a:prstGeom prst="rect">
            <a:avLst/>
          </a:prstGeom>
        </p:spPr>
        <p:txBody>
          <a:bodyPr wrap="none">
            <a:normAutofit/>
          </a:bodyPr>
          <a:lstStyle/>
          <a:p>
            <a:r>
              <a:rPr lang="en-US" altLang="zh-TW" sz="2800" dirty="0">
                <a:solidFill>
                  <a:prstClr val="black">
                    <a:lumMod val="75000"/>
                    <a:lumOff val="25000"/>
                  </a:prstClr>
                </a:solidFill>
                <a:latin typeface="Source Han Sans TC"/>
                <a:ea typeface="Source Han Sans TC"/>
                <a:sym typeface="字魂59号-创粗黑" panose="00000500000000000000" pitchFamily="2" charset="-122"/>
              </a:rPr>
              <a:t>Data analysis –</a:t>
            </a:r>
            <a:r>
              <a:rPr lang="zh-TW" altLang="en-US" sz="2800" dirty="0">
                <a:solidFill>
                  <a:srgbClr val="0070C0"/>
                </a:solidFill>
                <a:latin typeface="Source Han Sans TC"/>
                <a:sym typeface="字魂59号-创粗黑" panose="00000500000000000000" pitchFamily="2" charset="-122"/>
              </a:rPr>
              <a:t>肛失禁患者</a:t>
            </a:r>
            <a:endParaRPr lang="en-US" altLang="zh-TW" sz="2800" dirty="0">
              <a:solidFill>
                <a:srgbClr val="0070C0"/>
              </a:solidFill>
              <a:latin typeface="Source Han Sans TC"/>
              <a:ea typeface="Source Han Sans TC"/>
              <a:sym typeface="字魂59号-创粗黑" panose="00000500000000000000" pitchFamily="2" charset="-122"/>
            </a:endParaRPr>
          </a:p>
          <a:p>
            <a:endParaRPr lang="en-US" altLang="zh-TW" sz="2800" b="1" dirty="0">
              <a:solidFill>
                <a:srgbClr val="0070C0"/>
              </a:solidFill>
              <a:latin typeface="微軟正黑體" panose="020B0604030504040204" pitchFamily="34" charset="-120"/>
              <a:ea typeface="微軟正黑體" panose="020B0604030504040204" pitchFamily="34" charset="-120"/>
              <a:cs typeface="Calibri" panose="020F0502020204030204" pitchFamily="34" charset="0"/>
            </a:endParaRPr>
          </a:p>
        </p:txBody>
      </p:sp>
      <p:sp>
        <p:nvSpPr>
          <p:cNvPr id="7" name="文字方塊 6">
            <a:extLst>
              <a:ext uri="{FF2B5EF4-FFF2-40B4-BE49-F238E27FC236}">
                <a16:creationId xmlns:a16="http://schemas.microsoft.com/office/drawing/2014/main" id="{F36FF8FF-6BA0-209F-2116-3F8DD34B989C}"/>
              </a:ext>
            </a:extLst>
          </p:cNvPr>
          <p:cNvSpPr txBox="1"/>
          <p:nvPr/>
        </p:nvSpPr>
        <p:spPr>
          <a:xfrm>
            <a:off x="1549000" y="992809"/>
            <a:ext cx="10443885" cy="1323439"/>
          </a:xfrm>
          <a:prstGeom prst="rect">
            <a:avLst/>
          </a:prstGeom>
          <a:noFill/>
        </p:spPr>
        <p:txBody>
          <a:bodyPr wrap="none" rtlCol="0">
            <a:spAutoFit/>
          </a:bodyPr>
          <a:lstStyle/>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根據前面的檢定結果，我們知道最大值與基準值之間的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pre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跟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post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有顯著的差異，接下來</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我們想知道該差異到底是不是因為基準值不變但最大值變大，但從下圖我們可以很明顯地看</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出跟我們在便祕資料很類似的結果，就是在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Post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的肌電圖資料上都有明顯的趨勢向上，該</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drift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的存在使得我們直接比較</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基準值</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跟</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最大值</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前後的差異其實是沒有意義的。</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5" name="圖片 4">
            <a:extLst>
              <a:ext uri="{FF2B5EF4-FFF2-40B4-BE49-F238E27FC236}">
                <a16:creationId xmlns:a16="http://schemas.microsoft.com/office/drawing/2014/main" id="{28059201-BC6A-09AE-4D64-78ECB33FDA3B}"/>
              </a:ext>
            </a:extLst>
          </p:cNvPr>
          <p:cNvPicPr>
            <a:picLocks noChangeAspect="1"/>
          </p:cNvPicPr>
          <p:nvPr/>
        </p:nvPicPr>
        <p:blipFill>
          <a:blip r:embed="rId5"/>
          <a:stretch>
            <a:fillRect/>
          </a:stretch>
        </p:blipFill>
        <p:spPr>
          <a:xfrm>
            <a:off x="1570514" y="2951243"/>
            <a:ext cx="4796103" cy="3701805"/>
          </a:xfrm>
          <a:prstGeom prst="rect">
            <a:avLst/>
          </a:prstGeom>
          <a:ln>
            <a:solidFill>
              <a:schemeClr val="tx1"/>
            </a:solidFill>
          </a:ln>
        </p:spPr>
      </p:pic>
      <p:pic>
        <p:nvPicPr>
          <p:cNvPr id="6" name="圖片 5">
            <a:extLst>
              <a:ext uri="{FF2B5EF4-FFF2-40B4-BE49-F238E27FC236}">
                <a16:creationId xmlns:a16="http://schemas.microsoft.com/office/drawing/2014/main" id="{03D38A12-7C40-5EF0-1F73-2553217D7E41}"/>
              </a:ext>
            </a:extLst>
          </p:cNvPr>
          <p:cNvPicPr>
            <a:picLocks noChangeAspect="1"/>
          </p:cNvPicPr>
          <p:nvPr/>
        </p:nvPicPr>
        <p:blipFill>
          <a:blip r:embed="rId6"/>
          <a:stretch>
            <a:fillRect/>
          </a:stretch>
        </p:blipFill>
        <p:spPr>
          <a:xfrm>
            <a:off x="6557082" y="2951242"/>
            <a:ext cx="4796104" cy="3701806"/>
          </a:xfrm>
          <a:prstGeom prst="rect">
            <a:avLst/>
          </a:prstGeom>
          <a:ln>
            <a:solidFill>
              <a:schemeClr val="tx1"/>
            </a:solidFill>
          </a:ln>
        </p:spPr>
      </p:pic>
    </p:spTree>
    <p:extLst>
      <p:ext uri="{BB962C8B-B14F-4D97-AF65-F5344CB8AC3E}">
        <p14:creationId xmlns:p14="http://schemas.microsoft.com/office/powerpoint/2010/main" val="118484132"/>
      </p:ext>
    </p:extLst>
  </p:cSld>
  <p:clrMapOvr>
    <a:masterClrMapping/>
  </p:clrMapOvr>
  <mc:AlternateContent xmlns:mc="http://schemas.openxmlformats.org/markup-compatibility/2006" xmlns:p14="http://schemas.microsoft.com/office/powerpoint/2010/main">
    <mc:Choice Requires="p14">
      <p:transition spd="slow" p14:dur="1250" advClick="0">
        <p14:pan dir="u"/>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58536" y="107592"/>
            <a:ext cx="5928672" cy="9840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70"/>
            <a:endParaRPr lang="en-US">
              <a:solidFill>
                <a:prstClr val="white"/>
              </a:solidFill>
              <a:latin typeface="思源黑体 CN Medium" panose="020B0600000000000000" pitchFamily="34" charset="-122"/>
              <a:ea typeface="思源黑体 CN Medium" panose="020B0600000000000000" pitchFamily="34" charset="-122"/>
              <a:sym typeface="字魂59号-创粗黑" panose="00000500000000000000" pitchFamily="2" charset="-122"/>
            </a:endParaRPr>
          </a:p>
        </p:txBody>
      </p:sp>
      <p:pic>
        <p:nvPicPr>
          <p:cNvPr id="17" name="图片 16">
            <a:extLst>
              <a:ext uri="{FF2B5EF4-FFF2-40B4-BE49-F238E27FC236}">
                <a16:creationId xmlns:a16="http://schemas.microsoft.com/office/drawing/2014/main" id="{05E72798-6899-42A6-9FEE-703EF4EFCDB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86" b="100000" l="0" r="100000">
                        <a14:foregroundMark x1="82171" y1="51131" x2="59408" y2="50679"/>
                        <a14:backgroundMark x1="91473" y1="41991" x2="86047" y2="34299"/>
                        <a14:backgroundMark x1="91966" y1="54118" x2="88090" y2="67059"/>
                        <a14:backgroundMark x1="84426" y1="75023" x2="75405" y2="81719"/>
                        <a14:backgroundMark x1="77026" y1="32217" x2="73573" y2="31493"/>
                        <a14:backgroundMark x1="67583" y1="33575" x2="65257" y2="31312"/>
                      </a14:backgroundRemoval>
                    </a14:imgEffect>
                  </a14:imgLayer>
                </a14:imgProps>
              </a:ext>
              <a:ext uri="{28A0092B-C50C-407E-A947-70E740481C1C}">
                <a14:useLocalDpi xmlns:a14="http://schemas.microsoft.com/office/drawing/2010/main" val="0"/>
              </a:ext>
            </a:extLst>
          </a:blip>
          <a:stretch>
            <a:fillRect/>
          </a:stretch>
        </p:blipFill>
        <p:spPr>
          <a:xfrm rot="277819">
            <a:off x="-1366951" y="-490407"/>
            <a:ext cx="3108709" cy="2420806"/>
          </a:xfrm>
          <a:prstGeom prst="rect">
            <a:avLst/>
          </a:prstGeom>
        </p:spPr>
      </p:pic>
      <p:sp>
        <p:nvSpPr>
          <p:cNvPr id="2" name="矩形 1">
            <a:extLst>
              <a:ext uri="{FF2B5EF4-FFF2-40B4-BE49-F238E27FC236}">
                <a16:creationId xmlns:a16="http://schemas.microsoft.com/office/drawing/2014/main" id="{CDACD7A8-3A6E-4C27-9240-791E721F0C74}"/>
              </a:ext>
            </a:extLst>
          </p:cNvPr>
          <p:cNvSpPr/>
          <p:nvPr/>
        </p:nvSpPr>
        <p:spPr>
          <a:xfrm>
            <a:off x="1570514" y="337965"/>
            <a:ext cx="4764972" cy="548443"/>
          </a:xfrm>
          <a:prstGeom prst="rect">
            <a:avLst/>
          </a:prstGeom>
        </p:spPr>
        <p:txBody>
          <a:bodyPr wrap="none">
            <a:normAutofit/>
          </a:bodyPr>
          <a:lstStyle/>
          <a:p>
            <a:r>
              <a:rPr lang="en-US" altLang="zh-TW" sz="2800" dirty="0">
                <a:solidFill>
                  <a:prstClr val="black">
                    <a:lumMod val="75000"/>
                    <a:lumOff val="25000"/>
                  </a:prstClr>
                </a:solidFill>
                <a:latin typeface="Source Han Sans TC"/>
                <a:ea typeface="Source Han Sans TC"/>
                <a:sym typeface="字魂59号-创粗黑" panose="00000500000000000000" pitchFamily="2" charset="-122"/>
              </a:rPr>
              <a:t>Data analysis –</a:t>
            </a:r>
            <a:r>
              <a:rPr lang="zh-TW" altLang="en-US" sz="2800" dirty="0">
                <a:solidFill>
                  <a:srgbClr val="0070C0"/>
                </a:solidFill>
                <a:latin typeface="Source Han Sans TC"/>
                <a:sym typeface="字魂59号-创粗黑" panose="00000500000000000000" pitchFamily="2" charset="-122"/>
              </a:rPr>
              <a:t>肛失禁患者</a:t>
            </a:r>
            <a:endParaRPr lang="en-US" altLang="zh-TW" sz="2800" dirty="0">
              <a:solidFill>
                <a:srgbClr val="0070C0"/>
              </a:solidFill>
              <a:latin typeface="Source Han Sans TC"/>
              <a:ea typeface="Source Han Sans TC"/>
              <a:sym typeface="字魂59号-创粗黑" panose="00000500000000000000" pitchFamily="2" charset="-122"/>
            </a:endParaRPr>
          </a:p>
          <a:p>
            <a:endParaRPr lang="en-US" altLang="zh-TW" sz="2800" b="1" dirty="0">
              <a:solidFill>
                <a:srgbClr val="0070C0"/>
              </a:solidFill>
              <a:latin typeface="微軟正黑體" panose="020B0604030504040204" pitchFamily="34" charset="-120"/>
              <a:ea typeface="微軟正黑體" panose="020B0604030504040204" pitchFamily="34" charset="-120"/>
              <a:cs typeface="Calibri" panose="020F0502020204030204" pitchFamily="34" charset="0"/>
            </a:endParaRPr>
          </a:p>
        </p:txBody>
      </p:sp>
      <p:sp>
        <p:nvSpPr>
          <p:cNvPr id="7" name="文字方塊 6">
            <a:extLst>
              <a:ext uri="{FF2B5EF4-FFF2-40B4-BE49-F238E27FC236}">
                <a16:creationId xmlns:a16="http://schemas.microsoft.com/office/drawing/2014/main" id="{F36FF8FF-6BA0-209F-2116-3F8DD34B989C}"/>
              </a:ext>
            </a:extLst>
          </p:cNvPr>
          <p:cNvSpPr txBox="1"/>
          <p:nvPr/>
        </p:nvSpPr>
        <p:spPr>
          <a:xfrm>
            <a:off x="1549000" y="992809"/>
            <a:ext cx="8905002" cy="1323439"/>
          </a:xfrm>
          <a:prstGeom prst="rect">
            <a:avLst/>
          </a:prstGeom>
          <a:noFill/>
        </p:spPr>
        <p:txBody>
          <a:bodyPr wrap="none" rtlCol="0">
            <a:spAutoFit/>
          </a:bodyPr>
          <a:lstStyle/>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但我們還是可以將前後測的</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基值</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與</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最大值</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進行檢定來檢查是否真的是不顯著。</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對於基值，我們希望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post base</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 跟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pre base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沒有太大的差異，而最大值我們</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則是希望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post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的最大值可以大於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pre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的最大值。從以下的結果我們可以得到</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跟前一張盒鬚圖相似的結論，基準值跟最大值都沒有達到統計顯著</a:t>
            </a:r>
            <a:endParaRPr lang="en-US" altLang="zh-TW" sz="2000" dirty="0">
              <a:solidFill>
                <a:schemeClr val="accent2">
                  <a:lumMod val="75000"/>
                </a:schemeClr>
              </a:solidFill>
              <a:latin typeface="微軟正黑體" panose="020B0604030504040204" pitchFamily="34" charset="-120"/>
              <a:ea typeface="微軟正黑體" panose="020B0604030504040204" pitchFamily="34" charset="-120"/>
            </a:endParaRPr>
          </a:p>
        </p:txBody>
      </p:sp>
      <p:graphicFrame>
        <p:nvGraphicFramePr>
          <p:cNvPr id="5" name="表格 4">
            <a:extLst>
              <a:ext uri="{FF2B5EF4-FFF2-40B4-BE49-F238E27FC236}">
                <a16:creationId xmlns:a16="http://schemas.microsoft.com/office/drawing/2014/main" id="{96A105B1-595A-D357-B1E8-2E6A57341A68}"/>
              </a:ext>
            </a:extLst>
          </p:cNvPr>
          <p:cNvGraphicFramePr>
            <a:graphicFrameLocks noGrp="1"/>
          </p:cNvGraphicFramePr>
          <p:nvPr>
            <p:extLst>
              <p:ext uri="{D42A27DB-BD31-4B8C-83A1-F6EECF244321}">
                <p14:modId xmlns:p14="http://schemas.microsoft.com/office/powerpoint/2010/main" val="1559907080"/>
              </p:ext>
            </p:extLst>
          </p:nvPr>
        </p:nvGraphicFramePr>
        <p:xfrm>
          <a:off x="4078323" y="3429000"/>
          <a:ext cx="4195483" cy="966767"/>
        </p:xfrm>
        <a:graphic>
          <a:graphicData uri="http://schemas.openxmlformats.org/drawingml/2006/table">
            <a:tbl>
              <a:tblPr/>
              <a:tblGrid>
                <a:gridCol w="1271627">
                  <a:extLst>
                    <a:ext uri="{9D8B030D-6E8A-4147-A177-3AD203B41FA5}">
                      <a16:colId xmlns:a16="http://schemas.microsoft.com/office/drawing/2014/main" val="3993428737"/>
                    </a:ext>
                  </a:extLst>
                </a:gridCol>
                <a:gridCol w="1461928">
                  <a:extLst>
                    <a:ext uri="{9D8B030D-6E8A-4147-A177-3AD203B41FA5}">
                      <a16:colId xmlns:a16="http://schemas.microsoft.com/office/drawing/2014/main" val="2161664515"/>
                    </a:ext>
                  </a:extLst>
                </a:gridCol>
                <a:gridCol w="1461928">
                  <a:extLst>
                    <a:ext uri="{9D8B030D-6E8A-4147-A177-3AD203B41FA5}">
                      <a16:colId xmlns:a16="http://schemas.microsoft.com/office/drawing/2014/main" val="81110010"/>
                    </a:ext>
                  </a:extLst>
                </a:gridCol>
              </a:tblGrid>
              <a:tr h="213360">
                <a:tc>
                  <a:txBody>
                    <a:bodyPr/>
                    <a:lstStyle/>
                    <a:p>
                      <a:pPr algn="ctr" fontAlgn="ct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zh-TW" altLang="en-US" sz="2000" b="0" i="0" u="none" strike="noStrike" dirty="0">
                          <a:solidFill>
                            <a:srgbClr val="000000"/>
                          </a:solidFill>
                          <a:effectLst/>
                          <a:latin typeface="微軟正黑體" panose="020B0604030504040204" pitchFamily="34" charset="-120"/>
                          <a:ea typeface="微軟正黑體" panose="020B0604030504040204" pitchFamily="34" charset="-120"/>
                        </a:rPr>
                        <a:t>統計量</a:t>
                      </a: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2000" b="0" i="0" u="none" strike="noStrike" dirty="0">
                          <a:solidFill>
                            <a:srgbClr val="000000"/>
                          </a:solidFill>
                          <a:effectLst/>
                          <a:latin typeface="微軟正黑體" panose="020B0604030504040204" pitchFamily="34" charset="-120"/>
                          <a:ea typeface="微軟正黑體" panose="020B0604030504040204" pitchFamily="34" charset="-120"/>
                        </a:rPr>
                        <a:t>p-value</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4200870"/>
                  </a:ext>
                </a:extLst>
              </a:tr>
              <a:tr h="341927">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T test</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0.786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kern="1200" dirty="0">
                          <a:solidFill>
                            <a:srgbClr val="FF0000"/>
                          </a:solidFill>
                          <a:latin typeface="微軟正黑體" panose="020B0604030504040204" pitchFamily="34" charset="-120"/>
                          <a:ea typeface="微軟正黑體" panose="020B0604030504040204" pitchFamily="34" charset="-120"/>
                          <a:cs typeface="+mn-cs"/>
                        </a:rPr>
                        <a:t>0.445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1513865"/>
                  </a:ext>
                </a:extLst>
              </a:tr>
              <a:tr h="220980">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Wilcoxon</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45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kern="1200" dirty="0">
                          <a:solidFill>
                            <a:srgbClr val="FF0000"/>
                          </a:solidFill>
                          <a:latin typeface="微軟正黑體" panose="020B0604030504040204" pitchFamily="34" charset="-120"/>
                          <a:ea typeface="微軟正黑體" panose="020B0604030504040204" pitchFamily="34" charset="-120"/>
                          <a:cs typeface="+mn-cs"/>
                        </a:rPr>
                        <a:t>0.669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5705361"/>
                  </a:ext>
                </a:extLst>
              </a:tr>
            </a:tbl>
          </a:graphicData>
        </a:graphic>
      </p:graphicFrame>
      <p:sp>
        <p:nvSpPr>
          <p:cNvPr id="6" name="文字方塊 5">
            <a:extLst>
              <a:ext uri="{FF2B5EF4-FFF2-40B4-BE49-F238E27FC236}">
                <a16:creationId xmlns:a16="http://schemas.microsoft.com/office/drawing/2014/main" id="{D81D54FA-27CA-5B29-7816-F50647C2B683}"/>
              </a:ext>
            </a:extLst>
          </p:cNvPr>
          <p:cNvSpPr txBox="1"/>
          <p:nvPr/>
        </p:nvSpPr>
        <p:spPr>
          <a:xfrm>
            <a:off x="4246936" y="2639186"/>
            <a:ext cx="3890809" cy="461665"/>
          </a:xfrm>
          <a:prstGeom prst="rect">
            <a:avLst/>
          </a:prstGeom>
          <a:noFill/>
        </p:spPr>
        <p:txBody>
          <a:bodyPr wrap="none" rtlCol="0">
            <a:spAutoFit/>
          </a:bodyPr>
          <a:lstStyle/>
          <a:p>
            <a:r>
              <a:rPr lang="zh-TW" altLang="en-US" sz="2400" b="1" dirty="0">
                <a:latin typeface="微軟正黑體" panose="020B0604030504040204" pitchFamily="34" charset="-120"/>
                <a:ea typeface="微軟正黑體" panose="020B0604030504040204" pitchFamily="34" charset="-120"/>
              </a:rPr>
              <a:t>基準值檢定結果 </a:t>
            </a:r>
            <a:r>
              <a:rPr lang="en-US" altLang="zh-TW" sz="2400" b="1" dirty="0">
                <a:latin typeface="微軟正黑體" panose="020B0604030504040204" pitchFamily="34" charset="-120"/>
                <a:ea typeface="微軟正黑體" panose="020B0604030504040204" pitchFamily="34" charset="-120"/>
              </a:rPr>
              <a:t>– </a:t>
            </a:r>
            <a:r>
              <a:rPr lang="zh-TW" altLang="en-US" sz="2400" b="1" dirty="0">
                <a:latin typeface="微軟正黑體" panose="020B0604030504040204" pitchFamily="34" charset="-120"/>
                <a:ea typeface="微軟正黑體" panose="020B0604030504040204" pitchFamily="34" charset="-120"/>
              </a:rPr>
              <a:t>雙尾檢定</a:t>
            </a:r>
            <a:endParaRPr lang="en-US" altLang="zh-TW" sz="2400" b="1" dirty="0">
              <a:latin typeface="微軟正黑體" panose="020B0604030504040204" pitchFamily="34" charset="-120"/>
              <a:ea typeface="微軟正黑體" panose="020B0604030504040204" pitchFamily="34" charset="-120"/>
            </a:endParaRPr>
          </a:p>
        </p:txBody>
      </p:sp>
      <p:sp>
        <p:nvSpPr>
          <p:cNvPr id="8" name="文字方塊 7">
            <a:extLst>
              <a:ext uri="{FF2B5EF4-FFF2-40B4-BE49-F238E27FC236}">
                <a16:creationId xmlns:a16="http://schemas.microsoft.com/office/drawing/2014/main" id="{2E9DF9AD-A5FA-7724-8327-31C639059A41}"/>
              </a:ext>
            </a:extLst>
          </p:cNvPr>
          <p:cNvSpPr txBox="1"/>
          <p:nvPr/>
        </p:nvSpPr>
        <p:spPr>
          <a:xfrm>
            <a:off x="4234158" y="4804910"/>
            <a:ext cx="3890809" cy="461665"/>
          </a:xfrm>
          <a:prstGeom prst="rect">
            <a:avLst/>
          </a:prstGeom>
          <a:noFill/>
        </p:spPr>
        <p:txBody>
          <a:bodyPr wrap="none" rtlCol="0">
            <a:spAutoFit/>
          </a:bodyPr>
          <a:lstStyle/>
          <a:p>
            <a:r>
              <a:rPr lang="zh-TW" altLang="en-US" sz="2400" b="1" dirty="0">
                <a:latin typeface="微軟正黑體" panose="020B0604030504040204" pitchFamily="34" charset="-120"/>
                <a:ea typeface="微軟正黑體" panose="020B0604030504040204" pitchFamily="34" charset="-120"/>
              </a:rPr>
              <a:t>最大值檢定結果 </a:t>
            </a:r>
            <a:r>
              <a:rPr lang="en-US" altLang="zh-TW" sz="2400" b="1" dirty="0">
                <a:latin typeface="微軟正黑體" panose="020B0604030504040204" pitchFamily="34" charset="-120"/>
                <a:ea typeface="微軟正黑體" panose="020B0604030504040204" pitchFamily="34" charset="-120"/>
              </a:rPr>
              <a:t>– </a:t>
            </a:r>
            <a:r>
              <a:rPr lang="zh-TW" altLang="en-US" sz="2400" b="1" dirty="0">
                <a:latin typeface="微軟正黑體" panose="020B0604030504040204" pitchFamily="34" charset="-120"/>
                <a:ea typeface="微軟正黑體" panose="020B0604030504040204" pitchFamily="34" charset="-120"/>
              </a:rPr>
              <a:t>左尾檢定</a:t>
            </a:r>
            <a:endParaRPr lang="en-US" altLang="zh-TW" sz="2400" b="1" dirty="0">
              <a:latin typeface="微軟正黑體" panose="020B0604030504040204" pitchFamily="34" charset="-120"/>
              <a:ea typeface="微軟正黑體" panose="020B0604030504040204" pitchFamily="34" charset="-120"/>
            </a:endParaRPr>
          </a:p>
        </p:txBody>
      </p:sp>
      <p:graphicFrame>
        <p:nvGraphicFramePr>
          <p:cNvPr id="9" name="表格 8">
            <a:extLst>
              <a:ext uri="{FF2B5EF4-FFF2-40B4-BE49-F238E27FC236}">
                <a16:creationId xmlns:a16="http://schemas.microsoft.com/office/drawing/2014/main" id="{1040B3B6-41D6-0CE7-ECEA-5986B092475B}"/>
              </a:ext>
            </a:extLst>
          </p:cNvPr>
          <p:cNvGraphicFramePr>
            <a:graphicFrameLocks noGrp="1"/>
          </p:cNvGraphicFramePr>
          <p:nvPr>
            <p:extLst>
              <p:ext uri="{D42A27DB-BD31-4B8C-83A1-F6EECF244321}">
                <p14:modId xmlns:p14="http://schemas.microsoft.com/office/powerpoint/2010/main" val="27462311"/>
              </p:ext>
            </p:extLst>
          </p:nvPr>
        </p:nvGraphicFramePr>
        <p:xfrm>
          <a:off x="4078323" y="5582775"/>
          <a:ext cx="4195483" cy="937260"/>
        </p:xfrm>
        <a:graphic>
          <a:graphicData uri="http://schemas.openxmlformats.org/drawingml/2006/table">
            <a:tbl>
              <a:tblPr/>
              <a:tblGrid>
                <a:gridCol w="1271627">
                  <a:extLst>
                    <a:ext uri="{9D8B030D-6E8A-4147-A177-3AD203B41FA5}">
                      <a16:colId xmlns:a16="http://schemas.microsoft.com/office/drawing/2014/main" val="3993428737"/>
                    </a:ext>
                  </a:extLst>
                </a:gridCol>
                <a:gridCol w="1461928">
                  <a:extLst>
                    <a:ext uri="{9D8B030D-6E8A-4147-A177-3AD203B41FA5}">
                      <a16:colId xmlns:a16="http://schemas.microsoft.com/office/drawing/2014/main" val="2161664515"/>
                    </a:ext>
                  </a:extLst>
                </a:gridCol>
                <a:gridCol w="1461928">
                  <a:extLst>
                    <a:ext uri="{9D8B030D-6E8A-4147-A177-3AD203B41FA5}">
                      <a16:colId xmlns:a16="http://schemas.microsoft.com/office/drawing/2014/main" val="81110010"/>
                    </a:ext>
                  </a:extLst>
                </a:gridCol>
              </a:tblGrid>
              <a:tr h="250659">
                <a:tc>
                  <a:txBody>
                    <a:bodyPr/>
                    <a:lstStyle/>
                    <a:p>
                      <a:pPr algn="ctr" fontAlgn="ct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zh-TW" altLang="en-US" sz="2000" b="0" i="0" u="none" strike="noStrike" dirty="0">
                          <a:solidFill>
                            <a:srgbClr val="000000"/>
                          </a:solidFill>
                          <a:effectLst/>
                          <a:latin typeface="微軟正黑體" panose="020B0604030504040204" pitchFamily="34" charset="-120"/>
                          <a:ea typeface="微軟正黑體" panose="020B0604030504040204" pitchFamily="34" charset="-120"/>
                        </a:rPr>
                        <a:t>統計量</a:t>
                      </a: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2000" b="0" i="0" u="none" strike="noStrike" dirty="0">
                          <a:solidFill>
                            <a:srgbClr val="000000"/>
                          </a:solidFill>
                          <a:effectLst/>
                          <a:latin typeface="微軟正黑體" panose="020B0604030504040204" pitchFamily="34" charset="-120"/>
                          <a:ea typeface="微軟正黑體" panose="020B0604030504040204" pitchFamily="34" charset="-120"/>
                        </a:rPr>
                        <a:t>p-value</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4200870"/>
                  </a:ext>
                </a:extLst>
              </a:tr>
              <a:tr h="220980">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T test</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0.469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kern="1200" dirty="0">
                          <a:solidFill>
                            <a:srgbClr val="FF0000"/>
                          </a:solidFill>
                          <a:latin typeface="微軟正黑體" panose="020B0604030504040204" pitchFamily="34" charset="-120"/>
                          <a:ea typeface="微軟正黑體" panose="020B0604030504040204" pitchFamily="34" charset="-120"/>
                          <a:cs typeface="+mn-cs"/>
                        </a:rPr>
                        <a:t>0.676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1513865"/>
                  </a:ext>
                </a:extLst>
              </a:tr>
              <a:tr h="220980">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Wilcoxon</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53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kern="1200" dirty="0">
                          <a:solidFill>
                            <a:srgbClr val="FF0000"/>
                          </a:solidFill>
                          <a:latin typeface="微軟正黑體" panose="020B0604030504040204" pitchFamily="34" charset="-120"/>
                          <a:ea typeface="微軟正黑體" panose="020B0604030504040204" pitchFamily="34" charset="-120"/>
                          <a:cs typeface="+mn-cs"/>
                        </a:rPr>
                        <a:t>0.524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5705361"/>
                  </a:ext>
                </a:extLst>
              </a:tr>
            </a:tbl>
          </a:graphicData>
        </a:graphic>
      </p:graphicFrame>
    </p:spTree>
    <p:extLst>
      <p:ext uri="{BB962C8B-B14F-4D97-AF65-F5344CB8AC3E}">
        <p14:creationId xmlns:p14="http://schemas.microsoft.com/office/powerpoint/2010/main" val="1160435607"/>
      </p:ext>
    </p:extLst>
  </p:cSld>
  <p:clrMapOvr>
    <a:masterClrMapping/>
  </p:clrMapOvr>
  <mc:AlternateContent xmlns:mc="http://schemas.openxmlformats.org/markup-compatibility/2006" xmlns:p14="http://schemas.microsoft.com/office/powerpoint/2010/main">
    <mc:Choice Requires="p14">
      <p:transition spd="slow" p14:dur="1250" advClick="0">
        <p14:pan dir="u"/>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58536" y="107592"/>
            <a:ext cx="5928672" cy="9840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70"/>
            <a:endParaRPr lang="en-US">
              <a:solidFill>
                <a:prstClr val="white"/>
              </a:solidFill>
              <a:latin typeface="思源黑体 CN Medium" panose="020B0600000000000000" pitchFamily="34" charset="-122"/>
              <a:ea typeface="思源黑体 CN Medium" panose="020B0600000000000000" pitchFamily="34" charset="-122"/>
              <a:sym typeface="字魂59号-创粗黑" panose="00000500000000000000" pitchFamily="2" charset="-122"/>
            </a:endParaRPr>
          </a:p>
        </p:txBody>
      </p:sp>
      <p:pic>
        <p:nvPicPr>
          <p:cNvPr id="17" name="图片 16">
            <a:extLst>
              <a:ext uri="{FF2B5EF4-FFF2-40B4-BE49-F238E27FC236}">
                <a16:creationId xmlns:a16="http://schemas.microsoft.com/office/drawing/2014/main" id="{05E72798-6899-42A6-9FEE-703EF4EFCDB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86" b="100000" l="0" r="100000">
                        <a14:foregroundMark x1="82171" y1="51131" x2="59408" y2="50679"/>
                        <a14:backgroundMark x1="91473" y1="41991" x2="86047" y2="34299"/>
                        <a14:backgroundMark x1="91966" y1="54118" x2="88090" y2="67059"/>
                        <a14:backgroundMark x1="84426" y1="75023" x2="75405" y2="81719"/>
                        <a14:backgroundMark x1="77026" y1="32217" x2="73573" y2="31493"/>
                        <a14:backgroundMark x1="67583" y1="33575" x2="65257" y2="31312"/>
                      </a14:backgroundRemoval>
                    </a14:imgEffect>
                  </a14:imgLayer>
                </a14:imgProps>
              </a:ext>
              <a:ext uri="{28A0092B-C50C-407E-A947-70E740481C1C}">
                <a14:useLocalDpi xmlns:a14="http://schemas.microsoft.com/office/drawing/2010/main" val="0"/>
              </a:ext>
            </a:extLst>
          </a:blip>
          <a:stretch>
            <a:fillRect/>
          </a:stretch>
        </p:blipFill>
        <p:spPr>
          <a:xfrm rot="277819">
            <a:off x="-1366951" y="-490407"/>
            <a:ext cx="3108709" cy="2420806"/>
          </a:xfrm>
          <a:prstGeom prst="rect">
            <a:avLst/>
          </a:prstGeom>
        </p:spPr>
      </p:pic>
      <p:sp>
        <p:nvSpPr>
          <p:cNvPr id="2" name="矩形 1">
            <a:extLst>
              <a:ext uri="{FF2B5EF4-FFF2-40B4-BE49-F238E27FC236}">
                <a16:creationId xmlns:a16="http://schemas.microsoft.com/office/drawing/2014/main" id="{CDACD7A8-3A6E-4C27-9240-791E721F0C74}"/>
              </a:ext>
            </a:extLst>
          </p:cNvPr>
          <p:cNvSpPr/>
          <p:nvPr/>
        </p:nvSpPr>
        <p:spPr>
          <a:xfrm>
            <a:off x="1570514" y="337965"/>
            <a:ext cx="4764972" cy="548443"/>
          </a:xfrm>
          <a:prstGeom prst="rect">
            <a:avLst/>
          </a:prstGeom>
        </p:spPr>
        <p:txBody>
          <a:bodyPr wrap="none">
            <a:normAutofit/>
          </a:bodyPr>
          <a:lstStyle/>
          <a:p>
            <a:r>
              <a:rPr lang="en-US" altLang="zh-TW" sz="2800" dirty="0">
                <a:solidFill>
                  <a:prstClr val="black">
                    <a:lumMod val="75000"/>
                    <a:lumOff val="25000"/>
                  </a:prstClr>
                </a:solidFill>
                <a:latin typeface="Source Han Sans TC"/>
                <a:ea typeface="Source Han Sans TC"/>
                <a:sym typeface="字魂59号-创粗黑" panose="00000500000000000000" pitchFamily="2" charset="-122"/>
              </a:rPr>
              <a:t>Data analysis –</a:t>
            </a:r>
            <a:r>
              <a:rPr lang="zh-TW" altLang="en-US" sz="2800" dirty="0">
                <a:solidFill>
                  <a:srgbClr val="0070C0"/>
                </a:solidFill>
                <a:latin typeface="Source Han Sans TC"/>
                <a:sym typeface="字魂59号-创粗黑" panose="00000500000000000000" pitchFamily="2" charset="-122"/>
              </a:rPr>
              <a:t>肛失禁患者</a:t>
            </a:r>
            <a:endParaRPr lang="en-US" altLang="zh-TW" sz="2800" dirty="0">
              <a:solidFill>
                <a:srgbClr val="0070C0"/>
              </a:solidFill>
              <a:latin typeface="Source Han Sans TC"/>
              <a:ea typeface="Source Han Sans TC"/>
              <a:sym typeface="字魂59号-创粗黑" panose="00000500000000000000" pitchFamily="2" charset="-122"/>
            </a:endParaRPr>
          </a:p>
          <a:p>
            <a:endParaRPr lang="en-US" altLang="zh-TW" sz="2800" b="1" dirty="0">
              <a:solidFill>
                <a:srgbClr val="0070C0"/>
              </a:solidFill>
              <a:latin typeface="微軟正黑體" panose="020B0604030504040204" pitchFamily="34" charset="-120"/>
              <a:ea typeface="微軟正黑體" panose="020B0604030504040204" pitchFamily="34" charset="-120"/>
              <a:cs typeface="Calibri" panose="020F0502020204030204" pitchFamily="34" charset="0"/>
            </a:endParaRPr>
          </a:p>
        </p:txBody>
      </p:sp>
      <p:sp>
        <p:nvSpPr>
          <p:cNvPr id="7" name="文字方塊 6">
            <a:extLst>
              <a:ext uri="{FF2B5EF4-FFF2-40B4-BE49-F238E27FC236}">
                <a16:creationId xmlns:a16="http://schemas.microsoft.com/office/drawing/2014/main" id="{F36FF8FF-6BA0-209F-2116-3F8DD34B989C}"/>
              </a:ext>
            </a:extLst>
          </p:cNvPr>
          <p:cNvSpPr txBox="1"/>
          <p:nvPr/>
        </p:nvSpPr>
        <p:spPr>
          <a:xfrm>
            <a:off x="1549000" y="992809"/>
            <a:ext cx="9453870" cy="1323439"/>
          </a:xfrm>
          <a:prstGeom prst="rect">
            <a:avLst/>
          </a:prstGeom>
          <a:noFill/>
        </p:spPr>
        <p:txBody>
          <a:bodyPr wrap="none" rtlCol="0">
            <a:spAutoFit/>
          </a:bodyPr>
          <a:lstStyle/>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我們一樣可以透過分析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resting tone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來檢查患者在接受治療後是否有明顯的改善，</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跟便秘患者不同的是，肛失禁患者的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resting tone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資料筆數較多，因此我們可以</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採用我們上面用來分析主觀與客觀資料的方式來分析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resting tone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在接受治療過後</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是否有明顯的增加。我們一樣先根據未補值前的資料來進行檢定。</a:t>
            </a:r>
            <a:endParaRPr lang="en-US" altLang="zh-TW" sz="2000" dirty="0">
              <a:solidFill>
                <a:schemeClr val="accent2">
                  <a:lumMod val="75000"/>
                </a:schemeClr>
              </a:solidFill>
              <a:latin typeface="微軟正黑體" panose="020B0604030504040204" pitchFamily="34" charset="-120"/>
              <a:ea typeface="微軟正黑體" panose="020B0604030504040204" pitchFamily="34" charset="-120"/>
            </a:endParaRPr>
          </a:p>
        </p:txBody>
      </p:sp>
      <p:graphicFrame>
        <p:nvGraphicFramePr>
          <p:cNvPr id="10" name="表格 9">
            <a:extLst>
              <a:ext uri="{FF2B5EF4-FFF2-40B4-BE49-F238E27FC236}">
                <a16:creationId xmlns:a16="http://schemas.microsoft.com/office/drawing/2014/main" id="{7EE75912-E4C1-D45C-AEAC-A29D227A2D05}"/>
              </a:ext>
            </a:extLst>
          </p:cNvPr>
          <p:cNvGraphicFramePr>
            <a:graphicFrameLocks noGrp="1"/>
          </p:cNvGraphicFramePr>
          <p:nvPr>
            <p:extLst>
              <p:ext uri="{D42A27DB-BD31-4B8C-83A1-F6EECF244321}">
                <p14:modId xmlns:p14="http://schemas.microsoft.com/office/powerpoint/2010/main" val="2743763649"/>
              </p:ext>
            </p:extLst>
          </p:nvPr>
        </p:nvGraphicFramePr>
        <p:xfrm>
          <a:off x="7552535" y="4197301"/>
          <a:ext cx="3877366" cy="937260"/>
        </p:xfrm>
        <a:graphic>
          <a:graphicData uri="http://schemas.openxmlformats.org/drawingml/2006/table">
            <a:tbl>
              <a:tblPr/>
              <a:tblGrid>
                <a:gridCol w="1175208">
                  <a:extLst>
                    <a:ext uri="{9D8B030D-6E8A-4147-A177-3AD203B41FA5}">
                      <a16:colId xmlns:a16="http://schemas.microsoft.com/office/drawing/2014/main" val="3993428737"/>
                    </a:ext>
                  </a:extLst>
                </a:gridCol>
                <a:gridCol w="1351079">
                  <a:extLst>
                    <a:ext uri="{9D8B030D-6E8A-4147-A177-3AD203B41FA5}">
                      <a16:colId xmlns:a16="http://schemas.microsoft.com/office/drawing/2014/main" val="2161664515"/>
                    </a:ext>
                  </a:extLst>
                </a:gridCol>
                <a:gridCol w="1351079">
                  <a:extLst>
                    <a:ext uri="{9D8B030D-6E8A-4147-A177-3AD203B41FA5}">
                      <a16:colId xmlns:a16="http://schemas.microsoft.com/office/drawing/2014/main" val="81110010"/>
                    </a:ext>
                  </a:extLst>
                </a:gridCol>
              </a:tblGrid>
              <a:tr h="213360">
                <a:tc>
                  <a:txBody>
                    <a:bodyPr/>
                    <a:lstStyle/>
                    <a:p>
                      <a:pPr algn="ctr" fontAlgn="ct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zh-TW" altLang="en-US" sz="2000" b="0" i="0" u="none" strike="noStrike" dirty="0">
                          <a:solidFill>
                            <a:srgbClr val="000000"/>
                          </a:solidFill>
                          <a:effectLst/>
                          <a:latin typeface="微軟正黑體" panose="020B0604030504040204" pitchFamily="34" charset="-120"/>
                          <a:ea typeface="微軟正黑體" panose="020B0604030504040204" pitchFamily="34" charset="-120"/>
                        </a:rPr>
                        <a:t>統計量</a:t>
                      </a: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2000" b="0" i="0" u="none" strike="noStrike" dirty="0">
                          <a:solidFill>
                            <a:srgbClr val="000000"/>
                          </a:solidFill>
                          <a:effectLst/>
                          <a:latin typeface="微軟正黑體" panose="020B0604030504040204" pitchFamily="34" charset="-120"/>
                          <a:ea typeface="微軟正黑體" panose="020B0604030504040204" pitchFamily="34" charset="-120"/>
                        </a:rPr>
                        <a:t>p-value</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4200870"/>
                  </a:ext>
                </a:extLst>
              </a:tr>
              <a:tr h="220980">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T test</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-0.701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dirty="0">
                          <a:solidFill>
                            <a:srgbClr val="FF0000"/>
                          </a:solidFill>
                          <a:latin typeface="微軟正黑體" panose="020B0604030504040204" pitchFamily="34" charset="-120"/>
                          <a:ea typeface="微軟正黑體" panose="020B0604030504040204" pitchFamily="34" charset="-120"/>
                        </a:rPr>
                        <a:t>0.254</a:t>
                      </a:r>
                      <a:endParaRPr lang="en-US" altLang="zh-TW" sz="2000" b="0" i="0" u="none" strike="noStrike" dirty="0">
                        <a:solidFill>
                          <a:srgbClr val="FF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1513865"/>
                  </a:ext>
                </a:extLst>
              </a:tr>
              <a:tr h="220980">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Wilcoxon</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1.5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FF0000"/>
                          </a:solidFill>
                          <a:effectLst/>
                          <a:latin typeface="微軟正黑體" panose="020B0604030504040204" pitchFamily="34" charset="-120"/>
                          <a:ea typeface="微軟正黑體" panose="020B0604030504040204" pitchFamily="34" charset="-120"/>
                        </a:rPr>
                        <a:t>0.207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5705361"/>
                  </a:ext>
                </a:extLst>
              </a:tr>
            </a:tbl>
          </a:graphicData>
        </a:graphic>
      </p:graphicFrame>
      <p:sp>
        <p:nvSpPr>
          <p:cNvPr id="11" name="文字方塊 10">
            <a:extLst>
              <a:ext uri="{FF2B5EF4-FFF2-40B4-BE49-F238E27FC236}">
                <a16:creationId xmlns:a16="http://schemas.microsoft.com/office/drawing/2014/main" id="{8F421DA7-7F42-F81F-EA90-C368A6505AE1}"/>
              </a:ext>
            </a:extLst>
          </p:cNvPr>
          <p:cNvSpPr txBox="1"/>
          <p:nvPr/>
        </p:nvSpPr>
        <p:spPr>
          <a:xfrm>
            <a:off x="8783332" y="3593892"/>
            <a:ext cx="1415772" cy="461665"/>
          </a:xfrm>
          <a:prstGeom prst="rect">
            <a:avLst/>
          </a:prstGeom>
          <a:noFill/>
        </p:spPr>
        <p:txBody>
          <a:bodyPr wrap="none" rtlCol="0">
            <a:spAutoFit/>
          </a:bodyPr>
          <a:lstStyle/>
          <a:p>
            <a:r>
              <a:rPr lang="zh-TW" altLang="en-US" sz="2400" b="1" dirty="0">
                <a:latin typeface="微軟正黑體" panose="020B0604030504040204" pitchFamily="34" charset="-120"/>
                <a:ea typeface="微軟正黑體" panose="020B0604030504040204" pitchFamily="34" charset="-120"/>
              </a:rPr>
              <a:t>檢定結果</a:t>
            </a:r>
          </a:p>
        </p:txBody>
      </p:sp>
      <p:graphicFrame>
        <p:nvGraphicFramePr>
          <p:cNvPr id="12" name="表格 11">
            <a:extLst>
              <a:ext uri="{FF2B5EF4-FFF2-40B4-BE49-F238E27FC236}">
                <a16:creationId xmlns:a16="http://schemas.microsoft.com/office/drawing/2014/main" id="{F5293D1C-4190-6167-7A39-08BC06BCC1D7}"/>
              </a:ext>
            </a:extLst>
          </p:cNvPr>
          <p:cNvGraphicFramePr>
            <a:graphicFrameLocks noGrp="1"/>
          </p:cNvGraphicFramePr>
          <p:nvPr>
            <p:extLst>
              <p:ext uri="{D42A27DB-BD31-4B8C-83A1-F6EECF244321}">
                <p14:modId xmlns:p14="http://schemas.microsoft.com/office/powerpoint/2010/main" val="495448409"/>
              </p:ext>
            </p:extLst>
          </p:nvPr>
        </p:nvGraphicFramePr>
        <p:xfrm>
          <a:off x="406814" y="2437131"/>
          <a:ext cx="6246235" cy="3688505"/>
        </p:xfrm>
        <a:graphic>
          <a:graphicData uri="http://schemas.openxmlformats.org/drawingml/2006/table">
            <a:tbl>
              <a:tblPr/>
              <a:tblGrid>
                <a:gridCol w="831477">
                  <a:extLst>
                    <a:ext uri="{9D8B030D-6E8A-4147-A177-3AD203B41FA5}">
                      <a16:colId xmlns:a16="http://schemas.microsoft.com/office/drawing/2014/main" val="2132548560"/>
                    </a:ext>
                  </a:extLst>
                </a:gridCol>
                <a:gridCol w="1137047">
                  <a:extLst>
                    <a:ext uri="{9D8B030D-6E8A-4147-A177-3AD203B41FA5}">
                      <a16:colId xmlns:a16="http://schemas.microsoft.com/office/drawing/2014/main" val="2590160965"/>
                    </a:ext>
                  </a:extLst>
                </a:gridCol>
                <a:gridCol w="1460938">
                  <a:extLst>
                    <a:ext uri="{9D8B030D-6E8A-4147-A177-3AD203B41FA5}">
                      <a16:colId xmlns:a16="http://schemas.microsoft.com/office/drawing/2014/main" val="1383145280"/>
                    </a:ext>
                  </a:extLst>
                </a:gridCol>
                <a:gridCol w="1324303">
                  <a:extLst>
                    <a:ext uri="{9D8B030D-6E8A-4147-A177-3AD203B41FA5}">
                      <a16:colId xmlns:a16="http://schemas.microsoft.com/office/drawing/2014/main" val="37532012"/>
                    </a:ext>
                  </a:extLst>
                </a:gridCol>
                <a:gridCol w="1492470">
                  <a:extLst>
                    <a:ext uri="{9D8B030D-6E8A-4147-A177-3AD203B41FA5}">
                      <a16:colId xmlns:a16="http://schemas.microsoft.com/office/drawing/2014/main" val="1498290620"/>
                    </a:ext>
                  </a:extLst>
                </a:gridCol>
              </a:tblGrid>
              <a:tr h="469601">
                <a:tc>
                  <a:txBody>
                    <a:bodyPr/>
                    <a:lstStyle/>
                    <a:p>
                      <a:pPr marL="0" algn="ctr" defTabSz="1219170" rtl="0" eaLnBrk="1" fontAlgn="ctr" latinLnBrk="0" hangingPunct="1"/>
                      <a:r>
                        <a:rPr lang="zh-TW" altLang="en-US" sz="1600" b="0" i="0" u="none" strike="noStrike" kern="1200" dirty="0">
                          <a:solidFill>
                            <a:srgbClr val="000000"/>
                          </a:solidFill>
                          <a:effectLst/>
                          <a:highlight>
                            <a:srgbClr val="D0CECE"/>
                          </a:highlight>
                          <a:latin typeface="標楷體" panose="03000509000000000000" pitchFamily="65" charset="-120"/>
                          <a:ea typeface="標楷體" panose="03000509000000000000" pitchFamily="65" charset="-120"/>
                          <a:cs typeface="+mn-cs"/>
                        </a:rPr>
                        <a:t>年齡</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CECE"/>
                    </a:solidFill>
                  </a:tcPr>
                </a:tc>
                <a:tc>
                  <a:txBody>
                    <a:bodyPr/>
                    <a:lstStyle/>
                    <a:p>
                      <a:pPr marL="0" algn="ctr" defTabSz="1219170" rtl="0" eaLnBrk="1" fontAlgn="ctr" latinLnBrk="0" hangingPunct="1"/>
                      <a:r>
                        <a:rPr lang="zh-TW" altLang="en-US" sz="1600" b="0" i="0" u="none" strike="noStrike" kern="1200" dirty="0">
                          <a:solidFill>
                            <a:srgbClr val="000000"/>
                          </a:solidFill>
                          <a:effectLst/>
                          <a:highlight>
                            <a:srgbClr val="FFE699"/>
                          </a:highlight>
                          <a:latin typeface="標楷體" panose="03000509000000000000" pitchFamily="65" charset="-120"/>
                          <a:ea typeface="標楷體" panose="03000509000000000000" pitchFamily="65" charset="-120"/>
                          <a:cs typeface="+mn-cs"/>
                        </a:rPr>
                        <a:t>初測日期</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699"/>
                    </a:solidFill>
                  </a:tcPr>
                </a:tc>
                <a:tc>
                  <a:txBody>
                    <a:bodyPr/>
                    <a:lstStyle/>
                    <a:p>
                      <a:pPr marL="0" algn="ctr" defTabSz="1219170" rtl="0" eaLnBrk="1" fontAlgn="ctr" latinLnBrk="0" hangingPunct="1"/>
                      <a:r>
                        <a:rPr lang="en-US" sz="1600" b="0" i="0" u="none" strike="noStrike" kern="1200" dirty="0" err="1">
                          <a:solidFill>
                            <a:srgbClr val="000000"/>
                          </a:solidFill>
                          <a:effectLst/>
                          <a:highlight>
                            <a:srgbClr val="D0CECE"/>
                          </a:highlight>
                          <a:latin typeface="標楷體" panose="03000509000000000000" pitchFamily="65" charset="-120"/>
                          <a:ea typeface="標楷體" panose="03000509000000000000" pitchFamily="65" charset="-120"/>
                          <a:cs typeface="+mn-cs"/>
                        </a:rPr>
                        <a:t>Pre_</a:t>
                      </a:r>
                      <a:r>
                        <a:rPr lang="en-US" altLang="zh-TW" sz="1600" b="0" i="0" u="none" strike="noStrike" kern="1200" dirty="0" err="1">
                          <a:solidFill>
                            <a:srgbClr val="000000"/>
                          </a:solidFill>
                          <a:effectLst/>
                          <a:highlight>
                            <a:srgbClr val="D0CECE"/>
                          </a:highlight>
                          <a:latin typeface="標楷體" panose="03000509000000000000" pitchFamily="65" charset="-120"/>
                          <a:ea typeface="標楷體" panose="03000509000000000000" pitchFamily="65" charset="-120"/>
                          <a:cs typeface="+mn-cs"/>
                        </a:rPr>
                        <a:t>Resting</a:t>
                      </a:r>
                      <a:endParaRPr lang="en-US" altLang="zh-TW" sz="1600" b="0" i="0" u="none" strike="noStrike" kern="1200" dirty="0">
                        <a:solidFill>
                          <a:srgbClr val="000000"/>
                        </a:solidFill>
                        <a:effectLst/>
                        <a:highlight>
                          <a:srgbClr val="D0CECE"/>
                        </a:highlight>
                        <a:latin typeface="標楷體" panose="03000509000000000000" pitchFamily="65" charset="-120"/>
                        <a:ea typeface="標楷體" panose="03000509000000000000" pitchFamily="65" charset="-120"/>
                        <a:cs typeface="+mn-cs"/>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CECE"/>
                    </a:solidFill>
                  </a:tcPr>
                </a:tc>
                <a:tc>
                  <a:txBody>
                    <a:bodyPr/>
                    <a:lstStyle/>
                    <a:p>
                      <a:pPr marL="0" algn="ctr" defTabSz="1219170" rtl="0" eaLnBrk="1" fontAlgn="ctr" latinLnBrk="0" hangingPunct="1"/>
                      <a:r>
                        <a:rPr lang="zh-TW" altLang="en-US" sz="1600" b="0" i="0" u="none" strike="noStrike" kern="1200" dirty="0">
                          <a:solidFill>
                            <a:srgbClr val="000000"/>
                          </a:solidFill>
                          <a:effectLst/>
                          <a:latin typeface="標楷體" panose="03000509000000000000" pitchFamily="65" charset="-120"/>
                          <a:ea typeface="標楷體" panose="03000509000000000000" pitchFamily="65" charset="-120"/>
                          <a:cs typeface="+mn-cs"/>
                        </a:rPr>
                        <a:t>後測日期</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6E0B4"/>
                    </a:solidFill>
                  </a:tcPr>
                </a:tc>
                <a:tc>
                  <a:txBody>
                    <a:bodyPr/>
                    <a:lstStyle/>
                    <a:p>
                      <a:pPr marL="0" algn="ctr" defTabSz="1219170" rtl="0" eaLnBrk="1" fontAlgn="ctr" latinLnBrk="0" hangingPunct="1"/>
                      <a:r>
                        <a:rPr lang="en-US" sz="1600" b="0" i="0" u="none" strike="noStrike" kern="1200" dirty="0" err="1">
                          <a:solidFill>
                            <a:srgbClr val="000000"/>
                          </a:solidFill>
                          <a:effectLst/>
                          <a:highlight>
                            <a:srgbClr val="D0CECE"/>
                          </a:highlight>
                          <a:latin typeface="標楷體" panose="03000509000000000000" pitchFamily="65" charset="-120"/>
                          <a:ea typeface="標楷體" panose="03000509000000000000" pitchFamily="65" charset="-120"/>
                          <a:cs typeface="+mn-cs"/>
                        </a:rPr>
                        <a:t>Post_Resting</a:t>
                      </a:r>
                      <a:endParaRPr lang="en-US" sz="1600" b="0" i="0" u="none" strike="noStrike" kern="1200" dirty="0">
                        <a:solidFill>
                          <a:srgbClr val="000000"/>
                        </a:solidFill>
                        <a:effectLst/>
                        <a:highlight>
                          <a:srgbClr val="D0CECE"/>
                        </a:highlight>
                        <a:latin typeface="標楷體" panose="03000509000000000000" pitchFamily="65" charset="-120"/>
                        <a:ea typeface="標楷體" panose="03000509000000000000" pitchFamily="65" charset="-120"/>
                        <a:cs typeface="+mn-cs"/>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CECE"/>
                    </a:solidFill>
                  </a:tcPr>
                </a:tc>
                <a:extLst>
                  <a:ext uri="{0D108BD9-81ED-4DB2-BD59-A6C34878D82A}">
                    <a16:rowId xmlns:a16="http://schemas.microsoft.com/office/drawing/2014/main" val="2209741914"/>
                  </a:ext>
                </a:extLst>
              </a:tr>
              <a:tr h="247608">
                <a:tc>
                  <a:txBody>
                    <a:bodyPr/>
                    <a:lstStyle/>
                    <a:p>
                      <a:pPr algn="ctr" fontAlgn="ctr"/>
                      <a:r>
                        <a:rPr lang="en-US" altLang="zh-TW" sz="1200" u="none" strike="noStrike" dirty="0">
                          <a:effectLst/>
                        </a:rPr>
                        <a:t>62</a:t>
                      </a:r>
                      <a:endParaRPr lang="en-US" altLang="zh-TW" sz="1200" b="0" i="0" u="none" strike="noStrike" dirty="0">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algn="l" fontAlgn="ctr"/>
                      <a:r>
                        <a:rPr lang="en-US" altLang="zh-TW" sz="1200" u="none" strike="noStrike" dirty="0">
                          <a:effectLst/>
                        </a:rPr>
                        <a:t>2021/9/7</a:t>
                      </a:r>
                      <a:endParaRPr lang="en-US" altLang="zh-TW" sz="1200" b="0" i="0" u="none" strike="noStrike" dirty="0">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C"/>
                    </a:solidFill>
                  </a:tcPr>
                </a:tc>
                <a:tc>
                  <a:txBody>
                    <a:bodyPr/>
                    <a:lstStyle/>
                    <a:p>
                      <a:pPr algn="ctr" fontAlgn="ctr"/>
                      <a:r>
                        <a:rPr lang="en-US" altLang="zh-TW" sz="1200" u="none" strike="noStrike">
                          <a:effectLst/>
                        </a:rPr>
                        <a:t>3</a:t>
                      </a:r>
                      <a:endParaRPr lang="en-US" altLang="zh-TW" sz="1200" b="0" i="0" u="none" strike="noStrike">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altLang="zh-TW" sz="1200" u="none" strike="noStrike" dirty="0">
                          <a:effectLst/>
                        </a:rPr>
                        <a:t>2022/2/9</a:t>
                      </a:r>
                      <a:endParaRPr lang="en-US" altLang="zh-TW" sz="1200" b="0" i="0" u="none" strike="noStrike" dirty="0">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algn="ctr" fontAlgn="ctr"/>
                      <a:r>
                        <a:rPr lang="en-US" altLang="zh-TW" sz="1200" u="none" strike="noStrike">
                          <a:effectLst/>
                        </a:rPr>
                        <a:t>3</a:t>
                      </a:r>
                      <a:endParaRPr lang="en-US" altLang="zh-TW" sz="1200" b="0" i="0" u="none" strike="noStrike">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61814048"/>
                  </a:ext>
                </a:extLst>
              </a:tr>
              <a:tr h="247608">
                <a:tc>
                  <a:txBody>
                    <a:bodyPr/>
                    <a:lstStyle/>
                    <a:p>
                      <a:pPr algn="ctr" fontAlgn="ctr"/>
                      <a:r>
                        <a:rPr lang="en-US" altLang="zh-TW" sz="1200" u="none" strike="noStrike" dirty="0">
                          <a:effectLst/>
                        </a:rPr>
                        <a:t>37</a:t>
                      </a:r>
                      <a:endParaRPr lang="en-US" altLang="zh-TW" sz="1200" b="0" i="0" u="none" strike="noStrike" dirty="0">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algn="l" fontAlgn="ctr"/>
                      <a:r>
                        <a:rPr lang="en-US" altLang="zh-TW" sz="1200" u="none" strike="noStrike" dirty="0">
                          <a:effectLst/>
                        </a:rPr>
                        <a:t>2021/9/22</a:t>
                      </a:r>
                      <a:endParaRPr lang="en-US" altLang="zh-TW" sz="1200" b="0" i="0" u="none" strike="noStrike" dirty="0">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C"/>
                    </a:solidFill>
                  </a:tcPr>
                </a:tc>
                <a:tc>
                  <a:txBody>
                    <a:bodyPr/>
                    <a:lstStyle/>
                    <a:p>
                      <a:pPr algn="ctr" fontAlgn="ctr"/>
                      <a:r>
                        <a:rPr lang="en-US" altLang="zh-TW" sz="1200" u="none" strike="noStrike">
                          <a:effectLst/>
                        </a:rPr>
                        <a:t>2</a:t>
                      </a:r>
                      <a:endParaRPr lang="en-US" altLang="zh-TW" sz="1200" b="0" i="0" u="none" strike="noStrike">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altLang="zh-TW" sz="1200" u="none" strike="noStrike" dirty="0">
                          <a:effectLst/>
                        </a:rPr>
                        <a:t>2021/12/22</a:t>
                      </a:r>
                      <a:endParaRPr lang="en-US" altLang="zh-TW" sz="1200" b="0" i="0" u="none" strike="noStrike" dirty="0">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algn="ctr" fontAlgn="ctr"/>
                      <a:r>
                        <a:rPr lang="en-US" altLang="zh-TW" sz="1200" u="none" strike="noStrike">
                          <a:effectLst/>
                        </a:rPr>
                        <a:t>2</a:t>
                      </a:r>
                      <a:endParaRPr lang="en-US" altLang="zh-TW" sz="1200" b="0" i="0" u="none" strike="noStrike">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59702306"/>
                  </a:ext>
                </a:extLst>
              </a:tr>
              <a:tr h="247608">
                <a:tc>
                  <a:txBody>
                    <a:bodyPr/>
                    <a:lstStyle/>
                    <a:p>
                      <a:pPr algn="ctr" fontAlgn="ctr"/>
                      <a:r>
                        <a:rPr lang="en-US" altLang="zh-TW" sz="1200" u="none" strike="noStrike" dirty="0">
                          <a:effectLst/>
                        </a:rPr>
                        <a:t>65</a:t>
                      </a:r>
                      <a:endParaRPr lang="en-US" altLang="zh-TW" sz="1200" b="0" i="0" u="none" strike="noStrike" dirty="0">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algn="l" fontAlgn="ctr"/>
                      <a:r>
                        <a:rPr lang="en-US" altLang="zh-TW" sz="1200" u="none" strike="noStrike" dirty="0">
                          <a:effectLst/>
                        </a:rPr>
                        <a:t>2021/9/8</a:t>
                      </a:r>
                      <a:endParaRPr lang="en-US" altLang="zh-TW" sz="1200" b="0" i="0" u="none" strike="noStrike" dirty="0">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C"/>
                    </a:solidFill>
                  </a:tcPr>
                </a:tc>
                <a:tc>
                  <a:txBody>
                    <a:bodyPr/>
                    <a:lstStyle/>
                    <a:p>
                      <a:pPr algn="ctr" fontAlgn="ctr"/>
                      <a:r>
                        <a:rPr lang="en-US" altLang="zh-TW" sz="1200" u="none" strike="noStrike">
                          <a:effectLst/>
                        </a:rPr>
                        <a:t>2</a:t>
                      </a:r>
                      <a:endParaRPr lang="en-US" altLang="zh-TW" sz="1200" b="0" i="0" u="none" strike="noStrike">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altLang="zh-TW" sz="1200" u="none" strike="noStrike">
                          <a:effectLst/>
                        </a:rPr>
                        <a:t>2021/12/8</a:t>
                      </a:r>
                      <a:endParaRPr lang="en-US" altLang="zh-TW" sz="1200" b="0" i="0" u="none" strike="noStrike">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algn="ctr" fontAlgn="ctr"/>
                      <a:r>
                        <a:rPr lang="en-US" altLang="zh-TW" sz="1200" u="none" strike="noStrike">
                          <a:effectLst/>
                        </a:rPr>
                        <a:t>3</a:t>
                      </a:r>
                      <a:endParaRPr lang="en-US" altLang="zh-TW" sz="1200" b="0" i="0" u="none" strike="noStrike">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7952750"/>
                  </a:ext>
                </a:extLst>
              </a:tr>
              <a:tr h="247608">
                <a:tc>
                  <a:txBody>
                    <a:bodyPr/>
                    <a:lstStyle/>
                    <a:p>
                      <a:pPr algn="ctr" fontAlgn="ctr"/>
                      <a:r>
                        <a:rPr lang="en-US" altLang="zh-TW" sz="1200" u="none" strike="noStrike" dirty="0">
                          <a:effectLst/>
                        </a:rPr>
                        <a:t>50</a:t>
                      </a:r>
                      <a:endParaRPr lang="en-US" altLang="zh-TW" sz="1200" b="0" i="0" u="none" strike="noStrike" dirty="0">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algn="l" fontAlgn="ctr"/>
                      <a:r>
                        <a:rPr lang="en-US" altLang="zh-TW" sz="1200" u="none" strike="noStrike" dirty="0">
                          <a:effectLst/>
                        </a:rPr>
                        <a:t>2021/10/18</a:t>
                      </a:r>
                      <a:endParaRPr lang="en-US" altLang="zh-TW" sz="1200" b="0" i="0" u="none" strike="noStrike" dirty="0">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C"/>
                    </a:solidFill>
                  </a:tcPr>
                </a:tc>
                <a:tc>
                  <a:txBody>
                    <a:bodyPr/>
                    <a:lstStyle/>
                    <a:p>
                      <a:pPr algn="ctr" fontAlgn="ctr"/>
                      <a:r>
                        <a:rPr lang="en-US" altLang="zh-TW" sz="1200" u="none" strike="noStrike" dirty="0">
                          <a:effectLst/>
                        </a:rPr>
                        <a:t>4</a:t>
                      </a:r>
                      <a:endParaRPr lang="en-US" altLang="zh-TW" sz="1200" b="0" i="0" u="none" strike="noStrike" dirty="0">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altLang="zh-TW" sz="1200" u="none" strike="noStrike" dirty="0">
                          <a:effectLst/>
                        </a:rPr>
                        <a:t>2022/8/2</a:t>
                      </a:r>
                      <a:endParaRPr lang="en-US" altLang="zh-TW" sz="1200" b="0" i="0" u="none" strike="noStrike" dirty="0">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algn="ctr" fontAlgn="ctr"/>
                      <a:r>
                        <a:rPr lang="en-US" altLang="zh-TW" sz="1200" u="none" strike="noStrike">
                          <a:effectLst/>
                        </a:rPr>
                        <a:t>4</a:t>
                      </a:r>
                      <a:endParaRPr lang="en-US" altLang="zh-TW" sz="1200" b="0" i="0" u="none" strike="noStrike">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73202624"/>
                  </a:ext>
                </a:extLst>
              </a:tr>
              <a:tr h="247608">
                <a:tc>
                  <a:txBody>
                    <a:bodyPr/>
                    <a:lstStyle/>
                    <a:p>
                      <a:pPr algn="ctr" fontAlgn="ctr"/>
                      <a:r>
                        <a:rPr lang="en-US" altLang="zh-TW" sz="1200" u="none" strike="noStrike" dirty="0">
                          <a:effectLst/>
                        </a:rPr>
                        <a:t>51</a:t>
                      </a:r>
                      <a:endParaRPr lang="en-US" altLang="zh-TW" sz="1200" b="0" i="0" u="none" strike="noStrike" dirty="0">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algn="l" fontAlgn="ctr"/>
                      <a:r>
                        <a:rPr lang="en-US" altLang="zh-TW" sz="1200" u="none" strike="noStrike">
                          <a:effectLst/>
                        </a:rPr>
                        <a:t>2021/10/27</a:t>
                      </a:r>
                      <a:endParaRPr lang="en-US" altLang="zh-TW" sz="1200" b="0" i="0" u="none" strike="noStrike">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C"/>
                    </a:solidFill>
                  </a:tcPr>
                </a:tc>
                <a:tc>
                  <a:txBody>
                    <a:bodyPr/>
                    <a:lstStyle/>
                    <a:p>
                      <a:pPr algn="ctr" fontAlgn="ctr"/>
                      <a:r>
                        <a:rPr lang="en-US" altLang="zh-TW" sz="1200" u="none" strike="noStrike">
                          <a:effectLst/>
                        </a:rPr>
                        <a:t>4</a:t>
                      </a:r>
                      <a:endParaRPr lang="en-US" altLang="zh-TW" sz="1200" b="0" i="0" u="none" strike="noStrike">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zh-TW" altLang="en-US" sz="1200" u="none" strike="noStrike">
                          <a:effectLst/>
                        </a:rPr>
                        <a:t>　</a:t>
                      </a:r>
                      <a:endParaRPr lang="zh-TW" altLang="en-US" sz="1200" b="0" i="0" u="none" strike="noStrike">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algn="ctr" fontAlgn="ctr"/>
                      <a:r>
                        <a:rPr lang="zh-TW" altLang="en-US" sz="1200" u="none" strike="noStrike">
                          <a:effectLst/>
                        </a:rPr>
                        <a:t>　</a:t>
                      </a:r>
                      <a:endParaRPr lang="zh-TW" altLang="en-US" sz="1200" b="0" i="0" u="none" strike="noStrike">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07054180"/>
                  </a:ext>
                </a:extLst>
              </a:tr>
              <a:tr h="247608">
                <a:tc>
                  <a:txBody>
                    <a:bodyPr/>
                    <a:lstStyle/>
                    <a:p>
                      <a:pPr algn="ctr" fontAlgn="ctr"/>
                      <a:r>
                        <a:rPr lang="en-US" altLang="zh-TW" sz="1200" u="none" strike="noStrike">
                          <a:effectLst/>
                        </a:rPr>
                        <a:t>73</a:t>
                      </a:r>
                      <a:endParaRPr lang="en-US" altLang="zh-TW" sz="1200" b="0" i="0" u="none" strike="noStrike">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algn="l" fontAlgn="ctr"/>
                      <a:r>
                        <a:rPr lang="en-US" altLang="zh-TW" sz="1200" u="none" strike="noStrike">
                          <a:effectLst/>
                        </a:rPr>
                        <a:t>2021/11/3</a:t>
                      </a:r>
                      <a:endParaRPr lang="en-US" altLang="zh-TW" sz="1200" b="0" i="0" u="none" strike="noStrike">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C"/>
                    </a:solidFill>
                  </a:tcPr>
                </a:tc>
                <a:tc>
                  <a:txBody>
                    <a:bodyPr/>
                    <a:lstStyle/>
                    <a:p>
                      <a:pPr algn="ctr" fontAlgn="ctr"/>
                      <a:r>
                        <a:rPr lang="en-US" altLang="zh-TW" sz="1200" u="none" strike="noStrike" dirty="0">
                          <a:effectLst/>
                        </a:rPr>
                        <a:t>3</a:t>
                      </a:r>
                      <a:endParaRPr lang="en-US" altLang="zh-TW" sz="1200" b="0" i="0" u="none" strike="noStrike" dirty="0">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zh-TW" altLang="en-US" sz="1200" u="none" strike="noStrike" dirty="0">
                          <a:effectLst/>
                        </a:rPr>
                        <a:t>　</a:t>
                      </a:r>
                      <a:endParaRPr lang="zh-TW" altLang="en-US" sz="1200" b="0" i="0" u="none" strike="noStrike" dirty="0">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algn="ctr" fontAlgn="ctr"/>
                      <a:r>
                        <a:rPr lang="zh-TW" altLang="en-US" sz="1200" u="none" strike="noStrike">
                          <a:effectLst/>
                        </a:rPr>
                        <a:t>　</a:t>
                      </a:r>
                      <a:endParaRPr lang="zh-TW" altLang="en-US" sz="1200" b="0" i="0" u="none" strike="noStrike">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92624245"/>
                  </a:ext>
                </a:extLst>
              </a:tr>
              <a:tr h="247608">
                <a:tc>
                  <a:txBody>
                    <a:bodyPr/>
                    <a:lstStyle/>
                    <a:p>
                      <a:pPr algn="ctr" fontAlgn="ctr"/>
                      <a:r>
                        <a:rPr lang="en-US" altLang="zh-TW" sz="1200" u="none" strike="noStrike" dirty="0">
                          <a:effectLst/>
                        </a:rPr>
                        <a:t>57</a:t>
                      </a:r>
                      <a:endParaRPr lang="en-US" altLang="zh-TW" sz="1200" b="0" i="0" u="none" strike="noStrike" dirty="0">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algn="l" fontAlgn="ctr"/>
                      <a:r>
                        <a:rPr lang="en-US" altLang="zh-TW" sz="1200" u="none" strike="noStrike">
                          <a:effectLst/>
                        </a:rPr>
                        <a:t>2021/11/17</a:t>
                      </a:r>
                      <a:endParaRPr lang="en-US" altLang="zh-TW" sz="1200" b="0" i="0" u="none" strike="noStrike">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C"/>
                    </a:solidFill>
                  </a:tcPr>
                </a:tc>
                <a:tc>
                  <a:txBody>
                    <a:bodyPr/>
                    <a:lstStyle/>
                    <a:p>
                      <a:pPr algn="ctr" fontAlgn="ctr"/>
                      <a:r>
                        <a:rPr lang="en-US" altLang="zh-TW" sz="1200" u="none" strike="noStrike" dirty="0">
                          <a:effectLst/>
                        </a:rPr>
                        <a:t>2</a:t>
                      </a:r>
                      <a:endParaRPr lang="en-US" altLang="zh-TW" sz="1200" b="0" i="0" u="none" strike="noStrike" dirty="0">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zh-TW" altLang="en-US" sz="1200" u="none" strike="noStrike">
                          <a:effectLst/>
                        </a:rPr>
                        <a:t>　</a:t>
                      </a:r>
                      <a:endParaRPr lang="zh-TW" altLang="en-US" sz="1200" b="0" i="0" u="none" strike="noStrike">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algn="ctr" fontAlgn="ctr"/>
                      <a:r>
                        <a:rPr lang="zh-TW" altLang="en-US" sz="1200" u="none" strike="noStrike" dirty="0">
                          <a:effectLst/>
                        </a:rPr>
                        <a:t>　</a:t>
                      </a:r>
                      <a:endParaRPr lang="zh-TW" altLang="en-US" sz="1200" b="0" i="0" u="none" strike="noStrike" dirty="0">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2932801"/>
                  </a:ext>
                </a:extLst>
              </a:tr>
              <a:tr h="247608">
                <a:tc>
                  <a:txBody>
                    <a:bodyPr/>
                    <a:lstStyle/>
                    <a:p>
                      <a:pPr algn="ctr" fontAlgn="ctr"/>
                      <a:r>
                        <a:rPr lang="en-US" altLang="zh-TW" sz="1200" u="none" strike="noStrike" dirty="0">
                          <a:effectLst/>
                        </a:rPr>
                        <a:t>75</a:t>
                      </a:r>
                      <a:endParaRPr lang="en-US" altLang="zh-TW" sz="1200" b="0" i="0" u="none" strike="noStrike" dirty="0">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algn="l" fontAlgn="ctr"/>
                      <a:r>
                        <a:rPr lang="en-US" altLang="zh-TW" sz="1200" u="none" strike="noStrike">
                          <a:effectLst/>
                        </a:rPr>
                        <a:t>2021/12/8</a:t>
                      </a:r>
                      <a:endParaRPr lang="en-US" altLang="zh-TW" sz="1200" b="0" i="0" u="none" strike="noStrike">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C"/>
                    </a:solidFill>
                  </a:tcPr>
                </a:tc>
                <a:tc>
                  <a:txBody>
                    <a:bodyPr/>
                    <a:lstStyle/>
                    <a:p>
                      <a:pPr algn="ctr" fontAlgn="ctr"/>
                      <a:r>
                        <a:rPr lang="en-US" altLang="zh-TW" sz="1200" u="none" strike="noStrike">
                          <a:effectLst/>
                        </a:rPr>
                        <a:t>1</a:t>
                      </a:r>
                      <a:endParaRPr lang="en-US" altLang="zh-TW" sz="1200" b="0" i="0" u="none" strike="noStrike">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zh-TW" altLang="en-US" sz="1200" u="none" strike="noStrike" dirty="0">
                          <a:effectLst/>
                        </a:rPr>
                        <a:t>　</a:t>
                      </a:r>
                      <a:endParaRPr lang="zh-TW" altLang="en-US" sz="1200" b="0" i="0" u="none" strike="noStrike" dirty="0">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algn="ctr" fontAlgn="ctr"/>
                      <a:r>
                        <a:rPr lang="zh-TW" altLang="en-US" sz="1200" u="none" strike="noStrike">
                          <a:effectLst/>
                        </a:rPr>
                        <a:t>　</a:t>
                      </a:r>
                      <a:endParaRPr lang="zh-TW" altLang="en-US" sz="1200" b="0" i="0" u="none" strike="noStrike">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4238751"/>
                  </a:ext>
                </a:extLst>
              </a:tr>
              <a:tr h="247608">
                <a:tc>
                  <a:txBody>
                    <a:bodyPr/>
                    <a:lstStyle/>
                    <a:p>
                      <a:pPr algn="ctr" fontAlgn="ctr"/>
                      <a:r>
                        <a:rPr lang="en-US" altLang="zh-TW" sz="1200" u="none" strike="noStrike" dirty="0">
                          <a:effectLst/>
                        </a:rPr>
                        <a:t>33</a:t>
                      </a:r>
                      <a:endParaRPr lang="en-US" altLang="zh-TW" sz="1200" b="0" i="0" u="none" strike="noStrike" dirty="0">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algn="l" fontAlgn="ctr"/>
                      <a:r>
                        <a:rPr lang="en-US" altLang="zh-TW" sz="1200" u="none" strike="noStrike">
                          <a:effectLst/>
                        </a:rPr>
                        <a:t>2021/12/15</a:t>
                      </a:r>
                      <a:endParaRPr lang="en-US" altLang="zh-TW" sz="1200" b="0" i="0" u="none" strike="noStrike">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C"/>
                    </a:solidFill>
                  </a:tcPr>
                </a:tc>
                <a:tc>
                  <a:txBody>
                    <a:bodyPr/>
                    <a:lstStyle/>
                    <a:p>
                      <a:pPr algn="ctr" fontAlgn="ctr"/>
                      <a:r>
                        <a:rPr lang="en-US" altLang="zh-TW" sz="1200" u="none" strike="noStrike">
                          <a:effectLst/>
                        </a:rPr>
                        <a:t>1</a:t>
                      </a:r>
                      <a:endParaRPr lang="en-US" altLang="zh-TW" sz="1200" b="0" i="0" u="none" strike="noStrike">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zh-TW" altLang="en-US" sz="1200" u="none" strike="noStrike" dirty="0">
                          <a:effectLst/>
                        </a:rPr>
                        <a:t>　</a:t>
                      </a:r>
                      <a:endParaRPr lang="zh-TW" altLang="en-US" sz="1200" b="0" i="0" u="none" strike="noStrike" dirty="0">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algn="ctr" fontAlgn="ctr"/>
                      <a:r>
                        <a:rPr lang="zh-TW" altLang="en-US" sz="1200" u="none" strike="noStrike" dirty="0">
                          <a:effectLst/>
                        </a:rPr>
                        <a:t>　</a:t>
                      </a:r>
                      <a:endParaRPr lang="zh-TW" altLang="en-US" sz="1200" b="0" i="0" u="none" strike="noStrike" dirty="0">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62018569"/>
                  </a:ext>
                </a:extLst>
              </a:tr>
              <a:tr h="247608">
                <a:tc>
                  <a:txBody>
                    <a:bodyPr/>
                    <a:lstStyle/>
                    <a:p>
                      <a:pPr algn="ctr" fontAlgn="ctr"/>
                      <a:r>
                        <a:rPr lang="en-US" altLang="zh-TW" sz="1200" u="none" strike="noStrike" dirty="0">
                          <a:effectLst/>
                        </a:rPr>
                        <a:t>83</a:t>
                      </a:r>
                      <a:endParaRPr lang="en-US" altLang="zh-TW" sz="1200" b="0" i="0" u="none" strike="noStrike" dirty="0">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algn="l" fontAlgn="ctr"/>
                      <a:r>
                        <a:rPr lang="en-US" altLang="zh-TW" sz="1200" u="none" strike="noStrike" dirty="0">
                          <a:effectLst/>
                        </a:rPr>
                        <a:t>2021/12/22</a:t>
                      </a:r>
                      <a:endParaRPr lang="en-US" altLang="zh-TW" sz="1200" b="0" i="0" u="none" strike="noStrike" dirty="0">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C"/>
                    </a:solidFill>
                  </a:tcPr>
                </a:tc>
                <a:tc>
                  <a:txBody>
                    <a:bodyPr/>
                    <a:lstStyle/>
                    <a:p>
                      <a:pPr algn="ctr" fontAlgn="ctr"/>
                      <a:r>
                        <a:rPr lang="en-US" altLang="zh-TW" sz="1200" u="none" strike="noStrike" dirty="0">
                          <a:effectLst/>
                        </a:rPr>
                        <a:t>1</a:t>
                      </a:r>
                      <a:endParaRPr lang="en-US" altLang="zh-TW" sz="1200" b="0" i="0" u="none" strike="noStrike" dirty="0">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altLang="zh-TW" sz="1200" u="none" strike="noStrike" dirty="0">
                          <a:effectLst/>
                        </a:rPr>
                        <a:t>2022/5/4</a:t>
                      </a:r>
                      <a:endParaRPr lang="en-US" altLang="zh-TW" sz="1200" b="0" i="0" u="none" strike="noStrike" dirty="0">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algn="ctr" fontAlgn="ctr"/>
                      <a:r>
                        <a:rPr lang="en-US" altLang="zh-TW" sz="1200" u="none" strike="noStrike" dirty="0">
                          <a:effectLst/>
                        </a:rPr>
                        <a:t>1</a:t>
                      </a:r>
                      <a:endParaRPr lang="en-US" altLang="zh-TW" sz="1200" b="0" i="0" u="none" strike="noStrike" dirty="0">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114718"/>
                  </a:ext>
                </a:extLst>
              </a:tr>
              <a:tr h="247608">
                <a:tc>
                  <a:txBody>
                    <a:bodyPr/>
                    <a:lstStyle/>
                    <a:p>
                      <a:pPr algn="ctr" fontAlgn="ctr"/>
                      <a:r>
                        <a:rPr lang="en-US" altLang="zh-TW" sz="1200" u="none" strike="noStrike" dirty="0">
                          <a:effectLst/>
                        </a:rPr>
                        <a:t>40</a:t>
                      </a:r>
                      <a:endParaRPr lang="en-US" altLang="zh-TW" sz="1200" b="0" i="0" u="none" strike="noStrike" dirty="0">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algn="l" fontAlgn="ctr"/>
                      <a:r>
                        <a:rPr lang="en-US" altLang="zh-TW" sz="1200" u="none" strike="noStrike">
                          <a:effectLst/>
                        </a:rPr>
                        <a:t>2022/2/9</a:t>
                      </a:r>
                      <a:endParaRPr lang="en-US" altLang="zh-TW" sz="1200" b="0" i="0" u="none" strike="noStrike">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C"/>
                    </a:solidFill>
                  </a:tcPr>
                </a:tc>
                <a:tc>
                  <a:txBody>
                    <a:bodyPr/>
                    <a:lstStyle/>
                    <a:p>
                      <a:pPr algn="ctr" fontAlgn="ctr"/>
                      <a:r>
                        <a:rPr lang="en-US" altLang="zh-TW" sz="1200" u="none" strike="noStrike">
                          <a:effectLst/>
                        </a:rPr>
                        <a:t>3</a:t>
                      </a:r>
                      <a:endParaRPr lang="en-US" altLang="zh-TW" sz="1200" b="0" i="0" u="none" strike="noStrike">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zh-TW" altLang="en-US" sz="1200" u="none" strike="noStrike" dirty="0">
                          <a:effectLst/>
                        </a:rPr>
                        <a:t>　</a:t>
                      </a:r>
                      <a:endParaRPr lang="zh-TW" altLang="en-US" sz="1200" b="0" i="0" u="none" strike="noStrike" dirty="0">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algn="ctr" fontAlgn="ctr"/>
                      <a:r>
                        <a:rPr lang="zh-TW" altLang="en-US" sz="1200" u="none" strike="noStrike" dirty="0">
                          <a:effectLst/>
                        </a:rPr>
                        <a:t>　</a:t>
                      </a:r>
                      <a:endParaRPr lang="zh-TW" altLang="en-US" sz="1200" b="0" i="0" u="none" strike="noStrike" dirty="0">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18836096"/>
                  </a:ext>
                </a:extLst>
              </a:tr>
              <a:tr h="247608">
                <a:tc>
                  <a:txBody>
                    <a:bodyPr/>
                    <a:lstStyle/>
                    <a:p>
                      <a:pPr algn="ctr" fontAlgn="ctr"/>
                      <a:r>
                        <a:rPr lang="en-US" altLang="zh-TW" sz="1200" u="none" strike="noStrike" dirty="0">
                          <a:effectLst/>
                        </a:rPr>
                        <a:t>66</a:t>
                      </a:r>
                      <a:endParaRPr lang="en-US" altLang="zh-TW" sz="1200" b="0" i="0" u="none" strike="noStrike" dirty="0">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algn="l" fontAlgn="ctr"/>
                      <a:r>
                        <a:rPr lang="en-US" altLang="zh-TW" sz="1200" u="none" strike="noStrike">
                          <a:effectLst/>
                        </a:rPr>
                        <a:t>2022/3/23</a:t>
                      </a:r>
                      <a:endParaRPr lang="en-US" altLang="zh-TW" sz="1200" b="0" i="0" u="none" strike="noStrike">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C"/>
                    </a:solidFill>
                  </a:tcPr>
                </a:tc>
                <a:tc>
                  <a:txBody>
                    <a:bodyPr/>
                    <a:lstStyle/>
                    <a:p>
                      <a:pPr algn="ctr" fontAlgn="ctr"/>
                      <a:r>
                        <a:rPr lang="en-US" altLang="zh-TW" sz="1200" u="none" strike="noStrike">
                          <a:effectLst/>
                        </a:rPr>
                        <a:t>3</a:t>
                      </a:r>
                      <a:endParaRPr lang="en-US" altLang="zh-TW" sz="1200" b="0" i="0" u="none" strike="noStrike">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zh-TW" altLang="en-US" sz="1200" u="none" strike="noStrike">
                          <a:effectLst/>
                        </a:rPr>
                        <a:t>　</a:t>
                      </a:r>
                      <a:endParaRPr lang="zh-TW" altLang="en-US" sz="1200" b="0" i="0" u="none" strike="noStrike">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algn="ctr" fontAlgn="ctr"/>
                      <a:r>
                        <a:rPr lang="zh-TW" altLang="en-US" sz="1200" u="none" strike="noStrike" dirty="0">
                          <a:effectLst/>
                        </a:rPr>
                        <a:t>　</a:t>
                      </a:r>
                      <a:endParaRPr lang="zh-TW" altLang="en-US" sz="1200" b="0" i="0" u="none" strike="noStrike" dirty="0">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66101791"/>
                  </a:ext>
                </a:extLst>
              </a:tr>
              <a:tr h="247608">
                <a:tc>
                  <a:txBody>
                    <a:bodyPr/>
                    <a:lstStyle/>
                    <a:p>
                      <a:pPr algn="ctr" fontAlgn="ctr"/>
                      <a:r>
                        <a:rPr lang="en-US" altLang="zh-TW" sz="1200" u="none" strike="noStrike" dirty="0">
                          <a:effectLst/>
                        </a:rPr>
                        <a:t>45</a:t>
                      </a:r>
                      <a:endParaRPr lang="en-US" altLang="zh-TW" sz="1200" b="0" i="0" u="none" strike="noStrike" dirty="0">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algn="l" fontAlgn="ctr"/>
                      <a:r>
                        <a:rPr lang="en-US" altLang="zh-TW" sz="1200" u="none" strike="noStrike" dirty="0">
                          <a:effectLst/>
                        </a:rPr>
                        <a:t>2022/7/20</a:t>
                      </a:r>
                      <a:endParaRPr lang="en-US" altLang="zh-TW" sz="1200" b="0" i="0" u="none" strike="noStrike" dirty="0">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C"/>
                    </a:solidFill>
                  </a:tcPr>
                </a:tc>
                <a:tc>
                  <a:txBody>
                    <a:bodyPr/>
                    <a:lstStyle/>
                    <a:p>
                      <a:pPr algn="ctr" fontAlgn="ctr"/>
                      <a:r>
                        <a:rPr lang="en-US" altLang="zh-TW" sz="1200" u="none" strike="noStrike" dirty="0">
                          <a:effectLst/>
                        </a:rPr>
                        <a:t>4</a:t>
                      </a:r>
                      <a:endParaRPr lang="en-US" altLang="zh-TW" sz="1200" b="0" i="0" u="none" strike="noStrike" dirty="0">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altLang="zh-TW" sz="1200" u="none" strike="noStrike" dirty="0">
                          <a:effectLst/>
                        </a:rPr>
                        <a:t>2022/11/9</a:t>
                      </a:r>
                      <a:endParaRPr lang="en-US" altLang="zh-TW" sz="1200" b="0" i="0" u="none" strike="noStrike" dirty="0">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algn="ctr" fontAlgn="ctr"/>
                      <a:r>
                        <a:rPr lang="en-US" altLang="zh-TW" sz="1200" u="none" strike="noStrike" dirty="0">
                          <a:effectLst/>
                        </a:rPr>
                        <a:t>3</a:t>
                      </a:r>
                      <a:endParaRPr lang="en-US" altLang="zh-TW" sz="1200" b="0" i="0" u="none" strike="noStrike" dirty="0">
                        <a:solidFill>
                          <a:srgbClr val="000000"/>
                        </a:solidFill>
                        <a:effectLst/>
                        <a:latin typeface="標楷體" panose="03000509000000000000" pitchFamily="65" charset="-120"/>
                        <a:ea typeface="標楷體" panose="03000509000000000000" pitchFamily="65" charset="-120"/>
                      </a:endParaRPr>
                    </a:p>
                  </a:txBody>
                  <a:tcPr marL="7122" marR="7122" marT="71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17797565"/>
                  </a:ext>
                </a:extLst>
              </a:tr>
            </a:tbl>
          </a:graphicData>
        </a:graphic>
      </p:graphicFrame>
    </p:spTree>
    <p:extLst>
      <p:ext uri="{BB962C8B-B14F-4D97-AF65-F5344CB8AC3E}">
        <p14:creationId xmlns:p14="http://schemas.microsoft.com/office/powerpoint/2010/main" val="1909672625"/>
      </p:ext>
    </p:extLst>
  </p:cSld>
  <p:clrMapOvr>
    <a:masterClrMapping/>
  </p:clrMapOvr>
  <mc:AlternateContent xmlns:mc="http://schemas.openxmlformats.org/markup-compatibility/2006" xmlns:p14="http://schemas.microsoft.com/office/powerpoint/2010/main">
    <mc:Choice Requires="p14">
      <p:transition spd="slow" p14:dur="1250" advClick="0">
        <p14:pan dir="u"/>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58536" y="107592"/>
            <a:ext cx="5928672" cy="9840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70"/>
            <a:endParaRPr lang="en-US">
              <a:solidFill>
                <a:prstClr val="white"/>
              </a:solidFill>
              <a:latin typeface="思源黑体 CN Medium" panose="020B0600000000000000" pitchFamily="34" charset="-122"/>
              <a:ea typeface="思源黑体 CN Medium" panose="020B0600000000000000" pitchFamily="34" charset="-122"/>
              <a:sym typeface="字魂59号-创粗黑" panose="00000500000000000000" pitchFamily="2" charset="-122"/>
            </a:endParaRPr>
          </a:p>
        </p:txBody>
      </p:sp>
      <p:pic>
        <p:nvPicPr>
          <p:cNvPr id="17" name="图片 16">
            <a:extLst>
              <a:ext uri="{FF2B5EF4-FFF2-40B4-BE49-F238E27FC236}">
                <a16:creationId xmlns:a16="http://schemas.microsoft.com/office/drawing/2014/main" id="{05E72798-6899-42A6-9FEE-703EF4EFCDB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86" b="100000" l="0" r="100000">
                        <a14:foregroundMark x1="82171" y1="51131" x2="59408" y2="50679"/>
                        <a14:backgroundMark x1="91473" y1="41991" x2="86047" y2="34299"/>
                        <a14:backgroundMark x1="91966" y1="54118" x2="88090" y2="67059"/>
                        <a14:backgroundMark x1="84426" y1="75023" x2="75405" y2="81719"/>
                        <a14:backgroundMark x1="77026" y1="32217" x2="73573" y2="31493"/>
                        <a14:backgroundMark x1="67583" y1="33575" x2="65257" y2="31312"/>
                      </a14:backgroundRemoval>
                    </a14:imgEffect>
                  </a14:imgLayer>
                </a14:imgProps>
              </a:ext>
              <a:ext uri="{28A0092B-C50C-407E-A947-70E740481C1C}">
                <a14:useLocalDpi xmlns:a14="http://schemas.microsoft.com/office/drawing/2010/main" val="0"/>
              </a:ext>
            </a:extLst>
          </a:blip>
          <a:stretch>
            <a:fillRect/>
          </a:stretch>
        </p:blipFill>
        <p:spPr>
          <a:xfrm rot="277819">
            <a:off x="-1366951" y="-490407"/>
            <a:ext cx="3108709" cy="2420806"/>
          </a:xfrm>
          <a:prstGeom prst="rect">
            <a:avLst/>
          </a:prstGeom>
        </p:spPr>
      </p:pic>
      <p:sp>
        <p:nvSpPr>
          <p:cNvPr id="2" name="矩形 1">
            <a:extLst>
              <a:ext uri="{FF2B5EF4-FFF2-40B4-BE49-F238E27FC236}">
                <a16:creationId xmlns:a16="http://schemas.microsoft.com/office/drawing/2014/main" id="{CDACD7A8-3A6E-4C27-9240-791E721F0C74}"/>
              </a:ext>
            </a:extLst>
          </p:cNvPr>
          <p:cNvSpPr/>
          <p:nvPr/>
        </p:nvSpPr>
        <p:spPr>
          <a:xfrm>
            <a:off x="1570514" y="337965"/>
            <a:ext cx="4764972" cy="548443"/>
          </a:xfrm>
          <a:prstGeom prst="rect">
            <a:avLst/>
          </a:prstGeom>
        </p:spPr>
        <p:txBody>
          <a:bodyPr wrap="none">
            <a:normAutofit/>
          </a:bodyPr>
          <a:lstStyle/>
          <a:p>
            <a:r>
              <a:rPr lang="en-US" altLang="zh-TW" sz="2800" dirty="0">
                <a:solidFill>
                  <a:prstClr val="black">
                    <a:lumMod val="75000"/>
                    <a:lumOff val="25000"/>
                  </a:prstClr>
                </a:solidFill>
                <a:latin typeface="Source Han Sans TC"/>
                <a:ea typeface="Source Han Sans TC"/>
                <a:sym typeface="字魂59号-创粗黑" panose="00000500000000000000" pitchFamily="2" charset="-122"/>
              </a:rPr>
              <a:t>Data analysis –</a:t>
            </a:r>
            <a:r>
              <a:rPr lang="zh-TW" altLang="en-US" sz="2800" dirty="0">
                <a:solidFill>
                  <a:srgbClr val="0070C0"/>
                </a:solidFill>
                <a:latin typeface="Source Han Sans TC"/>
                <a:sym typeface="字魂59号-创粗黑" panose="00000500000000000000" pitchFamily="2" charset="-122"/>
              </a:rPr>
              <a:t>肛失禁患者</a:t>
            </a:r>
            <a:endParaRPr lang="en-US" altLang="zh-TW" sz="2800" dirty="0">
              <a:solidFill>
                <a:srgbClr val="0070C0"/>
              </a:solidFill>
              <a:latin typeface="Source Han Sans TC"/>
              <a:ea typeface="Source Han Sans TC"/>
              <a:sym typeface="字魂59号-创粗黑" panose="00000500000000000000" pitchFamily="2" charset="-122"/>
            </a:endParaRPr>
          </a:p>
          <a:p>
            <a:endParaRPr lang="en-US" altLang="zh-TW" sz="2800" b="1" dirty="0">
              <a:solidFill>
                <a:srgbClr val="0070C0"/>
              </a:solidFill>
              <a:latin typeface="微軟正黑體" panose="020B0604030504040204" pitchFamily="34" charset="-120"/>
              <a:ea typeface="微軟正黑體" panose="020B0604030504040204" pitchFamily="34" charset="-120"/>
              <a:cs typeface="Calibri" panose="020F0502020204030204" pitchFamily="34" charset="0"/>
            </a:endParaRPr>
          </a:p>
        </p:txBody>
      </p:sp>
      <p:sp>
        <p:nvSpPr>
          <p:cNvPr id="7" name="文字方塊 6">
            <a:extLst>
              <a:ext uri="{FF2B5EF4-FFF2-40B4-BE49-F238E27FC236}">
                <a16:creationId xmlns:a16="http://schemas.microsoft.com/office/drawing/2014/main" id="{F36FF8FF-6BA0-209F-2116-3F8DD34B989C}"/>
              </a:ext>
            </a:extLst>
          </p:cNvPr>
          <p:cNvSpPr txBox="1"/>
          <p:nvPr/>
        </p:nvSpPr>
        <p:spPr>
          <a:xfrm>
            <a:off x="1549000" y="992809"/>
            <a:ext cx="10608866" cy="1323439"/>
          </a:xfrm>
          <a:prstGeom prst="rect">
            <a:avLst/>
          </a:prstGeom>
          <a:noFill/>
        </p:spPr>
        <p:txBody>
          <a:bodyPr wrap="none" rtlCol="0">
            <a:spAutoFit/>
          </a:bodyPr>
          <a:lstStyle/>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我們發現針對未補值的資料進行檢定不論是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t test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還是 </a:t>
            </a:r>
            <a:r>
              <a:rPr lang="en-US" altLang="zh-TW" sz="2000" dirty="0" err="1">
                <a:solidFill>
                  <a:schemeClr val="tx1">
                    <a:lumMod val="75000"/>
                    <a:lumOff val="25000"/>
                  </a:schemeClr>
                </a:solidFill>
                <a:latin typeface="微軟正黑體" panose="020B0604030504040204" pitchFamily="34" charset="-120"/>
                <a:ea typeface="微軟正黑體" panose="020B0604030504040204" pitchFamily="34" charset="-120"/>
              </a:rPr>
              <a:t>Wilsoxon</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 test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都沒有達到統計顯著，</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接下來我們一樣透過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Bayesian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跟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simple linear regression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的方式來進行補值，並且針對</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補植後的資料進行檢定。針對補值後的資料進行檢定的結果為不論是採用何種補值方法，</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都達到統計顯著，也就是說在進行治療過後，</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平均而言患者的 </a:t>
            </a:r>
            <a:r>
              <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rPr>
              <a:t>resting tone </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有顯著的提升</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a:t>
            </a:r>
            <a:endParaRPr lang="en-US" altLang="zh-TW" sz="2000" dirty="0">
              <a:solidFill>
                <a:schemeClr val="accent2">
                  <a:lumMod val="75000"/>
                </a:schemeClr>
              </a:solidFill>
              <a:latin typeface="微軟正黑體" panose="020B0604030504040204" pitchFamily="34" charset="-120"/>
              <a:ea typeface="微軟正黑體" panose="020B0604030504040204" pitchFamily="34" charset="-120"/>
            </a:endParaRPr>
          </a:p>
        </p:txBody>
      </p:sp>
      <p:sp>
        <p:nvSpPr>
          <p:cNvPr id="5" name="文字方塊 4">
            <a:extLst>
              <a:ext uri="{FF2B5EF4-FFF2-40B4-BE49-F238E27FC236}">
                <a16:creationId xmlns:a16="http://schemas.microsoft.com/office/drawing/2014/main" id="{3753F290-C95E-1135-80C4-FCE44D34D096}"/>
              </a:ext>
            </a:extLst>
          </p:cNvPr>
          <p:cNvSpPr txBox="1"/>
          <p:nvPr/>
        </p:nvSpPr>
        <p:spPr>
          <a:xfrm>
            <a:off x="1570514" y="2720974"/>
            <a:ext cx="1723549" cy="461665"/>
          </a:xfrm>
          <a:prstGeom prst="rect">
            <a:avLst/>
          </a:prstGeom>
          <a:noFill/>
        </p:spPr>
        <p:txBody>
          <a:bodyPr wrap="none" rtlCol="0">
            <a:spAutoFit/>
          </a:bodyPr>
          <a:lstStyle/>
          <a:p>
            <a:r>
              <a:rPr lang="zh-TW" altLang="en-US" sz="2400" b="1" dirty="0">
                <a:latin typeface="微軟正黑體" panose="020B0604030504040204" pitchFamily="34" charset="-120"/>
                <a:ea typeface="微軟正黑體" panose="020B0604030504040204" pitchFamily="34" charset="-120"/>
              </a:rPr>
              <a:t>部分預測值</a:t>
            </a:r>
          </a:p>
        </p:txBody>
      </p:sp>
      <p:graphicFrame>
        <p:nvGraphicFramePr>
          <p:cNvPr id="6" name="表格 5">
            <a:extLst>
              <a:ext uri="{FF2B5EF4-FFF2-40B4-BE49-F238E27FC236}">
                <a16:creationId xmlns:a16="http://schemas.microsoft.com/office/drawing/2014/main" id="{CC17B67B-2428-646D-BEBD-888CE5C8F2B1}"/>
              </a:ext>
            </a:extLst>
          </p:cNvPr>
          <p:cNvGraphicFramePr>
            <a:graphicFrameLocks noGrp="1"/>
          </p:cNvGraphicFramePr>
          <p:nvPr>
            <p:extLst>
              <p:ext uri="{D42A27DB-BD31-4B8C-83A1-F6EECF244321}">
                <p14:modId xmlns:p14="http://schemas.microsoft.com/office/powerpoint/2010/main" val="256937679"/>
              </p:ext>
            </p:extLst>
          </p:nvPr>
        </p:nvGraphicFramePr>
        <p:xfrm>
          <a:off x="6317028" y="3191512"/>
          <a:ext cx="4195483" cy="966767"/>
        </p:xfrm>
        <a:graphic>
          <a:graphicData uri="http://schemas.openxmlformats.org/drawingml/2006/table">
            <a:tbl>
              <a:tblPr/>
              <a:tblGrid>
                <a:gridCol w="1271627">
                  <a:extLst>
                    <a:ext uri="{9D8B030D-6E8A-4147-A177-3AD203B41FA5}">
                      <a16:colId xmlns:a16="http://schemas.microsoft.com/office/drawing/2014/main" val="3993428737"/>
                    </a:ext>
                  </a:extLst>
                </a:gridCol>
                <a:gridCol w="1461928">
                  <a:extLst>
                    <a:ext uri="{9D8B030D-6E8A-4147-A177-3AD203B41FA5}">
                      <a16:colId xmlns:a16="http://schemas.microsoft.com/office/drawing/2014/main" val="2161664515"/>
                    </a:ext>
                  </a:extLst>
                </a:gridCol>
                <a:gridCol w="1461928">
                  <a:extLst>
                    <a:ext uri="{9D8B030D-6E8A-4147-A177-3AD203B41FA5}">
                      <a16:colId xmlns:a16="http://schemas.microsoft.com/office/drawing/2014/main" val="81110010"/>
                    </a:ext>
                  </a:extLst>
                </a:gridCol>
              </a:tblGrid>
              <a:tr h="213360">
                <a:tc>
                  <a:txBody>
                    <a:bodyPr/>
                    <a:lstStyle/>
                    <a:p>
                      <a:pPr algn="ctr" fontAlgn="ct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zh-TW" altLang="en-US" sz="2000" b="0" i="0" u="none" strike="noStrike" dirty="0">
                          <a:solidFill>
                            <a:srgbClr val="000000"/>
                          </a:solidFill>
                          <a:effectLst/>
                          <a:latin typeface="微軟正黑體" panose="020B0604030504040204" pitchFamily="34" charset="-120"/>
                          <a:ea typeface="微軟正黑體" panose="020B0604030504040204" pitchFamily="34" charset="-120"/>
                        </a:rPr>
                        <a:t>統計量</a:t>
                      </a: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2000" b="0" i="0" u="none" strike="noStrike" dirty="0">
                          <a:solidFill>
                            <a:srgbClr val="000000"/>
                          </a:solidFill>
                          <a:effectLst/>
                          <a:latin typeface="微軟正黑體" panose="020B0604030504040204" pitchFamily="34" charset="-120"/>
                          <a:ea typeface="微軟正黑體" panose="020B0604030504040204" pitchFamily="34" charset="-120"/>
                        </a:rPr>
                        <a:t>p-value</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4200870"/>
                  </a:ext>
                </a:extLst>
              </a:tr>
              <a:tr h="341927">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T test</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dirty="0"/>
                        <a:t>-2.04</a:t>
                      </a:r>
                      <a:endPar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kern="1200" dirty="0">
                          <a:solidFill>
                            <a:srgbClr val="00B050"/>
                          </a:solidFill>
                          <a:latin typeface="微軟正黑體" panose="020B0604030504040204" pitchFamily="34" charset="-120"/>
                          <a:ea typeface="微軟正黑體" panose="020B0604030504040204" pitchFamily="34" charset="-120"/>
                          <a:cs typeface="+mn-cs"/>
                        </a:rPr>
                        <a:t>0.0257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1513865"/>
                  </a:ext>
                </a:extLst>
              </a:tr>
              <a:tr h="220980">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Wilcoxon</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dirty="0"/>
                        <a:t>63.5</a:t>
                      </a:r>
                      <a:endPar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kern="1200" dirty="0">
                          <a:solidFill>
                            <a:srgbClr val="00B050"/>
                          </a:solidFill>
                          <a:latin typeface="微軟正黑體" panose="020B0604030504040204" pitchFamily="34" charset="-120"/>
                          <a:ea typeface="微軟正黑體" panose="020B0604030504040204" pitchFamily="34" charset="-120"/>
                          <a:cs typeface="+mn-cs"/>
                        </a:rPr>
                        <a:t>0.0353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5705361"/>
                  </a:ext>
                </a:extLst>
              </a:tr>
            </a:tbl>
          </a:graphicData>
        </a:graphic>
      </p:graphicFrame>
      <p:sp>
        <p:nvSpPr>
          <p:cNvPr id="8" name="文字方塊 7">
            <a:extLst>
              <a:ext uri="{FF2B5EF4-FFF2-40B4-BE49-F238E27FC236}">
                <a16:creationId xmlns:a16="http://schemas.microsoft.com/office/drawing/2014/main" id="{27D6D2F8-22E4-D0CB-9CBA-4C5A05EC6DD1}"/>
              </a:ext>
            </a:extLst>
          </p:cNvPr>
          <p:cNvSpPr txBox="1"/>
          <p:nvPr/>
        </p:nvSpPr>
        <p:spPr>
          <a:xfrm>
            <a:off x="5581751" y="2423359"/>
            <a:ext cx="5666038" cy="461665"/>
          </a:xfrm>
          <a:prstGeom prst="rect">
            <a:avLst/>
          </a:prstGeom>
          <a:noFill/>
        </p:spPr>
        <p:txBody>
          <a:bodyPr wrap="none" rtlCol="0">
            <a:spAutoFit/>
          </a:bodyPr>
          <a:lstStyle/>
          <a:p>
            <a:r>
              <a:rPr lang="zh-TW" altLang="en-US" sz="2400" b="1" dirty="0">
                <a:latin typeface="微軟正黑體" panose="020B0604030504040204" pitchFamily="34" charset="-120"/>
                <a:ea typeface="微軟正黑體" panose="020B0604030504040204" pitchFamily="34" charset="-120"/>
              </a:rPr>
              <a:t>檢定結果 </a:t>
            </a:r>
            <a:r>
              <a:rPr lang="en-US" altLang="zh-TW" sz="2400" b="1" dirty="0">
                <a:latin typeface="微軟正黑體" panose="020B0604030504040204" pitchFamily="34" charset="-120"/>
                <a:ea typeface="微軟正黑體" panose="020B0604030504040204" pitchFamily="34" charset="-120"/>
              </a:rPr>
              <a:t>(Bayesian Ridge Regression)</a:t>
            </a:r>
          </a:p>
        </p:txBody>
      </p:sp>
      <p:sp>
        <p:nvSpPr>
          <p:cNvPr id="9" name="文字方塊 8">
            <a:extLst>
              <a:ext uri="{FF2B5EF4-FFF2-40B4-BE49-F238E27FC236}">
                <a16:creationId xmlns:a16="http://schemas.microsoft.com/office/drawing/2014/main" id="{9528F7A2-5DCA-D59C-A724-D3351EA6CB1A}"/>
              </a:ext>
            </a:extLst>
          </p:cNvPr>
          <p:cNvSpPr txBox="1"/>
          <p:nvPr/>
        </p:nvSpPr>
        <p:spPr>
          <a:xfrm>
            <a:off x="5581751" y="4510793"/>
            <a:ext cx="5343899" cy="461665"/>
          </a:xfrm>
          <a:prstGeom prst="rect">
            <a:avLst/>
          </a:prstGeom>
          <a:noFill/>
        </p:spPr>
        <p:txBody>
          <a:bodyPr wrap="none" rtlCol="0">
            <a:spAutoFit/>
          </a:bodyPr>
          <a:lstStyle/>
          <a:p>
            <a:r>
              <a:rPr lang="zh-TW" altLang="en-US" sz="2400" b="1" dirty="0">
                <a:latin typeface="微軟正黑體" panose="020B0604030504040204" pitchFamily="34" charset="-120"/>
                <a:ea typeface="微軟正黑體" panose="020B0604030504040204" pitchFamily="34" charset="-120"/>
              </a:rPr>
              <a:t>檢定結果 </a:t>
            </a:r>
            <a:r>
              <a:rPr lang="en-US" altLang="zh-TW" sz="2400" b="1" dirty="0">
                <a:latin typeface="微軟正黑體" panose="020B0604030504040204" pitchFamily="34" charset="-120"/>
                <a:ea typeface="微軟正黑體" panose="020B0604030504040204" pitchFamily="34" charset="-120"/>
              </a:rPr>
              <a:t>(Simple linear Regression)</a:t>
            </a:r>
          </a:p>
        </p:txBody>
      </p:sp>
      <p:graphicFrame>
        <p:nvGraphicFramePr>
          <p:cNvPr id="13" name="表格 12">
            <a:extLst>
              <a:ext uri="{FF2B5EF4-FFF2-40B4-BE49-F238E27FC236}">
                <a16:creationId xmlns:a16="http://schemas.microsoft.com/office/drawing/2014/main" id="{1F842BA2-C74C-51D4-A5BD-5AAFDDEFCCF1}"/>
              </a:ext>
            </a:extLst>
          </p:cNvPr>
          <p:cNvGraphicFramePr>
            <a:graphicFrameLocks noGrp="1"/>
          </p:cNvGraphicFramePr>
          <p:nvPr>
            <p:extLst>
              <p:ext uri="{D42A27DB-BD31-4B8C-83A1-F6EECF244321}">
                <p14:modId xmlns:p14="http://schemas.microsoft.com/office/powerpoint/2010/main" val="1721581144"/>
              </p:ext>
            </p:extLst>
          </p:nvPr>
        </p:nvGraphicFramePr>
        <p:xfrm>
          <a:off x="6317027" y="5399548"/>
          <a:ext cx="4195483" cy="937260"/>
        </p:xfrm>
        <a:graphic>
          <a:graphicData uri="http://schemas.openxmlformats.org/drawingml/2006/table">
            <a:tbl>
              <a:tblPr/>
              <a:tblGrid>
                <a:gridCol w="1271627">
                  <a:extLst>
                    <a:ext uri="{9D8B030D-6E8A-4147-A177-3AD203B41FA5}">
                      <a16:colId xmlns:a16="http://schemas.microsoft.com/office/drawing/2014/main" val="3993428737"/>
                    </a:ext>
                  </a:extLst>
                </a:gridCol>
                <a:gridCol w="1461928">
                  <a:extLst>
                    <a:ext uri="{9D8B030D-6E8A-4147-A177-3AD203B41FA5}">
                      <a16:colId xmlns:a16="http://schemas.microsoft.com/office/drawing/2014/main" val="2161664515"/>
                    </a:ext>
                  </a:extLst>
                </a:gridCol>
                <a:gridCol w="1461928">
                  <a:extLst>
                    <a:ext uri="{9D8B030D-6E8A-4147-A177-3AD203B41FA5}">
                      <a16:colId xmlns:a16="http://schemas.microsoft.com/office/drawing/2014/main" val="81110010"/>
                    </a:ext>
                  </a:extLst>
                </a:gridCol>
              </a:tblGrid>
              <a:tr h="250659">
                <a:tc>
                  <a:txBody>
                    <a:bodyPr/>
                    <a:lstStyle/>
                    <a:p>
                      <a:pPr algn="ctr" fontAlgn="ct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zh-TW" altLang="en-US" sz="2000" b="0" i="0" u="none" strike="noStrike" dirty="0">
                          <a:solidFill>
                            <a:srgbClr val="000000"/>
                          </a:solidFill>
                          <a:effectLst/>
                          <a:latin typeface="微軟正黑體" panose="020B0604030504040204" pitchFamily="34" charset="-120"/>
                          <a:ea typeface="微軟正黑體" panose="020B0604030504040204" pitchFamily="34" charset="-120"/>
                        </a:rPr>
                        <a:t>統計量</a:t>
                      </a: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2000" b="0" i="0" u="none" strike="noStrike" dirty="0">
                          <a:solidFill>
                            <a:srgbClr val="000000"/>
                          </a:solidFill>
                          <a:effectLst/>
                          <a:latin typeface="微軟正黑體" panose="020B0604030504040204" pitchFamily="34" charset="-120"/>
                          <a:ea typeface="微軟正黑體" panose="020B0604030504040204" pitchFamily="34" charset="-120"/>
                        </a:rPr>
                        <a:t>p-value</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4200870"/>
                  </a:ext>
                </a:extLst>
              </a:tr>
              <a:tr h="220980">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T test</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dirty="0"/>
                        <a:t>-3.16</a:t>
                      </a:r>
                      <a:endPar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kern="1200" dirty="0">
                          <a:solidFill>
                            <a:srgbClr val="00B050"/>
                          </a:solidFill>
                          <a:latin typeface="微軟正黑體" panose="020B0604030504040204" pitchFamily="34" charset="-120"/>
                          <a:ea typeface="微軟正黑體" panose="020B0604030504040204" pitchFamily="34" charset="-120"/>
                          <a:cs typeface="+mn-cs"/>
                        </a:rPr>
                        <a:t>0.002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1513865"/>
                  </a:ext>
                </a:extLst>
              </a:tr>
              <a:tr h="220980">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Wilcoxon</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29.5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kern="1200" dirty="0">
                          <a:solidFill>
                            <a:srgbClr val="00B050"/>
                          </a:solidFill>
                          <a:latin typeface="微軟正黑體" panose="020B0604030504040204" pitchFamily="34" charset="-120"/>
                          <a:ea typeface="微軟正黑體" panose="020B0604030504040204" pitchFamily="34" charset="-120"/>
                          <a:cs typeface="+mn-cs"/>
                        </a:rPr>
                        <a:t>0.001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5705361"/>
                  </a:ext>
                </a:extLst>
              </a:tr>
            </a:tbl>
          </a:graphicData>
        </a:graphic>
      </p:graphicFrame>
      <p:graphicFrame>
        <p:nvGraphicFramePr>
          <p:cNvPr id="14" name="表格 13">
            <a:extLst>
              <a:ext uri="{FF2B5EF4-FFF2-40B4-BE49-F238E27FC236}">
                <a16:creationId xmlns:a16="http://schemas.microsoft.com/office/drawing/2014/main" id="{4EAD9461-4F91-E423-9ADF-98F2B5AA94CE}"/>
              </a:ext>
            </a:extLst>
          </p:cNvPr>
          <p:cNvGraphicFramePr>
            <a:graphicFrameLocks noGrp="1"/>
          </p:cNvGraphicFramePr>
          <p:nvPr>
            <p:extLst>
              <p:ext uri="{D42A27DB-BD31-4B8C-83A1-F6EECF244321}">
                <p14:modId xmlns:p14="http://schemas.microsoft.com/office/powerpoint/2010/main" val="951589986"/>
              </p:ext>
            </p:extLst>
          </p:nvPr>
        </p:nvGraphicFramePr>
        <p:xfrm>
          <a:off x="794565" y="3510135"/>
          <a:ext cx="3626829" cy="3009900"/>
        </p:xfrm>
        <a:graphic>
          <a:graphicData uri="http://schemas.openxmlformats.org/drawingml/2006/table">
            <a:tbl>
              <a:tblPr/>
              <a:tblGrid>
                <a:gridCol w="719609">
                  <a:extLst>
                    <a:ext uri="{9D8B030D-6E8A-4147-A177-3AD203B41FA5}">
                      <a16:colId xmlns:a16="http://schemas.microsoft.com/office/drawing/2014/main" val="2308458833"/>
                    </a:ext>
                  </a:extLst>
                </a:gridCol>
                <a:gridCol w="820354">
                  <a:extLst>
                    <a:ext uri="{9D8B030D-6E8A-4147-A177-3AD203B41FA5}">
                      <a16:colId xmlns:a16="http://schemas.microsoft.com/office/drawing/2014/main" val="12725514"/>
                    </a:ext>
                  </a:extLst>
                </a:gridCol>
                <a:gridCol w="1050629">
                  <a:extLst>
                    <a:ext uri="{9D8B030D-6E8A-4147-A177-3AD203B41FA5}">
                      <a16:colId xmlns:a16="http://schemas.microsoft.com/office/drawing/2014/main" val="1616214365"/>
                    </a:ext>
                  </a:extLst>
                </a:gridCol>
                <a:gridCol w="1036237">
                  <a:extLst>
                    <a:ext uri="{9D8B030D-6E8A-4147-A177-3AD203B41FA5}">
                      <a16:colId xmlns:a16="http://schemas.microsoft.com/office/drawing/2014/main" val="2958420482"/>
                    </a:ext>
                  </a:extLst>
                </a:gridCol>
              </a:tblGrid>
              <a:tr h="411480">
                <a:tc>
                  <a:txBody>
                    <a:bodyPr/>
                    <a:lstStyle/>
                    <a:p>
                      <a:pPr marL="0" algn="ctr" defTabSz="1219170" rtl="0" eaLnBrk="1" fontAlgn="ctr" latinLnBrk="0" hangingPunct="1"/>
                      <a:r>
                        <a:rPr lang="en-US" sz="1600" b="0" i="0" u="none" strike="noStrike" kern="12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Pre</a:t>
                      </a:r>
                      <a:r>
                        <a:rPr lang="en-US" altLang="zh-TW" sz="1600" b="0" i="0" u="none" strike="noStrike" kern="12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Rest</a:t>
                      </a:r>
                      <a:endPar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1219170" rtl="0" eaLnBrk="1" fontAlgn="ctr" latinLnBrk="0" hangingPunct="1"/>
                      <a:r>
                        <a:rPr lang="en-US" sz="1600" b="0" i="0" u="none" strike="noStrike" kern="12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PostRest</a:t>
                      </a:r>
                      <a:endPar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1219170" rtl="0" eaLnBrk="1" fontAlgn="ctr" latinLnBrk="0" hangingPunct="1"/>
                      <a:r>
                        <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Imputation</a:t>
                      </a:r>
                      <a:br>
                        <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(Bayesian)</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1219170" rtl="0" eaLnBrk="1" fontAlgn="ctr" latinLnBrk="0" hangingPunct="1"/>
                      <a:r>
                        <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Imputation</a:t>
                      </a:r>
                      <a:br>
                        <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(Simple LR)</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582113283"/>
                  </a:ext>
                </a:extLst>
              </a:tr>
              <a:tr h="205740">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32958581"/>
                  </a:ext>
                </a:extLst>
              </a:tr>
              <a:tr h="20574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26168012"/>
                  </a:ext>
                </a:extLst>
              </a:tr>
              <a:tr h="20574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30361147"/>
                  </a:ext>
                </a:extLst>
              </a:tr>
              <a:tr h="239431">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35103680"/>
                  </a:ext>
                </a:extLst>
              </a:tr>
              <a:tr h="20574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zh-TW" altLang="en-US" sz="1600" b="0" i="0" u="none" strike="noStrike" kern="1200">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3.790366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3.596639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11054718"/>
                  </a:ext>
                </a:extLst>
              </a:tr>
              <a:tr h="20574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zh-TW" altLang="en-US" sz="1600" b="0" i="0" u="none" strike="noStrike" kern="1200">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3.812338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3.008403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1390743"/>
                  </a:ext>
                </a:extLst>
              </a:tr>
              <a:tr h="20574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zh-TW" altLang="en-US" sz="1600" b="0" i="0" u="none" strike="noStrike" kern="1200">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1.692731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2.420168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83085949"/>
                  </a:ext>
                </a:extLst>
              </a:tr>
              <a:tr h="20574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zh-TW" altLang="en-US" sz="1600" b="0" i="0" u="none" strike="noStrike" kern="1200">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0.548242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1.831933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03835822"/>
                  </a:ext>
                </a:extLst>
              </a:tr>
              <a:tr h="20574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zh-TW" altLang="en-US" sz="1600" b="0" i="0" u="none" strike="noStrike" kern="1200">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0.959323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1.831933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12058721"/>
                  </a:ext>
                </a:extLst>
              </a:tr>
              <a:tr h="205740">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39446907"/>
                  </a:ext>
                </a:extLst>
              </a:tr>
            </a:tbl>
          </a:graphicData>
        </a:graphic>
      </p:graphicFrame>
    </p:spTree>
    <p:extLst>
      <p:ext uri="{BB962C8B-B14F-4D97-AF65-F5344CB8AC3E}">
        <p14:creationId xmlns:p14="http://schemas.microsoft.com/office/powerpoint/2010/main" val="4058957911"/>
      </p:ext>
    </p:extLst>
  </p:cSld>
  <p:clrMapOvr>
    <a:masterClrMapping/>
  </p:clrMapOvr>
  <mc:AlternateContent xmlns:mc="http://schemas.openxmlformats.org/markup-compatibility/2006" xmlns:p14="http://schemas.microsoft.com/office/powerpoint/2010/main">
    <mc:Choice Requires="p14">
      <p:transition spd="slow" p14:dur="1250" advClick="0">
        <p14:pan dir="u"/>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58536" y="107592"/>
            <a:ext cx="5928672" cy="9840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70"/>
            <a:endParaRPr lang="en-US">
              <a:solidFill>
                <a:prstClr val="white"/>
              </a:solidFill>
              <a:latin typeface="思源黑体 CN Medium" panose="020B0600000000000000" pitchFamily="34" charset="-122"/>
              <a:ea typeface="思源黑体 CN Medium" panose="020B0600000000000000" pitchFamily="34" charset="-122"/>
              <a:sym typeface="字魂59号-创粗黑" panose="00000500000000000000" pitchFamily="2" charset="-122"/>
            </a:endParaRPr>
          </a:p>
        </p:txBody>
      </p:sp>
      <p:pic>
        <p:nvPicPr>
          <p:cNvPr id="17" name="图片 16">
            <a:extLst>
              <a:ext uri="{FF2B5EF4-FFF2-40B4-BE49-F238E27FC236}">
                <a16:creationId xmlns:a16="http://schemas.microsoft.com/office/drawing/2014/main" id="{05E72798-6899-42A6-9FEE-703EF4EFCDB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86" b="100000" l="0" r="100000">
                        <a14:foregroundMark x1="82171" y1="51131" x2="59408" y2="50679"/>
                        <a14:backgroundMark x1="91473" y1="41991" x2="86047" y2="34299"/>
                        <a14:backgroundMark x1="91966" y1="54118" x2="88090" y2="67059"/>
                        <a14:backgroundMark x1="84426" y1="75023" x2="75405" y2="81719"/>
                        <a14:backgroundMark x1="77026" y1="32217" x2="73573" y2="31493"/>
                        <a14:backgroundMark x1="67583" y1="33575" x2="65257" y2="31312"/>
                      </a14:backgroundRemoval>
                    </a14:imgEffect>
                  </a14:imgLayer>
                </a14:imgProps>
              </a:ext>
              <a:ext uri="{28A0092B-C50C-407E-A947-70E740481C1C}">
                <a14:useLocalDpi xmlns:a14="http://schemas.microsoft.com/office/drawing/2010/main" val="0"/>
              </a:ext>
            </a:extLst>
          </a:blip>
          <a:stretch>
            <a:fillRect/>
          </a:stretch>
        </p:blipFill>
        <p:spPr>
          <a:xfrm rot="277819">
            <a:off x="-1366951" y="-490407"/>
            <a:ext cx="3108709" cy="2420806"/>
          </a:xfrm>
          <a:prstGeom prst="rect">
            <a:avLst/>
          </a:prstGeom>
        </p:spPr>
      </p:pic>
      <p:sp>
        <p:nvSpPr>
          <p:cNvPr id="2" name="矩形 1">
            <a:extLst>
              <a:ext uri="{FF2B5EF4-FFF2-40B4-BE49-F238E27FC236}">
                <a16:creationId xmlns:a16="http://schemas.microsoft.com/office/drawing/2014/main" id="{CDACD7A8-3A6E-4C27-9240-791E721F0C74}"/>
              </a:ext>
            </a:extLst>
          </p:cNvPr>
          <p:cNvSpPr/>
          <p:nvPr/>
        </p:nvSpPr>
        <p:spPr>
          <a:xfrm>
            <a:off x="1570514" y="337965"/>
            <a:ext cx="4764972" cy="548443"/>
          </a:xfrm>
          <a:prstGeom prst="rect">
            <a:avLst/>
          </a:prstGeom>
        </p:spPr>
        <p:txBody>
          <a:bodyPr wrap="none">
            <a:normAutofit/>
          </a:bodyPr>
          <a:lstStyle/>
          <a:p>
            <a:r>
              <a:rPr lang="en-US" altLang="zh-TW" sz="2800" dirty="0">
                <a:solidFill>
                  <a:prstClr val="black">
                    <a:lumMod val="75000"/>
                    <a:lumOff val="25000"/>
                  </a:prstClr>
                </a:solidFill>
                <a:latin typeface="Source Han Sans TC"/>
                <a:ea typeface="Source Han Sans TC"/>
                <a:sym typeface="字魂59号-创粗黑" panose="00000500000000000000" pitchFamily="2" charset="-122"/>
              </a:rPr>
              <a:t>Data analysis –</a:t>
            </a:r>
            <a:r>
              <a:rPr lang="zh-TW" altLang="en-US" sz="2800" dirty="0">
                <a:solidFill>
                  <a:srgbClr val="0070C0"/>
                </a:solidFill>
                <a:latin typeface="Source Han Sans TC"/>
                <a:ea typeface="Source Han Sans TC"/>
                <a:sym typeface="字魂59号-创粗黑" panose="00000500000000000000" pitchFamily="2" charset="-122"/>
              </a:rPr>
              <a:t>尿失禁患者</a:t>
            </a:r>
            <a:endParaRPr lang="en-US" altLang="zh-TW" sz="2800" dirty="0">
              <a:solidFill>
                <a:srgbClr val="0070C0"/>
              </a:solidFill>
              <a:latin typeface="Source Han Sans TC"/>
              <a:ea typeface="Source Han Sans TC"/>
              <a:sym typeface="字魂59号-创粗黑" panose="00000500000000000000" pitchFamily="2" charset="-122"/>
            </a:endParaRPr>
          </a:p>
          <a:p>
            <a:endParaRPr lang="en-US" altLang="zh-TW" sz="2800" dirty="0">
              <a:solidFill>
                <a:srgbClr val="0070C0"/>
              </a:solidFill>
              <a:latin typeface="Source Han Sans TC"/>
              <a:ea typeface="Source Han Sans TC"/>
              <a:sym typeface="字魂59号-创粗黑" panose="00000500000000000000" pitchFamily="2" charset="-122"/>
            </a:endParaRPr>
          </a:p>
          <a:p>
            <a:endParaRPr lang="en-US" altLang="zh-TW" sz="2800" b="1" dirty="0">
              <a:solidFill>
                <a:srgbClr val="0070C0"/>
              </a:solidFill>
              <a:latin typeface="微軟正黑體" panose="020B0604030504040204" pitchFamily="34" charset="-120"/>
              <a:ea typeface="微軟正黑體" panose="020B0604030504040204" pitchFamily="34" charset="-120"/>
              <a:cs typeface="Calibri" panose="020F0502020204030204" pitchFamily="34" charset="0"/>
            </a:endParaRPr>
          </a:p>
        </p:txBody>
      </p:sp>
      <p:sp>
        <p:nvSpPr>
          <p:cNvPr id="6" name="文字方塊 5">
            <a:extLst>
              <a:ext uri="{FF2B5EF4-FFF2-40B4-BE49-F238E27FC236}">
                <a16:creationId xmlns:a16="http://schemas.microsoft.com/office/drawing/2014/main" id="{0C7BF970-2010-34C5-D523-4B00C33F18F6}"/>
              </a:ext>
            </a:extLst>
          </p:cNvPr>
          <p:cNvSpPr txBox="1"/>
          <p:nvPr/>
        </p:nvSpPr>
        <p:spPr>
          <a:xfrm>
            <a:off x="978674" y="1465858"/>
            <a:ext cx="11213326" cy="1323439"/>
          </a:xfrm>
          <a:prstGeom prst="rect">
            <a:avLst/>
          </a:prstGeom>
          <a:noFill/>
        </p:spPr>
        <p:txBody>
          <a:bodyPr wrap="none" rtlCol="0">
            <a:spAutoFit/>
          </a:bodyPr>
          <a:lstStyle/>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我們接著分析尿失禁患者的肌電圖，下圖即為具有完整前後測資料的肌電圖以及根據這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4</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 筆數據</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的檢定結果，值得注意的是，我們的檢定一樣是單邊檢定，</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只是這次我們做的是左尾檢定，因為我</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們想知道 </a:t>
            </a:r>
            <a:r>
              <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rPr>
              <a:t>Post test </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是否有顯著地大於 </a:t>
            </a:r>
            <a:r>
              <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rPr>
              <a:t>Pre test</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在顯著水準為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0.1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的情況下，不論是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T test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或是</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Wilcoxon test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都有達到統計顯著，接下來我們針對補值後資料進行檢定。</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graphicFrame>
        <p:nvGraphicFramePr>
          <p:cNvPr id="7" name="表格 6">
            <a:extLst>
              <a:ext uri="{FF2B5EF4-FFF2-40B4-BE49-F238E27FC236}">
                <a16:creationId xmlns:a16="http://schemas.microsoft.com/office/drawing/2014/main" id="{EA9E1D85-09AE-1120-162B-5D2CBA90BF51}"/>
              </a:ext>
            </a:extLst>
          </p:cNvPr>
          <p:cNvGraphicFramePr>
            <a:graphicFrameLocks noGrp="1"/>
          </p:cNvGraphicFramePr>
          <p:nvPr>
            <p:extLst>
              <p:ext uri="{D42A27DB-BD31-4B8C-83A1-F6EECF244321}">
                <p14:modId xmlns:p14="http://schemas.microsoft.com/office/powerpoint/2010/main" val="3563495094"/>
              </p:ext>
            </p:extLst>
          </p:nvPr>
        </p:nvGraphicFramePr>
        <p:xfrm>
          <a:off x="8314634" y="4376479"/>
          <a:ext cx="3877366" cy="937260"/>
        </p:xfrm>
        <a:graphic>
          <a:graphicData uri="http://schemas.openxmlformats.org/drawingml/2006/table">
            <a:tbl>
              <a:tblPr/>
              <a:tblGrid>
                <a:gridCol w="1175208">
                  <a:extLst>
                    <a:ext uri="{9D8B030D-6E8A-4147-A177-3AD203B41FA5}">
                      <a16:colId xmlns:a16="http://schemas.microsoft.com/office/drawing/2014/main" val="3993428737"/>
                    </a:ext>
                  </a:extLst>
                </a:gridCol>
                <a:gridCol w="1351079">
                  <a:extLst>
                    <a:ext uri="{9D8B030D-6E8A-4147-A177-3AD203B41FA5}">
                      <a16:colId xmlns:a16="http://schemas.microsoft.com/office/drawing/2014/main" val="2161664515"/>
                    </a:ext>
                  </a:extLst>
                </a:gridCol>
                <a:gridCol w="1351079">
                  <a:extLst>
                    <a:ext uri="{9D8B030D-6E8A-4147-A177-3AD203B41FA5}">
                      <a16:colId xmlns:a16="http://schemas.microsoft.com/office/drawing/2014/main" val="81110010"/>
                    </a:ext>
                  </a:extLst>
                </a:gridCol>
              </a:tblGrid>
              <a:tr h="213360">
                <a:tc>
                  <a:txBody>
                    <a:bodyPr/>
                    <a:lstStyle/>
                    <a:p>
                      <a:pPr algn="ctr" fontAlgn="ct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zh-TW" altLang="en-US" sz="2000" b="0" i="0" u="none" strike="noStrike" dirty="0">
                          <a:solidFill>
                            <a:srgbClr val="000000"/>
                          </a:solidFill>
                          <a:effectLst/>
                          <a:latin typeface="微軟正黑體" panose="020B0604030504040204" pitchFamily="34" charset="-120"/>
                          <a:ea typeface="微軟正黑體" panose="020B0604030504040204" pitchFamily="34" charset="-120"/>
                        </a:rPr>
                        <a:t>統計量</a:t>
                      </a: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2000" b="0" i="0" u="none" strike="noStrike" dirty="0">
                          <a:solidFill>
                            <a:srgbClr val="000000"/>
                          </a:solidFill>
                          <a:effectLst/>
                          <a:latin typeface="微軟正黑體" panose="020B0604030504040204" pitchFamily="34" charset="-120"/>
                          <a:ea typeface="微軟正黑體" panose="020B0604030504040204" pitchFamily="34" charset="-120"/>
                        </a:rPr>
                        <a:t>p-value</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4200870"/>
                  </a:ext>
                </a:extLst>
              </a:tr>
              <a:tr h="220980">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T test</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-2.21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B050"/>
                          </a:solidFill>
                          <a:effectLst/>
                          <a:latin typeface="微軟正黑體" panose="020B0604030504040204" pitchFamily="34" charset="-120"/>
                          <a:ea typeface="微軟正黑體" panose="020B0604030504040204" pitchFamily="34" charset="-120"/>
                        </a:rPr>
                        <a:t>0.0567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1513865"/>
                  </a:ext>
                </a:extLst>
              </a:tr>
              <a:tr h="220980">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Wilcoxon</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B050"/>
                          </a:solidFill>
                          <a:effectLst/>
                          <a:latin typeface="微軟正黑體" panose="020B0604030504040204" pitchFamily="34" charset="-120"/>
                          <a:ea typeface="微軟正黑體" panose="020B0604030504040204" pitchFamily="34" charset="-120"/>
                        </a:rPr>
                        <a:t>0.0625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5705361"/>
                  </a:ext>
                </a:extLst>
              </a:tr>
            </a:tbl>
          </a:graphicData>
        </a:graphic>
      </p:graphicFrame>
      <p:sp>
        <p:nvSpPr>
          <p:cNvPr id="8" name="文字方塊 7">
            <a:extLst>
              <a:ext uri="{FF2B5EF4-FFF2-40B4-BE49-F238E27FC236}">
                <a16:creationId xmlns:a16="http://schemas.microsoft.com/office/drawing/2014/main" id="{75C50B69-F66C-FEFB-5325-FDD1CF26EFAB}"/>
              </a:ext>
            </a:extLst>
          </p:cNvPr>
          <p:cNvSpPr txBox="1"/>
          <p:nvPr/>
        </p:nvSpPr>
        <p:spPr>
          <a:xfrm>
            <a:off x="9424463" y="3688484"/>
            <a:ext cx="1415772" cy="461665"/>
          </a:xfrm>
          <a:prstGeom prst="rect">
            <a:avLst/>
          </a:prstGeom>
          <a:noFill/>
        </p:spPr>
        <p:txBody>
          <a:bodyPr wrap="none" rtlCol="0">
            <a:spAutoFit/>
          </a:bodyPr>
          <a:lstStyle/>
          <a:p>
            <a:r>
              <a:rPr lang="zh-TW" altLang="en-US" sz="2400" b="1" dirty="0">
                <a:latin typeface="微軟正黑體" panose="020B0604030504040204" pitchFamily="34" charset="-120"/>
                <a:ea typeface="微軟正黑體" panose="020B0604030504040204" pitchFamily="34" charset="-120"/>
              </a:rPr>
              <a:t>檢定結果</a:t>
            </a:r>
          </a:p>
        </p:txBody>
      </p:sp>
      <p:graphicFrame>
        <p:nvGraphicFramePr>
          <p:cNvPr id="5" name="表格 4">
            <a:extLst>
              <a:ext uri="{FF2B5EF4-FFF2-40B4-BE49-F238E27FC236}">
                <a16:creationId xmlns:a16="http://schemas.microsoft.com/office/drawing/2014/main" id="{2F1BCBD5-D0D8-90C3-47CF-AF7AC8CCDCC2}"/>
              </a:ext>
            </a:extLst>
          </p:cNvPr>
          <p:cNvGraphicFramePr>
            <a:graphicFrameLocks noGrp="1"/>
          </p:cNvGraphicFramePr>
          <p:nvPr>
            <p:extLst>
              <p:ext uri="{D42A27DB-BD31-4B8C-83A1-F6EECF244321}">
                <p14:modId xmlns:p14="http://schemas.microsoft.com/office/powerpoint/2010/main" val="1455735583"/>
              </p:ext>
            </p:extLst>
          </p:nvPr>
        </p:nvGraphicFramePr>
        <p:xfrm>
          <a:off x="101068" y="3919316"/>
          <a:ext cx="8023428" cy="1303020"/>
        </p:xfrm>
        <a:graphic>
          <a:graphicData uri="http://schemas.openxmlformats.org/drawingml/2006/table">
            <a:tbl>
              <a:tblPr/>
              <a:tblGrid>
                <a:gridCol w="507733">
                  <a:extLst>
                    <a:ext uri="{9D8B030D-6E8A-4147-A177-3AD203B41FA5}">
                      <a16:colId xmlns:a16="http://schemas.microsoft.com/office/drawing/2014/main" val="172551098"/>
                    </a:ext>
                  </a:extLst>
                </a:gridCol>
                <a:gridCol w="1039901">
                  <a:extLst>
                    <a:ext uri="{9D8B030D-6E8A-4147-A177-3AD203B41FA5}">
                      <a16:colId xmlns:a16="http://schemas.microsoft.com/office/drawing/2014/main" val="1351983293"/>
                    </a:ext>
                  </a:extLst>
                </a:gridCol>
                <a:gridCol w="930806">
                  <a:extLst>
                    <a:ext uri="{9D8B030D-6E8A-4147-A177-3AD203B41FA5}">
                      <a16:colId xmlns:a16="http://schemas.microsoft.com/office/drawing/2014/main" val="2672874731"/>
                    </a:ext>
                  </a:extLst>
                </a:gridCol>
                <a:gridCol w="910162">
                  <a:extLst>
                    <a:ext uri="{9D8B030D-6E8A-4147-A177-3AD203B41FA5}">
                      <a16:colId xmlns:a16="http://schemas.microsoft.com/office/drawing/2014/main" val="348962842"/>
                    </a:ext>
                  </a:extLst>
                </a:gridCol>
                <a:gridCol w="962427">
                  <a:extLst>
                    <a:ext uri="{9D8B030D-6E8A-4147-A177-3AD203B41FA5}">
                      <a16:colId xmlns:a16="http://schemas.microsoft.com/office/drawing/2014/main" val="1912613397"/>
                    </a:ext>
                  </a:extLst>
                </a:gridCol>
                <a:gridCol w="942190">
                  <a:extLst>
                    <a:ext uri="{9D8B030D-6E8A-4147-A177-3AD203B41FA5}">
                      <a16:colId xmlns:a16="http://schemas.microsoft.com/office/drawing/2014/main" val="3137481417"/>
                    </a:ext>
                  </a:extLst>
                </a:gridCol>
                <a:gridCol w="985017">
                  <a:extLst>
                    <a:ext uri="{9D8B030D-6E8A-4147-A177-3AD203B41FA5}">
                      <a16:colId xmlns:a16="http://schemas.microsoft.com/office/drawing/2014/main" val="2022698711"/>
                    </a:ext>
                  </a:extLst>
                </a:gridCol>
                <a:gridCol w="841303">
                  <a:extLst>
                    <a:ext uri="{9D8B030D-6E8A-4147-A177-3AD203B41FA5}">
                      <a16:colId xmlns:a16="http://schemas.microsoft.com/office/drawing/2014/main" val="528782857"/>
                    </a:ext>
                  </a:extLst>
                </a:gridCol>
                <a:gridCol w="903889">
                  <a:extLst>
                    <a:ext uri="{9D8B030D-6E8A-4147-A177-3AD203B41FA5}">
                      <a16:colId xmlns:a16="http://schemas.microsoft.com/office/drawing/2014/main" val="479713986"/>
                    </a:ext>
                  </a:extLst>
                </a:gridCol>
              </a:tblGrid>
              <a:tr h="419100">
                <a:tc>
                  <a:txBody>
                    <a:bodyPr/>
                    <a:lstStyle/>
                    <a:p>
                      <a:pPr algn="ctr" fontAlgn="ctr"/>
                      <a:r>
                        <a:rPr lang="zh-TW" altLang="en-US" sz="1600" b="0" i="0" u="none" strike="noStrike" kern="1200" dirty="0">
                          <a:solidFill>
                            <a:srgbClr val="000000"/>
                          </a:solidFill>
                          <a:effectLst/>
                          <a:highlight>
                            <a:srgbClr val="D0CECE"/>
                          </a:highlight>
                          <a:latin typeface="標楷體" panose="03000509000000000000" pitchFamily="65" charset="-120"/>
                          <a:ea typeface="標楷體" panose="03000509000000000000" pitchFamily="65" charset="-120"/>
                          <a:cs typeface="+mn-cs"/>
                        </a:rPr>
                        <a:t>年齡</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CECE"/>
                    </a:solidFill>
                  </a:tcPr>
                </a:tc>
                <a:tc>
                  <a:txBody>
                    <a:bodyPr/>
                    <a:lstStyle/>
                    <a:p>
                      <a:pPr algn="ctr" fontAlgn="ctr"/>
                      <a:r>
                        <a:rPr lang="zh-TW" altLang="en-US" sz="1600" b="0" i="0" u="none" strike="noStrike" kern="1200" dirty="0">
                          <a:solidFill>
                            <a:srgbClr val="000000"/>
                          </a:solidFill>
                          <a:effectLst/>
                          <a:highlight>
                            <a:srgbClr val="FFE699"/>
                          </a:highlight>
                          <a:latin typeface="標楷體" panose="03000509000000000000" pitchFamily="65" charset="-120"/>
                          <a:ea typeface="標楷體" panose="03000509000000000000" pitchFamily="65" charset="-120"/>
                          <a:cs typeface="+mn-cs"/>
                        </a:rPr>
                        <a:t>初測日期</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E699"/>
                    </a:solidFill>
                  </a:tcPr>
                </a:tc>
                <a:tc>
                  <a:txBody>
                    <a:bodyPr/>
                    <a:lstStyle/>
                    <a:p>
                      <a:pPr marL="0" algn="ctr" defTabSz="1219170" rtl="0" eaLnBrk="1" fontAlgn="ctr" latinLnBrk="0" hangingPunct="1"/>
                      <a:r>
                        <a:rPr lang="en-US" sz="1600" b="0" i="0" u="none" strike="noStrike" kern="1200" dirty="0" err="1">
                          <a:solidFill>
                            <a:srgbClr val="000000"/>
                          </a:solidFill>
                          <a:effectLst/>
                          <a:highlight>
                            <a:srgbClr val="D0CECE"/>
                          </a:highlight>
                          <a:latin typeface="標楷體" panose="03000509000000000000" pitchFamily="65" charset="-120"/>
                          <a:ea typeface="標楷體" panose="03000509000000000000" pitchFamily="65" charset="-120"/>
                          <a:cs typeface="+mn-cs"/>
                        </a:rPr>
                        <a:t>Pre_base</a:t>
                      </a:r>
                      <a:endParaRPr lang="en-US" sz="1600" b="0" i="0" u="none" strike="noStrike" kern="1200" dirty="0">
                        <a:solidFill>
                          <a:srgbClr val="000000"/>
                        </a:solidFill>
                        <a:effectLst/>
                        <a:highlight>
                          <a:srgbClr val="D0CECE"/>
                        </a:highlight>
                        <a:latin typeface="標楷體" panose="03000509000000000000" pitchFamily="65" charset="-120"/>
                        <a:ea typeface="標楷體" panose="03000509000000000000" pitchFamily="65" charset="-120"/>
                        <a:cs typeface="+mn-cs"/>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CECE"/>
                    </a:solidFill>
                  </a:tcPr>
                </a:tc>
                <a:tc>
                  <a:txBody>
                    <a:bodyPr/>
                    <a:lstStyle/>
                    <a:p>
                      <a:pPr marL="0" algn="ctr" defTabSz="1219170" rtl="0" eaLnBrk="1" fontAlgn="ctr" latinLnBrk="0" hangingPunct="1"/>
                      <a:r>
                        <a:rPr lang="en-US" sz="1600" b="0" i="0" u="none" strike="noStrike" kern="1200" dirty="0" err="1">
                          <a:solidFill>
                            <a:srgbClr val="000000"/>
                          </a:solidFill>
                          <a:effectLst/>
                          <a:highlight>
                            <a:srgbClr val="D0CECE"/>
                          </a:highlight>
                          <a:latin typeface="標楷體" panose="03000509000000000000" pitchFamily="65" charset="-120"/>
                          <a:ea typeface="標楷體" panose="03000509000000000000" pitchFamily="65" charset="-120"/>
                          <a:cs typeface="+mn-cs"/>
                        </a:rPr>
                        <a:t>Pre_max</a:t>
                      </a:r>
                      <a:endParaRPr lang="en-US" sz="1600" b="0" i="0" u="none" strike="noStrike" kern="1200" dirty="0">
                        <a:solidFill>
                          <a:srgbClr val="000000"/>
                        </a:solidFill>
                        <a:effectLst/>
                        <a:highlight>
                          <a:srgbClr val="D0CECE"/>
                        </a:highlight>
                        <a:latin typeface="標楷體" panose="03000509000000000000" pitchFamily="65" charset="-120"/>
                        <a:ea typeface="標楷體" panose="03000509000000000000" pitchFamily="65" charset="-120"/>
                        <a:cs typeface="+mn-cs"/>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CECE"/>
                    </a:solidFill>
                  </a:tcPr>
                </a:tc>
                <a:tc>
                  <a:txBody>
                    <a:bodyPr/>
                    <a:lstStyle/>
                    <a:p>
                      <a:pPr algn="ctr" fontAlgn="ctr"/>
                      <a:r>
                        <a:rPr lang="en-US" sz="1600" b="0" i="0" u="none" strike="noStrike" kern="1200" dirty="0" err="1">
                          <a:solidFill>
                            <a:srgbClr val="000000"/>
                          </a:solidFill>
                          <a:effectLst/>
                          <a:latin typeface="標楷體" panose="03000509000000000000" pitchFamily="65" charset="-120"/>
                          <a:ea typeface="標楷體" panose="03000509000000000000" pitchFamily="65" charset="-120"/>
                          <a:cs typeface="+mn-cs"/>
                        </a:rPr>
                        <a:t>PreTest</a:t>
                      </a:r>
                      <a:endParaRPr lang="en-US" sz="1600" b="0" i="0" u="none" strike="noStrike" kern="1200" dirty="0">
                        <a:solidFill>
                          <a:srgbClr val="000000"/>
                        </a:solidFill>
                        <a:effectLst/>
                        <a:latin typeface="標楷體" panose="03000509000000000000" pitchFamily="65" charset="-120"/>
                        <a:ea typeface="標楷體" panose="03000509000000000000" pitchFamily="65" charset="-120"/>
                        <a:cs typeface="+mn-cs"/>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zh-TW" altLang="en-US" sz="1600" b="0" i="0" u="none" strike="noStrike" kern="1200" dirty="0">
                          <a:solidFill>
                            <a:srgbClr val="000000"/>
                          </a:solidFill>
                          <a:effectLst/>
                          <a:latin typeface="標楷體" panose="03000509000000000000" pitchFamily="65" charset="-120"/>
                          <a:ea typeface="標楷體" panose="03000509000000000000" pitchFamily="65" charset="-120"/>
                          <a:cs typeface="+mn-cs"/>
                        </a:rPr>
                        <a:t>後測日期</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6E0B4"/>
                    </a:solidFill>
                  </a:tcPr>
                </a:tc>
                <a:tc>
                  <a:txBody>
                    <a:bodyPr/>
                    <a:lstStyle/>
                    <a:p>
                      <a:pPr marL="0" algn="ctr" defTabSz="1219170" rtl="0" eaLnBrk="1" fontAlgn="ctr" latinLnBrk="0" hangingPunct="1"/>
                      <a:r>
                        <a:rPr lang="en-US" sz="1600" b="0" i="0" u="none" strike="noStrike" kern="1200" dirty="0" err="1">
                          <a:solidFill>
                            <a:srgbClr val="000000"/>
                          </a:solidFill>
                          <a:effectLst/>
                          <a:highlight>
                            <a:srgbClr val="D0CECE"/>
                          </a:highlight>
                          <a:latin typeface="標楷體" panose="03000509000000000000" pitchFamily="65" charset="-120"/>
                          <a:ea typeface="標楷體" panose="03000509000000000000" pitchFamily="65" charset="-120"/>
                          <a:cs typeface="+mn-cs"/>
                        </a:rPr>
                        <a:t>Post_base</a:t>
                      </a:r>
                      <a:endParaRPr lang="en-US" sz="1600" b="0" i="0" u="none" strike="noStrike" kern="1200" dirty="0">
                        <a:solidFill>
                          <a:srgbClr val="000000"/>
                        </a:solidFill>
                        <a:effectLst/>
                        <a:highlight>
                          <a:srgbClr val="D0CECE"/>
                        </a:highlight>
                        <a:latin typeface="標楷體" panose="03000509000000000000" pitchFamily="65" charset="-120"/>
                        <a:ea typeface="標楷體" panose="03000509000000000000" pitchFamily="65" charset="-120"/>
                        <a:cs typeface="+mn-cs"/>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CECE"/>
                    </a:solidFill>
                  </a:tcPr>
                </a:tc>
                <a:tc>
                  <a:txBody>
                    <a:bodyPr/>
                    <a:lstStyle/>
                    <a:p>
                      <a:pPr marL="0" algn="ctr" defTabSz="1219170" rtl="0" eaLnBrk="1" fontAlgn="ctr" latinLnBrk="0" hangingPunct="1"/>
                      <a:r>
                        <a:rPr lang="en-US" sz="1600" b="0" i="0" u="none" strike="noStrike" kern="1200" dirty="0" err="1">
                          <a:solidFill>
                            <a:srgbClr val="000000"/>
                          </a:solidFill>
                          <a:effectLst/>
                          <a:highlight>
                            <a:srgbClr val="D0CECE"/>
                          </a:highlight>
                          <a:latin typeface="標楷體" panose="03000509000000000000" pitchFamily="65" charset="-120"/>
                          <a:ea typeface="標楷體" panose="03000509000000000000" pitchFamily="65" charset="-120"/>
                          <a:cs typeface="+mn-cs"/>
                        </a:rPr>
                        <a:t>Post_max</a:t>
                      </a:r>
                      <a:endParaRPr lang="en-US" sz="1600" b="0" i="0" u="none" strike="noStrike" kern="1200" dirty="0">
                        <a:solidFill>
                          <a:srgbClr val="000000"/>
                        </a:solidFill>
                        <a:effectLst/>
                        <a:highlight>
                          <a:srgbClr val="D0CECE"/>
                        </a:highlight>
                        <a:latin typeface="標楷體" panose="03000509000000000000" pitchFamily="65" charset="-120"/>
                        <a:ea typeface="標楷體" panose="03000509000000000000" pitchFamily="65" charset="-120"/>
                        <a:cs typeface="+mn-cs"/>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0CECE"/>
                    </a:solidFill>
                  </a:tcPr>
                </a:tc>
                <a:tc>
                  <a:txBody>
                    <a:bodyPr/>
                    <a:lstStyle/>
                    <a:p>
                      <a:pPr algn="ctr" fontAlgn="ctr"/>
                      <a:r>
                        <a:rPr lang="en-US" sz="1600" b="0" i="0" u="none" strike="noStrike" kern="1200" dirty="0" err="1">
                          <a:solidFill>
                            <a:srgbClr val="000000"/>
                          </a:solidFill>
                          <a:effectLst/>
                          <a:latin typeface="標楷體" panose="03000509000000000000" pitchFamily="65" charset="-120"/>
                          <a:ea typeface="標楷體" panose="03000509000000000000" pitchFamily="65" charset="-120"/>
                          <a:cs typeface="+mn-cs"/>
                        </a:rPr>
                        <a:t>PostTest</a:t>
                      </a:r>
                      <a:endParaRPr lang="en-US" sz="1600" b="0" i="0" u="none" strike="noStrike" kern="1200" dirty="0">
                        <a:solidFill>
                          <a:srgbClr val="000000"/>
                        </a:solidFill>
                        <a:effectLst/>
                        <a:latin typeface="標楷體" panose="03000509000000000000" pitchFamily="65" charset="-120"/>
                        <a:ea typeface="標楷體" panose="03000509000000000000" pitchFamily="65" charset="-120"/>
                        <a:cs typeface="+mn-cs"/>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6671715"/>
                  </a:ext>
                </a:extLst>
              </a:tr>
              <a:tr h="220980">
                <a:tc>
                  <a:txBody>
                    <a:bodyPr/>
                    <a:lstStyle/>
                    <a:p>
                      <a:pPr marL="0" algn="r" defTabSz="1219170" rtl="0" eaLnBrk="1" fontAlgn="ctr" latinLnBrk="0" hangingPunct="1"/>
                      <a:r>
                        <a:rPr lang="en-US" altLang="zh-TW" sz="1400" b="0" i="0" u="none" strike="noStrike" kern="1200" dirty="0">
                          <a:solidFill>
                            <a:srgbClr val="000000"/>
                          </a:solidFill>
                          <a:effectLst/>
                          <a:latin typeface="標楷體" panose="03000509000000000000" pitchFamily="65" charset="-120"/>
                          <a:ea typeface="標楷體" panose="03000509000000000000" pitchFamily="65" charset="-120"/>
                          <a:cs typeface="+mn-cs"/>
                        </a:rPr>
                        <a:t>53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2021/9/27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2CC"/>
                    </a:solid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86.4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121.1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219170" rtl="0" eaLnBrk="1" fontAlgn="ctr" latinLnBrk="0" hangingPunct="1"/>
                      <a:r>
                        <a:rPr lang="en-US" altLang="zh-TW" sz="1400" b="0" i="0" u="none" strike="noStrike" kern="1200" dirty="0">
                          <a:solidFill>
                            <a:srgbClr val="000000"/>
                          </a:solidFill>
                          <a:effectLst/>
                          <a:latin typeface="標楷體" panose="03000509000000000000" pitchFamily="65" charset="-120"/>
                          <a:ea typeface="標楷體" panose="03000509000000000000" pitchFamily="65" charset="-120"/>
                          <a:cs typeface="+mn-cs"/>
                        </a:rPr>
                        <a:t>34.7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219170" rtl="0" eaLnBrk="1" fontAlgn="ctr" latinLnBrk="0" hangingPunct="1"/>
                      <a:r>
                        <a:rPr lang="en-US" altLang="zh-TW" sz="1400" b="0" i="0" u="none" strike="noStrike" kern="1200" dirty="0">
                          <a:solidFill>
                            <a:srgbClr val="000000"/>
                          </a:solidFill>
                          <a:effectLst/>
                          <a:latin typeface="標楷體" panose="03000509000000000000" pitchFamily="65" charset="-120"/>
                          <a:ea typeface="標楷體" panose="03000509000000000000" pitchFamily="65" charset="-120"/>
                          <a:cs typeface="+mn-cs"/>
                        </a:rPr>
                        <a:t>2021/12/29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2CC"/>
                    </a:solid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76.9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134.2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57.3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1927162"/>
                  </a:ext>
                </a:extLst>
              </a:tr>
              <a:tr h="220980">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67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p>
                      <a:pPr marL="0" algn="r" defTabSz="1219170" rtl="0" eaLnBrk="1" fontAlgn="ctr" latinLnBrk="0" hangingPunct="1"/>
                      <a:r>
                        <a:rPr lang="en-US" altLang="zh-TW" sz="1400" b="0" i="0" u="none" strike="noStrike" kern="1200" dirty="0">
                          <a:solidFill>
                            <a:srgbClr val="000000"/>
                          </a:solidFill>
                          <a:effectLst/>
                          <a:latin typeface="標楷體" panose="03000509000000000000" pitchFamily="65" charset="-120"/>
                          <a:ea typeface="標楷體" panose="03000509000000000000" pitchFamily="65" charset="-120"/>
                          <a:cs typeface="+mn-cs"/>
                        </a:rPr>
                        <a:t>2022/9/26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2CC"/>
                    </a:solidFill>
                  </a:tcPr>
                </a:tc>
                <a:tc>
                  <a:txBody>
                    <a:bodyPr/>
                    <a:lstStyle/>
                    <a:p>
                      <a:pPr marL="0" algn="r" defTabSz="1219170" rtl="0" eaLnBrk="1" fontAlgn="ctr" latinLnBrk="0" hangingPunct="1"/>
                      <a:r>
                        <a:rPr lang="en-US" altLang="zh-TW" sz="1400" b="0" i="0" u="none" strike="noStrike" kern="1200" dirty="0">
                          <a:solidFill>
                            <a:srgbClr val="000000"/>
                          </a:solidFill>
                          <a:effectLst/>
                          <a:latin typeface="標楷體" panose="03000509000000000000" pitchFamily="65" charset="-120"/>
                          <a:ea typeface="標楷體" panose="03000509000000000000" pitchFamily="65" charset="-120"/>
                          <a:cs typeface="+mn-cs"/>
                        </a:rPr>
                        <a:t>109.7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130.2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20.5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219170" rtl="0" eaLnBrk="1" fontAlgn="ctr" latinLnBrk="0" hangingPunct="1"/>
                      <a:r>
                        <a:rPr lang="zh-TW" altLang="en-US" sz="1400" b="0" i="0" u="none" strike="noStrike" kern="1200">
                          <a:solidFill>
                            <a:srgbClr val="000000"/>
                          </a:solidFill>
                          <a:effectLst/>
                          <a:latin typeface="標楷體" panose="03000509000000000000" pitchFamily="65" charset="-120"/>
                          <a:ea typeface="標楷體" panose="03000509000000000000" pitchFamily="65" charset="-120"/>
                          <a:cs typeface="+mn-cs"/>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2CC"/>
                    </a:solid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93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120.1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27.1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8854255"/>
                  </a:ext>
                </a:extLst>
              </a:tr>
              <a:tr h="220980">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76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2022/11/16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2CC"/>
                    </a:solid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70.3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219170" rtl="0" eaLnBrk="1" fontAlgn="ctr" latinLnBrk="0" hangingPunct="1"/>
                      <a:r>
                        <a:rPr lang="en-US" altLang="zh-TW" sz="1400" b="0" i="0" u="none" strike="noStrike" kern="1200" dirty="0">
                          <a:solidFill>
                            <a:srgbClr val="000000"/>
                          </a:solidFill>
                          <a:effectLst/>
                          <a:latin typeface="標楷體" panose="03000509000000000000" pitchFamily="65" charset="-120"/>
                          <a:ea typeface="標楷體" panose="03000509000000000000" pitchFamily="65" charset="-120"/>
                          <a:cs typeface="+mn-cs"/>
                        </a:rPr>
                        <a:t>82.3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219170" rtl="0" eaLnBrk="1" fontAlgn="ctr" latinLnBrk="0" hangingPunct="1"/>
                      <a:r>
                        <a:rPr lang="en-US" altLang="zh-TW" sz="1400" b="0" i="0" u="none" strike="noStrike" kern="1200" dirty="0">
                          <a:solidFill>
                            <a:srgbClr val="000000"/>
                          </a:solidFill>
                          <a:effectLst/>
                          <a:latin typeface="標楷體" panose="03000509000000000000" pitchFamily="65" charset="-120"/>
                          <a:ea typeface="標楷體" panose="03000509000000000000" pitchFamily="65" charset="-120"/>
                          <a:cs typeface="+mn-cs"/>
                        </a:rPr>
                        <a:t>12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2023/2/15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2CC"/>
                    </a:solid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70.9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119.7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48.8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6278068"/>
                  </a:ext>
                </a:extLst>
              </a:tr>
              <a:tr h="220980">
                <a:tc>
                  <a:txBody>
                    <a:bodyPr/>
                    <a:lstStyle/>
                    <a:p>
                      <a:pPr marL="0" algn="r" defTabSz="1219170" rtl="0" eaLnBrk="1" fontAlgn="ctr" latinLnBrk="0" hangingPunct="1"/>
                      <a:r>
                        <a:rPr lang="en-US" altLang="zh-TW" sz="1400" b="0" i="0" u="none" strike="noStrike" kern="1200" dirty="0">
                          <a:solidFill>
                            <a:srgbClr val="000000"/>
                          </a:solidFill>
                          <a:effectLst/>
                          <a:latin typeface="標楷體" panose="03000509000000000000" pitchFamily="65" charset="-120"/>
                          <a:ea typeface="標楷體" panose="03000509000000000000" pitchFamily="65" charset="-120"/>
                          <a:cs typeface="+mn-cs"/>
                        </a:rPr>
                        <a:t>67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DEDED"/>
                    </a:solid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2023/6/14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2CC"/>
                    </a:solid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68.3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103.1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219170" rtl="0" eaLnBrk="1" fontAlgn="ctr" latinLnBrk="0" hangingPunct="1"/>
                      <a:r>
                        <a:rPr lang="en-US" altLang="zh-TW" sz="1400" b="0" i="0" u="none" strike="noStrike" kern="1200" dirty="0">
                          <a:solidFill>
                            <a:srgbClr val="000000"/>
                          </a:solidFill>
                          <a:effectLst/>
                          <a:latin typeface="標楷體" panose="03000509000000000000" pitchFamily="65" charset="-120"/>
                          <a:ea typeface="標楷體" panose="03000509000000000000" pitchFamily="65" charset="-120"/>
                          <a:cs typeface="+mn-cs"/>
                        </a:rPr>
                        <a:t>34.8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219170" rtl="0" eaLnBrk="1" fontAlgn="ctr" latinLnBrk="0" hangingPunct="1"/>
                      <a:r>
                        <a:rPr lang="en-US" altLang="zh-TW" sz="1400" b="0" i="0" u="none" strike="noStrike" kern="1200" dirty="0">
                          <a:solidFill>
                            <a:srgbClr val="000000"/>
                          </a:solidFill>
                          <a:effectLst/>
                          <a:latin typeface="標楷體" panose="03000509000000000000" pitchFamily="65" charset="-120"/>
                          <a:ea typeface="標楷體" panose="03000509000000000000" pitchFamily="65" charset="-120"/>
                          <a:cs typeface="+mn-cs"/>
                        </a:rPr>
                        <a:t>2023/12/19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2CC"/>
                    </a:solidFill>
                  </a:tcPr>
                </a:tc>
                <a:tc>
                  <a:txBody>
                    <a:bodyPr/>
                    <a:lstStyle/>
                    <a:p>
                      <a:pPr marL="0" algn="r" defTabSz="1219170" rtl="0" eaLnBrk="1" fontAlgn="ctr" latinLnBrk="0" hangingPunct="1"/>
                      <a:r>
                        <a:rPr lang="en-US" altLang="zh-TW" sz="1400" b="0" i="0" u="none" strike="noStrike" kern="1200">
                          <a:solidFill>
                            <a:srgbClr val="000000"/>
                          </a:solidFill>
                          <a:effectLst/>
                          <a:latin typeface="標楷體" panose="03000509000000000000" pitchFamily="65" charset="-120"/>
                          <a:ea typeface="標楷體" panose="03000509000000000000" pitchFamily="65" charset="-120"/>
                          <a:cs typeface="+mn-cs"/>
                        </a:rPr>
                        <a:t>70.2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219170" rtl="0" eaLnBrk="1" fontAlgn="ctr" latinLnBrk="0" hangingPunct="1"/>
                      <a:r>
                        <a:rPr lang="en-US" altLang="zh-TW" sz="1400" b="0" i="0" u="none" strike="noStrike" kern="1200" dirty="0">
                          <a:solidFill>
                            <a:srgbClr val="000000"/>
                          </a:solidFill>
                          <a:effectLst/>
                          <a:latin typeface="標楷體" panose="03000509000000000000" pitchFamily="65" charset="-120"/>
                          <a:ea typeface="標楷體" panose="03000509000000000000" pitchFamily="65" charset="-120"/>
                          <a:cs typeface="+mn-cs"/>
                        </a:rPr>
                        <a:t>108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r" defTabSz="1219170" rtl="0" eaLnBrk="1" fontAlgn="ctr" latinLnBrk="0" hangingPunct="1"/>
                      <a:r>
                        <a:rPr lang="en-US" altLang="zh-TW" sz="1400" b="0" i="0" u="none" strike="noStrike" kern="1200" dirty="0">
                          <a:solidFill>
                            <a:srgbClr val="000000"/>
                          </a:solidFill>
                          <a:effectLst/>
                          <a:latin typeface="標楷體" panose="03000509000000000000" pitchFamily="65" charset="-120"/>
                          <a:ea typeface="標楷體" panose="03000509000000000000" pitchFamily="65" charset="-120"/>
                          <a:cs typeface="+mn-cs"/>
                        </a:rPr>
                        <a:t>37.8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6789468"/>
                  </a:ext>
                </a:extLst>
              </a:tr>
            </a:tbl>
          </a:graphicData>
        </a:graphic>
      </p:graphicFrame>
    </p:spTree>
    <p:extLst>
      <p:ext uri="{BB962C8B-B14F-4D97-AF65-F5344CB8AC3E}">
        <p14:creationId xmlns:p14="http://schemas.microsoft.com/office/powerpoint/2010/main" val="3923611801"/>
      </p:ext>
    </p:extLst>
  </p:cSld>
  <p:clrMapOvr>
    <a:masterClrMapping/>
  </p:clrMapOvr>
  <mc:AlternateContent xmlns:mc="http://schemas.openxmlformats.org/markup-compatibility/2006" xmlns:p14="http://schemas.microsoft.com/office/powerpoint/2010/main">
    <mc:Choice Requires="p14">
      <p:transition spd="slow" p14:dur="1250" advClick="0">
        <p14:pan dir="u"/>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58536" y="107592"/>
            <a:ext cx="5928672" cy="9840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70"/>
            <a:endParaRPr lang="en-US">
              <a:solidFill>
                <a:prstClr val="white"/>
              </a:solidFill>
              <a:latin typeface="思源黑体 CN Medium" panose="020B0600000000000000" pitchFamily="34" charset="-122"/>
              <a:ea typeface="思源黑体 CN Medium" panose="020B0600000000000000" pitchFamily="34" charset="-122"/>
              <a:sym typeface="字魂59号-创粗黑" panose="00000500000000000000" pitchFamily="2" charset="-122"/>
            </a:endParaRPr>
          </a:p>
        </p:txBody>
      </p:sp>
      <p:pic>
        <p:nvPicPr>
          <p:cNvPr id="17" name="图片 16">
            <a:extLst>
              <a:ext uri="{FF2B5EF4-FFF2-40B4-BE49-F238E27FC236}">
                <a16:creationId xmlns:a16="http://schemas.microsoft.com/office/drawing/2014/main" id="{05E72798-6899-42A6-9FEE-703EF4EFCDB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86" b="100000" l="0" r="100000">
                        <a14:foregroundMark x1="82171" y1="51131" x2="59408" y2="50679"/>
                        <a14:backgroundMark x1="91473" y1="41991" x2="86047" y2="34299"/>
                        <a14:backgroundMark x1="91966" y1="54118" x2="88090" y2="67059"/>
                        <a14:backgroundMark x1="84426" y1="75023" x2="75405" y2="81719"/>
                        <a14:backgroundMark x1="77026" y1="32217" x2="73573" y2="31493"/>
                        <a14:backgroundMark x1="67583" y1="33575" x2="65257" y2="31312"/>
                      </a14:backgroundRemoval>
                    </a14:imgEffect>
                  </a14:imgLayer>
                </a14:imgProps>
              </a:ext>
              <a:ext uri="{28A0092B-C50C-407E-A947-70E740481C1C}">
                <a14:useLocalDpi xmlns:a14="http://schemas.microsoft.com/office/drawing/2010/main" val="0"/>
              </a:ext>
            </a:extLst>
          </a:blip>
          <a:stretch>
            <a:fillRect/>
          </a:stretch>
        </p:blipFill>
        <p:spPr>
          <a:xfrm rot="277819">
            <a:off x="-1366951" y="-490407"/>
            <a:ext cx="3108709" cy="2420806"/>
          </a:xfrm>
          <a:prstGeom prst="rect">
            <a:avLst/>
          </a:prstGeom>
        </p:spPr>
      </p:pic>
      <p:sp>
        <p:nvSpPr>
          <p:cNvPr id="2" name="矩形 1">
            <a:extLst>
              <a:ext uri="{FF2B5EF4-FFF2-40B4-BE49-F238E27FC236}">
                <a16:creationId xmlns:a16="http://schemas.microsoft.com/office/drawing/2014/main" id="{CDACD7A8-3A6E-4C27-9240-791E721F0C74}"/>
              </a:ext>
            </a:extLst>
          </p:cNvPr>
          <p:cNvSpPr/>
          <p:nvPr/>
        </p:nvSpPr>
        <p:spPr>
          <a:xfrm>
            <a:off x="1570514" y="337965"/>
            <a:ext cx="4764972" cy="548443"/>
          </a:xfrm>
          <a:prstGeom prst="rect">
            <a:avLst/>
          </a:prstGeom>
        </p:spPr>
        <p:txBody>
          <a:bodyPr wrap="none">
            <a:normAutofit/>
          </a:bodyPr>
          <a:lstStyle/>
          <a:p>
            <a:r>
              <a:rPr lang="en-US" altLang="zh-TW" sz="2800" dirty="0">
                <a:solidFill>
                  <a:prstClr val="black">
                    <a:lumMod val="75000"/>
                    <a:lumOff val="25000"/>
                  </a:prstClr>
                </a:solidFill>
                <a:latin typeface="Source Han Sans TC"/>
                <a:ea typeface="Source Han Sans TC"/>
                <a:sym typeface="字魂59号-创粗黑" panose="00000500000000000000" pitchFamily="2" charset="-122"/>
              </a:rPr>
              <a:t>Data analysis –</a:t>
            </a:r>
            <a:r>
              <a:rPr lang="zh-TW" altLang="en-US" sz="2800" dirty="0">
                <a:solidFill>
                  <a:srgbClr val="0070C0"/>
                </a:solidFill>
                <a:latin typeface="Source Han Sans TC"/>
                <a:ea typeface="Source Han Sans TC"/>
                <a:sym typeface="字魂59号-创粗黑" panose="00000500000000000000" pitchFamily="2" charset="-122"/>
              </a:rPr>
              <a:t>尿</a:t>
            </a:r>
            <a:r>
              <a:rPr lang="zh-TW" altLang="en-US" sz="2800" dirty="0">
                <a:solidFill>
                  <a:srgbClr val="0070C0"/>
                </a:solidFill>
                <a:latin typeface="Source Han Sans TC"/>
                <a:sym typeface="字魂59号-创粗黑" panose="00000500000000000000" pitchFamily="2" charset="-122"/>
              </a:rPr>
              <a:t>失禁患者</a:t>
            </a:r>
          </a:p>
          <a:p>
            <a:endParaRPr lang="zh-TW" altLang="en-US" sz="2800" dirty="0">
              <a:solidFill>
                <a:srgbClr val="0070C0"/>
              </a:solidFill>
              <a:latin typeface="Source Han Sans TC"/>
              <a:sym typeface="字魂59号-创粗黑" panose="00000500000000000000" pitchFamily="2" charset="-122"/>
            </a:endParaRPr>
          </a:p>
          <a:p>
            <a:endParaRPr lang="en-US" altLang="zh-TW" sz="2800" b="1" dirty="0">
              <a:solidFill>
                <a:srgbClr val="0070C0"/>
              </a:solidFill>
              <a:latin typeface="微軟正黑體" panose="020B0604030504040204" pitchFamily="34" charset="-120"/>
              <a:ea typeface="微軟正黑體" panose="020B0604030504040204" pitchFamily="34" charset="-120"/>
              <a:cs typeface="Calibri" panose="020F0502020204030204" pitchFamily="34" charset="0"/>
            </a:endParaRPr>
          </a:p>
        </p:txBody>
      </p:sp>
      <p:sp>
        <p:nvSpPr>
          <p:cNvPr id="7" name="文字方塊 6">
            <a:extLst>
              <a:ext uri="{FF2B5EF4-FFF2-40B4-BE49-F238E27FC236}">
                <a16:creationId xmlns:a16="http://schemas.microsoft.com/office/drawing/2014/main" id="{F36FF8FF-6BA0-209F-2116-3F8DD34B989C}"/>
              </a:ext>
            </a:extLst>
          </p:cNvPr>
          <p:cNvSpPr txBox="1"/>
          <p:nvPr/>
        </p:nvSpPr>
        <p:spPr>
          <a:xfrm>
            <a:off x="1549000" y="992809"/>
            <a:ext cx="9844362" cy="1015663"/>
          </a:xfrm>
          <a:prstGeom prst="rect">
            <a:avLst/>
          </a:prstGeom>
          <a:noFill/>
        </p:spPr>
        <p:txBody>
          <a:bodyPr wrap="none" rtlCol="0">
            <a:spAutoFit/>
          </a:bodyPr>
          <a:lstStyle/>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和前面的分析方法相同，我們一樣先把沒有前測資料的樣本排除後，對剩下卻少後測</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資料的樣本進行補值，最後我們一共有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14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筆完整的資料。不論是根據哪個補值方式，</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檢定的結果在顯著水準為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0.01 </a:t>
            </a:r>
            <a:r>
              <a:rPr lang="zh-TW" altLang="en-US" sz="2000">
                <a:solidFill>
                  <a:schemeClr val="tx1">
                    <a:lumMod val="75000"/>
                    <a:lumOff val="25000"/>
                  </a:schemeClr>
                </a:solidFill>
                <a:latin typeface="微軟正黑體" panose="020B0604030504040204" pitchFamily="34" charset="-120"/>
                <a:ea typeface="微軟正黑體" panose="020B0604030504040204" pitchFamily="34" charset="-120"/>
              </a:rPr>
              <a:t>時都達統計顯著。</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6" name="文字方塊 5">
            <a:extLst>
              <a:ext uri="{FF2B5EF4-FFF2-40B4-BE49-F238E27FC236}">
                <a16:creationId xmlns:a16="http://schemas.microsoft.com/office/drawing/2014/main" id="{5B7A2F85-465C-21AB-9763-6E24399FF4E0}"/>
              </a:ext>
            </a:extLst>
          </p:cNvPr>
          <p:cNvSpPr txBox="1"/>
          <p:nvPr/>
        </p:nvSpPr>
        <p:spPr>
          <a:xfrm>
            <a:off x="1570514" y="2720974"/>
            <a:ext cx="1723549" cy="461665"/>
          </a:xfrm>
          <a:prstGeom prst="rect">
            <a:avLst/>
          </a:prstGeom>
          <a:noFill/>
        </p:spPr>
        <p:txBody>
          <a:bodyPr wrap="none" rtlCol="0">
            <a:spAutoFit/>
          </a:bodyPr>
          <a:lstStyle/>
          <a:p>
            <a:r>
              <a:rPr lang="zh-TW" altLang="en-US" sz="2400" b="1" dirty="0">
                <a:latin typeface="微軟正黑體" panose="020B0604030504040204" pitchFamily="34" charset="-120"/>
                <a:ea typeface="微軟正黑體" panose="020B0604030504040204" pitchFamily="34" charset="-120"/>
              </a:rPr>
              <a:t>部分預測值</a:t>
            </a:r>
          </a:p>
        </p:txBody>
      </p:sp>
      <p:graphicFrame>
        <p:nvGraphicFramePr>
          <p:cNvPr id="9" name="表格 8">
            <a:extLst>
              <a:ext uri="{FF2B5EF4-FFF2-40B4-BE49-F238E27FC236}">
                <a16:creationId xmlns:a16="http://schemas.microsoft.com/office/drawing/2014/main" id="{2B05BD72-464E-7C45-734A-A15DFA5253F4}"/>
              </a:ext>
            </a:extLst>
          </p:cNvPr>
          <p:cNvGraphicFramePr>
            <a:graphicFrameLocks noGrp="1"/>
          </p:cNvGraphicFramePr>
          <p:nvPr>
            <p:extLst>
              <p:ext uri="{D42A27DB-BD31-4B8C-83A1-F6EECF244321}">
                <p14:modId xmlns:p14="http://schemas.microsoft.com/office/powerpoint/2010/main" val="927932562"/>
              </p:ext>
            </p:extLst>
          </p:nvPr>
        </p:nvGraphicFramePr>
        <p:xfrm>
          <a:off x="6317028" y="3191512"/>
          <a:ext cx="4195483" cy="966767"/>
        </p:xfrm>
        <a:graphic>
          <a:graphicData uri="http://schemas.openxmlformats.org/drawingml/2006/table">
            <a:tbl>
              <a:tblPr/>
              <a:tblGrid>
                <a:gridCol w="1271627">
                  <a:extLst>
                    <a:ext uri="{9D8B030D-6E8A-4147-A177-3AD203B41FA5}">
                      <a16:colId xmlns:a16="http://schemas.microsoft.com/office/drawing/2014/main" val="3993428737"/>
                    </a:ext>
                  </a:extLst>
                </a:gridCol>
                <a:gridCol w="1461928">
                  <a:extLst>
                    <a:ext uri="{9D8B030D-6E8A-4147-A177-3AD203B41FA5}">
                      <a16:colId xmlns:a16="http://schemas.microsoft.com/office/drawing/2014/main" val="2161664515"/>
                    </a:ext>
                  </a:extLst>
                </a:gridCol>
                <a:gridCol w="1461928">
                  <a:extLst>
                    <a:ext uri="{9D8B030D-6E8A-4147-A177-3AD203B41FA5}">
                      <a16:colId xmlns:a16="http://schemas.microsoft.com/office/drawing/2014/main" val="81110010"/>
                    </a:ext>
                  </a:extLst>
                </a:gridCol>
              </a:tblGrid>
              <a:tr h="213360">
                <a:tc>
                  <a:txBody>
                    <a:bodyPr/>
                    <a:lstStyle/>
                    <a:p>
                      <a:pPr algn="ctr" fontAlgn="ct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zh-TW" altLang="en-US" sz="2000" b="0" i="0" u="none" strike="noStrike" dirty="0">
                          <a:solidFill>
                            <a:srgbClr val="000000"/>
                          </a:solidFill>
                          <a:effectLst/>
                          <a:latin typeface="微軟正黑體" panose="020B0604030504040204" pitchFamily="34" charset="-120"/>
                          <a:ea typeface="微軟正黑體" panose="020B0604030504040204" pitchFamily="34" charset="-120"/>
                        </a:rPr>
                        <a:t>統計量</a:t>
                      </a: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2000" b="0" i="0" u="none" strike="noStrike" dirty="0">
                          <a:solidFill>
                            <a:srgbClr val="000000"/>
                          </a:solidFill>
                          <a:effectLst/>
                          <a:latin typeface="微軟正黑體" panose="020B0604030504040204" pitchFamily="34" charset="-120"/>
                          <a:ea typeface="微軟正黑體" panose="020B0604030504040204" pitchFamily="34" charset="-120"/>
                        </a:rPr>
                        <a:t>p-value</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4200870"/>
                  </a:ext>
                </a:extLst>
              </a:tr>
              <a:tr h="341927">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T test</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-3.34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kern="1200" dirty="0">
                          <a:solidFill>
                            <a:srgbClr val="00B050"/>
                          </a:solidFill>
                          <a:latin typeface="微軟正黑體" panose="020B0604030504040204" pitchFamily="34" charset="-120"/>
                          <a:ea typeface="微軟正黑體" panose="020B0604030504040204" pitchFamily="34" charset="-120"/>
                          <a:cs typeface="+mn-cs"/>
                        </a:rPr>
                        <a:t>0.0029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1513865"/>
                  </a:ext>
                </a:extLst>
              </a:tr>
              <a:tr h="220980">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Wilcoxon</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kern="1200" dirty="0">
                          <a:solidFill>
                            <a:srgbClr val="00B050"/>
                          </a:solidFill>
                          <a:latin typeface="微軟正黑體" panose="020B0604030504040204" pitchFamily="34" charset="-120"/>
                          <a:ea typeface="微軟正黑體" panose="020B0604030504040204" pitchFamily="34" charset="-120"/>
                          <a:cs typeface="+mn-cs"/>
                        </a:rPr>
                        <a:t>0.0031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5705361"/>
                  </a:ext>
                </a:extLst>
              </a:tr>
            </a:tbl>
          </a:graphicData>
        </a:graphic>
      </p:graphicFrame>
      <p:sp>
        <p:nvSpPr>
          <p:cNvPr id="10" name="文字方塊 9">
            <a:extLst>
              <a:ext uri="{FF2B5EF4-FFF2-40B4-BE49-F238E27FC236}">
                <a16:creationId xmlns:a16="http://schemas.microsoft.com/office/drawing/2014/main" id="{3871BFE2-7923-9502-5AB0-071C2E990588}"/>
              </a:ext>
            </a:extLst>
          </p:cNvPr>
          <p:cNvSpPr txBox="1"/>
          <p:nvPr/>
        </p:nvSpPr>
        <p:spPr>
          <a:xfrm>
            <a:off x="5581751" y="2423359"/>
            <a:ext cx="5666038" cy="461665"/>
          </a:xfrm>
          <a:prstGeom prst="rect">
            <a:avLst/>
          </a:prstGeom>
          <a:noFill/>
        </p:spPr>
        <p:txBody>
          <a:bodyPr wrap="none" rtlCol="0">
            <a:spAutoFit/>
          </a:bodyPr>
          <a:lstStyle/>
          <a:p>
            <a:r>
              <a:rPr lang="zh-TW" altLang="en-US" sz="2400" b="1" dirty="0">
                <a:latin typeface="微軟正黑體" panose="020B0604030504040204" pitchFamily="34" charset="-120"/>
                <a:ea typeface="微軟正黑體" panose="020B0604030504040204" pitchFamily="34" charset="-120"/>
              </a:rPr>
              <a:t>檢定結果 </a:t>
            </a:r>
            <a:r>
              <a:rPr lang="en-US" altLang="zh-TW" sz="2400" b="1" dirty="0">
                <a:latin typeface="微軟正黑體" panose="020B0604030504040204" pitchFamily="34" charset="-120"/>
                <a:ea typeface="微軟正黑體" panose="020B0604030504040204" pitchFamily="34" charset="-120"/>
              </a:rPr>
              <a:t>(Bayesian Ridge Regression)</a:t>
            </a:r>
          </a:p>
        </p:txBody>
      </p:sp>
      <p:sp>
        <p:nvSpPr>
          <p:cNvPr id="11" name="文字方塊 10">
            <a:extLst>
              <a:ext uri="{FF2B5EF4-FFF2-40B4-BE49-F238E27FC236}">
                <a16:creationId xmlns:a16="http://schemas.microsoft.com/office/drawing/2014/main" id="{5ABABF25-AA30-1453-8224-A4821EBCA46C}"/>
              </a:ext>
            </a:extLst>
          </p:cNvPr>
          <p:cNvSpPr txBox="1"/>
          <p:nvPr/>
        </p:nvSpPr>
        <p:spPr>
          <a:xfrm>
            <a:off x="5581751" y="4510793"/>
            <a:ext cx="5343899" cy="461665"/>
          </a:xfrm>
          <a:prstGeom prst="rect">
            <a:avLst/>
          </a:prstGeom>
          <a:noFill/>
        </p:spPr>
        <p:txBody>
          <a:bodyPr wrap="none" rtlCol="0">
            <a:spAutoFit/>
          </a:bodyPr>
          <a:lstStyle/>
          <a:p>
            <a:r>
              <a:rPr lang="zh-TW" altLang="en-US" sz="2400" b="1" dirty="0">
                <a:latin typeface="微軟正黑體" panose="020B0604030504040204" pitchFamily="34" charset="-120"/>
                <a:ea typeface="微軟正黑體" panose="020B0604030504040204" pitchFamily="34" charset="-120"/>
              </a:rPr>
              <a:t>檢定結果 </a:t>
            </a:r>
            <a:r>
              <a:rPr lang="en-US" altLang="zh-TW" sz="2400" b="1" dirty="0">
                <a:latin typeface="微軟正黑體" panose="020B0604030504040204" pitchFamily="34" charset="-120"/>
                <a:ea typeface="微軟正黑體" panose="020B0604030504040204" pitchFamily="34" charset="-120"/>
              </a:rPr>
              <a:t>(Simple linear Regression)</a:t>
            </a:r>
          </a:p>
        </p:txBody>
      </p:sp>
      <p:graphicFrame>
        <p:nvGraphicFramePr>
          <p:cNvPr id="14" name="表格 13">
            <a:extLst>
              <a:ext uri="{FF2B5EF4-FFF2-40B4-BE49-F238E27FC236}">
                <a16:creationId xmlns:a16="http://schemas.microsoft.com/office/drawing/2014/main" id="{A83664AA-CFF1-D13C-3631-1DC482852CEC}"/>
              </a:ext>
            </a:extLst>
          </p:cNvPr>
          <p:cNvGraphicFramePr>
            <a:graphicFrameLocks noGrp="1"/>
          </p:cNvGraphicFramePr>
          <p:nvPr>
            <p:extLst>
              <p:ext uri="{D42A27DB-BD31-4B8C-83A1-F6EECF244321}">
                <p14:modId xmlns:p14="http://schemas.microsoft.com/office/powerpoint/2010/main" val="2363547206"/>
              </p:ext>
            </p:extLst>
          </p:nvPr>
        </p:nvGraphicFramePr>
        <p:xfrm>
          <a:off x="6317027" y="5399548"/>
          <a:ext cx="4195483" cy="937260"/>
        </p:xfrm>
        <a:graphic>
          <a:graphicData uri="http://schemas.openxmlformats.org/drawingml/2006/table">
            <a:tbl>
              <a:tblPr/>
              <a:tblGrid>
                <a:gridCol w="1271627">
                  <a:extLst>
                    <a:ext uri="{9D8B030D-6E8A-4147-A177-3AD203B41FA5}">
                      <a16:colId xmlns:a16="http://schemas.microsoft.com/office/drawing/2014/main" val="3993428737"/>
                    </a:ext>
                  </a:extLst>
                </a:gridCol>
                <a:gridCol w="1461928">
                  <a:extLst>
                    <a:ext uri="{9D8B030D-6E8A-4147-A177-3AD203B41FA5}">
                      <a16:colId xmlns:a16="http://schemas.microsoft.com/office/drawing/2014/main" val="2161664515"/>
                    </a:ext>
                  </a:extLst>
                </a:gridCol>
                <a:gridCol w="1461928">
                  <a:extLst>
                    <a:ext uri="{9D8B030D-6E8A-4147-A177-3AD203B41FA5}">
                      <a16:colId xmlns:a16="http://schemas.microsoft.com/office/drawing/2014/main" val="81110010"/>
                    </a:ext>
                  </a:extLst>
                </a:gridCol>
              </a:tblGrid>
              <a:tr h="250659">
                <a:tc>
                  <a:txBody>
                    <a:bodyPr/>
                    <a:lstStyle/>
                    <a:p>
                      <a:pPr algn="ctr" fontAlgn="ct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zh-TW" altLang="en-US" sz="2000" b="0" i="0" u="none" strike="noStrike" dirty="0">
                          <a:solidFill>
                            <a:srgbClr val="000000"/>
                          </a:solidFill>
                          <a:effectLst/>
                          <a:latin typeface="微軟正黑體" panose="020B0604030504040204" pitchFamily="34" charset="-120"/>
                          <a:ea typeface="微軟正黑體" panose="020B0604030504040204" pitchFamily="34" charset="-120"/>
                        </a:rPr>
                        <a:t>統計量</a:t>
                      </a: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2000" b="0" i="0" u="none" strike="noStrike" dirty="0">
                          <a:solidFill>
                            <a:srgbClr val="000000"/>
                          </a:solidFill>
                          <a:effectLst/>
                          <a:latin typeface="微軟正黑體" panose="020B0604030504040204" pitchFamily="34" charset="-120"/>
                          <a:ea typeface="微軟正黑體" panose="020B0604030504040204" pitchFamily="34" charset="-120"/>
                        </a:rPr>
                        <a:t>p-value</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4200870"/>
                  </a:ext>
                </a:extLst>
              </a:tr>
              <a:tr h="220980">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T test</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-4.37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kern="1200" dirty="0">
                          <a:solidFill>
                            <a:srgbClr val="00B050"/>
                          </a:solidFill>
                          <a:latin typeface="微軟正黑體" panose="020B0604030504040204" pitchFamily="34" charset="-120"/>
                          <a:ea typeface="微軟正黑體" panose="020B0604030504040204" pitchFamily="34" charset="-120"/>
                          <a:cs typeface="+mn-cs"/>
                        </a:rPr>
                        <a:t>0.00045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1513865"/>
                  </a:ext>
                </a:extLst>
              </a:tr>
              <a:tr h="220980">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Wilcoxon</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kern="1200" dirty="0">
                          <a:solidFill>
                            <a:srgbClr val="00B050"/>
                          </a:solidFill>
                          <a:latin typeface="微軟正黑體" panose="020B0604030504040204" pitchFamily="34" charset="-120"/>
                          <a:ea typeface="微軟正黑體" panose="020B0604030504040204" pitchFamily="34" charset="-120"/>
                          <a:cs typeface="+mn-cs"/>
                        </a:rPr>
                        <a:t>0.00085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5705361"/>
                  </a:ext>
                </a:extLst>
              </a:tr>
            </a:tbl>
          </a:graphicData>
        </a:graphic>
      </p:graphicFrame>
      <p:graphicFrame>
        <p:nvGraphicFramePr>
          <p:cNvPr id="5" name="表格 4">
            <a:extLst>
              <a:ext uri="{FF2B5EF4-FFF2-40B4-BE49-F238E27FC236}">
                <a16:creationId xmlns:a16="http://schemas.microsoft.com/office/drawing/2014/main" id="{2811A4DD-3196-6F78-6545-AFE976D9C4E7}"/>
              </a:ext>
            </a:extLst>
          </p:cNvPr>
          <p:cNvGraphicFramePr>
            <a:graphicFrameLocks noGrp="1"/>
          </p:cNvGraphicFramePr>
          <p:nvPr>
            <p:extLst>
              <p:ext uri="{D42A27DB-BD31-4B8C-83A1-F6EECF244321}">
                <p14:modId xmlns:p14="http://schemas.microsoft.com/office/powerpoint/2010/main" val="1245067156"/>
              </p:ext>
            </p:extLst>
          </p:nvPr>
        </p:nvGraphicFramePr>
        <p:xfrm>
          <a:off x="794565" y="3510135"/>
          <a:ext cx="3626829" cy="3009900"/>
        </p:xfrm>
        <a:graphic>
          <a:graphicData uri="http://schemas.openxmlformats.org/drawingml/2006/table">
            <a:tbl>
              <a:tblPr/>
              <a:tblGrid>
                <a:gridCol w="719609">
                  <a:extLst>
                    <a:ext uri="{9D8B030D-6E8A-4147-A177-3AD203B41FA5}">
                      <a16:colId xmlns:a16="http://schemas.microsoft.com/office/drawing/2014/main" val="2308458833"/>
                    </a:ext>
                  </a:extLst>
                </a:gridCol>
                <a:gridCol w="820354">
                  <a:extLst>
                    <a:ext uri="{9D8B030D-6E8A-4147-A177-3AD203B41FA5}">
                      <a16:colId xmlns:a16="http://schemas.microsoft.com/office/drawing/2014/main" val="12725514"/>
                    </a:ext>
                  </a:extLst>
                </a:gridCol>
                <a:gridCol w="1050629">
                  <a:extLst>
                    <a:ext uri="{9D8B030D-6E8A-4147-A177-3AD203B41FA5}">
                      <a16:colId xmlns:a16="http://schemas.microsoft.com/office/drawing/2014/main" val="1616214365"/>
                    </a:ext>
                  </a:extLst>
                </a:gridCol>
                <a:gridCol w="1036237">
                  <a:extLst>
                    <a:ext uri="{9D8B030D-6E8A-4147-A177-3AD203B41FA5}">
                      <a16:colId xmlns:a16="http://schemas.microsoft.com/office/drawing/2014/main" val="2958420482"/>
                    </a:ext>
                  </a:extLst>
                </a:gridCol>
              </a:tblGrid>
              <a:tr h="411480">
                <a:tc>
                  <a:txBody>
                    <a:bodyPr/>
                    <a:lstStyle/>
                    <a:p>
                      <a:pPr marL="0" algn="ctr" defTabSz="1219170" rtl="0" eaLnBrk="1" fontAlgn="ctr" latinLnBrk="0" hangingPunct="1"/>
                      <a:r>
                        <a:rPr lang="en-US" sz="1600" b="0" i="0" u="none" strike="noStrike" kern="12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PreTest</a:t>
                      </a:r>
                      <a:endPar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1219170" rtl="0" eaLnBrk="1" fontAlgn="ctr" latinLnBrk="0" hangingPunct="1"/>
                      <a:r>
                        <a:rPr lang="en-US" sz="1600" b="0" i="0" u="none" strike="noStrike" kern="12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PostTest</a:t>
                      </a:r>
                      <a:endPar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1219170" rtl="0" eaLnBrk="1" fontAlgn="ctr" latinLnBrk="0" hangingPunct="1"/>
                      <a:r>
                        <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Imputation</a:t>
                      </a:r>
                      <a:br>
                        <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(Bayesian)</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1219170" rtl="0" eaLnBrk="1" fontAlgn="ctr" latinLnBrk="0" hangingPunct="1"/>
                      <a:r>
                        <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Imputation</a:t>
                      </a:r>
                      <a:br>
                        <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(Simple LR)</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582113283"/>
                  </a:ext>
                </a:extLst>
              </a:tr>
              <a:tr h="205740">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34.7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57.3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57.3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57.3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32958581"/>
                  </a:ext>
                </a:extLst>
              </a:tr>
              <a:tr h="20574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12.5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zh-TW" altLang="en-US" sz="1600" b="0" i="0" u="none" strike="noStrike" kern="1200">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46.331046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39.85027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26168012"/>
                  </a:ext>
                </a:extLst>
              </a:tr>
              <a:tr h="20574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9.3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zh-TW" altLang="en-US" sz="1600" b="0" i="0" u="none" strike="noStrike" kern="1200" dirty="0">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50.45279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39.13649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30361147"/>
                  </a:ext>
                </a:extLst>
              </a:tr>
              <a:tr h="20574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25.8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zh-TW" altLang="en-US" sz="1600" b="0" i="0" u="none" strike="noStrike" kern="1200">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38.322093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42.816917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35103680"/>
                  </a:ext>
                </a:extLst>
              </a:tr>
              <a:tr h="20574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68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zh-TW" altLang="en-US" sz="1600" b="0" i="0" u="none" strike="noStrike" kern="1200">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35.69495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52.229888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11054718"/>
                  </a:ext>
                </a:extLst>
              </a:tr>
              <a:tr h="20574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20.5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27.1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27.1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27.1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1390743"/>
                  </a:ext>
                </a:extLst>
              </a:tr>
              <a:tr h="20574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18.2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zh-TW" altLang="en-US" sz="1600" b="0" i="0" u="none" strike="noStrike" kern="1200">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57.082115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41.12169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83085949"/>
                  </a:ext>
                </a:extLst>
              </a:tr>
              <a:tr h="20574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40.7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zh-TW" altLang="en-US" sz="1600" b="0" i="0" u="none" strike="noStrike" kern="1200">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40.684897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46.140454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03835822"/>
                  </a:ext>
                </a:extLst>
              </a:tr>
              <a:tr h="20574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20.9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zh-TW" altLang="en-US" sz="1600" b="0" i="0" u="none" strike="noStrike" kern="1200">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63.371767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41.723942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12058721"/>
                  </a:ext>
                </a:extLst>
              </a:tr>
              <a:tr h="205740">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10.1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zh-TW" altLang="en-US" sz="1600" b="0" i="0" u="none" strike="noStrike" kern="1200" dirty="0">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47.544153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39.314935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39446907"/>
                  </a:ext>
                </a:extLst>
              </a:tr>
            </a:tbl>
          </a:graphicData>
        </a:graphic>
      </p:graphicFrame>
    </p:spTree>
    <p:extLst>
      <p:ext uri="{BB962C8B-B14F-4D97-AF65-F5344CB8AC3E}">
        <p14:creationId xmlns:p14="http://schemas.microsoft.com/office/powerpoint/2010/main" val="2031461301"/>
      </p:ext>
    </p:extLst>
  </p:cSld>
  <p:clrMapOvr>
    <a:masterClrMapping/>
  </p:clrMapOvr>
  <mc:AlternateContent xmlns:mc="http://schemas.openxmlformats.org/markup-compatibility/2006" xmlns:p14="http://schemas.microsoft.com/office/powerpoint/2010/main">
    <mc:Choice Requires="p14">
      <p:transition spd="slow" p14:dur="1250" advClick="0">
        <p14:pan dir="u"/>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58536" y="107592"/>
            <a:ext cx="5928672" cy="9840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70"/>
            <a:endParaRPr lang="en-US">
              <a:solidFill>
                <a:prstClr val="white"/>
              </a:solidFill>
              <a:latin typeface="思源黑体 CN Medium" panose="020B0600000000000000" pitchFamily="34" charset="-122"/>
              <a:ea typeface="思源黑体 CN Medium" panose="020B0600000000000000" pitchFamily="34" charset="-122"/>
              <a:sym typeface="字魂59号-创粗黑" panose="00000500000000000000" pitchFamily="2" charset="-122"/>
            </a:endParaRPr>
          </a:p>
        </p:txBody>
      </p:sp>
      <p:pic>
        <p:nvPicPr>
          <p:cNvPr id="17" name="图片 16">
            <a:extLst>
              <a:ext uri="{FF2B5EF4-FFF2-40B4-BE49-F238E27FC236}">
                <a16:creationId xmlns:a16="http://schemas.microsoft.com/office/drawing/2014/main" id="{05E72798-6899-42A6-9FEE-703EF4EFCDB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86" b="100000" l="0" r="100000">
                        <a14:foregroundMark x1="82171" y1="51131" x2="59408" y2="50679"/>
                        <a14:backgroundMark x1="91473" y1="41991" x2="86047" y2="34299"/>
                        <a14:backgroundMark x1="91966" y1="54118" x2="88090" y2="67059"/>
                        <a14:backgroundMark x1="84426" y1="75023" x2="75405" y2="81719"/>
                        <a14:backgroundMark x1="77026" y1="32217" x2="73573" y2="31493"/>
                        <a14:backgroundMark x1="67583" y1="33575" x2="65257" y2="31312"/>
                      </a14:backgroundRemoval>
                    </a14:imgEffect>
                  </a14:imgLayer>
                </a14:imgProps>
              </a:ext>
              <a:ext uri="{28A0092B-C50C-407E-A947-70E740481C1C}">
                <a14:useLocalDpi xmlns:a14="http://schemas.microsoft.com/office/drawing/2010/main" val="0"/>
              </a:ext>
            </a:extLst>
          </a:blip>
          <a:stretch>
            <a:fillRect/>
          </a:stretch>
        </p:blipFill>
        <p:spPr>
          <a:xfrm rot="277819">
            <a:off x="-1366951" y="-490407"/>
            <a:ext cx="3108709" cy="2420806"/>
          </a:xfrm>
          <a:prstGeom prst="rect">
            <a:avLst/>
          </a:prstGeom>
        </p:spPr>
      </p:pic>
      <p:sp>
        <p:nvSpPr>
          <p:cNvPr id="2" name="矩形 1">
            <a:extLst>
              <a:ext uri="{FF2B5EF4-FFF2-40B4-BE49-F238E27FC236}">
                <a16:creationId xmlns:a16="http://schemas.microsoft.com/office/drawing/2014/main" id="{CDACD7A8-3A6E-4C27-9240-791E721F0C74}"/>
              </a:ext>
            </a:extLst>
          </p:cNvPr>
          <p:cNvSpPr/>
          <p:nvPr/>
        </p:nvSpPr>
        <p:spPr>
          <a:xfrm>
            <a:off x="1570514" y="337965"/>
            <a:ext cx="4764972" cy="548443"/>
          </a:xfrm>
          <a:prstGeom prst="rect">
            <a:avLst/>
          </a:prstGeom>
        </p:spPr>
        <p:txBody>
          <a:bodyPr wrap="none">
            <a:normAutofit/>
          </a:bodyPr>
          <a:lstStyle/>
          <a:p>
            <a:r>
              <a:rPr lang="en-US" altLang="zh-TW" sz="2800" dirty="0">
                <a:solidFill>
                  <a:prstClr val="black">
                    <a:lumMod val="75000"/>
                    <a:lumOff val="25000"/>
                  </a:prstClr>
                </a:solidFill>
                <a:latin typeface="Source Han Sans TC"/>
                <a:ea typeface="Source Han Sans TC"/>
                <a:sym typeface="字魂59号-创粗黑" panose="00000500000000000000" pitchFamily="2" charset="-122"/>
              </a:rPr>
              <a:t>Data analysis –</a:t>
            </a:r>
            <a:r>
              <a:rPr lang="zh-TW" altLang="en-US" sz="2800" dirty="0">
                <a:solidFill>
                  <a:srgbClr val="0070C0"/>
                </a:solidFill>
                <a:latin typeface="Source Han Sans TC"/>
                <a:ea typeface="Source Han Sans TC"/>
                <a:sym typeface="字魂59号-创粗黑" panose="00000500000000000000" pitchFamily="2" charset="-122"/>
              </a:rPr>
              <a:t>尿</a:t>
            </a:r>
            <a:r>
              <a:rPr lang="zh-TW" altLang="en-US" sz="2800" dirty="0">
                <a:solidFill>
                  <a:srgbClr val="0070C0"/>
                </a:solidFill>
                <a:latin typeface="Source Han Sans TC"/>
                <a:sym typeface="字魂59号-创粗黑" panose="00000500000000000000" pitchFamily="2" charset="-122"/>
              </a:rPr>
              <a:t>失禁患者</a:t>
            </a:r>
            <a:endParaRPr lang="en-US" altLang="zh-TW" sz="2800" b="1" dirty="0">
              <a:solidFill>
                <a:srgbClr val="0070C0"/>
              </a:solidFill>
              <a:latin typeface="微軟正黑體" panose="020B0604030504040204" pitchFamily="34" charset="-120"/>
              <a:ea typeface="微軟正黑體" panose="020B0604030504040204" pitchFamily="34" charset="-120"/>
              <a:cs typeface="Calibri" panose="020F0502020204030204" pitchFamily="34" charset="0"/>
            </a:endParaRPr>
          </a:p>
        </p:txBody>
      </p:sp>
      <p:sp>
        <p:nvSpPr>
          <p:cNvPr id="7" name="文字方塊 6">
            <a:extLst>
              <a:ext uri="{FF2B5EF4-FFF2-40B4-BE49-F238E27FC236}">
                <a16:creationId xmlns:a16="http://schemas.microsoft.com/office/drawing/2014/main" id="{F36FF8FF-6BA0-209F-2116-3F8DD34B989C}"/>
              </a:ext>
            </a:extLst>
          </p:cNvPr>
          <p:cNvSpPr txBox="1"/>
          <p:nvPr/>
        </p:nvSpPr>
        <p:spPr>
          <a:xfrm>
            <a:off x="1549000" y="992809"/>
            <a:ext cx="10443885" cy="1323439"/>
          </a:xfrm>
          <a:prstGeom prst="rect">
            <a:avLst/>
          </a:prstGeom>
          <a:noFill/>
        </p:spPr>
        <p:txBody>
          <a:bodyPr wrap="none" rtlCol="0">
            <a:spAutoFit/>
          </a:bodyPr>
          <a:lstStyle/>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根據前面的檢定結果，我們知道最大值與基準值之間的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pre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跟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post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有顯著的差異，接下來</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我們想知道該差異到底是不是因為基準值不變但最大值變大，但從下圖我們可以很明顯地看</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出跟我們在便祕資料很類似的結果，就是在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Post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的肌電圖資料上都有明顯的趨勢向上，該</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drift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的存在使得我們直接比較</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基準值</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跟</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最大值</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前後的差異其實是沒有意義的。</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3" name="圖片 2">
            <a:extLst>
              <a:ext uri="{FF2B5EF4-FFF2-40B4-BE49-F238E27FC236}">
                <a16:creationId xmlns:a16="http://schemas.microsoft.com/office/drawing/2014/main" id="{ACCBBBB6-455B-7248-8DC3-EF71C93EE7C5}"/>
              </a:ext>
            </a:extLst>
          </p:cNvPr>
          <p:cNvPicPr>
            <a:picLocks noChangeAspect="1"/>
          </p:cNvPicPr>
          <p:nvPr/>
        </p:nvPicPr>
        <p:blipFill>
          <a:blip r:embed="rId5"/>
          <a:stretch>
            <a:fillRect/>
          </a:stretch>
        </p:blipFill>
        <p:spPr>
          <a:xfrm>
            <a:off x="6659871" y="2951242"/>
            <a:ext cx="4796104" cy="3701806"/>
          </a:xfrm>
          <a:prstGeom prst="rect">
            <a:avLst/>
          </a:prstGeom>
          <a:ln>
            <a:solidFill>
              <a:schemeClr val="tx1"/>
            </a:solidFill>
          </a:ln>
        </p:spPr>
      </p:pic>
      <p:pic>
        <p:nvPicPr>
          <p:cNvPr id="8" name="圖片 7">
            <a:extLst>
              <a:ext uri="{FF2B5EF4-FFF2-40B4-BE49-F238E27FC236}">
                <a16:creationId xmlns:a16="http://schemas.microsoft.com/office/drawing/2014/main" id="{0F25B32C-45B8-3BB7-947A-0CFD50EB9472}"/>
              </a:ext>
            </a:extLst>
          </p:cNvPr>
          <p:cNvPicPr>
            <a:picLocks noChangeAspect="1"/>
          </p:cNvPicPr>
          <p:nvPr/>
        </p:nvPicPr>
        <p:blipFill>
          <a:blip r:embed="rId6"/>
          <a:stretch>
            <a:fillRect/>
          </a:stretch>
        </p:blipFill>
        <p:spPr>
          <a:xfrm>
            <a:off x="1549000" y="2951242"/>
            <a:ext cx="4708982" cy="3701806"/>
          </a:xfrm>
          <a:prstGeom prst="rect">
            <a:avLst/>
          </a:prstGeom>
          <a:ln>
            <a:solidFill>
              <a:schemeClr val="tx1"/>
            </a:solidFill>
          </a:ln>
        </p:spPr>
      </p:pic>
    </p:spTree>
    <p:extLst>
      <p:ext uri="{BB962C8B-B14F-4D97-AF65-F5344CB8AC3E}">
        <p14:creationId xmlns:p14="http://schemas.microsoft.com/office/powerpoint/2010/main" val="9400201"/>
      </p:ext>
    </p:extLst>
  </p:cSld>
  <p:clrMapOvr>
    <a:masterClrMapping/>
  </p:clrMapOvr>
  <mc:AlternateContent xmlns:mc="http://schemas.openxmlformats.org/markup-compatibility/2006" xmlns:p14="http://schemas.microsoft.com/office/powerpoint/2010/main">
    <mc:Choice Requires="p14">
      <p:transition spd="slow" p14:dur="1250" advClick="0">
        <p14:pan dir="u"/>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58536" y="107592"/>
            <a:ext cx="5928672" cy="9840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70"/>
            <a:endParaRPr lang="en-US">
              <a:solidFill>
                <a:prstClr val="white"/>
              </a:solidFill>
              <a:latin typeface="思源黑体 CN Medium" panose="020B0600000000000000" pitchFamily="34" charset="-122"/>
              <a:ea typeface="思源黑体 CN Medium" panose="020B0600000000000000" pitchFamily="34" charset="-122"/>
              <a:sym typeface="字魂59号-创粗黑" panose="00000500000000000000" pitchFamily="2" charset="-122"/>
            </a:endParaRPr>
          </a:p>
        </p:txBody>
      </p:sp>
      <p:pic>
        <p:nvPicPr>
          <p:cNvPr id="17" name="图片 16">
            <a:extLst>
              <a:ext uri="{FF2B5EF4-FFF2-40B4-BE49-F238E27FC236}">
                <a16:creationId xmlns:a16="http://schemas.microsoft.com/office/drawing/2014/main" id="{05E72798-6899-42A6-9FEE-703EF4EFCDB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86" b="100000" l="0" r="100000">
                        <a14:foregroundMark x1="82171" y1="51131" x2="59408" y2="50679"/>
                        <a14:backgroundMark x1="91473" y1="41991" x2="86047" y2="34299"/>
                        <a14:backgroundMark x1="91966" y1="54118" x2="88090" y2="67059"/>
                        <a14:backgroundMark x1="84426" y1="75023" x2="75405" y2="81719"/>
                        <a14:backgroundMark x1="77026" y1="32217" x2="73573" y2="31493"/>
                        <a14:backgroundMark x1="67583" y1="33575" x2="65257" y2="31312"/>
                      </a14:backgroundRemoval>
                    </a14:imgEffect>
                  </a14:imgLayer>
                </a14:imgProps>
              </a:ext>
              <a:ext uri="{28A0092B-C50C-407E-A947-70E740481C1C}">
                <a14:useLocalDpi xmlns:a14="http://schemas.microsoft.com/office/drawing/2010/main" val="0"/>
              </a:ext>
            </a:extLst>
          </a:blip>
          <a:stretch>
            <a:fillRect/>
          </a:stretch>
        </p:blipFill>
        <p:spPr>
          <a:xfrm rot="277819">
            <a:off x="-1366951" y="-490407"/>
            <a:ext cx="3108709" cy="2420806"/>
          </a:xfrm>
          <a:prstGeom prst="rect">
            <a:avLst/>
          </a:prstGeom>
        </p:spPr>
      </p:pic>
      <p:sp>
        <p:nvSpPr>
          <p:cNvPr id="2" name="矩形 1">
            <a:extLst>
              <a:ext uri="{FF2B5EF4-FFF2-40B4-BE49-F238E27FC236}">
                <a16:creationId xmlns:a16="http://schemas.microsoft.com/office/drawing/2014/main" id="{CDACD7A8-3A6E-4C27-9240-791E721F0C74}"/>
              </a:ext>
            </a:extLst>
          </p:cNvPr>
          <p:cNvSpPr/>
          <p:nvPr/>
        </p:nvSpPr>
        <p:spPr>
          <a:xfrm>
            <a:off x="1570514" y="337965"/>
            <a:ext cx="4764972" cy="548443"/>
          </a:xfrm>
          <a:prstGeom prst="rect">
            <a:avLst/>
          </a:prstGeom>
        </p:spPr>
        <p:txBody>
          <a:bodyPr wrap="none">
            <a:normAutofit/>
          </a:bodyPr>
          <a:lstStyle/>
          <a:p>
            <a:r>
              <a:rPr lang="en-US" altLang="zh-TW" sz="2800" dirty="0">
                <a:solidFill>
                  <a:prstClr val="black">
                    <a:lumMod val="75000"/>
                    <a:lumOff val="25000"/>
                  </a:prstClr>
                </a:solidFill>
                <a:latin typeface="Source Han Sans TC"/>
                <a:ea typeface="Source Han Sans TC"/>
                <a:sym typeface="字魂59号-创粗黑" panose="00000500000000000000" pitchFamily="2" charset="-122"/>
              </a:rPr>
              <a:t>Data analysis –</a:t>
            </a:r>
            <a:r>
              <a:rPr lang="zh-TW" altLang="en-US" sz="2800" dirty="0">
                <a:solidFill>
                  <a:srgbClr val="0070C0"/>
                </a:solidFill>
                <a:latin typeface="Source Han Sans TC"/>
                <a:ea typeface="Source Han Sans TC"/>
                <a:sym typeface="字魂59号-创粗黑" panose="00000500000000000000" pitchFamily="2" charset="-122"/>
              </a:rPr>
              <a:t>尿</a:t>
            </a:r>
            <a:r>
              <a:rPr lang="zh-TW" altLang="en-US" sz="2800" dirty="0">
                <a:solidFill>
                  <a:srgbClr val="0070C0"/>
                </a:solidFill>
                <a:latin typeface="Source Han Sans TC"/>
                <a:sym typeface="字魂59号-创粗黑" panose="00000500000000000000" pitchFamily="2" charset="-122"/>
              </a:rPr>
              <a:t>失禁患者</a:t>
            </a:r>
            <a:endParaRPr lang="en-US" altLang="zh-TW" sz="2800" b="1" dirty="0">
              <a:solidFill>
                <a:srgbClr val="0070C0"/>
              </a:solidFill>
              <a:latin typeface="微軟正黑體" panose="020B0604030504040204" pitchFamily="34" charset="-120"/>
              <a:ea typeface="微軟正黑體" panose="020B0604030504040204" pitchFamily="34" charset="-120"/>
              <a:cs typeface="Calibri" panose="020F0502020204030204" pitchFamily="34" charset="0"/>
            </a:endParaRPr>
          </a:p>
        </p:txBody>
      </p:sp>
      <p:sp>
        <p:nvSpPr>
          <p:cNvPr id="7" name="文字方塊 6">
            <a:extLst>
              <a:ext uri="{FF2B5EF4-FFF2-40B4-BE49-F238E27FC236}">
                <a16:creationId xmlns:a16="http://schemas.microsoft.com/office/drawing/2014/main" id="{F36FF8FF-6BA0-209F-2116-3F8DD34B989C}"/>
              </a:ext>
            </a:extLst>
          </p:cNvPr>
          <p:cNvSpPr txBox="1"/>
          <p:nvPr/>
        </p:nvSpPr>
        <p:spPr>
          <a:xfrm>
            <a:off x="1549000" y="992809"/>
            <a:ext cx="8905002" cy="1323439"/>
          </a:xfrm>
          <a:prstGeom prst="rect">
            <a:avLst/>
          </a:prstGeom>
          <a:noFill/>
        </p:spPr>
        <p:txBody>
          <a:bodyPr wrap="none" rtlCol="0">
            <a:spAutoFit/>
          </a:bodyPr>
          <a:lstStyle/>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但我們還是可以將前後測的</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基值</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與</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最大值</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進行檢定來檢查是否真的是不顯著。</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對於基值，我們希望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post base</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 跟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pre base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沒有太大的差異，而最大值我們</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則是希望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post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的最大值可以大於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pre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的最大值。從以下的結果我們可以得到</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跟前一張盒鬚圖相似的結論，基準值跟最大值都沒有達到統計顯著</a:t>
            </a:r>
            <a:endParaRPr lang="en-US" altLang="zh-TW" sz="2000" dirty="0">
              <a:solidFill>
                <a:schemeClr val="accent2">
                  <a:lumMod val="75000"/>
                </a:schemeClr>
              </a:solidFill>
              <a:latin typeface="微軟正黑體" panose="020B0604030504040204" pitchFamily="34" charset="-120"/>
              <a:ea typeface="微軟正黑體" panose="020B0604030504040204" pitchFamily="34" charset="-120"/>
            </a:endParaRPr>
          </a:p>
        </p:txBody>
      </p:sp>
      <p:graphicFrame>
        <p:nvGraphicFramePr>
          <p:cNvPr id="5" name="表格 4">
            <a:extLst>
              <a:ext uri="{FF2B5EF4-FFF2-40B4-BE49-F238E27FC236}">
                <a16:creationId xmlns:a16="http://schemas.microsoft.com/office/drawing/2014/main" id="{96A105B1-595A-D357-B1E8-2E6A57341A68}"/>
              </a:ext>
            </a:extLst>
          </p:cNvPr>
          <p:cNvGraphicFramePr>
            <a:graphicFrameLocks noGrp="1"/>
          </p:cNvGraphicFramePr>
          <p:nvPr>
            <p:extLst>
              <p:ext uri="{D42A27DB-BD31-4B8C-83A1-F6EECF244321}">
                <p14:modId xmlns:p14="http://schemas.microsoft.com/office/powerpoint/2010/main" val="2060957089"/>
              </p:ext>
            </p:extLst>
          </p:nvPr>
        </p:nvGraphicFramePr>
        <p:xfrm>
          <a:off x="4078323" y="3429000"/>
          <a:ext cx="4195483" cy="966767"/>
        </p:xfrm>
        <a:graphic>
          <a:graphicData uri="http://schemas.openxmlformats.org/drawingml/2006/table">
            <a:tbl>
              <a:tblPr/>
              <a:tblGrid>
                <a:gridCol w="1271627">
                  <a:extLst>
                    <a:ext uri="{9D8B030D-6E8A-4147-A177-3AD203B41FA5}">
                      <a16:colId xmlns:a16="http://schemas.microsoft.com/office/drawing/2014/main" val="3993428737"/>
                    </a:ext>
                  </a:extLst>
                </a:gridCol>
                <a:gridCol w="1461928">
                  <a:extLst>
                    <a:ext uri="{9D8B030D-6E8A-4147-A177-3AD203B41FA5}">
                      <a16:colId xmlns:a16="http://schemas.microsoft.com/office/drawing/2014/main" val="2161664515"/>
                    </a:ext>
                  </a:extLst>
                </a:gridCol>
                <a:gridCol w="1461928">
                  <a:extLst>
                    <a:ext uri="{9D8B030D-6E8A-4147-A177-3AD203B41FA5}">
                      <a16:colId xmlns:a16="http://schemas.microsoft.com/office/drawing/2014/main" val="81110010"/>
                    </a:ext>
                  </a:extLst>
                </a:gridCol>
              </a:tblGrid>
              <a:tr h="213360">
                <a:tc>
                  <a:txBody>
                    <a:bodyPr/>
                    <a:lstStyle/>
                    <a:p>
                      <a:pPr algn="ctr" fontAlgn="ct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zh-TW" altLang="en-US" sz="2000" b="0" i="0" u="none" strike="noStrike" dirty="0">
                          <a:solidFill>
                            <a:srgbClr val="000000"/>
                          </a:solidFill>
                          <a:effectLst/>
                          <a:latin typeface="微軟正黑體" panose="020B0604030504040204" pitchFamily="34" charset="-120"/>
                          <a:ea typeface="微軟正黑體" panose="020B0604030504040204" pitchFamily="34" charset="-120"/>
                        </a:rPr>
                        <a:t>統計量</a:t>
                      </a: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2000" b="0" i="0" u="none" strike="noStrike" dirty="0">
                          <a:solidFill>
                            <a:srgbClr val="000000"/>
                          </a:solidFill>
                          <a:effectLst/>
                          <a:latin typeface="微軟正黑體" panose="020B0604030504040204" pitchFamily="34" charset="-120"/>
                          <a:ea typeface="微軟正黑體" panose="020B0604030504040204" pitchFamily="34" charset="-120"/>
                        </a:rPr>
                        <a:t>p-value</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4200870"/>
                  </a:ext>
                </a:extLst>
              </a:tr>
              <a:tr h="341927">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T test</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1.345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kern="1200" dirty="0">
                          <a:solidFill>
                            <a:srgbClr val="FF0000"/>
                          </a:solidFill>
                          <a:latin typeface="微軟正黑體" panose="020B0604030504040204" pitchFamily="34" charset="-120"/>
                          <a:ea typeface="微軟正黑體" panose="020B0604030504040204" pitchFamily="34" charset="-120"/>
                          <a:cs typeface="+mn-cs"/>
                        </a:rPr>
                        <a:t>0.271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1513865"/>
                  </a:ext>
                </a:extLst>
              </a:tr>
              <a:tr h="220980">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Wilcoxon</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kern="1200" dirty="0">
                          <a:solidFill>
                            <a:srgbClr val="FF0000"/>
                          </a:solidFill>
                          <a:latin typeface="微軟正黑體" panose="020B0604030504040204" pitchFamily="34" charset="-120"/>
                          <a:ea typeface="微軟正黑體" panose="020B0604030504040204" pitchFamily="34" charset="-120"/>
                          <a:cs typeface="+mn-cs"/>
                        </a:rPr>
                        <a:t>0.625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5705361"/>
                  </a:ext>
                </a:extLst>
              </a:tr>
            </a:tbl>
          </a:graphicData>
        </a:graphic>
      </p:graphicFrame>
      <p:sp>
        <p:nvSpPr>
          <p:cNvPr id="6" name="文字方塊 5">
            <a:extLst>
              <a:ext uri="{FF2B5EF4-FFF2-40B4-BE49-F238E27FC236}">
                <a16:creationId xmlns:a16="http://schemas.microsoft.com/office/drawing/2014/main" id="{D81D54FA-27CA-5B29-7816-F50647C2B683}"/>
              </a:ext>
            </a:extLst>
          </p:cNvPr>
          <p:cNvSpPr txBox="1"/>
          <p:nvPr/>
        </p:nvSpPr>
        <p:spPr>
          <a:xfrm>
            <a:off x="4246936" y="2639186"/>
            <a:ext cx="3890809" cy="461665"/>
          </a:xfrm>
          <a:prstGeom prst="rect">
            <a:avLst/>
          </a:prstGeom>
          <a:noFill/>
        </p:spPr>
        <p:txBody>
          <a:bodyPr wrap="none" rtlCol="0">
            <a:spAutoFit/>
          </a:bodyPr>
          <a:lstStyle/>
          <a:p>
            <a:r>
              <a:rPr lang="zh-TW" altLang="en-US" sz="2400" b="1" dirty="0">
                <a:latin typeface="微軟正黑體" panose="020B0604030504040204" pitchFamily="34" charset="-120"/>
                <a:ea typeface="微軟正黑體" panose="020B0604030504040204" pitchFamily="34" charset="-120"/>
              </a:rPr>
              <a:t>基準值檢定結果 </a:t>
            </a:r>
            <a:r>
              <a:rPr lang="en-US" altLang="zh-TW" sz="2400" b="1" dirty="0">
                <a:latin typeface="微軟正黑體" panose="020B0604030504040204" pitchFamily="34" charset="-120"/>
                <a:ea typeface="微軟正黑體" panose="020B0604030504040204" pitchFamily="34" charset="-120"/>
              </a:rPr>
              <a:t>– </a:t>
            </a:r>
            <a:r>
              <a:rPr lang="zh-TW" altLang="en-US" sz="2400" b="1" dirty="0">
                <a:latin typeface="微軟正黑體" panose="020B0604030504040204" pitchFamily="34" charset="-120"/>
                <a:ea typeface="微軟正黑體" panose="020B0604030504040204" pitchFamily="34" charset="-120"/>
              </a:rPr>
              <a:t>雙尾檢定</a:t>
            </a:r>
            <a:endParaRPr lang="en-US" altLang="zh-TW" sz="2400" b="1" dirty="0">
              <a:latin typeface="微軟正黑體" panose="020B0604030504040204" pitchFamily="34" charset="-120"/>
              <a:ea typeface="微軟正黑體" panose="020B0604030504040204" pitchFamily="34" charset="-120"/>
            </a:endParaRPr>
          </a:p>
        </p:txBody>
      </p:sp>
      <p:sp>
        <p:nvSpPr>
          <p:cNvPr id="8" name="文字方塊 7">
            <a:extLst>
              <a:ext uri="{FF2B5EF4-FFF2-40B4-BE49-F238E27FC236}">
                <a16:creationId xmlns:a16="http://schemas.microsoft.com/office/drawing/2014/main" id="{2E9DF9AD-A5FA-7724-8327-31C639059A41}"/>
              </a:ext>
            </a:extLst>
          </p:cNvPr>
          <p:cNvSpPr txBox="1"/>
          <p:nvPr/>
        </p:nvSpPr>
        <p:spPr>
          <a:xfrm>
            <a:off x="4234158" y="4804910"/>
            <a:ext cx="3890809" cy="461665"/>
          </a:xfrm>
          <a:prstGeom prst="rect">
            <a:avLst/>
          </a:prstGeom>
          <a:noFill/>
        </p:spPr>
        <p:txBody>
          <a:bodyPr wrap="none" rtlCol="0">
            <a:spAutoFit/>
          </a:bodyPr>
          <a:lstStyle/>
          <a:p>
            <a:r>
              <a:rPr lang="zh-TW" altLang="en-US" sz="2400" b="1" dirty="0">
                <a:latin typeface="微軟正黑體" panose="020B0604030504040204" pitchFamily="34" charset="-120"/>
                <a:ea typeface="微軟正黑體" panose="020B0604030504040204" pitchFamily="34" charset="-120"/>
              </a:rPr>
              <a:t>最大值檢定結果 </a:t>
            </a:r>
            <a:r>
              <a:rPr lang="en-US" altLang="zh-TW" sz="2400" b="1" dirty="0">
                <a:latin typeface="微軟正黑體" panose="020B0604030504040204" pitchFamily="34" charset="-120"/>
                <a:ea typeface="微軟正黑體" panose="020B0604030504040204" pitchFamily="34" charset="-120"/>
              </a:rPr>
              <a:t>– </a:t>
            </a:r>
            <a:r>
              <a:rPr lang="zh-TW" altLang="en-US" sz="2400" b="1" dirty="0">
                <a:latin typeface="微軟正黑體" panose="020B0604030504040204" pitchFamily="34" charset="-120"/>
                <a:ea typeface="微軟正黑體" panose="020B0604030504040204" pitchFamily="34" charset="-120"/>
              </a:rPr>
              <a:t>左尾檢定</a:t>
            </a:r>
            <a:endParaRPr lang="en-US" altLang="zh-TW" sz="2400" b="1" dirty="0">
              <a:latin typeface="微軟正黑體" panose="020B0604030504040204" pitchFamily="34" charset="-120"/>
              <a:ea typeface="微軟正黑體" panose="020B0604030504040204" pitchFamily="34" charset="-120"/>
            </a:endParaRPr>
          </a:p>
        </p:txBody>
      </p:sp>
      <p:graphicFrame>
        <p:nvGraphicFramePr>
          <p:cNvPr id="9" name="表格 8">
            <a:extLst>
              <a:ext uri="{FF2B5EF4-FFF2-40B4-BE49-F238E27FC236}">
                <a16:creationId xmlns:a16="http://schemas.microsoft.com/office/drawing/2014/main" id="{1040B3B6-41D6-0CE7-ECEA-5986B092475B}"/>
              </a:ext>
            </a:extLst>
          </p:cNvPr>
          <p:cNvGraphicFramePr>
            <a:graphicFrameLocks noGrp="1"/>
          </p:cNvGraphicFramePr>
          <p:nvPr>
            <p:extLst>
              <p:ext uri="{D42A27DB-BD31-4B8C-83A1-F6EECF244321}">
                <p14:modId xmlns:p14="http://schemas.microsoft.com/office/powerpoint/2010/main" val="1949585937"/>
              </p:ext>
            </p:extLst>
          </p:nvPr>
        </p:nvGraphicFramePr>
        <p:xfrm>
          <a:off x="4078323" y="5582775"/>
          <a:ext cx="4195483" cy="937260"/>
        </p:xfrm>
        <a:graphic>
          <a:graphicData uri="http://schemas.openxmlformats.org/drawingml/2006/table">
            <a:tbl>
              <a:tblPr/>
              <a:tblGrid>
                <a:gridCol w="1271627">
                  <a:extLst>
                    <a:ext uri="{9D8B030D-6E8A-4147-A177-3AD203B41FA5}">
                      <a16:colId xmlns:a16="http://schemas.microsoft.com/office/drawing/2014/main" val="3993428737"/>
                    </a:ext>
                  </a:extLst>
                </a:gridCol>
                <a:gridCol w="1461928">
                  <a:extLst>
                    <a:ext uri="{9D8B030D-6E8A-4147-A177-3AD203B41FA5}">
                      <a16:colId xmlns:a16="http://schemas.microsoft.com/office/drawing/2014/main" val="2161664515"/>
                    </a:ext>
                  </a:extLst>
                </a:gridCol>
                <a:gridCol w="1461928">
                  <a:extLst>
                    <a:ext uri="{9D8B030D-6E8A-4147-A177-3AD203B41FA5}">
                      <a16:colId xmlns:a16="http://schemas.microsoft.com/office/drawing/2014/main" val="81110010"/>
                    </a:ext>
                  </a:extLst>
                </a:gridCol>
              </a:tblGrid>
              <a:tr h="250659">
                <a:tc>
                  <a:txBody>
                    <a:bodyPr/>
                    <a:lstStyle/>
                    <a:p>
                      <a:pPr algn="ctr" fontAlgn="ct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zh-TW" altLang="en-US" sz="2000" b="0" i="0" u="none" strike="noStrike" dirty="0">
                          <a:solidFill>
                            <a:srgbClr val="000000"/>
                          </a:solidFill>
                          <a:effectLst/>
                          <a:latin typeface="微軟正黑體" panose="020B0604030504040204" pitchFamily="34" charset="-120"/>
                          <a:ea typeface="微軟正黑體" panose="020B0604030504040204" pitchFamily="34" charset="-120"/>
                        </a:rPr>
                        <a:t>統計量</a:t>
                      </a: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2000" b="0" i="0" u="none" strike="noStrike" dirty="0">
                          <a:solidFill>
                            <a:srgbClr val="000000"/>
                          </a:solidFill>
                          <a:effectLst/>
                          <a:latin typeface="微軟正黑體" panose="020B0604030504040204" pitchFamily="34" charset="-120"/>
                          <a:ea typeface="微軟正黑體" panose="020B0604030504040204" pitchFamily="34" charset="-120"/>
                        </a:rPr>
                        <a:t>p-value</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4200870"/>
                  </a:ext>
                </a:extLst>
              </a:tr>
              <a:tr h="220980">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T test</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-1.14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kern="1200" dirty="0">
                          <a:solidFill>
                            <a:srgbClr val="FF0000"/>
                          </a:solidFill>
                          <a:latin typeface="微軟正黑體" panose="020B0604030504040204" pitchFamily="34" charset="-120"/>
                          <a:ea typeface="微軟正黑體" panose="020B0604030504040204" pitchFamily="34" charset="-120"/>
                          <a:cs typeface="+mn-cs"/>
                        </a:rPr>
                        <a:t>0.168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1513865"/>
                  </a:ext>
                </a:extLst>
              </a:tr>
              <a:tr h="220980">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Wilcoxon</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kern="1200" dirty="0">
                          <a:solidFill>
                            <a:srgbClr val="FF0000"/>
                          </a:solidFill>
                          <a:latin typeface="微軟正黑體" panose="020B0604030504040204" pitchFamily="34" charset="-120"/>
                          <a:ea typeface="微軟正黑體" panose="020B0604030504040204" pitchFamily="34" charset="-120"/>
                          <a:cs typeface="+mn-cs"/>
                        </a:rPr>
                        <a:t>0.1875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5705361"/>
                  </a:ext>
                </a:extLst>
              </a:tr>
            </a:tbl>
          </a:graphicData>
        </a:graphic>
      </p:graphicFrame>
    </p:spTree>
    <p:extLst>
      <p:ext uri="{BB962C8B-B14F-4D97-AF65-F5344CB8AC3E}">
        <p14:creationId xmlns:p14="http://schemas.microsoft.com/office/powerpoint/2010/main" val="4292060510"/>
      </p:ext>
    </p:extLst>
  </p:cSld>
  <p:clrMapOvr>
    <a:masterClrMapping/>
  </p:clrMapOvr>
  <mc:AlternateContent xmlns:mc="http://schemas.openxmlformats.org/markup-compatibility/2006" xmlns:p14="http://schemas.microsoft.com/office/powerpoint/2010/main">
    <mc:Choice Requires="p14">
      <p:transition spd="slow" p14:dur="1250" advClick="0">
        <p14:pan dir="u"/>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58536" y="107592"/>
            <a:ext cx="5928672" cy="9840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70"/>
            <a:endParaRPr lang="en-US">
              <a:solidFill>
                <a:prstClr val="white"/>
              </a:solidFill>
              <a:latin typeface="思源黑体 CN Medium" panose="020B0600000000000000" pitchFamily="34" charset="-122"/>
              <a:ea typeface="思源黑体 CN Medium" panose="020B0600000000000000" pitchFamily="34" charset="-122"/>
              <a:sym typeface="字魂59号-创粗黑" panose="00000500000000000000" pitchFamily="2" charset="-122"/>
            </a:endParaRPr>
          </a:p>
        </p:txBody>
      </p:sp>
      <p:pic>
        <p:nvPicPr>
          <p:cNvPr id="17" name="图片 16">
            <a:extLst>
              <a:ext uri="{FF2B5EF4-FFF2-40B4-BE49-F238E27FC236}">
                <a16:creationId xmlns:a16="http://schemas.microsoft.com/office/drawing/2014/main" id="{05E72798-6899-42A6-9FEE-703EF4EFCDB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86" b="100000" l="0" r="100000">
                        <a14:foregroundMark x1="82171" y1="51131" x2="59408" y2="50679"/>
                        <a14:backgroundMark x1="91473" y1="41991" x2="86047" y2="34299"/>
                        <a14:backgroundMark x1="91966" y1="54118" x2="88090" y2="67059"/>
                        <a14:backgroundMark x1="84426" y1="75023" x2="75405" y2="81719"/>
                        <a14:backgroundMark x1="77026" y1="32217" x2="73573" y2="31493"/>
                        <a14:backgroundMark x1="67583" y1="33575" x2="65257" y2="31312"/>
                      </a14:backgroundRemoval>
                    </a14:imgEffect>
                  </a14:imgLayer>
                </a14:imgProps>
              </a:ext>
              <a:ext uri="{28A0092B-C50C-407E-A947-70E740481C1C}">
                <a14:useLocalDpi xmlns:a14="http://schemas.microsoft.com/office/drawing/2010/main" val="0"/>
              </a:ext>
            </a:extLst>
          </a:blip>
          <a:stretch>
            <a:fillRect/>
          </a:stretch>
        </p:blipFill>
        <p:spPr>
          <a:xfrm rot="277819">
            <a:off x="-1366951" y="-490407"/>
            <a:ext cx="3108709" cy="2420806"/>
          </a:xfrm>
          <a:prstGeom prst="rect">
            <a:avLst/>
          </a:prstGeom>
        </p:spPr>
      </p:pic>
      <p:sp>
        <p:nvSpPr>
          <p:cNvPr id="2" name="矩形 1">
            <a:extLst>
              <a:ext uri="{FF2B5EF4-FFF2-40B4-BE49-F238E27FC236}">
                <a16:creationId xmlns:a16="http://schemas.microsoft.com/office/drawing/2014/main" id="{CDACD7A8-3A6E-4C27-9240-791E721F0C74}"/>
              </a:ext>
            </a:extLst>
          </p:cNvPr>
          <p:cNvSpPr/>
          <p:nvPr/>
        </p:nvSpPr>
        <p:spPr>
          <a:xfrm>
            <a:off x="1570514" y="337965"/>
            <a:ext cx="4764972" cy="548443"/>
          </a:xfrm>
          <a:prstGeom prst="rect">
            <a:avLst/>
          </a:prstGeom>
        </p:spPr>
        <p:txBody>
          <a:bodyPr wrap="none">
            <a:normAutofit/>
          </a:bodyPr>
          <a:lstStyle/>
          <a:p>
            <a:r>
              <a:rPr lang="en-US" altLang="zh-TW" sz="2800" dirty="0">
                <a:solidFill>
                  <a:prstClr val="black">
                    <a:lumMod val="75000"/>
                    <a:lumOff val="25000"/>
                  </a:prstClr>
                </a:solidFill>
                <a:latin typeface="Source Han Sans TC"/>
                <a:ea typeface="Source Han Sans TC"/>
                <a:sym typeface="字魂59号-创粗黑" panose="00000500000000000000" pitchFamily="2" charset="-122"/>
              </a:rPr>
              <a:t>Data analysis –</a:t>
            </a:r>
            <a:r>
              <a:rPr lang="zh-TW" altLang="en-US" sz="2800" dirty="0">
                <a:solidFill>
                  <a:srgbClr val="0070C0"/>
                </a:solidFill>
                <a:latin typeface="Source Han Sans TC"/>
                <a:ea typeface="Source Han Sans TC"/>
                <a:sym typeface="字魂59号-创粗黑" panose="00000500000000000000" pitchFamily="2" charset="-122"/>
              </a:rPr>
              <a:t>尿</a:t>
            </a:r>
            <a:r>
              <a:rPr lang="zh-TW" altLang="en-US" sz="2800" dirty="0">
                <a:solidFill>
                  <a:srgbClr val="0070C0"/>
                </a:solidFill>
                <a:latin typeface="Source Han Sans TC"/>
                <a:sym typeface="字魂59号-创粗黑" panose="00000500000000000000" pitchFamily="2" charset="-122"/>
              </a:rPr>
              <a:t>失禁患者</a:t>
            </a:r>
            <a:endParaRPr lang="en-US" altLang="zh-TW" sz="2800" dirty="0">
              <a:solidFill>
                <a:srgbClr val="0070C0"/>
              </a:solidFill>
              <a:latin typeface="Source Han Sans TC"/>
              <a:ea typeface="Source Han Sans TC"/>
              <a:sym typeface="字魂59号-创粗黑" panose="00000500000000000000" pitchFamily="2" charset="-122"/>
            </a:endParaRPr>
          </a:p>
          <a:p>
            <a:endParaRPr lang="en-US" altLang="zh-TW" sz="2800" b="1" dirty="0">
              <a:solidFill>
                <a:srgbClr val="0070C0"/>
              </a:solidFill>
              <a:latin typeface="微軟正黑體" panose="020B0604030504040204" pitchFamily="34" charset="-120"/>
              <a:ea typeface="微軟正黑體" panose="020B0604030504040204" pitchFamily="34" charset="-120"/>
              <a:cs typeface="Calibri" panose="020F0502020204030204" pitchFamily="34" charset="0"/>
            </a:endParaRPr>
          </a:p>
        </p:txBody>
      </p:sp>
      <p:sp>
        <p:nvSpPr>
          <p:cNvPr id="7" name="文字方塊 6">
            <a:extLst>
              <a:ext uri="{FF2B5EF4-FFF2-40B4-BE49-F238E27FC236}">
                <a16:creationId xmlns:a16="http://schemas.microsoft.com/office/drawing/2014/main" id="{F36FF8FF-6BA0-209F-2116-3F8DD34B989C}"/>
              </a:ext>
            </a:extLst>
          </p:cNvPr>
          <p:cNvSpPr txBox="1"/>
          <p:nvPr/>
        </p:nvSpPr>
        <p:spPr>
          <a:xfrm>
            <a:off x="1549000" y="992809"/>
            <a:ext cx="10187404" cy="1323439"/>
          </a:xfrm>
          <a:prstGeom prst="rect">
            <a:avLst/>
          </a:prstGeom>
          <a:noFill/>
        </p:spPr>
        <p:txBody>
          <a:bodyPr wrap="none" rtlCol="0">
            <a:spAutoFit/>
          </a:bodyPr>
          <a:lstStyle/>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我們可以分析收縮力量來檢查患者在接受治療後是否有明顯的改善，作法跟前面我們分析</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resting tone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的方式大同小異，我們一樣想知道尿失禁患者在接受過治療後收縮力量是否</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有明顯的增加，如果有的話我們就可以宣稱患者接受治療後有明顯改善，我們先針對未補</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值的資料進行分析</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graphicFrame>
        <p:nvGraphicFramePr>
          <p:cNvPr id="10" name="表格 9">
            <a:extLst>
              <a:ext uri="{FF2B5EF4-FFF2-40B4-BE49-F238E27FC236}">
                <a16:creationId xmlns:a16="http://schemas.microsoft.com/office/drawing/2014/main" id="{7EE75912-E4C1-D45C-AEAC-A29D227A2D05}"/>
              </a:ext>
            </a:extLst>
          </p:cNvPr>
          <p:cNvGraphicFramePr>
            <a:graphicFrameLocks noGrp="1"/>
          </p:cNvGraphicFramePr>
          <p:nvPr>
            <p:extLst>
              <p:ext uri="{D42A27DB-BD31-4B8C-83A1-F6EECF244321}">
                <p14:modId xmlns:p14="http://schemas.microsoft.com/office/powerpoint/2010/main" val="168147278"/>
              </p:ext>
            </p:extLst>
          </p:nvPr>
        </p:nvGraphicFramePr>
        <p:xfrm>
          <a:off x="7552535" y="4197301"/>
          <a:ext cx="3877366" cy="937260"/>
        </p:xfrm>
        <a:graphic>
          <a:graphicData uri="http://schemas.openxmlformats.org/drawingml/2006/table">
            <a:tbl>
              <a:tblPr/>
              <a:tblGrid>
                <a:gridCol w="1175208">
                  <a:extLst>
                    <a:ext uri="{9D8B030D-6E8A-4147-A177-3AD203B41FA5}">
                      <a16:colId xmlns:a16="http://schemas.microsoft.com/office/drawing/2014/main" val="3993428737"/>
                    </a:ext>
                  </a:extLst>
                </a:gridCol>
                <a:gridCol w="1351079">
                  <a:extLst>
                    <a:ext uri="{9D8B030D-6E8A-4147-A177-3AD203B41FA5}">
                      <a16:colId xmlns:a16="http://schemas.microsoft.com/office/drawing/2014/main" val="2161664515"/>
                    </a:ext>
                  </a:extLst>
                </a:gridCol>
                <a:gridCol w="1351079">
                  <a:extLst>
                    <a:ext uri="{9D8B030D-6E8A-4147-A177-3AD203B41FA5}">
                      <a16:colId xmlns:a16="http://schemas.microsoft.com/office/drawing/2014/main" val="81110010"/>
                    </a:ext>
                  </a:extLst>
                </a:gridCol>
              </a:tblGrid>
              <a:tr h="213360">
                <a:tc>
                  <a:txBody>
                    <a:bodyPr/>
                    <a:lstStyle/>
                    <a:p>
                      <a:pPr algn="ctr" fontAlgn="ct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zh-TW" altLang="en-US" sz="2000" b="0" i="0" u="none" strike="noStrike" dirty="0">
                          <a:solidFill>
                            <a:srgbClr val="000000"/>
                          </a:solidFill>
                          <a:effectLst/>
                          <a:latin typeface="微軟正黑體" panose="020B0604030504040204" pitchFamily="34" charset="-120"/>
                          <a:ea typeface="微軟正黑體" panose="020B0604030504040204" pitchFamily="34" charset="-120"/>
                        </a:rPr>
                        <a:t>統計量</a:t>
                      </a: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2000" b="0" i="0" u="none" strike="noStrike" dirty="0">
                          <a:solidFill>
                            <a:srgbClr val="000000"/>
                          </a:solidFill>
                          <a:effectLst/>
                          <a:latin typeface="微軟正黑體" panose="020B0604030504040204" pitchFamily="34" charset="-120"/>
                          <a:ea typeface="微軟正黑體" panose="020B0604030504040204" pitchFamily="34" charset="-120"/>
                        </a:rPr>
                        <a:t>p-value</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4200870"/>
                  </a:ext>
                </a:extLst>
              </a:tr>
              <a:tr h="220980">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T test</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-1.732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dirty="0">
                          <a:solidFill>
                            <a:srgbClr val="FF0000"/>
                          </a:solidFill>
                          <a:latin typeface="微軟正黑體" panose="020B0604030504040204" pitchFamily="34" charset="-120"/>
                          <a:ea typeface="微軟正黑體" panose="020B0604030504040204" pitchFamily="34" charset="-120"/>
                        </a:rPr>
                        <a:t>0.112</a:t>
                      </a:r>
                      <a:endParaRPr lang="en-US" altLang="zh-TW" sz="2000" b="0" i="0" u="none" strike="noStrike" dirty="0">
                        <a:solidFill>
                          <a:srgbClr val="FF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1513865"/>
                  </a:ext>
                </a:extLst>
              </a:tr>
              <a:tr h="220980">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Wilcoxon</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B050"/>
                          </a:solidFill>
                          <a:effectLst/>
                          <a:latin typeface="微軟正黑體" panose="020B0604030504040204" pitchFamily="34" charset="-120"/>
                          <a:ea typeface="微軟正黑體" panose="020B0604030504040204" pitchFamily="34" charset="-120"/>
                        </a:rPr>
                        <a:t>0.089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5705361"/>
                  </a:ext>
                </a:extLst>
              </a:tr>
            </a:tbl>
          </a:graphicData>
        </a:graphic>
      </p:graphicFrame>
      <p:sp>
        <p:nvSpPr>
          <p:cNvPr id="11" name="文字方塊 10">
            <a:extLst>
              <a:ext uri="{FF2B5EF4-FFF2-40B4-BE49-F238E27FC236}">
                <a16:creationId xmlns:a16="http://schemas.microsoft.com/office/drawing/2014/main" id="{8F421DA7-7F42-F81F-EA90-C368A6505AE1}"/>
              </a:ext>
            </a:extLst>
          </p:cNvPr>
          <p:cNvSpPr txBox="1"/>
          <p:nvPr/>
        </p:nvSpPr>
        <p:spPr>
          <a:xfrm>
            <a:off x="8783332" y="3593892"/>
            <a:ext cx="1415772" cy="461665"/>
          </a:xfrm>
          <a:prstGeom prst="rect">
            <a:avLst/>
          </a:prstGeom>
          <a:noFill/>
        </p:spPr>
        <p:txBody>
          <a:bodyPr wrap="none" rtlCol="0">
            <a:spAutoFit/>
          </a:bodyPr>
          <a:lstStyle/>
          <a:p>
            <a:r>
              <a:rPr lang="zh-TW" altLang="en-US" sz="2400" b="1" dirty="0">
                <a:latin typeface="微軟正黑體" panose="020B0604030504040204" pitchFamily="34" charset="-120"/>
                <a:ea typeface="微軟正黑體" panose="020B0604030504040204" pitchFamily="34" charset="-120"/>
              </a:rPr>
              <a:t>檢定結果</a:t>
            </a:r>
          </a:p>
        </p:txBody>
      </p:sp>
      <p:graphicFrame>
        <p:nvGraphicFramePr>
          <p:cNvPr id="12" name="表格 11">
            <a:extLst>
              <a:ext uri="{FF2B5EF4-FFF2-40B4-BE49-F238E27FC236}">
                <a16:creationId xmlns:a16="http://schemas.microsoft.com/office/drawing/2014/main" id="{F5293D1C-4190-6167-7A39-08BC06BCC1D7}"/>
              </a:ext>
            </a:extLst>
          </p:cNvPr>
          <p:cNvGraphicFramePr>
            <a:graphicFrameLocks noGrp="1"/>
          </p:cNvGraphicFramePr>
          <p:nvPr>
            <p:extLst>
              <p:ext uri="{D42A27DB-BD31-4B8C-83A1-F6EECF244321}">
                <p14:modId xmlns:p14="http://schemas.microsoft.com/office/powerpoint/2010/main" val="1932344002"/>
              </p:ext>
            </p:extLst>
          </p:nvPr>
        </p:nvGraphicFramePr>
        <p:xfrm>
          <a:off x="406814" y="2437131"/>
          <a:ext cx="6246235" cy="3936113"/>
        </p:xfrm>
        <a:graphic>
          <a:graphicData uri="http://schemas.openxmlformats.org/drawingml/2006/table">
            <a:tbl>
              <a:tblPr/>
              <a:tblGrid>
                <a:gridCol w="831477">
                  <a:extLst>
                    <a:ext uri="{9D8B030D-6E8A-4147-A177-3AD203B41FA5}">
                      <a16:colId xmlns:a16="http://schemas.microsoft.com/office/drawing/2014/main" val="2132548560"/>
                    </a:ext>
                  </a:extLst>
                </a:gridCol>
                <a:gridCol w="1137047">
                  <a:extLst>
                    <a:ext uri="{9D8B030D-6E8A-4147-A177-3AD203B41FA5}">
                      <a16:colId xmlns:a16="http://schemas.microsoft.com/office/drawing/2014/main" val="2590160965"/>
                    </a:ext>
                  </a:extLst>
                </a:gridCol>
                <a:gridCol w="1460938">
                  <a:extLst>
                    <a:ext uri="{9D8B030D-6E8A-4147-A177-3AD203B41FA5}">
                      <a16:colId xmlns:a16="http://schemas.microsoft.com/office/drawing/2014/main" val="1383145280"/>
                    </a:ext>
                  </a:extLst>
                </a:gridCol>
                <a:gridCol w="1324303">
                  <a:extLst>
                    <a:ext uri="{9D8B030D-6E8A-4147-A177-3AD203B41FA5}">
                      <a16:colId xmlns:a16="http://schemas.microsoft.com/office/drawing/2014/main" val="37532012"/>
                    </a:ext>
                  </a:extLst>
                </a:gridCol>
                <a:gridCol w="1492470">
                  <a:extLst>
                    <a:ext uri="{9D8B030D-6E8A-4147-A177-3AD203B41FA5}">
                      <a16:colId xmlns:a16="http://schemas.microsoft.com/office/drawing/2014/main" val="1498290620"/>
                    </a:ext>
                  </a:extLst>
                </a:gridCol>
              </a:tblGrid>
              <a:tr h="469601">
                <a:tc>
                  <a:txBody>
                    <a:bodyPr/>
                    <a:lstStyle/>
                    <a:p>
                      <a:pPr marL="0" algn="ctr" defTabSz="1219170" rtl="0" eaLnBrk="1" fontAlgn="ctr" latinLnBrk="0" hangingPunct="1"/>
                      <a:r>
                        <a:rPr lang="zh-TW" altLang="en-US" sz="1600" b="0" i="0" u="none" strike="noStrike" kern="1200" dirty="0">
                          <a:solidFill>
                            <a:srgbClr val="000000"/>
                          </a:solidFill>
                          <a:effectLst/>
                          <a:highlight>
                            <a:srgbClr val="D0CECE"/>
                          </a:highlight>
                          <a:latin typeface="標楷體" panose="03000509000000000000" pitchFamily="65" charset="-120"/>
                          <a:ea typeface="標楷體" panose="03000509000000000000" pitchFamily="65" charset="-120"/>
                          <a:cs typeface="+mn-cs"/>
                        </a:rPr>
                        <a:t>年齡</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CECE"/>
                    </a:solidFill>
                  </a:tcPr>
                </a:tc>
                <a:tc>
                  <a:txBody>
                    <a:bodyPr/>
                    <a:lstStyle/>
                    <a:p>
                      <a:pPr marL="0" algn="ctr" defTabSz="1219170" rtl="0" eaLnBrk="1" fontAlgn="ctr" latinLnBrk="0" hangingPunct="1"/>
                      <a:r>
                        <a:rPr lang="zh-TW" altLang="en-US" sz="1600" b="0" i="0" u="none" strike="noStrike" kern="1200" dirty="0">
                          <a:solidFill>
                            <a:srgbClr val="000000"/>
                          </a:solidFill>
                          <a:effectLst/>
                          <a:highlight>
                            <a:srgbClr val="FFE699"/>
                          </a:highlight>
                          <a:latin typeface="標楷體" panose="03000509000000000000" pitchFamily="65" charset="-120"/>
                          <a:ea typeface="標楷體" panose="03000509000000000000" pitchFamily="65" charset="-120"/>
                          <a:cs typeface="+mn-cs"/>
                        </a:rPr>
                        <a:t>初測日期</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699"/>
                    </a:solidFill>
                  </a:tcPr>
                </a:tc>
                <a:tc>
                  <a:txBody>
                    <a:bodyPr/>
                    <a:lstStyle/>
                    <a:p>
                      <a:pPr marL="0" algn="ctr" defTabSz="1219170" rtl="0" eaLnBrk="1" fontAlgn="ctr" latinLnBrk="0" hangingPunct="1"/>
                      <a:r>
                        <a:rPr lang="en-US" sz="1600" b="0" i="0" u="none" strike="noStrike" kern="1200" dirty="0" err="1">
                          <a:solidFill>
                            <a:srgbClr val="000000"/>
                          </a:solidFill>
                          <a:effectLst/>
                          <a:highlight>
                            <a:srgbClr val="D0CECE"/>
                          </a:highlight>
                          <a:latin typeface="標楷體" panose="03000509000000000000" pitchFamily="65" charset="-120"/>
                          <a:ea typeface="標楷體" panose="03000509000000000000" pitchFamily="65" charset="-120"/>
                          <a:cs typeface="+mn-cs"/>
                        </a:rPr>
                        <a:t>Pre_</a:t>
                      </a:r>
                      <a:r>
                        <a:rPr lang="en-US" altLang="zh-TW" sz="1600" b="0" i="0" u="none" strike="noStrike" kern="1200" dirty="0" err="1">
                          <a:solidFill>
                            <a:srgbClr val="000000"/>
                          </a:solidFill>
                          <a:effectLst/>
                          <a:highlight>
                            <a:srgbClr val="D0CECE"/>
                          </a:highlight>
                          <a:latin typeface="標楷體" panose="03000509000000000000" pitchFamily="65" charset="-120"/>
                          <a:ea typeface="標楷體" panose="03000509000000000000" pitchFamily="65" charset="-120"/>
                          <a:cs typeface="+mn-cs"/>
                        </a:rPr>
                        <a:t>Resting</a:t>
                      </a:r>
                      <a:endParaRPr lang="en-US" altLang="zh-TW" sz="1600" b="0" i="0" u="none" strike="noStrike" kern="1200" dirty="0">
                        <a:solidFill>
                          <a:srgbClr val="000000"/>
                        </a:solidFill>
                        <a:effectLst/>
                        <a:highlight>
                          <a:srgbClr val="D0CECE"/>
                        </a:highlight>
                        <a:latin typeface="標楷體" panose="03000509000000000000" pitchFamily="65" charset="-120"/>
                        <a:ea typeface="標楷體" panose="03000509000000000000" pitchFamily="65" charset="-120"/>
                        <a:cs typeface="+mn-cs"/>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CECE"/>
                    </a:solidFill>
                  </a:tcPr>
                </a:tc>
                <a:tc>
                  <a:txBody>
                    <a:bodyPr/>
                    <a:lstStyle/>
                    <a:p>
                      <a:pPr marL="0" algn="ctr" defTabSz="1219170" rtl="0" eaLnBrk="1" fontAlgn="ctr" latinLnBrk="0" hangingPunct="1"/>
                      <a:r>
                        <a:rPr lang="zh-TW" altLang="en-US" sz="1600" b="0" i="0" u="none" strike="noStrike" kern="1200" dirty="0">
                          <a:solidFill>
                            <a:srgbClr val="000000"/>
                          </a:solidFill>
                          <a:effectLst/>
                          <a:latin typeface="標楷體" panose="03000509000000000000" pitchFamily="65" charset="-120"/>
                          <a:ea typeface="標楷體" panose="03000509000000000000" pitchFamily="65" charset="-120"/>
                          <a:cs typeface="+mn-cs"/>
                        </a:rPr>
                        <a:t>後測日期</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6E0B4"/>
                    </a:solidFill>
                  </a:tcPr>
                </a:tc>
                <a:tc>
                  <a:txBody>
                    <a:bodyPr/>
                    <a:lstStyle/>
                    <a:p>
                      <a:pPr marL="0" algn="ctr" defTabSz="1219170" rtl="0" eaLnBrk="1" fontAlgn="ctr" latinLnBrk="0" hangingPunct="1"/>
                      <a:r>
                        <a:rPr lang="en-US" sz="1600" b="0" i="0" u="none" strike="noStrike" kern="1200" dirty="0" err="1">
                          <a:solidFill>
                            <a:srgbClr val="000000"/>
                          </a:solidFill>
                          <a:effectLst/>
                          <a:highlight>
                            <a:srgbClr val="D0CECE"/>
                          </a:highlight>
                          <a:latin typeface="標楷體" panose="03000509000000000000" pitchFamily="65" charset="-120"/>
                          <a:ea typeface="標楷體" panose="03000509000000000000" pitchFamily="65" charset="-120"/>
                          <a:cs typeface="+mn-cs"/>
                        </a:rPr>
                        <a:t>Post_Resting</a:t>
                      </a:r>
                      <a:endParaRPr lang="en-US" sz="1600" b="0" i="0" u="none" strike="noStrike" kern="1200" dirty="0">
                        <a:solidFill>
                          <a:srgbClr val="000000"/>
                        </a:solidFill>
                        <a:effectLst/>
                        <a:highlight>
                          <a:srgbClr val="D0CECE"/>
                        </a:highlight>
                        <a:latin typeface="標楷體" panose="03000509000000000000" pitchFamily="65" charset="-120"/>
                        <a:ea typeface="標楷體" panose="03000509000000000000" pitchFamily="65" charset="-120"/>
                        <a:cs typeface="+mn-cs"/>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CECE"/>
                    </a:solidFill>
                  </a:tcPr>
                </a:tc>
                <a:extLst>
                  <a:ext uri="{0D108BD9-81ED-4DB2-BD59-A6C34878D82A}">
                    <a16:rowId xmlns:a16="http://schemas.microsoft.com/office/drawing/2014/main" val="2209741914"/>
                  </a:ext>
                </a:extLst>
              </a:tr>
              <a:tr h="247608">
                <a:tc>
                  <a:txBody>
                    <a:bodyPr/>
                    <a:lstStyle/>
                    <a:p>
                      <a:pPr algn="ctr" fontAlgn="ctr"/>
                      <a:r>
                        <a:rPr lang="en-US" altLang="zh-TW"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53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algn="l" fontAlgn="ctr"/>
                      <a:r>
                        <a:rPr lang="en-US" altLang="zh-TW"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2021/9/15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C"/>
                    </a:solidFill>
                  </a:tcPr>
                </a:tc>
                <a:tc>
                  <a:txBody>
                    <a:bodyPr/>
                    <a:lstStyle/>
                    <a:p>
                      <a:pPr algn="ctr" fontAlgn="ctr"/>
                      <a:r>
                        <a:rPr lang="en-US" altLang="zh-TW"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altLang="zh-TW"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2021/12/29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algn="ctr" fontAlgn="ctr"/>
                      <a:r>
                        <a:rPr lang="en-US" altLang="zh-TW"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61814048"/>
                  </a:ext>
                </a:extLst>
              </a:tr>
              <a:tr h="247608">
                <a:tc>
                  <a:txBody>
                    <a:bodyPr/>
                    <a:lstStyle/>
                    <a:p>
                      <a:pPr algn="ctr" fontAlgn="ctr"/>
                      <a:r>
                        <a:rPr lang="en-US" altLang="zh-TW"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55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algn="l" fontAlgn="ctr"/>
                      <a:r>
                        <a:rPr lang="en-US" altLang="zh-TW"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2021/9/22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C"/>
                    </a:solidFill>
                  </a:tcPr>
                </a:tc>
                <a:tc>
                  <a:txBody>
                    <a:bodyPr/>
                    <a:lstStyle/>
                    <a:p>
                      <a:pPr algn="ctr" fontAlgn="ctr"/>
                      <a:r>
                        <a:rPr lang="en-US" altLang="zh-TW"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zh-TW" altLang="en-US" sz="1200" b="0" i="0" u="none" strike="noStrike">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algn="ctr" fontAlgn="ctr"/>
                      <a:r>
                        <a:rPr lang="zh-TW" altLang="en-US" sz="1200" b="0" i="0" u="none" strike="noStrike" dirty="0">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46990271"/>
                  </a:ext>
                </a:extLst>
              </a:tr>
              <a:tr h="247608">
                <a:tc>
                  <a:txBody>
                    <a:bodyPr/>
                    <a:lstStyle/>
                    <a:p>
                      <a:pPr algn="ctr" fontAlgn="ctr"/>
                      <a:r>
                        <a:rPr lang="en-US" altLang="zh-TW"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algn="l" fontAlgn="ctr"/>
                      <a:r>
                        <a:rPr lang="en-US" altLang="zh-TW"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2021/11/10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C"/>
                    </a:solidFill>
                  </a:tcPr>
                </a:tc>
                <a:tc>
                  <a:txBody>
                    <a:bodyPr/>
                    <a:lstStyle/>
                    <a:p>
                      <a:pPr algn="ctr" fontAlgn="ctr"/>
                      <a:r>
                        <a:rPr lang="en-US" altLang="zh-TW"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zh-TW" altLang="en-US" sz="1200" b="0" i="0" u="none" strike="noStrike">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algn="ctr" fontAlgn="ctr"/>
                      <a:r>
                        <a:rPr lang="zh-TW" altLang="en-US" sz="1200" b="0" i="0" u="none" strike="noStrike">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59702306"/>
                  </a:ext>
                </a:extLst>
              </a:tr>
              <a:tr h="247608">
                <a:tc>
                  <a:txBody>
                    <a:bodyPr/>
                    <a:lstStyle/>
                    <a:p>
                      <a:pPr algn="ctr" fontAlgn="ctr"/>
                      <a:r>
                        <a:rPr lang="en-US" altLang="zh-TW"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49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algn="l" fontAlgn="ctr"/>
                      <a:r>
                        <a:rPr lang="en-US" altLang="zh-TW"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2021/11/10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C"/>
                    </a:solidFill>
                  </a:tcPr>
                </a:tc>
                <a:tc>
                  <a:txBody>
                    <a:bodyPr/>
                    <a:lstStyle/>
                    <a:p>
                      <a:pPr algn="ctr" fontAlgn="ctr"/>
                      <a:r>
                        <a:rPr lang="en-US" altLang="zh-TW"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zh-TW" altLang="en-US" sz="1200" b="0" i="0" u="none" strike="noStrike">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algn="ctr" fontAlgn="ctr"/>
                      <a:r>
                        <a:rPr lang="zh-TW" altLang="en-US" sz="1200" b="0" i="0" u="none" strike="noStrike">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7952750"/>
                  </a:ext>
                </a:extLst>
              </a:tr>
              <a:tr h="247608">
                <a:tc>
                  <a:txBody>
                    <a:bodyPr/>
                    <a:lstStyle/>
                    <a:p>
                      <a:pPr algn="ctr" fontAlgn="ctr"/>
                      <a:r>
                        <a:rPr lang="en-US"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NA</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algn="l" fontAlgn="ctr"/>
                      <a:r>
                        <a:rPr lang="en-US" altLang="zh-TW"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2021/12/8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C"/>
                    </a:solidFill>
                  </a:tcPr>
                </a:tc>
                <a:tc>
                  <a:txBody>
                    <a:bodyPr/>
                    <a:lstStyle/>
                    <a:p>
                      <a:pPr algn="ctr" fontAlgn="ctr"/>
                      <a:r>
                        <a:rPr lang="en-US" altLang="zh-TW"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zh-TW" altLang="en-US" sz="1200" b="0" i="0" u="none" strike="noStrike">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algn="ctr" fontAlgn="ctr"/>
                      <a:r>
                        <a:rPr lang="zh-TW" altLang="en-US" sz="1200" b="0" i="0" u="none" strike="noStrike">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73202624"/>
                  </a:ext>
                </a:extLst>
              </a:tr>
              <a:tr h="247608">
                <a:tc>
                  <a:txBody>
                    <a:bodyPr/>
                    <a:lstStyle/>
                    <a:p>
                      <a:pPr algn="ctr" fontAlgn="ctr"/>
                      <a:r>
                        <a:rPr lang="en-US" altLang="zh-TW"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67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algn="l" fontAlgn="ctr"/>
                      <a:r>
                        <a:rPr lang="en-US" altLang="zh-TW"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2022/8/17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C"/>
                    </a:solidFill>
                  </a:tcPr>
                </a:tc>
                <a:tc>
                  <a:txBody>
                    <a:bodyPr/>
                    <a:lstStyle/>
                    <a:p>
                      <a:pPr algn="ctr" fontAlgn="ctr"/>
                      <a:r>
                        <a:rPr lang="en-US" altLang="zh-TW"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altLang="zh-TW"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2022/11/16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algn="ctr" fontAlgn="ctr"/>
                      <a:r>
                        <a:rPr lang="zh-TW" altLang="en-US" sz="1200" b="0" i="0" u="none" strike="noStrike">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07054180"/>
                  </a:ext>
                </a:extLst>
              </a:tr>
              <a:tr h="247608">
                <a:tc>
                  <a:txBody>
                    <a:bodyPr/>
                    <a:lstStyle/>
                    <a:p>
                      <a:pPr algn="ctr" fontAlgn="ctr"/>
                      <a:r>
                        <a:rPr lang="en-US" altLang="zh-TW"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48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algn="l" fontAlgn="ctr"/>
                      <a:r>
                        <a:rPr lang="en-US" altLang="zh-TW"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2022/8/24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C"/>
                    </a:solidFill>
                  </a:tcPr>
                </a:tc>
                <a:tc>
                  <a:txBody>
                    <a:bodyPr/>
                    <a:lstStyle/>
                    <a:p>
                      <a:pPr algn="ctr" fontAlgn="ctr"/>
                      <a:r>
                        <a:rPr lang="en-US" altLang="zh-TW"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zh-TW" altLang="en-US" sz="1200" b="0" i="0" u="none" strike="noStrike">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algn="ctr" fontAlgn="ctr"/>
                      <a:r>
                        <a:rPr lang="zh-TW" altLang="en-US" sz="1200" b="0" i="0" u="none" strike="noStrike">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92624245"/>
                  </a:ext>
                </a:extLst>
              </a:tr>
              <a:tr h="247608">
                <a:tc>
                  <a:txBody>
                    <a:bodyPr/>
                    <a:lstStyle/>
                    <a:p>
                      <a:pPr algn="ctr" fontAlgn="ctr"/>
                      <a:r>
                        <a:rPr lang="en-US" altLang="zh-TW"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algn="l" fontAlgn="ctr"/>
                      <a:r>
                        <a:rPr lang="en-US" altLang="zh-TW"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2022/9/28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C"/>
                    </a:solidFill>
                  </a:tcPr>
                </a:tc>
                <a:tc>
                  <a:txBody>
                    <a:bodyPr/>
                    <a:lstStyle/>
                    <a:p>
                      <a:pPr algn="ctr" fontAlgn="ctr"/>
                      <a:r>
                        <a:rPr lang="en-US" altLang="zh-TW"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zh-TW" altLang="en-US" sz="1200" b="0" i="0" u="none" strike="noStrike">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algn="ctr" fontAlgn="ctr"/>
                      <a:r>
                        <a:rPr lang="zh-TW" altLang="en-US" sz="1200" b="0" i="0" u="none" strike="noStrike">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2932801"/>
                  </a:ext>
                </a:extLst>
              </a:tr>
              <a:tr h="247608">
                <a:tc>
                  <a:txBody>
                    <a:bodyPr/>
                    <a:lstStyle/>
                    <a:p>
                      <a:pPr algn="ctr" fontAlgn="ctr"/>
                      <a:r>
                        <a:rPr lang="en-US" altLang="zh-TW"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42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algn="l" fontAlgn="ctr"/>
                      <a:r>
                        <a:rPr lang="en-US" altLang="zh-TW"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2022/3/23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C"/>
                    </a:solidFill>
                  </a:tcPr>
                </a:tc>
                <a:tc>
                  <a:txBody>
                    <a:bodyPr/>
                    <a:lstStyle/>
                    <a:p>
                      <a:pPr algn="ctr" fontAlgn="ctr"/>
                      <a:r>
                        <a:rPr lang="en-US" altLang="zh-TW"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zh-TW" altLang="en-US" sz="1200" b="0" i="0" u="none" strike="noStrike">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algn="ctr" fontAlgn="ctr"/>
                      <a:r>
                        <a:rPr lang="zh-TW" altLang="en-US" sz="1200" b="0" i="0" u="none" strike="noStrike">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4238751"/>
                  </a:ext>
                </a:extLst>
              </a:tr>
              <a:tr h="247608">
                <a:tc>
                  <a:txBody>
                    <a:bodyPr/>
                    <a:lstStyle/>
                    <a:p>
                      <a:pPr algn="ctr" fontAlgn="ctr"/>
                      <a:r>
                        <a:rPr lang="en-US" altLang="zh-TW"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48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algn="l" fontAlgn="ctr"/>
                      <a:r>
                        <a:rPr lang="en-US" altLang="zh-TW"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2021/9/1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C"/>
                    </a:solidFill>
                  </a:tcPr>
                </a:tc>
                <a:tc>
                  <a:txBody>
                    <a:bodyPr/>
                    <a:lstStyle/>
                    <a:p>
                      <a:pPr algn="ctr" fontAlgn="ctr"/>
                      <a:r>
                        <a:rPr lang="en-US" altLang="zh-TW"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zh-TW" altLang="en-US" sz="1200" b="0" i="0" u="none" strike="noStrike" dirty="0">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algn="ctr" fontAlgn="ctr"/>
                      <a:r>
                        <a:rPr lang="zh-TW" altLang="en-US" sz="1200" b="0" i="0" u="none" strike="noStrike">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62018569"/>
                  </a:ext>
                </a:extLst>
              </a:tr>
              <a:tr h="247608">
                <a:tc>
                  <a:txBody>
                    <a:bodyPr/>
                    <a:lstStyle/>
                    <a:p>
                      <a:pPr algn="ctr" fontAlgn="ctr"/>
                      <a:r>
                        <a:rPr lang="en-US" altLang="zh-TW"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69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algn="l" fontAlgn="ctr"/>
                      <a:r>
                        <a:rPr lang="en-US" altLang="zh-TW"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2021/10/13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C"/>
                    </a:solidFill>
                  </a:tcPr>
                </a:tc>
                <a:tc>
                  <a:txBody>
                    <a:bodyPr/>
                    <a:lstStyle/>
                    <a:p>
                      <a:pPr algn="ctr" fontAlgn="ctr"/>
                      <a:r>
                        <a:rPr lang="en-US" altLang="zh-TW"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zh-TW" altLang="en-US" sz="1200" b="0" i="0" u="none" strike="noStrike">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algn="ctr" fontAlgn="ctr"/>
                      <a:r>
                        <a:rPr lang="zh-TW" altLang="en-US" sz="1200" b="0" i="0" u="none" strike="noStrike">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114718"/>
                  </a:ext>
                </a:extLst>
              </a:tr>
              <a:tr h="247608">
                <a:tc>
                  <a:txBody>
                    <a:bodyPr/>
                    <a:lstStyle/>
                    <a:p>
                      <a:pPr algn="ctr" fontAlgn="ctr"/>
                      <a:r>
                        <a:rPr lang="en-US" altLang="zh-TW"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64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algn="l" fontAlgn="ctr"/>
                      <a:r>
                        <a:rPr lang="en-US" altLang="zh-TW"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2021/11/17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C"/>
                    </a:solidFill>
                  </a:tcPr>
                </a:tc>
                <a:tc>
                  <a:txBody>
                    <a:bodyPr/>
                    <a:lstStyle/>
                    <a:p>
                      <a:pPr algn="ctr" fontAlgn="ctr"/>
                      <a:r>
                        <a:rPr lang="en-US" altLang="zh-TW"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zh-TW" altLang="en-US" sz="1200" b="0" i="0" u="none" strike="noStrike" dirty="0">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algn="ctr" fontAlgn="ctr"/>
                      <a:r>
                        <a:rPr lang="en-US" altLang="zh-TW"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18836096"/>
                  </a:ext>
                </a:extLst>
              </a:tr>
              <a:tr h="247608">
                <a:tc>
                  <a:txBody>
                    <a:bodyPr/>
                    <a:lstStyle/>
                    <a:p>
                      <a:pPr algn="ctr" fontAlgn="ctr"/>
                      <a:r>
                        <a:rPr lang="en-US" altLang="zh-TW"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56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algn="l" fontAlgn="ctr"/>
                      <a:r>
                        <a:rPr lang="en-US" altLang="zh-TW"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2021/11/3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C"/>
                    </a:solidFill>
                  </a:tcPr>
                </a:tc>
                <a:tc>
                  <a:txBody>
                    <a:bodyPr/>
                    <a:lstStyle/>
                    <a:p>
                      <a:pPr algn="ctr" fontAlgn="ctr"/>
                      <a:r>
                        <a:rPr lang="en-US" altLang="zh-TW" sz="1200" b="0"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rPr>
                        <a:t>3.5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zh-TW" altLang="en-US" sz="1200" b="0" i="0" u="none" strike="noStrike">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algn="ctr" fontAlgn="ctr"/>
                      <a:r>
                        <a:rPr lang="zh-TW" altLang="en-US" sz="1200" b="0" i="0" u="none" strike="noStrike" dirty="0">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66101791"/>
                  </a:ext>
                </a:extLst>
              </a:tr>
              <a:tr h="247608">
                <a:tc>
                  <a:txBody>
                    <a:bodyPr/>
                    <a:lstStyle/>
                    <a:p>
                      <a:pPr algn="ctr" fontAlgn="ctr"/>
                      <a:r>
                        <a:rPr lang="en-US" altLang="zh-TW"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66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DED"/>
                    </a:solidFill>
                  </a:tcPr>
                </a:tc>
                <a:tc>
                  <a:txBody>
                    <a:bodyPr/>
                    <a:lstStyle/>
                    <a:p>
                      <a:pPr algn="l" fontAlgn="ctr"/>
                      <a:r>
                        <a:rPr lang="en-US" altLang="zh-TW"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2021/11/17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2CC"/>
                    </a:solidFill>
                  </a:tcPr>
                </a:tc>
                <a:tc>
                  <a:txBody>
                    <a:bodyPr/>
                    <a:lstStyle/>
                    <a:p>
                      <a:pPr algn="ctr" fontAlgn="ctr"/>
                      <a:r>
                        <a:rPr lang="en-US" altLang="zh-TW"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zh-TW" altLang="en-US" sz="1200" b="0" i="0" u="none" strike="noStrike" dirty="0">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2EFDA"/>
                    </a:solidFill>
                  </a:tcPr>
                </a:tc>
                <a:tc>
                  <a:txBody>
                    <a:bodyPr/>
                    <a:lstStyle/>
                    <a:p>
                      <a:pPr algn="ctr" fontAlgn="ctr"/>
                      <a:r>
                        <a:rPr lang="en-US" altLang="zh-TW"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17797565"/>
                  </a:ext>
                </a:extLst>
              </a:tr>
            </a:tbl>
          </a:graphicData>
        </a:graphic>
      </p:graphicFrame>
    </p:spTree>
    <p:extLst>
      <p:ext uri="{BB962C8B-B14F-4D97-AF65-F5344CB8AC3E}">
        <p14:creationId xmlns:p14="http://schemas.microsoft.com/office/powerpoint/2010/main" val="3935681325"/>
      </p:ext>
    </p:extLst>
  </p:cSld>
  <p:clrMapOvr>
    <a:masterClrMapping/>
  </p:clrMapOvr>
  <mc:AlternateContent xmlns:mc="http://schemas.openxmlformats.org/markup-compatibility/2006" xmlns:p14="http://schemas.microsoft.com/office/powerpoint/2010/main">
    <mc:Choice Requires="p14">
      <p:transition spd="slow" p14:dur="1250" advClick="0">
        <p14:pan dir="u"/>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58536" y="107592"/>
            <a:ext cx="5928672" cy="9840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70"/>
            <a:endParaRPr lang="en-US">
              <a:solidFill>
                <a:prstClr val="white"/>
              </a:solidFill>
              <a:latin typeface="思源黑体 CN Medium" panose="020B0600000000000000" pitchFamily="34" charset="-122"/>
              <a:ea typeface="思源黑体 CN Medium" panose="020B0600000000000000" pitchFamily="34" charset="-122"/>
              <a:sym typeface="字魂59号-创粗黑" panose="00000500000000000000" pitchFamily="2" charset="-122"/>
            </a:endParaRPr>
          </a:p>
        </p:txBody>
      </p:sp>
      <p:pic>
        <p:nvPicPr>
          <p:cNvPr id="17" name="图片 16">
            <a:extLst>
              <a:ext uri="{FF2B5EF4-FFF2-40B4-BE49-F238E27FC236}">
                <a16:creationId xmlns:a16="http://schemas.microsoft.com/office/drawing/2014/main" id="{05E72798-6899-42A6-9FEE-703EF4EFCDB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86" b="100000" l="0" r="100000">
                        <a14:foregroundMark x1="82171" y1="51131" x2="59408" y2="50679"/>
                        <a14:backgroundMark x1="91473" y1="41991" x2="86047" y2="34299"/>
                        <a14:backgroundMark x1="91966" y1="54118" x2="88090" y2="67059"/>
                        <a14:backgroundMark x1="84426" y1="75023" x2="75405" y2="81719"/>
                        <a14:backgroundMark x1="77026" y1="32217" x2="73573" y2="31493"/>
                        <a14:backgroundMark x1="67583" y1="33575" x2="65257" y2="31312"/>
                      </a14:backgroundRemoval>
                    </a14:imgEffect>
                  </a14:imgLayer>
                </a14:imgProps>
              </a:ext>
              <a:ext uri="{28A0092B-C50C-407E-A947-70E740481C1C}">
                <a14:useLocalDpi xmlns:a14="http://schemas.microsoft.com/office/drawing/2010/main" val="0"/>
              </a:ext>
            </a:extLst>
          </a:blip>
          <a:stretch>
            <a:fillRect/>
          </a:stretch>
        </p:blipFill>
        <p:spPr>
          <a:xfrm rot="277819">
            <a:off x="-1366951" y="-490407"/>
            <a:ext cx="3108709" cy="2420806"/>
          </a:xfrm>
          <a:prstGeom prst="rect">
            <a:avLst/>
          </a:prstGeom>
        </p:spPr>
      </p:pic>
      <p:sp>
        <p:nvSpPr>
          <p:cNvPr id="2" name="矩形 1">
            <a:extLst>
              <a:ext uri="{FF2B5EF4-FFF2-40B4-BE49-F238E27FC236}">
                <a16:creationId xmlns:a16="http://schemas.microsoft.com/office/drawing/2014/main" id="{CDACD7A8-3A6E-4C27-9240-791E721F0C74}"/>
              </a:ext>
            </a:extLst>
          </p:cNvPr>
          <p:cNvSpPr/>
          <p:nvPr/>
        </p:nvSpPr>
        <p:spPr>
          <a:xfrm>
            <a:off x="1570514" y="337965"/>
            <a:ext cx="4764972" cy="548443"/>
          </a:xfrm>
          <a:prstGeom prst="rect">
            <a:avLst/>
          </a:prstGeom>
        </p:spPr>
        <p:txBody>
          <a:bodyPr wrap="none">
            <a:normAutofit/>
          </a:bodyPr>
          <a:lstStyle/>
          <a:p>
            <a:r>
              <a:rPr lang="en-US" altLang="zh-TW" sz="2800" dirty="0">
                <a:solidFill>
                  <a:prstClr val="black">
                    <a:lumMod val="75000"/>
                    <a:lumOff val="25000"/>
                  </a:prstClr>
                </a:solidFill>
                <a:latin typeface="Source Han Sans TC"/>
                <a:ea typeface="Source Han Sans TC"/>
                <a:sym typeface="字魂59号-创粗黑" panose="00000500000000000000" pitchFamily="2" charset="-122"/>
              </a:rPr>
              <a:t>Data analysis –</a:t>
            </a:r>
            <a:r>
              <a:rPr lang="zh-TW" altLang="en-US" sz="2800" dirty="0">
                <a:solidFill>
                  <a:srgbClr val="0070C0"/>
                </a:solidFill>
                <a:latin typeface="Source Han Sans TC"/>
                <a:ea typeface="Source Han Sans TC"/>
                <a:sym typeface="字魂59号-创粗黑" panose="00000500000000000000" pitchFamily="2" charset="-122"/>
              </a:rPr>
              <a:t>尿</a:t>
            </a:r>
            <a:r>
              <a:rPr lang="zh-TW" altLang="en-US" sz="2800" dirty="0">
                <a:solidFill>
                  <a:srgbClr val="0070C0"/>
                </a:solidFill>
                <a:latin typeface="Source Han Sans TC"/>
                <a:sym typeface="字魂59号-创粗黑" panose="00000500000000000000" pitchFamily="2" charset="-122"/>
              </a:rPr>
              <a:t>失禁患者</a:t>
            </a:r>
            <a:endParaRPr lang="en-US" altLang="zh-TW" sz="2800" dirty="0">
              <a:solidFill>
                <a:srgbClr val="0070C0"/>
              </a:solidFill>
              <a:latin typeface="Source Han Sans TC"/>
              <a:ea typeface="Source Han Sans TC"/>
              <a:sym typeface="字魂59号-创粗黑" panose="00000500000000000000" pitchFamily="2" charset="-122"/>
            </a:endParaRPr>
          </a:p>
          <a:p>
            <a:endParaRPr lang="en-US" altLang="zh-TW" sz="2800" b="1" dirty="0">
              <a:solidFill>
                <a:srgbClr val="0070C0"/>
              </a:solidFill>
              <a:latin typeface="微軟正黑體" panose="020B0604030504040204" pitchFamily="34" charset="-120"/>
              <a:ea typeface="微軟正黑體" panose="020B0604030504040204" pitchFamily="34" charset="-120"/>
              <a:cs typeface="Calibri" panose="020F0502020204030204" pitchFamily="34" charset="0"/>
            </a:endParaRPr>
          </a:p>
        </p:txBody>
      </p:sp>
      <p:sp>
        <p:nvSpPr>
          <p:cNvPr id="7" name="文字方塊 6">
            <a:extLst>
              <a:ext uri="{FF2B5EF4-FFF2-40B4-BE49-F238E27FC236}">
                <a16:creationId xmlns:a16="http://schemas.microsoft.com/office/drawing/2014/main" id="{F36FF8FF-6BA0-209F-2116-3F8DD34B989C}"/>
              </a:ext>
            </a:extLst>
          </p:cNvPr>
          <p:cNvSpPr txBox="1"/>
          <p:nvPr/>
        </p:nvSpPr>
        <p:spPr>
          <a:xfrm>
            <a:off x="1549000" y="992809"/>
            <a:ext cx="10608866" cy="1323439"/>
          </a:xfrm>
          <a:prstGeom prst="rect">
            <a:avLst/>
          </a:prstGeom>
          <a:noFill/>
        </p:spPr>
        <p:txBody>
          <a:bodyPr wrap="none" rtlCol="0">
            <a:spAutoFit/>
          </a:bodyPr>
          <a:lstStyle/>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我們發現針對未補值的資料進行檢定不論是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t test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還是 </a:t>
            </a:r>
            <a:r>
              <a:rPr lang="en-US" altLang="zh-TW" sz="2000" dirty="0" err="1">
                <a:solidFill>
                  <a:schemeClr val="tx1">
                    <a:lumMod val="75000"/>
                    <a:lumOff val="25000"/>
                  </a:schemeClr>
                </a:solidFill>
                <a:latin typeface="微軟正黑體" panose="020B0604030504040204" pitchFamily="34" charset="-120"/>
                <a:ea typeface="微軟正黑體" panose="020B0604030504040204" pitchFamily="34" charset="-120"/>
              </a:rPr>
              <a:t>Wilsoxon</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 test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都沒有達到統計顯著，</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接下來我們一樣透過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Bayesian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跟 </a:t>
            </a:r>
            <a:r>
              <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rPr>
              <a:t>simple linear regression </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的方式來進行補值，並且針對</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補植後的資料進行檢定。針對補值後的資料進行檢定的結果為不論是採用何種補值方法，</a:t>
            </a:r>
            <a:endParaRPr lang="en-US" altLang="zh-TW" sz="2000"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都達到統計顯著，也就是說在進行治療過後，</a:t>
            </a: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平均而言患者的收縮力量有顯著的提升</a:t>
            </a:r>
            <a:r>
              <a:rPr lang="zh-TW" altLang="en-US" sz="2000" dirty="0">
                <a:solidFill>
                  <a:schemeClr val="tx1">
                    <a:lumMod val="75000"/>
                    <a:lumOff val="25000"/>
                  </a:schemeClr>
                </a:solidFill>
                <a:latin typeface="微軟正黑體" panose="020B0604030504040204" pitchFamily="34" charset="-120"/>
                <a:ea typeface="微軟正黑體" panose="020B0604030504040204" pitchFamily="34" charset="-120"/>
              </a:rPr>
              <a:t>。</a:t>
            </a:r>
            <a:endParaRPr lang="en-US" altLang="zh-TW" sz="2000" dirty="0">
              <a:solidFill>
                <a:schemeClr val="accent2">
                  <a:lumMod val="75000"/>
                </a:schemeClr>
              </a:solidFill>
              <a:latin typeface="微軟正黑體" panose="020B0604030504040204" pitchFamily="34" charset="-120"/>
              <a:ea typeface="微軟正黑體" panose="020B0604030504040204" pitchFamily="34" charset="-120"/>
            </a:endParaRPr>
          </a:p>
        </p:txBody>
      </p:sp>
      <p:graphicFrame>
        <p:nvGraphicFramePr>
          <p:cNvPr id="6" name="表格 5">
            <a:extLst>
              <a:ext uri="{FF2B5EF4-FFF2-40B4-BE49-F238E27FC236}">
                <a16:creationId xmlns:a16="http://schemas.microsoft.com/office/drawing/2014/main" id="{CC17B67B-2428-646D-BEBD-888CE5C8F2B1}"/>
              </a:ext>
            </a:extLst>
          </p:cNvPr>
          <p:cNvGraphicFramePr>
            <a:graphicFrameLocks noGrp="1"/>
          </p:cNvGraphicFramePr>
          <p:nvPr>
            <p:extLst>
              <p:ext uri="{D42A27DB-BD31-4B8C-83A1-F6EECF244321}">
                <p14:modId xmlns:p14="http://schemas.microsoft.com/office/powerpoint/2010/main" val="758158821"/>
              </p:ext>
            </p:extLst>
          </p:nvPr>
        </p:nvGraphicFramePr>
        <p:xfrm>
          <a:off x="6317028" y="3191512"/>
          <a:ext cx="4195483" cy="966767"/>
        </p:xfrm>
        <a:graphic>
          <a:graphicData uri="http://schemas.openxmlformats.org/drawingml/2006/table">
            <a:tbl>
              <a:tblPr/>
              <a:tblGrid>
                <a:gridCol w="1271627">
                  <a:extLst>
                    <a:ext uri="{9D8B030D-6E8A-4147-A177-3AD203B41FA5}">
                      <a16:colId xmlns:a16="http://schemas.microsoft.com/office/drawing/2014/main" val="3993428737"/>
                    </a:ext>
                  </a:extLst>
                </a:gridCol>
                <a:gridCol w="1461928">
                  <a:extLst>
                    <a:ext uri="{9D8B030D-6E8A-4147-A177-3AD203B41FA5}">
                      <a16:colId xmlns:a16="http://schemas.microsoft.com/office/drawing/2014/main" val="2161664515"/>
                    </a:ext>
                  </a:extLst>
                </a:gridCol>
                <a:gridCol w="1461928">
                  <a:extLst>
                    <a:ext uri="{9D8B030D-6E8A-4147-A177-3AD203B41FA5}">
                      <a16:colId xmlns:a16="http://schemas.microsoft.com/office/drawing/2014/main" val="81110010"/>
                    </a:ext>
                  </a:extLst>
                </a:gridCol>
              </a:tblGrid>
              <a:tr h="213360">
                <a:tc>
                  <a:txBody>
                    <a:bodyPr/>
                    <a:lstStyle/>
                    <a:p>
                      <a:pPr algn="ctr" fontAlgn="ct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zh-TW" altLang="en-US" sz="2000" b="0" i="0" u="none" strike="noStrike" dirty="0">
                          <a:solidFill>
                            <a:srgbClr val="000000"/>
                          </a:solidFill>
                          <a:effectLst/>
                          <a:latin typeface="微軟正黑體" panose="020B0604030504040204" pitchFamily="34" charset="-120"/>
                          <a:ea typeface="微軟正黑體" panose="020B0604030504040204" pitchFamily="34" charset="-120"/>
                        </a:rPr>
                        <a:t>統計量</a:t>
                      </a: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2000" b="0" i="0" u="none" strike="noStrike" dirty="0">
                          <a:solidFill>
                            <a:srgbClr val="000000"/>
                          </a:solidFill>
                          <a:effectLst/>
                          <a:latin typeface="微軟正黑體" panose="020B0604030504040204" pitchFamily="34" charset="-120"/>
                          <a:ea typeface="微軟正黑體" panose="020B0604030504040204" pitchFamily="34" charset="-120"/>
                        </a:rPr>
                        <a:t>p-value</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4200870"/>
                  </a:ext>
                </a:extLst>
              </a:tr>
              <a:tr h="341927">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T test</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dirty="0"/>
                        <a:t>-3.59</a:t>
                      </a:r>
                      <a:endPar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kern="1200" dirty="0">
                          <a:solidFill>
                            <a:srgbClr val="00B050"/>
                          </a:solidFill>
                          <a:latin typeface="微軟正黑體" panose="020B0604030504040204" pitchFamily="34" charset="-120"/>
                          <a:ea typeface="微軟正黑體" panose="020B0604030504040204" pitchFamily="34" charset="-120"/>
                          <a:cs typeface="+mn-cs"/>
                        </a:rPr>
                        <a:t>0.0006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1513865"/>
                  </a:ext>
                </a:extLst>
              </a:tr>
              <a:tr h="220980">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Wilcoxon</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64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kern="1200" dirty="0">
                          <a:solidFill>
                            <a:srgbClr val="00B050"/>
                          </a:solidFill>
                          <a:latin typeface="微軟正黑體" panose="020B0604030504040204" pitchFamily="34" charset="-120"/>
                          <a:ea typeface="微軟正黑體" panose="020B0604030504040204" pitchFamily="34" charset="-120"/>
                          <a:cs typeface="+mn-cs"/>
                        </a:rPr>
                        <a:t>0.0008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5705361"/>
                  </a:ext>
                </a:extLst>
              </a:tr>
            </a:tbl>
          </a:graphicData>
        </a:graphic>
      </p:graphicFrame>
      <p:sp>
        <p:nvSpPr>
          <p:cNvPr id="8" name="文字方塊 7">
            <a:extLst>
              <a:ext uri="{FF2B5EF4-FFF2-40B4-BE49-F238E27FC236}">
                <a16:creationId xmlns:a16="http://schemas.microsoft.com/office/drawing/2014/main" id="{27D6D2F8-22E4-D0CB-9CBA-4C5A05EC6DD1}"/>
              </a:ext>
            </a:extLst>
          </p:cNvPr>
          <p:cNvSpPr txBox="1"/>
          <p:nvPr/>
        </p:nvSpPr>
        <p:spPr>
          <a:xfrm>
            <a:off x="5581751" y="2423359"/>
            <a:ext cx="5666038" cy="461665"/>
          </a:xfrm>
          <a:prstGeom prst="rect">
            <a:avLst/>
          </a:prstGeom>
          <a:noFill/>
        </p:spPr>
        <p:txBody>
          <a:bodyPr wrap="none" rtlCol="0">
            <a:spAutoFit/>
          </a:bodyPr>
          <a:lstStyle/>
          <a:p>
            <a:r>
              <a:rPr lang="zh-TW" altLang="en-US" sz="2400" b="1" dirty="0">
                <a:latin typeface="微軟正黑體" panose="020B0604030504040204" pitchFamily="34" charset="-120"/>
                <a:ea typeface="微軟正黑體" panose="020B0604030504040204" pitchFamily="34" charset="-120"/>
              </a:rPr>
              <a:t>檢定結果 </a:t>
            </a:r>
            <a:r>
              <a:rPr lang="en-US" altLang="zh-TW" sz="2400" b="1" dirty="0">
                <a:latin typeface="微軟正黑體" panose="020B0604030504040204" pitchFamily="34" charset="-120"/>
                <a:ea typeface="微軟正黑體" panose="020B0604030504040204" pitchFamily="34" charset="-120"/>
              </a:rPr>
              <a:t>(Bayesian Ridge Regression)</a:t>
            </a:r>
          </a:p>
        </p:txBody>
      </p:sp>
      <p:sp>
        <p:nvSpPr>
          <p:cNvPr id="9" name="文字方塊 8">
            <a:extLst>
              <a:ext uri="{FF2B5EF4-FFF2-40B4-BE49-F238E27FC236}">
                <a16:creationId xmlns:a16="http://schemas.microsoft.com/office/drawing/2014/main" id="{9528F7A2-5DCA-D59C-A724-D3351EA6CB1A}"/>
              </a:ext>
            </a:extLst>
          </p:cNvPr>
          <p:cNvSpPr txBox="1"/>
          <p:nvPr/>
        </p:nvSpPr>
        <p:spPr>
          <a:xfrm>
            <a:off x="5581751" y="4510793"/>
            <a:ext cx="5343899" cy="461665"/>
          </a:xfrm>
          <a:prstGeom prst="rect">
            <a:avLst/>
          </a:prstGeom>
          <a:noFill/>
        </p:spPr>
        <p:txBody>
          <a:bodyPr wrap="none" rtlCol="0">
            <a:spAutoFit/>
          </a:bodyPr>
          <a:lstStyle/>
          <a:p>
            <a:r>
              <a:rPr lang="zh-TW" altLang="en-US" sz="2400" b="1" dirty="0">
                <a:latin typeface="微軟正黑體" panose="020B0604030504040204" pitchFamily="34" charset="-120"/>
                <a:ea typeface="微軟正黑體" panose="020B0604030504040204" pitchFamily="34" charset="-120"/>
              </a:rPr>
              <a:t>檢定結果 </a:t>
            </a:r>
            <a:r>
              <a:rPr lang="en-US" altLang="zh-TW" sz="2400" b="1" dirty="0">
                <a:latin typeface="微軟正黑體" panose="020B0604030504040204" pitchFamily="34" charset="-120"/>
                <a:ea typeface="微軟正黑體" panose="020B0604030504040204" pitchFamily="34" charset="-120"/>
              </a:rPr>
              <a:t>(Simple linear Regression)</a:t>
            </a:r>
          </a:p>
        </p:txBody>
      </p:sp>
      <p:graphicFrame>
        <p:nvGraphicFramePr>
          <p:cNvPr id="13" name="表格 12">
            <a:extLst>
              <a:ext uri="{FF2B5EF4-FFF2-40B4-BE49-F238E27FC236}">
                <a16:creationId xmlns:a16="http://schemas.microsoft.com/office/drawing/2014/main" id="{1F842BA2-C74C-51D4-A5BD-5AAFDDEFCCF1}"/>
              </a:ext>
            </a:extLst>
          </p:cNvPr>
          <p:cNvGraphicFramePr>
            <a:graphicFrameLocks noGrp="1"/>
          </p:cNvGraphicFramePr>
          <p:nvPr>
            <p:extLst>
              <p:ext uri="{D42A27DB-BD31-4B8C-83A1-F6EECF244321}">
                <p14:modId xmlns:p14="http://schemas.microsoft.com/office/powerpoint/2010/main" val="2525894921"/>
              </p:ext>
            </p:extLst>
          </p:nvPr>
        </p:nvGraphicFramePr>
        <p:xfrm>
          <a:off x="6317027" y="5399548"/>
          <a:ext cx="4195483" cy="937260"/>
        </p:xfrm>
        <a:graphic>
          <a:graphicData uri="http://schemas.openxmlformats.org/drawingml/2006/table">
            <a:tbl>
              <a:tblPr/>
              <a:tblGrid>
                <a:gridCol w="1271627">
                  <a:extLst>
                    <a:ext uri="{9D8B030D-6E8A-4147-A177-3AD203B41FA5}">
                      <a16:colId xmlns:a16="http://schemas.microsoft.com/office/drawing/2014/main" val="3993428737"/>
                    </a:ext>
                  </a:extLst>
                </a:gridCol>
                <a:gridCol w="1461928">
                  <a:extLst>
                    <a:ext uri="{9D8B030D-6E8A-4147-A177-3AD203B41FA5}">
                      <a16:colId xmlns:a16="http://schemas.microsoft.com/office/drawing/2014/main" val="2161664515"/>
                    </a:ext>
                  </a:extLst>
                </a:gridCol>
                <a:gridCol w="1461928">
                  <a:extLst>
                    <a:ext uri="{9D8B030D-6E8A-4147-A177-3AD203B41FA5}">
                      <a16:colId xmlns:a16="http://schemas.microsoft.com/office/drawing/2014/main" val="81110010"/>
                    </a:ext>
                  </a:extLst>
                </a:gridCol>
              </a:tblGrid>
              <a:tr h="250659">
                <a:tc>
                  <a:txBody>
                    <a:bodyPr/>
                    <a:lstStyle/>
                    <a:p>
                      <a:pPr algn="ctr" fontAlgn="ct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zh-TW" altLang="en-US" sz="2000" b="0" i="0" u="none" strike="noStrike" dirty="0">
                          <a:solidFill>
                            <a:srgbClr val="000000"/>
                          </a:solidFill>
                          <a:effectLst/>
                          <a:latin typeface="微軟正黑體" panose="020B0604030504040204" pitchFamily="34" charset="-120"/>
                          <a:ea typeface="微軟正黑體" panose="020B0604030504040204" pitchFamily="34" charset="-120"/>
                        </a:rPr>
                        <a:t>統計量</a:t>
                      </a:r>
                      <a:endParaRPr lang="en-US"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2000" b="0" i="0" u="none" strike="noStrike" dirty="0">
                          <a:solidFill>
                            <a:srgbClr val="000000"/>
                          </a:solidFill>
                          <a:effectLst/>
                          <a:latin typeface="微軟正黑體" panose="020B0604030504040204" pitchFamily="34" charset="-120"/>
                          <a:ea typeface="微軟正黑體" panose="020B0604030504040204" pitchFamily="34" charset="-120"/>
                        </a:rPr>
                        <a:t>p-value</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4200870"/>
                  </a:ext>
                </a:extLst>
              </a:tr>
              <a:tr h="220980">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T test</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dirty="0"/>
                        <a:t>-3.59</a:t>
                      </a:r>
                      <a:endPar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kern="1200" dirty="0">
                          <a:solidFill>
                            <a:srgbClr val="00B050"/>
                          </a:solidFill>
                          <a:latin typeface="微軟正黑體" panose="020B0604030504040204" pitchFamily="34" charset="-120"/>
                          <a:ea typeface="微軟正黑體" panose="020B0604030504040204" pitchFamily="34" charset="-120"/>
                          <a:cs typeface="+mn-cs"/>
                        </a:rPr>
                        <a:t>0.0006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31513865"/>
                  </a:ext>
                </a:extLst>
              </a:tr>
              <a:tr h="220980">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Wilcoxon</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b="0" i="0" u="none" strike="noStrike" dirty="0">
                          <a:solidFill>
                            <a:srgbClr val="000000"/>
                          </a:solidFill>
                          <a:effectLst/>
                          <a:latin typeface="微軟正黑體" panose="020B0604030504040204" pitchFamily="34" charset="-120"/>
                          <a:ea typeface="微軟正黑體" panose="020B0604030504040204" pitchFamily="34" charset="-120"/>
                        </a:rPr>
                        <a:t>40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zh-TW" sz="2000" kern="1200" dirty="0">
                          <a:solidFill>
                            <a:srgbClr val="00B050"/>
                          </a:solidFill>
                          <a:latin typeface="微軟正黑體" panose="020B0604030504040204" pitchFamily="34" charset="-120"/>
                          <a:ea typeface="微軟正黑體" panose="020B0604030504040204" pitchFamily="34" charset="-120"/>
                          <a:cs typeface="+mn-cs"/>
                        </a:rPr>
                        <a:t>0.0008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5705361"/>
                  </a:ext>
                </a:extLst>
              </a:tr>
            </a:tbl>
          </a:graphicData>
        </a:graphic>
      </p:graphicFrame>
      <p:graphicFrame>
        <p:nvGraphicFramePr>
          <p:cNvPr id="3" name="表格 2">
            <a:extLst>
              <a:ext uri="{FF2B5EF4-FFF2-40B4-BE49-F238E27FC236}">
                <a16:creationId xmlns:a16="http://schemas.microsoft.com/office/drawing/2014/main" id="{77DCEE53-A96E-99E3-8630-9F9AE7B14429}"/>
              </a:ext>
            </a:extLst>
          </p:cNvPr>
          <p:cNvGraphicFramePr>
            <a:graphicFrameLocks noGrp="1"/>
          </p:cNvGraphicFramePr>
          <p:nvPr>
            <p:extLst>
              <p:ext uri="{D42A27DB-BD31-4B8C-83A1-F6EECF244321}">
                <p14:modId xmlns:p14="http://schemas.microsoft.com/office/powerpoint/2010/main" val="666743367"/>
              </p:ext>
            </p:extLst>
          </p:nvPr>
        </p:nvGraphicFramePr>
        <p:xfrm>
          <a:off x="794565" y="3510135"/>
          <a:ext cx="3626829" cy="3009900"/>
        </p:xfrm>
        <a:graphic>
          <a:graphicData uri="http://schemas.openxmlformats.org/drawingml/2006/table">
            <a:tbl>
              <a:tblPr/>
              <a:tblGrid>
                <a:gridCol w="719609">
                  <a:extLst>
                    <a:ext uri="{9D8B030D-6E8A-4147-A177-3AD203B41FA5}">
                      <a16:colId xmlns:a16="http://schemas.microsoft.com/office/drawing/2014/main" val="2308458833"/>
                    </a:ext>
                  </a:extLst>
                </a:gridCol>
                <a:gridCol w="820354">
                  <a:extLst>
                    <a:ext uri="{9D8B030D-6E8A-4147-A177-3AD203B41FA5}">
                      <a16:colId xmlns:a16="http://schemas.microsoft.com/office/drawing/2014/main" val="12725514"/>
                    </a:ext>
                  </a:extLst>
                </a:gridCol>
                <a:gridCol w="1050629">
                  <a:extLst>
                    <a:ext uri="{9D8B030D-6E8A-4147-A177-3AD203B41FA5}">
                      <a16:colId xmlns:a16="http://schemas.microsoft.com/office/drawing/2014/main" val="1616214365"/>
                    </a:ext>
                  </a:extLst>
                </a:gridCol>
                <a:gridCol w="1036237">
                  <a:extLst>
                    <a:ext uri="{9D8B030D-6E8A-4147-A177-3AD203B41FA5}">
                      <a16:colId xmlns:a16="http://schemas.microsoft.com/office/drawing/2014/main" val="2958420482"/>
                    </a:ext>
                  </a:extLst>
                </a:gridCol>
              </a:tblGrid>
              <a:tr h="411480">
                <a:tc>
                  <a:txBody>
                    <a:bodyPr/>
                    <a:lstStyle/>
                    <a:p>
                      <a:pPr marL="0" algn="ctr" defTabSz="1219170" rtl="0" eaLnBrk="1" fontAlgn="ctr" latinLnBrk="0" hangingPunct="1"/>
                      <a:r>
                        <a:rPr lang="en-US" sz="1600" b="0" i="0" u="none" strike="noStrike" kern="12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PreTest</a:t>
                      </a:r>
                      <a:endPar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1219170" rtl="0" eaLnBrk="1" fontAlgn="ctr" latinLnBrk="0" hangingPunct="1"/>
                      <a:r>
                        <a:rPr lang="en-US" sz="1600" b="0" i="0" u="none" strike="noStrike" kern="12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PostTest</a:t>
                      </a:r>
                      <a:endPar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1219170" rtl="0" eaLnBrk="1" fontAlgn="ctr" latinLnBrk="0" hangingPunct="1"/>
                      <a:r>
                        <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Imputation</a:t>
                      </a:r>
                      <a:br>
                        <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(Bayesian)</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1219170" rtl="0" eaLnBrk="1" fontAlgn="ctr" latinLnBrk="0" hangingPunct="1"/>
                      <a:r>
                        <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Imputation</a:t>
                      </a:r>
                      <a:br>
                        <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br>
                      <a:r>
                        <a:rPr lang="en-US"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(Simple LR)</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582113283"/>
                  </a:ext>
                </a:extLst>
              </a:tr>
              <a:tr h="205740">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32958581"/>
                  </a:ext>
                </a:extLst>
              </a:tr>
              <a:tr h="20574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zh-TW" altLang="en-US" sz="1600" b="0" i="0" u="none" strike="noStrike" kern="1200">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2.999962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26168012"/>
                  </a:ext>
                </a:extLst>
              </a:tr>
              <a:tr h="20574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zh-TW" altLang="en-US" sz="1600" b="0" i="0" u="none" strike="noStrike" kern="1200" dirty="0">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3.000393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30361147"/>
                  </a:ext>
                </a:extLst>
              </a:tr>
              <a:tr h="20574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zh-TW" altLang="en-US" sz="1600" b="0" i="0" u="none" strike="noStrike" kern="1200">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2.996627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35103680"/>
                  </a:ext>
                </a:extLst>
              </a:tr>
              <a:tr h="20574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zh-TW" altLang="en-US" sz="1600" b="0" i="0" u="none" strike="noStrike" kern="1200">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3.000494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11054718"/>
                  </a:ext>
                </a:extLst>
              </a:tr>
              <a:tr h="20574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zh-TW" altLang="en-US" sz="1600" b="0" i="0" u="none" strike="noStrike" kern="1200">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2.999651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1390743"/>
                  </a:ext>
                </a:extLst>
              </a:tr>
              <a:tr h="20574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zh-TW" altLang="en-US" sz="1600" b="0" i="0" u="none" strike="noStrike" kern="1200">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3.001358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83085949"/>
                  </a:ext>
                </a:extLst>
              </a:tr>
              <a:tr h="20574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zh-TW" altLang="en-US" sz="1600" b="0" i="0" u="none" strike="noStrike" kern="1200">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2.999247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03835822"/>
                  </a:ext>
                </a:extLst>
              </a:tr>
              <a:tr h="205740">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2.5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zh-TW" altLang="en-US" sz="1600" b="0" i="0" u="none" strike="noStrike" kern="1200">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3.002261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12058721"/>
                  </a:ext>
                </a:extLst>
              </a:tr>
              <a:tr h="205740">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zh-TW" altLang="en-US" sz="1600" b="0" i="0" u="none" strike="noStrike" kern="1200">
                          <a:solidFill>
                            <a:srgbClr val="000000"/>
                          </a:solidFill>
                          <a:effectLst/>
                          <a:latin typeface="Calibri" panose="020F0502020204030204" pitchFamily="34" charset="0"/>
                          <a:ea typeface="標楷體" panose="03000509000000000000" pitchFamily="65" charset="-120"/>
                          <a:cs typeface="Calibri" panose="020F0502020204030204" pitchFamily="34" charset="0"/>
                        </a:rPr>
                        <a:t>　</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a:solidFill>
                            <a:srgbClr val="000000"/>
                          </a:solidFill>
                          <a:effectLst/>
                          <a:latin typeface="Calibri" panose="020F0502020204030204" pitchFamily="34" charset="0"/>
                          <a:ea typeface="Calibri" panose="020F0502020204030204" pitchFamily="34" charset="0"/>
                          <a:cs typeface="Calibri" panose="020F0502020204030204" pitchFamily="34" charset="0"/>
                        </a:rPr>
                        <a:t>3.000522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19170" rtl="0" eaLnBrk="1" fontAlgn="ctr" latinLnBrk="0" hangingPunct="1"/>
                      <a:r>
                        <a:rPr lang="en-US" altLang="zh-TW" sz="1600" b="0" i="0" u="none" strike="noStrike" kern="12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39446907"/>
                  </a:ext>
                </a:extLst>
              </a:tr>
            </a:tbl>
          </a:graphicData>
        </a:graphic>
      </p:graphicFrame>
      <p:sp>
        <p:nvSpPr>
          <p:cNvPr id="10" name="文字方塊 9">
            <a:extLst>
              <a:ext uri="{FF2B5EF4-FFF2-40B4-BE49-F238E27FC236}">
                <a16:creationId xmlns:a16="http://schemas.microsoft.com/office/drawing/2014/main" id="{2FA971DF-DFA6-7DF1-BFA3-00A427653E0F}"/>
              </a:ext>
            </a:extLst>
          </p:cNvPr>
          <p:cNvSpPr txBox="1"/>
          <p:nvPr/>
        </p:nvSpPr>
        <p:spPr>
          <a:xfrm>
            <a:off x="1834397" y="2729847"/>
            <a:ext cx="1723549" cy="461665"/>
          </a:xfrm>
          <a:prstGeom prst="rect">
            <a:avLst/>
          </a:prstGeom>
          <a:noFill/>
        </p:spPr>
        <p:txBody>
          <a:bodyPr wrap="none" rtlCol="0">
            <a:spAutoFit/>
          </a:bodyPr>
          <a:lstStyle/>
          <a:p>
            <a:r>
              <a:rPr lang="zh-TW" altLang="en-US" sz="2400" b="1" dirty="0">
                <a:latin typeface="微軟正黑體" panose="020B0604030504040204" pitchFamily="34" charset="-120"/>
                <a:ea typeface="微軟正黑體" panose="020B0604030504040204" pitchFamily="34" charset="-120"/>
              </a:rPr>
              <a:t>部分預測值</a:t>
            </a:r>
          </a:p>
        </p:txBody>
      </p:sp>
    </p:spTree>
    <p:extLst>
      <p:ext uri="{BB962C8B-B14F-4D97-AF65-F5344CB8AC3E}">
        <p14:creationId xmlns:p14="http://schemas.microsoft.com/office/powerpoint/2010/main" val="2514610745"/>
      </p:ext>
    </p:extLst>
  </p:cSld>
  <p:clrMapOvr>
    <a:masterClrMapping/>
  </p:clrMapOvr>
  <mc:AlternateContent xmlns:mc="http://schemas.openxmlformats.org/markup-compatibility/2006" xmlns:p14="http://schemas.microsoft.com/office/powerpoint/2010/main">
    <mc:Choice Requires="p14">
      <p:transition spd="slow" p14:dur="1250" advClick="0">
        <p14:pan dir="u"/>
      </p:transition>
    </mc:Choice>
    <mc:Fallback xmlns:p159="http://schemas.microsoft.com/office/powerpoint/2015/09/main" xmlns:p15="http://schemas.microsoft.com/office/powerpoint/2012/main" xmlns:a14="http://schemas.microsoft.com/office/drawing/2010/main" xmlns:wp="http://schemas.openxmlformats.org/drawingml/2006/wordprocessingDrawing" xmlns:w="http://schemas.openxmlformats.org/wordprocessingml/2006/main" xmlns:m="http://schemas.openxmlformats.org/officeDocument/2006/math" xmlns="">
      <p:transition spd="slow" advClick="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AS_OS" val="Unix 2.6 unknown"/>
  <p:tag name="AS_RELEASE_DATE" val="2021.11.30"/>
  <p:tag name="AS_TITLE" val="Aspose.Slides for Java"/>
  <p:tag name="AS_VERSION" val="21.11"/>
  <p:tag name="ISPRING_PRESENTATION_TITLE" val="1"/>
</p:tagLst>
</file>

<file path=ppt/theme/theme1.xml><?xml version="1.0" encoding="utf-8"?>
<a:theme xmlns:a="http://schemas.openxmlformats.org/drawingml/2006/main" name="第一PPT，www.1ppt.com">
  <a:themeElements>
    <a:clrScheme name="自定义 618">
      <a:dk1>
        <a:srgbClr val="000000"/>
      </a:dk1>
      <a:lt1>
        <a:srgbClr val="FFFFFF"/>
      </a:lt1>
      <a:dk2>
        <a:srgbClr val="778495"/>
      </a:dk2>
      <a:lt2>
        <a:srgbClr val="F0F0F0"/>
      </a:lt2>
      <a:accent1>
        <a:srgbClr val="E49140"/>
      </a:accent1>
      <a:accent2>
        <a:srgbClr val="34A9B3"/>
      </a:accent2>
      <a:accent3>
        <a:srgbClr val="E49140"/>
      </a:accent3>
      <a:accent4>
        <a:srgbClr val="34A9B3"/>
      </a:accent4>
      <a:accent5>
        <a:srgbClr val="E49140"/>
      </a:accent5>
      <a:accent6>
        <a:srgbClr val="34A9B3"/>
      </a:accent6>
      <a:hlink>
        <a:srgbClr val="E49140"/>
      </a:hlink>
      <a:folHlink>
        <a:srgbClr val="34A9B3"/>
      </a:folHlink>
    </a:clrScheme>
    <a:fontScheme name="temp">
      <a:majorFont>
        <a:latin typeface="微软雅黑"/>
        <a:ea typeface="微软雅黑"/>
        <a:cs typeface="Arial"/>
      </a:majorFont>
      <a:minorFont>
        <a:latin typeface="微软雅黑"/>
        <a:ea typeface="微软雅黑"/>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defRPr sz="1200" dirty="0" smtClean="0">
            <a:solidFill>
              <a:schemeClr val="tx1">
                <a:lumMod val="75000"/>
                <a:lumOff val="25000"/>
              </a:schemeClr>
            </a:solidFill>
            <a:latin typeface="微软雅黑" panose="020B0503020204020204" pitchFamily="34" charset="-122"/>
            <a:ea typeface="微软雅黑" panose="020B0503020204020204" pitchFamily="34" charset="-122"/>
          </a:defRPr>
        </a:defPPr>
      </a:lstStyle>
    </a:tx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等线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等线"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4790</TotalTime>
  <Words>6149</Words>
  <Application>Microsoft Office PowerPoint</Application>
  <PresentationFormat>寬螢幕</PresentationFormat>
  <Paragraphs>1358</Paragraphs>
  <Slides>35</Slides>
  <Notes>35</Notes>
  <HiddenSlides>0</HiddenSlides>
  <MMClips>0</MMClips>
  <ScaleCrop>false</ScaleCrop>
  <HeadingPairs>
    <vt:vector size="8" baseType="variant">
      <vt:variant>
        <vt:lpstr>使用字型</vt:lpstr>
      </vt:variant>
      <vt:variant>
        <vt:i4>8</vt:i4>
      </vt:variant>
      <vt:variant>
        <vt:lpstr>佈景主題</vt:lpstr>
      </vt:variant>
      <vt:variant>
        <vt:i4>1</vt:i4>
      </vt:variant>
      <vt:variant>
        <vt:lpstr>內嵌 OLE 伺服程式</vt:lpstr>
      </vt:variant>
      <vt:variant>
        <vt:i4>1</vt:i4>
      </vt:variant>
      <vt:variant>
        <vt:lpstr>投影片標題</vt:lpstr>
      </vt:variant>
      <vt:variant>
        <vt:i4>35</vt:i4>
      </vt:variant>
    </vt:vector>
  </HeadingPairs>
  <TitlesOfParts>
    <vt:vector size="45" baseType="lpstr">
      <vt:lpstr>宋体</vt:lpstr>
      <vt:lpstr>Source Han Sans TC</vt:lpstr>
      <vt:lpstr>思源黑体 CN Heavy</vt:lpstr>
      <vt:lpstr>思源黑体 CN Medium</vt:lpstr>
      <vt:lpstr>微軟正黑體</vt:lpstr>
      <vt:lpstr>標楷體</vt:lpstr>
      <vt:lpstr>Arial</vt:lpstr>
      <vt:lpstr>Calibri</vt:lpstr>
      <vt:lpstr>第一PPT，www.1ppt.com</vt:lpstr>
      <vt:lpstr>CorelDRAW</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dc:title>
  <dc:creator>007</dc:creator>
  <cp:lastModifiedBy>廷諭 顔</cp:lastModifiedBy>
  <cp:revision>375</cp:revision>
  <dcterms:created xsi:type="dcterms:W3CDTF">2019-03-12T14:06:10Z</dcterms:created>
  <dcterms:modified xsi:type="dcterms:W3CDTF">2024-09-10T08:42:23Z</dcterms:modified>
</cp:coreProperties>
</file>